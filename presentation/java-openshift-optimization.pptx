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0:00-1:00
Welcome. Today we tackle one of the most common pain points with Java on OpenShift: the JVM was designed for a world where you owned the whole machine. Kubernetes gives you a fraction of a machine. These two worlds collide badly.
Everything here is grounded in two O'Reilly books and production battle scars, using Quarkus 3.33.1 LTS throughout.
→ Click through to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1:00-2:00
Seven sections, three live demos — all runnable on your laptop right now with Docker only.
Demo callout at the bottom: demos are woven into sections 1, 3, and 4.
Key expectation: by the end you'll have concrete flags, PromQL queries, and a repeatable tuning workflow you can apply Monday morning.
→ Let's start with WHY this is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 2:00-4:00
The 60% figure is from Red Hat's production customer data. Most Java teams don't realise they're overprovisioning by 2-4x.
OOMKill storm story: container limit 2 GB, JVM claimed 4 GB — Kubernetes terminates mid-request. On-call at 2am. Root cause: nobody added UseContainerSupport.
The GC-induced autoscaling story is subtle — I'll explain it fully in section 3. Plant the seed now: your HPA is being lied to by your GC.
→ Let's understand WHY the JVM misbehaves in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CONTAINER-NATIVE JVM — 4:00-8:00
PAUSE. Ask audience: "How many of you explicitly set MaxRAMPercentage in your Kubernetes deployments today?" Usually fewer than 30% of hands.
KEY POINT: UseContainerSupport is ON by default in Java 21. But MaxRAMPercentage defaults to 25% — too conservative. First flag you add to every Java container: -XX:MaxRAMPercentage=75.0
Code block:
  Left: hardcoded -Xmx BREAKS when VPA changes limits
  Right: reads cgroup dynamically, scales automatically
cgroup v2 note: RHEL 9 / OCP 4.14+. Java 15+ handles both correctly.
→ But heap is only one piece of the memory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JVM MEMORY REGIONS — 8:00-10:00
THE KEY MISCONCEPTION: setting MaxRAMPercentage=90 thinking "more heap = better". Heap is only ONE of six regions.
Walk through each row:
  Heap: what we tune with MaxRAMPercentage
  Metaspace: class metadata — can grow unbounded without MaxMetaspaceSize
  Thread Stacks: 1MB per platform thread — Quarkus Virtual Threads eliminate this!
  JIT Code Cache: 128-256MB — often forgotten in budget
  Direct ByteBuffers: Netty, NIO — must be added explicitly
Rule: MaxRAMPercentage=75. Leave 25% for off-heap.
→ Now let's right-size this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RIGHT-SIZING — 10:00-12:00
Requests = your SLA TO the scheduler. Limits = your circuit breaker.
Most teams set them equal. WRONG. Limit should be 25-30% above P99 peak — enough for a GC surge without OOMKill.
Memory sizing formula:
  Measure RSS first: kubectl top pod --containers
  Then: Heap + Metaspace + Threads + Native + 20% buffer = limit
  Request = P50 steady-state RSS
CPU note: Set limit 2-4x request. GC uses burst CPU. Low CPU limit = GC can't complete = pauses extend.
→ What does this look like at the node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BIN-PACKING — 12:00-14:00
THIS IS YOUR BUSINESS CASE SLIDE. Show this to your manager.
Left: default JVM settings (no container flags), each claims 8GB. Only 3 pods per 32GB node.
Right: after right-sizing. Each uses 1.5GB actual. 6 pods fit. 2x density.
On a cluster costing $10k/month, 2x density improvement = $5k/month back.
Real example: I've seen teams with 3 Spring Boot pods on a 16GB node, each claiming 4GB heap, actually using 600MB each. 12GB of reserved dead space.
→ Now GC — the other half of the container performance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 IN CONTAINERS — 14:00-16:00
GC-INDUCED HPA THRASH is the most surprising finding for most people.
The domino effect:
  1. GC pause → CPU spike (normal)
  2. HPA sees spike → scales out (WRONG)
  3. New pods → also do GC → more spikes
  4. 20 pods for a 3-pod workload
Fix requires BOTH GC tuning AND HPA configuration. We cover HPA in section 6.
ParallelGCThreads: on a 64-core node with a 2-CPU container limit, JVM defaults to 64 GC threads competing for 2 CPUs. Set this = your CPU limit. Always.
→ Which GC should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 COMPARISON TABLE — 16:00-18:00
Row by row:
  G1GC: safe default. 99% of microservices start here.
  ZGC (Generational): Java 21's headline GC. Sub-millisecond pauses. -XX:+ZGenerational is the Java 21 flag.
  Shenandoah: OpenJDK/RHEL default. Similar to ZGC. Excellent for all heap sizes.
  Serial GC: NEVER for microservices. Only CLI tools, tiny batch containers.
DECISION RULE (say slowly):
  "If jvm_gc_pause_seconds P99 from Prometheus is consistently above 500ms, switch from G1GC to ZGC."
  "If P99 is under 200ms, G1GC is fine. Don't change what's working."
→ The specific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 TUNING PARAMETERS — 18:00-20:00
PAUSE on ParallelGCThreads. Write this down: "Match ParallelGCThreads to your CPU limit, not your host CPU count."
G1GC block:
  MaxGCPauseMillis=200 is a TARGET, not a guarantee
  IHOP=45 — start GC when heap is 45% full. In containers, start earlier not later.
ZGC block — emphasise -XX:+ZGenerational (Java 21 recommended mode)
Bottom cards — three most important flags after ParallelGCThreads.
→ Now startup. A slow JVM bottlenecks your scale-out.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STARTUP TIME — 20:00-22:00
The comparison is stark. Spring Boot 4-8s cold start vs Quarkus JVM 0.3-0.8s (10x faster!) vs Quarkus Native 0.01-0.05s.
WHY is Quarkus already so much faster? Build-time processing. CDI resolution, classpath scanning, metadata pre-computation — all done at compile time.
The timeline bars show where Spring Boot spends its time. Quarkus eliminates most of "Framework Context Init" through its build step.
AppCDS adds another 30-50% on top of Quarkus's already-fast baseline.
→ Let's see how Quarkus makes AppCDS trivial.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APPCDS — QUARKUS 3.33.1 — 22:00-25:00
THE CONTRAST is the story.
Spring Boot: 3 manual steps (Xshare:off training, Xshare:dump archive, Xshare:on production). Complex Dockerfile.
Quarkus: ONE property. quarkus.package.jar.aot.enabled=true. Maven plugin handles training pass, archive generation, bundling automatically.
Quarkus Dockerfile columns:
  lib/ changes rarely → Docker cache hit
  app/ changes often → only small layer rebuilt
  .cds archive → activated automatically if present next to quarkus-run.jar
BENCHMARK: Quarkus 0.6s → 0.3s with AppCDS. 14x faster than Spring Boot's 4.2s baseline. Every HPA scale-out benefits.
→ Virtual Threads: the other Java 21 startup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THREADS — QUARKUS @RunOnVirtualThread — 25:00-28:00
"Virtual threads are the biggest concurrency change in Java in 20 years. JEP 444, shipped production in Java 21."
In Quarkus: annotate your resource method. Done. One annotation. No config needed.
Container sizing impact: 200 platform threads x 1MB stack = 200MB off-heap. Virtual threads: those stacks live in heap as tiny continuations — kilobytes not megabytes. Same REST service: drop memory limit from 512MB to 256MB.
CAVEAT (builds trust): Virtual threads don't help if you hold synchronized locks while doing I/O. That pins the carrier thread. Watch for synchronized blocks around DB calls. Use ReentrantLock. Check with -Djdk.tracePinnedThreads=full.
→ Now how do we SEE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STACK — 28:00-31:00
"You cannot tune what you cannot see — and you cannot see what you do not measure."
Four cards:
  JFR: zero-overhead in production. Gold standard profiling.
  Cryostat: Kubernetes-native JFR management. If you're on OpenShift, this eliminates SSH into pods entirely.
  Quarkus OTel: quarkus-opentelemetry extension. REST endpoints auto-instrumented. Traces to Jaeger with zero code changes.
  Micrometer + Prometheus: /q/metrics endpoint. Same PromQL queries work regardless of framework.
KEY MESSAGE: instrument BEFORE you tune. Every change needs a before/after data point.
→ Let's look at Cryostat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CRYOSTAT — 31:00-33:00
Architecture: three boxes, two arrows. Agent runs INSIDE your pod as a javaagent. Cryostat server is a separate pod via Kubernetes Operator. Recordings stored in Kubernetes-native PVC.
"Flame graphs, allocation profiles, GC event timelines — without SSH-ing into pods."
Annotation-based discovery: add one annotation to your pod, Cryostat discovers it automatically.
Step 4 curl command can also be done from Cryostat UI or automated in CI pipeline.
→ Prometheus — the always-on complement to JFR.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 MICROMETER (QUARKUS) — 33:00-36:00
QUARKUS DIFFERENCE: the endpoint is /q/metrics, not /actuator/prometheus. Prometheus scrape config needs metrics_path: /q/metrics.
Dependency: quarkus-micrometer-registry-prometheus — pulls in everything automatically.
application.properties:
  quarkus.micrometer.export.prometheus.enabled=true
  quarkus.micrometer.binder.jvm=true — enables all JVM gauges
THE PROMETHEUS RULE: alert fires when P99 GC pause exceeds 500ms for 2 minutes. This is the alert that tells you to switch from G1GC to ZGC. Set this up today.
PromQL queries are identical between Spring Boot and Quarkus — same metric names.
→ HPA — the autoscaling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HPA WITH JVM METRICS — 36:00-39:00
"Standard CPU-based HPA is blind to JVM internals. GC pauses create false CPU spikes."
KEY INSIGHT: Scale on RPS (requests per second), not CPU. RPS is a leading indicator of actual load. CPU for Java workloads is a lagging artifact of GC behavior.
YAML walkthrough:
  minReplicas: 2 — NEVER 1. Single pod + GC stop-the-world = 100% downtime.
  stabilizationWindowSeconds: 120 — absorbs GC CPU spikes up to 2 minutes.
  Two metrics: RPS primary, heap ratio secondary (scale before OOMKill).
→ VPA for dynamic resource adjustment.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VPA — 39:00-41:00
VPA 4-step workflow:
  Step 1: Run Off mode for 48-72 hours. JUST observe. Don't apply.
  Step 2: Compare recommendations to your JVM memory budget calculation.
  Step 3: Apply during low-traffic window.
  Step 4: Watch for OOMKills and GC pressure changes.
WARNING: Don't use VPA and HPA on the same resource simultaneously. They fight each other. Pattern: VPA for memory right-sizing, HPA on RPS for scale-out.
→ Six rules to prevent autoscaling thrash.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AUTOSCALING THRASH PREVENTION — 41:00-43:00
Quick pace — six rules. Three most important:
  1. Scale on RPS not CPU.
  2. Keep minReplicas at 2 or more.
  3. Set memory limit 25% above P99 peak.
Correlation rule (bottom right): join GC pause timestamps with error rate and latency. If GC causes SLO breach, TUNE GC first. Don't scale out — you'll get N copies of the same GC problem.
→ The meta-lesson: the tuning workflow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SYSTEMATIC TUNING WORKFLOW — 43:00-46:00
"Every recommendation in this talk follows the same loop."
Four steps: Instrument → Baseline → Diagnose → Tune
THE NUMBER ONE MISTAKE: teams skip Baseline and Validate. They apply flags from Stack Overflow and never measure the effect.
Rule: Change ONE thing. Measure. Commit or revert.
DOCUMENT EVERYTHING. When you change MaxGCPauseMillis, write down why, what you expected, what actually happened. This becomes your runbook for the next incident.
Validate &amp; Repeat: re-run load test, compare P99 to baseline. Improved? Commit. Not improved? Revert and try next hypothesis.
→ The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OPTIMIZATION — 46:00-48:00
CLOSE THE BUSINESS CASE.
Node reduction formula:
  Nodes saved = pods/(old density) - pods/(new density)
  Multiply by node hourly rate
On a cluster at $10k/month with 2x density improvement: $5k/month savings. $60k/year. From JVM flags.
Use OpenShift Cost Management to track before/after. Screenshot it. Put it in your quarterly review. This makes the CFO care about JVM tuning.
→ Demo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01: CONTAINER-AWARE HEAP SIZING — 48:00-52:00
Open terminal: cd quarkus-demo-01-heap-sizing (or demo-01-heap-sizing for plain Java)
What audience sees:
  A: JVM reads HOST memory in 512m container → huge heap claimed
  B: UseContainerSupport + MaxRAMPercentage → heap respects 512m limit
  C: Three different container sizes → watch heap scale automatically
  D: OOMKill simulation → exit code 137
PAUSE at Scenario A: "See that? The JVM is claiming [X]GB heap inside a 512MB container."
PAUSE at OOMKill: "Exit code 137. This is what your pods look like in CrashLoopBackOff at 3am."
Run: ./demo.sh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02: QUARKUS GC MONITORING — 52:00-56:00
Grafana should be open at localhost:3000, Jaeger at localhost:16686.
QUARKUS DIFFERENCE: "Metrics are at /q/metrics, not /actuator/prometheus. Everything else — PromQL queries, Grafana dashboards, PrometheusRule alerts — works identically."
Point at Grafana JVM GC Monitoring dashboard as load generates.
Point at Jaeger traces — show how @WithSpan creates child spans for /allocate calls.
G1GC vs ZGC comparison: "Watch the top-left panel. G1GC P99 spikes during heavy allocation. ZGC stays flat. That's the trade-off."
Virtual threads: "500 tasks, 5ms blocking each. Watch peak platform thread count — never reaches 500."
Run: ./demo.sh (in quarkus-demo-02-gc-monitoring/)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03: QUARKUS APPCDS — 56:00-60:00
Run: ./demo.sh (in quarkus-demo-03-appcds/)
While building (~30s): "Spring Boot AppCDS requires 3 manual steps in your Dockerfile. Quarkus collapses this to ONE property: quarkus.package.jar.aot.enabled=true."
"The Maven plugin runs the training pass, generates the archive, and bundles it. You don't write a single extra Dockerfile line."
When results appear: "We went from 400ms cold start to 220ms with AppCDS. But Quarkus's BASELINE of 400ms is already 10x faster than Spring Boot's 4.2s baseline."
Bonus mention: "Quarkus Native with GraalVM: 20ms startup. Different trade-offs — longer build, AOT constraints."
→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 58:00-59:30
Read each one slowly.
1. "UseContainerSupport is default-on in Java 21. MaxRAMPercentage=75 is not. Set it today."
2. "Measure RSS first, then size. Math beats guesswork."
3. "G1GC for general use. ZGC Generational for latency-sensitive. Measure P99 before switching."
4. "Quarkus AppCDS: one property. Maven plugin does the rest. 14x faster than Spring Boot baseline."
5. "Observe before you tune. JFR + Cryostat + Prometheus gives you data. Without data you're guessing."
6. "Autoscale on RPS. GC pauses lie to HPA. Use @RunOnVirtualThread for container-friendly concurrency."
7. "Quantify the savings. $60k/year from JVM flags is a defensible engineering investment."
→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&amp; Q&amp;A — 59:30+
Point to the repo URL: slides and all demos available. Runs on Docker Desktop, no Kubernetes cluster required.
COMMON QUESTIONS:
"Does this work with Quarkus Native?"
  Native Image bypasses the JVM. GC tuning does not apply. AppCDS is irrelevant (&lt; 50ms already). Container sizing still matters.
"What Java version should we target?"
  Java 21 LTS. First with production Virtual Threads, Generational ZGC, mature AppCDS. If on 17, upgrade.
"Is ZGC safe in production?"
  Yes. Generational ZGC is production-ready. Netflix and LinkedIn run it at scale. Benchmark your specific workload first.
"How often should we retune?"
  After any significant traffic pattern change, major upgrade, or infrastructure change. JFR monthly in production as a baseline health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LEYDEN — BONUS SLIDE (can slot after AppCDS slide 12)
KEY FRAMING: "AppCDS stores parsed classes. Project Leyden stores LOADED and LINKED classes, plus JIT method profiles from your actual test suite. It goes several layers deeper."
JEP timeline walk:
  JDK 24 (JEP 483): First Leyden feature in mainline. AOT cache stores class loading+linking state. Spring PetClinic: 2s → 1s — 40% improvement. No code changes required.
  JDK 25 LTS (JEP 514+515): JIT method profiles added to cache. Warm-up penalty at startup eliminated. Quarkus 3.33.1 has first-class support via quarkus.package.jar.aot.enabled=true.
  JDK 26 (JEP 516): ZGC now works with the AOT cache. Previously forced you to choose: low-latency GC OR fast startup. Now you get both. Baseline cache ships with the JDK.
Middle card — "Quarkus 3.33.1 — One Property":
  KEY MESSAGE: "With Quarkus you don't write any JVM flags in your Dockerfile. Set one property, run mvn verify, Quarkus bundles the app.aot alongside quarkus-run.jar and activates it automatically."
  The @QuarkusIntegrationTest suite IS the training workload. The better your tests represent production traffic, the more effective the cache.
Right card — vs GraalVM Native Image:
  "Leyden is not Quarkus Native. Native Image: static binary, no JIT, 95-99% startup, code change constraints. Leyden: stays on the JVM, keeps reflection, JIT, dynamic loading — 40-55% improvement."
  "Not either/or — use Leyden for your JVM workloads, and evaluate Native for latency-critical microservices separately."
→ Demo 04 shows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04: QUARKUS + PROJECT LEYDEN AOT CACHE
[Open terminal in quarkus-demo-04-leyden/]
PREREQUISITE: JDK 25 on the host or in the Docker image.
  java -version   # should show 25 or 26
THE ONE-PROPERTY STORY (say this before running):
  "Quarkus handles every step of AOT cache generation. You don't write -XX:AOTCacheOutput anywhere. You set one property and run mvn verify. That's it."
Run: ./demo.sh
WHAT THE SCRIPT DOES — narrate as it runs:
  Step 1 — Baseline: builds and starts the app WITHOUT the AOT cache. Records startup time.
  Step 2 — AOT build: runs mvn verify with quarkus.package.jar.aot.enabled=true.
            Quarkus runs @QuarkusIntegrationTest suite. That test suite IS the training run.
            JVM records class loading, linking, JIT profiles. Outputs app.aot in target/quarkus-app/.
  Step 3 — AOT run: starts with -XX:AOTCache=app.aot. Records startup time. Compare.
WHILE BUILDING (30-60s): "The @QuarkusIntegrationTest tests you wrote for CI also train the JVM AOT cache. One Maven run, two benefits."
WHEN RESULTS SHOW:
  "Quarkus baseline: ~300-500ms. With Leyden AOT cache: ~180-300ms. 30-50% faster."
  "Spring Boot on JDK 25 Leyden: 4.2s → 2.5s (40% faster starting from 4 seconds)."
  "Quarkus + Leyden: 400ms → 220ms (40% faster starting from 400ms)."
  "Both get ~40%. The difference is the starting point."
DISCUSSION — three tiers:
  JDK 21 + quarkus.package.jar.aot.enabled=true → AppCDS only (~20-30%)
  JDK 25 + quarkus.package.jar.aot.enabled=true → Leyden AOT cache (~40-55%)
  JDK 26: add -XX:+UseZGC — low latency AND full AOT cache (JEP 516)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JVM ANTI-PATTERNS — BONUS SLIDE
Use this slide before the takeaways as a rapid-fire "don't do this" summary, or during Q&amp;A when someone says "we keep getting OOMKills and can't figure out why."
MEMORY ANTI-PATTERNS — walk the two most damaging ones:
1. Hardcoded -Xmx/-Xms
  "This is the most common one I see. Someone set -Xmx2g in 2019, it got copy-pasted into every Dockerfile since, and nobody noticed when the container limit was changed to 1.5g. The JVM claims 2g, Kubernetes enforces 1.5g, OOMKill at the first GC attempt to grow the heap. UseContainerSupport + MaxRAMPercentage reads the actual limit at startup — it works correctly regardless of what size instance you deploy to."
2. MaxRAMPercentage=90
  "People think 'more heap = better performance'. But heap is one of six memory regions. Setting 90% leaves only 200 MB for Metaspace, thread stacks, JIT code cache, and Netty direct buffers. For a Quarkus app using Vert.x, Netty alone can need 100 MB. One framework dependency that loads extra classes can push Metaspace past the remaining budget. OOMKill, no warning."
GC &amp; CPU ANTI-PATTERNS:
ParallelGCThreads: "I have found this bug in almost every production cluster I've reviewed. The JVM defaults ParallelGCThreads to the host CPU count. On a 64-core node with a 2-CPU container limit, you get 64 GC threads competing for 2 CPUs. GC takes 10x longer because the threads are starved. Fix: -XX:ParallelGCThreads=2 (match your CPU request)."
minReplicas=1: "Never run a single replica of a Java service behind HPA. When GC fires a stop-the-world pause, 100% of requests in flight get an error. With 2 replicas, load balancer routes around the pausing pod. This is the single cheapest reliability improvement in the entire talk."
AOT ANTI-PATTERNS:
"The @QuarkusIntegrationTest one is a gotcha that trips people up when they first try AOT. @QuarkusTest is for dev mode — fast feedback. @QuarkusIntegrationTest is for the packaged JAR. Only IT tests contribute to the training run. If your test suite is all @QuarkusTest, mvn verify will produce a minimal cache with almost no benefit."
OBSERVABILITY ANTI-PATTERNS:
"No GC pause histogram means you can't distinguish 'my app is slow because of GC' from 'my app is slow because of a real bug'. jvm_gc_pause_seconds without histogram=true gives you counts and sums but no P99. Enable the histogram. Set the alert. Then you'll know in 30 seconds whether a latency incident is GC-induced or not."
→ Next slide shows every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ANTI-PATTERN REMEDIATION — BONUS SLIDE
This slide pairs with slide 29 — show them together or flip between them during Q&amp;A.
PACE: This slide is dense. You do NOT need to read every bullet. Pick the two or three most relevant to your audience and go deep. Common approaches:
FOR A MIXED AUDIENCE (ops + dev):
  - Lead with the memory fixes (hardcoded -Xmx → MaxRAMPercentage)
  - Spend time on the HPA fix (minReplicas: 2, stabilizationWindowSeconds: 120)
  - Close on observability (you can't fix what you can't see)
FOR A QUARKUS-FOCUSED AUDIENCE:
  - AOT fixes are the most Quarkus-specific — cover @QuarkusIntegrationTest thoroughly
  - quarkus-micrometer-opentelemetry consolidation is a meaningful dependency cleanup
  - The GC histogram property is one line they can add today
MEMORY FIXES — the key message:
  "The first fix is the most important: replace every hardcoded -Xmx in your Dockerfiles with UseContainerSupport and MaxRAMPercentage=75. Right now. Today. This one change will prevent more OOMKills than anything else in this entire talk."
GC/CPU FIXES:
  "minReplicas: 2 is the cheapest high-availability improvement available to you. It costs exactly one extra pod. It eliminates the 100% error rate during GC pause scenario. There is no reason not to do this."
  "The stabilizationWindowSeconds fix is counterintuitive — you're slowing HPA DOWN. But for Java workloads, a fast-reacting HPA is actively harmful. GC spikes are short-lived. Let them pass. 120 seconds on scale-up means HPA will only act on sustained load, not transient GC spikes."
AOT/STARTUP FIXES:
  "Pin your JDK version in your FROM line. app.aot is tied to the exact JDK version that generated it. If your CI builds with eclipse-temurin:25.0.1 and your runtime is 25.0.2, the JVM detects the mismatch and quietly rebuilds the cache on first start — giving you zero benefit on that deployment. FROM eclipse-temurin:25.0.1-jre not 25-jre."
OBSERVABILITY FIXES:
  "The baseline rule is the most important professional discipline: measure before you change anything. If you tune -XX:MaxGCPauseMillis from 200 to 100 and your P99 improves by 30%, you need a before/after measurement to know that. Without a baseline, every JVM tuning change is a guess. With a baseline, it's an experiment with a result."
→ The next slide shows the anti-pattern → fix mapping as a visual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0BCD4"/>
          </a:solidFill>
          <a:ln/>
        </p:spPr>
      </p:sp>
      <p:sp>
        <p:nvSpPr>
          <p:cNvPr id="3" name="Shape 1"/>
          <p:cNvSpPr/>
          <p:nvPr/>
        </p:nvSpPr>
        <p:spPr>
          <a:xfrm>
            <a:off x="0" y="0"/>
            <a:ext cx="9144000" cy="109728"/>
          </a:xfrm>
          <a:prstGeom prst="rect">
            <a:avLst/>
          </a:prstGeom>
          <a:solidFill>
            <a:srgbClr val="00BCD4"/>
          </a:solidFill>
          <a:ln/>
        </p:spPr>
      </p:sp>
      <p:sp>
        <p:nvSpPr>
          <p:cNvPr id="4" name="Shape 2"/>
          <p:cNvSpPr/>
          <p:nvPr/>
        </p:nvSpPr>
        <p:spPr>
          <a:xfrm>
            <a:off x="6858000" y="2926080"/>
            <a:ext cx="3200400" cy="3200400"/>
          </a:xfrm>
          <a:prstGeom prst="ellipse">
            <a:avLst/>
          </a:prstGeom>
          <a:solidFill>
            <a:srgbClr val="1E6FC8">
              <a:alpha val="18000"/>
            </a:srgbClr>
          </a:solidFill>
          <a:ln w="12700">
            <a:solidFill>
              <a:srgbClr val="1E6FC8"/>
            </a:solidFill>
            <a:prstDash val="solid"/>
          </a:ln>
        </p:spPr>
      </p:sp>
      <p:sp>
        <p:nvSpPr>
          <p:cNvPr id="5" name="Shape 3"/>
          <p:cNvSpPr/>
          <p:nvPr/>
        </p:nvSpPr>
        <p:spPr>
          <a:xfrm>
            <a:off x="7498080" y="182880"/>
            <a:ext cx="2011680" cy="2011680"/>
          </a:xfrm>
          <a:prstGeom prst="ellipse">
            <a:avLst/>
          </a:prstGeom>
          <a:solidFill>
            <a:srgbClr val="00BCD4">
              <a:alpha val="12000"/>
            </a:srgbClr>
          </a:solidFill>
          <a:ln w="12700">
            <a:solidFill>
              <a:srgbClr val="00BCD4"/>
            </a:solidFill>
            <a:prstDash val="solid"/>
          </a:ln>
        </p:spPr>
      </p:sp>
      <p:sp>
        <p:nvSpPr>
          <p:cNvPr id="6" name="Text 4"/>
          <p:cNvSpPr/>
          <p:nvPr/>
        </p:nvSpPr>
        <p:spPr>
          <a:xfrm>
            <a:off x="457200" y="640080"/>
            <a:ext cx="8229600" cy="594360"/>
          </a:xfrm>
          <a:prstGeom prst="rect">
            <a:avLst/>
          </a:prstGeom>
          <a:noFill/>
          <a:ln/>
        </p:spPr>
        <p:txBody>
          <a:bodyPr wrap="square" lIns="0" tIns="0" rIns="0" bIns="0" rtlCol="0" anchor="ctr"/>
          <a:lstStyle/>
          <a:p>
            <a:pPr indent="0" marL="0">
              <a:buNone/>
            </a:pPr>
            <a:r>
              <a:rPr lang="en-US" sz="1400" b="1" spc="600" kern="0" dirty="0">
                <a:solidFill>
                  <a:srgbClr val="00BCD4"/>
                </a:solidFill>
              </a:rPr>
              <a:t>TAMING THE JVM</a:t>
            </a:r>
            <a:endParaRPr lang="en-US" sz="1400" dirty="0"/>
          </a:p>
        </p:txBody>
      </p:sp>
      <p:sp>
        <p:nvSpPr>
          <p:cNvPr id="7" name="Text 5"/>
          <p:cNvSpPr/>
          <p:nvPr/>
        </p:nvSpPr>
        <p:spPr>
          <a:xfrm>
            <a:off x="457200" y="1234440"/>
            <a:ext cx="7772400" cy="1554480"/>
          </a:xfrm>
          <a:prstGeom prst="rect">
            <a:avLst/>
          </a:prstGeom>
          <a:noFill/>
          <a:ln/>
        </p:spPr>
        <p:txBody>
          <a:bodyPr wrap="square" lIns="0" tIns="0" rIns="0" bIns="0" rtlCol="0" anchor="ctr"/>
          <a:lstStyle/>
          <a:p>
            <a:pPr indent="0" marL="0">
              <a:buNone/>
            </a:pPr>
            <a:r>
              <a:rPr lang="en-US" sz="4000" b="1" dirty="0">
                <a:solidFill>
                  <a:srgbClr val="ECF0F1"/>
                </a:solidFill>
              </a:rPr>
              <a:t>Optimizing Java Workloads</a:t>
            </a:r>
            <a:endParaRPr lang="en-US" sz="4000" dirty="0"/>
          </a:p>
          <a:p>
            <a:pPr indent="0" marL="0">
              <a:buNone/>
            </a:pPr>
            <a:r>
              <a:rPr lang="en-US" sz="4000" b="1" dirty="0">
                <a:solidFill>
                  <a:srgbClr val="ECF0F1"/>
                </a:solidFill>
              </a:rPr>
              <a:t>on OpenShift &amp; Kubernetes</a:t>
            </a:r>
            <a:endParaRPr lang="en-US" sz="4000" dirty="0"/>
          </a:p>
        </p:txBody>
      </p:sp>
      <p:sp>
        <p:nvSpPr>
          <p:cNvPr id="8" name="Text 6"/>
          <p:cNvSpPr/>
          <p:nvPr/>
        </p:nvSpPr>
        <p:spPr>
          <a:xfrm>
            <a:off x="457200" y="2834640"/>
            <a:ext cx="7772400" cy="365760"/>
          </a:xfrm>
          <a:prstGeom prst="rect">
            <a:avLst/>
          </a:prstGeom>
          <a:noFill/>
          <a:ln/>
        </p:spPr>
        <p:txBody>
          <a:bodyPr wrap="square" lIns="0" tIns="0" rIns="0" bIns="0" rtlCol="0" anchor="ctr"/>
          <a:lstStyle/>
          <a:p>
            <a:pPr indent="0" marL="0">
              <a:buNone/>
            </a:pPr>
            <a:r>
              <a:rPr lang="en-US" sz="1300" dirty="0">
                <a:solidFill>
                  <a:srgbClr val="90A4AE"/>
                </a:solidFill>
              </a:rPr>
              <a:t>Quarkus 3.33.1 LTS  •  Java 21  •  Container-aware JVM  •  G1GC / ZGC / Shenandoah  •  AppCDS  •  Virtual Threads  •  Observability</a:t>
            </a:r>
            <a:endParaRPr lang="en-US" sz="1300" dirty="0"/>
          </a:p>
        </p:txBody>
      </p:sp>
      <p:sp>
        <p:nvSpPr>
          <p:cNvPr id="9" name="Shape 7"/>
          <p:cNvSpPr/>
          <p:nvPr/>
        </p:nvSpPr>
        <p:spPr>
          <a:xfrm>
            <a:off x="457200" y="3291840"/>
            <a:ext cx="4114800" cy="27432"/>
          </a:xfrm>
          <a:prstGeom prst="rect">
            <a:avLst/>
          </a:prstGeom>
          <a:solidFill>
            <a:srgbClr val="F5A623"/>
          </a:solidFill>
          <a:ln/>
        </p:spPr>
      </p:sp>
      <p:sp>
        <p:nvSpPr>
          <p:cNvPr id="10" name="Text 8"/>
          <p:cNvSpPr/>
          <p:nvPr/>
        </p:nvSpPr>
        <p:spPr>
          <a:xfrm>
            <a:off x="457200" y="3429000"/>
            <a:ext cx="8229600" cy="320040"/>
          </a:xfrm>
          <a:prstGeom prst="rect">
            <a:avLst/>
          </a:prstGeom>
          <a:noFill/>
          <a:ln/>
        </p:spPr>
        <p:txBody>
          <a:bodyPr wrap="square" lIns="0" tIns="0" rIns="0" bIns="0" rtlCol="0" anchor="ctr"/>
          <a:lstStyle/>
          <a:p>
            <a:pPr indent="0" marL="0">
              <a:buNone/>
            </a:pPr>
            <a:r>
              <a:rPr lang="en-US" sz="1200" i="1" dirty="0">
                <a:solidFill>
                  <a:srgbClr val="F5A623"/>
                </a:solidFill>
              </a:rPr>
              <a:t>Based on: Optimizing Cloud Native Java  |  SRE with Java Microservices  |  Quarkus 3.33.1 LTS</a:t>
            </a:r>
            <a:endParaRPr lang="en-US" sz="1200" dirty="0"/>
          </a:p>
        </p:txBody>
      </p:sp>
      <p:sp>
        <p:nvSpPr>
          <p:cNvPr id="11" name="Text 9"/>
          <p:cNvSpPr/>
          <p:nvPr/>
        </p:nvSpPr>
        <p:spPr>
          <a:xfrm>
            <a:off x="457200" y="3840480"/>
            <a:ext cx="8229600" cy="274320"/>
          </a:xfrm>
          <a:prstGeom prst="rect">
            <a:avLst/>
          </a:prstGeom>
          <a:noFill/>
          <a:ln/>
        </p:spPr>
        <p:txBody>
          <a:bodyPr wrap="square" lIns="0" tIns="0" rIns="0" bIns="0" rtlCol="0" anchor="ctr"/>
          <a:lstStyle/>
          <a:p>
            <a:pPr indent="0" marL="0">
              <a:buNone/>
            </a:pPr>
            <a:r>
              <a:rPr lang="en-US" sz="1100" dirty="0">
                <a:solidFill>
                  <a:srgbClr val="90A4AE"/>
                </a:solidFill>
              </a:rPr>
              <a:t>60-Minute Deep Dive  •  OpenShift Commons / DevNation</a:t>
            </a:r>
            <a:endParaRPr lang="en-US" sz="1100" dirty="0"/>
          </a:p>
        </p:txBody>
      </p:sp>
      <p:sp>
        <p:nvSpPr>
          <p:cNvPr id="12" name="Shape 10"/>
          <p:cNvSpPr/>
          <p:nvPr/>
        </p:nvSpPr>
        <p:spPr>
          <a:xfrm>
            <a:off x="0" y="4846320"/>
            <a:ext cx="9144000" cy="297180"/>
          </a:xfrm>
          <a:prstGeom prst="rect">
            <a:avLst/>
          </a:prstGeom>
          <a:solidFill>
            <a:srgbClr val="08111F"/>
          </a:solidFill>
          <a:ln/>
        </p:spPr>
      </p:sp>
      <p:sp>
        <p:nvSpPr>
          <p:cNvPr id="13" name="Text 11"/>
          <p:cNvSpPr/>
          <p:nvPr/>
        </p:nvSpPr>
        <p:spPr>
          <a:xfrm>
            <a:off x="365760" y="4846320"/>
            <a:ext cx="8412480" cy="297180"/>
          </a:xfrm>
          <a:prstGeom prst="rect">
            <a:avLst/>
          </a:prstGeom>
          <a:noFill/>
          <a:ln/>
        </p:spPr>
        <p:txBody>
          <a:bodyPr wrap="square" lIns="0" tIns="0" rIns="0" bIns="0" rtlCol="0" anchor="ctr"/>
          <a:lstStyle/>
          <a:p>
            <a:pPr algn="ctr" indent="0" marL="0">
              <a:buNone/>
            </a:pPr>
            <a:r>
              <a:rPr lang="en-US" sz="1000" dirty="0">
                <a:solidFill>
                  <a:srgbClr val="90A4AE"/>
                </a:solidFill>
              </a:rPr>
              <a:t>github.com/[your-repo]/java-openshift-optimization-demos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Agenda  —  60 Minutes</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Overview</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2/26</a:t>
            </a:r>
            <a:endParaRPr lang="en-US" sz="900" dirty="0"/>
          </a:p>
        </p:txBody>
      </p:sp>
      <p:sp>
        <p:nvSpPr>
          <p:cNvPr id="7" name="Shape 5"/>
          <p:cNvSpPr/>
          <p:nvPr/>
        </p:nvSpPr>
        <p:spPr>
          <a:xfrm>
            <a:off x="320040" y="804672"/>
            <a:ext cx="4206240" cy="8686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320040" y="804672"/>
            <a:ext cx="502920" cy="868680"/>
          </a:xfrm>
          <a:prstGeom prst="rect">
            <a:avLst/>
          </a:prstGeom>
          <a:solidFill>
            <a:srgbClr val="1E6FC8"/>
          </a:solidFill>
          <a:ln/>
        </p:spPr>
      </p:sp>
      <p:sp>
        <p:nvSpPr>
          <p:cNvPr id="9" name="Text 7"/>
          <p:cNvSpPr/>
          <p:nvPr/>
        </p:nvSpPr>
        <p:spPr>
          <a:xfrm>
            <a:off x="320040" y="804672"/>
            <a:ext cx="502920" cy="868680"/>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10" name="Text 8"/>
          <p:cNvSpPr/>
          <p:nvPr/>
        </p:nvSpPr>
        <p:spPr>
          <a:xfrm>
            <a:off x="914400" y="896112"/>
            <a:ext cx="3063240" cy="475488"/>
          </a:xfrm>
          <a:prstGeom prst="rect">
            <a:avLst/>
          </a:prstGeom>
          <a:noFill/>
          <a:ln/>
        </p:spPr>
        <p:txBody>
          <a:bodyPr wrap="square" lIns="0" tIns="0" rIns="0" bIns="0" rtlCol="0" anchor="ctr"/>
          <a:lstStyle/>
          <a:p>
            <a:pPr indent="0" marL="0">
              <a:buNone/>
            </a:pPr>
            <a:r>
              <a:rPr lang="en-US" sz="1200" b="1" dirty="0">
                <a:solidFill>
                  <a:srgbClr val="1A2B3C"/>
                </a:solidFill>
              </a:rPr>
              <a:t>Container-Native JVM Fundamentals</a:t>
            </a:r>
            <a:endParaRPr lang="en-US" sz="1200" dirty="0"/>
          </a:p>
        </p:txBody>
      </p:sp>
      <p:sp>
        <p:nvSpPr>
          <p:cNvPr id="11" name="Text 9"/>
          <p:cNvSpPr/>
          <p:nvPr/>
        </p:nvSpPr>
        <p:spPr>
          <a:xfrm>
            <a:off x="914400" y="1389888"/>
            <a:ext cx="3566160" cy="219456"/>
          </a:xfrm>
          <a:prstGeom prst="rect">
            <a:avLst/>
          </a:prstGeom>
          <a:noFill/>
          <a:ln/>
        </p:spPr>
        <p:txBody>
          <a:bodyPr wrap="square" lIns="0" tIns="0" rIns="0" bIns="0" rtlCol="0" anchor="ctr"/>
          <a:lstStyle/>
          <a:p>
            <a:pPr indent="0" marL="0">
              <a:buNone/>
            </a:pPr>
            <a:r>
              <a:rPr lang="en-US" sz="1000" dirty="0">
                <a:solidFill>
                  <a:srgbClr val="1E6FC8"/>
                </a:solidFill>
              </a:rPr>
              <a:t>⏱ 8 min</a:t>
            </a:r>
            <a:endParaRPr lang="en-US" sz="1000" dirty="0"/>
          </a:p>
        </p:txBody>
      </p:sp>
      <p:sp>
        <p:nvSpPr>
          <p:cNvPr id="12" name="Shape 10"/>
          <p:cNvSpPr/>
          <p:nvPr/>
        </p:nvSpPr>
        <p:spPr>
          <a:xfrm>
            <a:off x="4800600" y="804672"/>
            <a:ext cx="4206240" cy="8686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4800600" y="804672"/>
            <a:ext cx="502920" cy="868680"/>
          </a:xfrm>
          <a:prstGeom prst="rect">
            <a:avLst/>
          </a:prstGeom>
          <a:solidFill>
            <a:srgbClr val="00BCD4"/>
          </a:solidFill>
          <a:ln/>
        </p:spPr>
      </p:sp>
      <p:sp>
        <p:nvSpPr>
          <p:cNvPr id="14" name="Text 12"/>
          <p:cNvSpPr/>
          <p:nvPr/>
        </p:nvSpPr>
        <p:spPr>
          <a:xfrm>
            <a:off x="4800600" y="804672"/>
            <a:ext cx="502920" cy="868680"/>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5" name="Text 13"/>
          <p:cNvSpPr/>
          <p:nvPr/>
        </p:nvSpPr>
        <p:spPr>
          <a:xfrm>
            <a:off x="5394960" y="896112"/>
            <a:ext cx="3063240" cy="475488"/>
          </a:xfrm>
          <a:prstGeom prst="rect">
            <a:avLst/>
          </a:prstGeom>
          <a:noFill/>
          <a:ln/>
        </p:spPr>
        <p:txBody>
          <a:bodyPr wrap="square" lIns="0" tIns="0" rIns="0" bIns="0" rtlCol="0" anchor="ctr"/>
          <a:lstStyle/>
          <a:p>
            <a:pPr indent="0" marL="0">
              <a:buNone/>
            </a:pPr>
            <a:r>
              <a:rPr lang="en-US" sz="1200" b="1" dirty="0">
                <a:solidFill>
                  <a:srgbClr val="1A2B3C"/>
                </a:solidFill>
              </a:rPr>
              <a:t>Right-Sizing Java Workloads</a:t>
            </a:r>
            <a:endParaRPr lang="en-US" sz="1200" dirty="0"/>
          </a:p>
        </p:txBody>
      </p:sp>
      <p:sp>
        <p:nvSpPr>
          <p:cNvPr id="16" name="Text 14"/>
          <p:cNvSpPr/>
          <p:nvPr/>
        </p:nvSpPr>
        <p:spPr>
          <a:xfrm>
            <a:off x="5394960" y="1389888"/>
            <a:ext cx="3566160" cy="219456"/>
          </a:xfrm>
          <a:prstGeom prst="rect">
            <a:avLst/>
          </a:prstGeom>
          <a:noFill/>
          <a:ln/>
        </p:spPr>
        <p:txBody>
          <a:bodyPr wrap="square" lIns="0" tIns="0" rIns="0" bIns="0" rtlCol="0" anchor="ctr"/>
          <a:lstStyle/>
          <a:p>
            <a:pPr indent="0" marL="0">
              <a:buNone/>
            </a:pPr>
            <a:r>
              <a:rPr lang="en-US" sz="1000" dirty="0">
                <a:solidFill>
                  <a:srgbClr val="00BCD4"/>
                </a:solidFill>
              </a:rPr>
              <a:t>⏱ 6 min</a:t>
            </a:r>
            <a:endParaRPr lang="en-US" sz="1000" dirty="0"/>
          </a:p>
        </p:txBody>
      </p:sp>
      <p:sp>
        <p:nvSpPr>
          <p:cNvPr id="17" name="Shape 15"/>
          <p:cNvSpPr/>
          <p:nvPr/>
        </p:nvSpPr>
        <p:spPr>
          <a:xfrm>
            <a:off x="320040" y="1792224"/>
            <a:ext cx="4206240" cy="8686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320040" y="1792224"/>
            <a:ext cx="502920" cy="868680"/>
          </a:xfrm>
          <a:prstGeom prst="rect">
            <a:avLst/>
          </a:prstGeom>
          <a:solidFill>
            <a:srgbClr val="F5A623"/>
          </a:solidFill>
          <a:ln/>
        </p:spPr>
      </p:sp>
      <p:sp>
        <p:nvSpPr>
          <p:cNvPr id="19" name="Text 17"/>
          <p:cNvSpPr/>
          <p:nvPr/>
        </p:nvSpPr>
        <p:spPr>
          <a:xfrm>
            <a:off x="320040" y="1792224"/>
            <a:ext cx="502920" cy="868680"/>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20" name="Text 18"/>
          <p:cNvSpPr/>
          <p:nvPr/>
        </p:nvSpPr>
        <p:spPr>
          <a:xfrm>
            <a:off x="914400" y="1883664"/>
            <a:ext cx="3063240" cy="475488"/>
          </a:xfrm>
          <a:prstGeom prst="rect">
            <a:avLst/>
          </a:prstGeom>
          <a:noFill/>
          <a:ln/>
        </p:spPr>
        <p:txBody>
          <a:bodyPr wrap="square" lIns="0" tIns="0" rIns="0" bIns="0" rtlCol="0" anchor="ctr"/>
          <a:lstStyle/>
          <a:p>
            <a:pPr indent="0" marL="0">
              <a:buNone/>
            </a:pPr>
            <a:r>
              <a:rPr lang="en-US" sz="1200" b="1" dirty="0">
                <a:solidFill>
                  <a:srgbClr val="1A2B3C"/>
                </a:solidFill>
              </a:rPr>
              <a:t>Garbage Collection Optimization</a:t>
            </a:r>
            <a:endParaRPr lang="en-US" sz="1200" dirty="0"/>
          </a:p>
        </p:txBody>
      </p:sp>
      <p:sp>
        <p:nvSpPr>
          <p:cNvPr id="21" name="Text 19"/>
          <p:cNvSpPr/>
          <p:nvPr/>
        </p:nvSpPr>
        <p:spPr>
          <a:xfrm>
            <a:off x="914400" y="2377440"/>
            <a:ext cx="3566160" cy="219456"/>
          </a:xfrm>
          <a:prstGeom prst="rect">
            <a:avLst/>
          </a:prstGeom>
          <a:noFill/>
          <a:ln/>
        </p:spPr>
        <p:txBody>
          <a:bodyPr wrap="square" lIns="0" tIns="0" rIns="0" bIns="0" rtlCol="0" anchor="ctr"/>
          <a:lstStyle/>
          <a:p>
            <a:pPr indent="0" marL="0">
              <a:buNone/>
            </a:pPr>
            <a:r>
              <a:rPr lang="en-US" sz="1000" dirty="0">
                <a:solidFill>
                  <a:srgbClr val="F5A623"/>
                </a:solidFill>
              </a:rPr>
              <a:t>⏱ 8 min</a:t>
            </a:r>
            <a:endParaRPr lang="en-US" sz="1000" dirty="0"/>
          </a:p>
        </p:txBody>
      </p:sp>
      <p:sp>
        <p:nvSpPr>
          <p:cNvPr id="22" name="Shape 20"/>
          <p:cNvSpPr/>
          <p:nvPr/>
        </p:nvSpPr>
        <p:spPr>
          <a:xfrm>
            <a:off x="4800600" y="1792224"/>
            <a:ext cx="4206240" cy="8686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4800600" y="1792224"/>
            <a:ext cx="502920" cy="868680"/>
          </a:xfrm>
          <a:prstGeom prst="rect">
            <a:avLst/>
          </a:prstGeom>
          <a:solidFill>
            <a:srgbClr val="27AE60"/>
          </a:solidFill>
          <a:ln/>
        </p:spPr>
      </p:sp>
      <p:sp>
        <p:nvSpPr>
          <p:cNvPr id="24" name="Text 22"/>
          <p:cNvSpPr/>
          <p:nvPr/>
        </p:nvSpPr>
        <p:spPr>
          <a:xfrm>
            <a:off x="4800600" y="1792224"/>
            <a:ext cx="502920" cy="868680"/>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25" name="Text 23"/>
          <p:cNvSpPr/>
          <p:nvPr/>
        </p:nvSpPr>
        <p:spPr>
          <a:xfrm>
            <a:off x="5394960" y="1883664"/>
            <a:ext cx="3063240" cy="475488"/>
          </a:xfrm>
          <a:prstGeom prst="rect">
            <a:avLst/>
          </a:prstGeom>
          <a:noFill/>
          <a:ln/>
        </p:spPr>
        <p:txBody>
          <a:bodyPr wrap="square" lIns="0" tIns="0" rIns="0" bIns="0" rtlCol="0" anchor="ctr"/>
          <a:lstStyle/>
          <a:p>
            <a:pPr indent="0" marL="0">
              <a:buNone/>
            </a:pPr>
            <a:r>
              <a:rPr lang="en-US" sz="1200" b="1" dirty="0">
                <a:solidFill>
                  <a:srgbClr val="1A2B3C"/>
                </a:solidFill>
              </a:rPr>
              <a:t>Startup Time Reduction (CDS / AppCDS)</a:t>
            </a:r>
            <a:endParaRPr lang="en-US" sz="1200" dirty="0"/>
          </a:p>
        </p:txBody>
      </p:sp>
      <p:sp>
        <p:nvSpPr>
          <p:cNvPr id="26" name="Text 24"/>
          <p:cNvSpPr/>
          <p:nvPr/>
        </p:nvSpPr>
        <p:spPr>
          <a:xfrm>
            <a:off x="5394960" y="2377440"/>
            <a:ext cx="3566160" cy="219456"/>
          </a:xfrm>
          <a:prstGeom prst="rect">
            <a:avLst/>
          </a:prstGeom>
          <a:noFill/>
          <a:ln/>
        </p:spPr>
        <p:txBody>
          <a:bodyPr wrap="square" lIns="0" tIns="0" rIns="0" bIns="0" rtlCol="0" anchor="ctr"/>
          <a:lstStyle/>
          <a:p>
            <a:pPr indent="0" marL="0">
              <a:buNone/>
            </a:pPr>
            <a:r>
              <a:rPr lang="en-US" sz="1000" dirty="0">
                <a:solidFill>
                  <a:srgbClr val="27AE60"/>
                </a:solidFill>
              </a:rPr>
              <a:t>⏱ 7 min</a:t>
            </a:r>
            <a:endParaRPr lang="en-US" sz="1000" dirty="0"/>
          </a:p>
        </p:txBody>
      </p:sp>
      <p:sp>
        <p:nvSpPr>
          <p:cNvPr id="27" name="Shape 25"/>
          <p:cNvSpPr/>
          <p:nvPr/>
        </p:nvSpPr>
        <p:spPr>
          <a:xfrm>
            <a:off x="320040" y="2779776"/>
            <a:ext cx="4206240" cy="8686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320040" y="2779776"/>
            <a:ext cx="502920" cy="868680"/>
          </a:xfrm>
          <a:prstGeom prst="rect">
            <a:avLst/>
          </a:prstGeom>
          <a:solidFill>
            <a:srgbClr val="E84855"/>
          </a:solidFill>
          <a:ln/>
        </p:spPr>
      </p:sp>
      <p:sp>
        <p:nvSpPr>
          <p:cNvPr id="29" name="Text 27"/>
          <p:cNvSpPr/>
          <p:nvPr/>
        </p:nvSpPr>
        <p:spPr>
          <a:xfrm>
            <a:off x="320040" y="2779776"/>
            <a:ext cx="502920" cy="868680"/>
          </a:xfrm>
          <a:prstGeom prst="rect">
            <a:avLst/>
          </a:prstGeom>
          <a:no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30" name="Text 28"/>
          <p:cNvSpPr/>
          <p:nvPr/>
        </p:nvSpPr>
        <p:spPr>
          <a:xfrm>
            <a:off x="914400" y="2871216"/>
            <a:ext cx="3063240" cy="475488"/>
          </a:xfrm>
          <a:prstGeom prst="rect">
            <a:avLst/>
          </a:prstGeom>
          <a:noFill/>
          <a:ln/>
        </p:spPr>
        <p:txBody>
          <a:bodyPr wrap="square" lIns="0" tIns="0" rIns="0" bIns="0" rtlCol="0" anchor="ctr"/>
          <a:lstStyle/>
          <a:p>
            <a:pPr indent="0" marL="0">
              <a:buNone/>
            </a:pPr>
            <a:r>
              <a:rPr lang="en-US" sz="1200" b="1" dirty="0">
                <a:solidFill>
                  <a:srgbClr val="1A2B3C"/>
                </a:solidFill>
              </a:rPr>
              <a:t>Observability &amp; Instrumentation</a:t>
            </a:r>
            <a:endParaRPr lang="en-US" sz="1200" dirty="0"/>
          </a:p>
        </p:txBody>
      </p:sp>
      <p:sp>
        <p:nvSpPr>
          <p:cNvPr id="31" name="Text 29"/>
          <p:cNvSpPr/>
          <p:nvPr/>
        </p:nvSpPr>
        <p:spPr>
          <a:xfrm>
            <a:off x="914400" y="3364992"/>
            <a:ext cx="3566160" cy="219456"/>
          </a:xfrm>
          <a:prstGeom prst="rect">
            <a:avLst/>
          </a:prstGeom>
          <a:noFill/>
          <a:ln/>
        </p:spPr>
        <p:txBody>
          <a:bodyPr wrap="square" lIns="0" tIns="0" rIns="0" bIns="0" rtlCol="0" anchor="ctr"/>
          <a:lstStyle/>
          <a:p>
            <a:pPr indent="0" marL="0">
              <a:buNone/>
            </a:pPr>
            <a:r>
              <a:rPr lang="en-US" sz="1000" dirty="0">
                <a:solidFill>
                  <a:srgbClr val="E84855"/>
                </a:solidFill>
              </a:rPr>
              <a:t>⏱ 8 min</a:t>
            </a:r>
            <a:endParaRPr lang="en-US" sz="1000" dirty="0"/>
          </a:p>
        </p:txBody>
      </p:sp>
      <p:sp>
        <p:nvSpPr>
          <p:cNvPr id="32" name="Shape 30"/>
          <p:cNvSpPr/>
          <p:nvPr/>
        </p:nvSpPr>
        <p:spPr>
          <a:xfrm>
            <a:off x="4800600" y="2779776"/>
            <a:ext cx="4206240" cy="8686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4800600" y="2779776"/>
            <a:ext cx="502920" cy="868680"/>
          </a:xfrm>
          <a:prstGeom prst="rect">
            <a:avLst/>
          </a:prstGeom>
          <a:solidFill>
            <a:srgbClr val="7C3AED"/>
          </a:solidFill>
          <a:ln/>
        </p:spPr>
      </p:sp>
      <p:sp>
        <p:nvSpPr>
          <p:cNvPr id="34" name="Text 32"/>
          <p:cNvSpPr/>
          <p:nvPr/>
        </p:nvSpPr>
        <p:spPr>
          <a:xfrm>
            <a:off x="4800600" y="2779776"/>
            <a:ext cx="502920" cy="868680"/>
          </a:xfrm>
          <a:prstGeom prst="rect">
            <a:avLst/>
          </a:prstGeom>
          <a:noFill/>
          <a:ln/>
        </p:spPr>
        <p:txBody>
          <a:bodyPr wrap="square" lIns="0" tIns="0" rIns="0" bIns="0" rtlCol="0" anchor="ctr"/>
          <a:lstStyle/>
          <a:p>
            <a:pPr algn="ctr" indent="0" marL="0">
              <a:buNone/>
            </a:pPr>
            <a:r>
              <a:rPr lang="en-US" sz="1600" b="1" dirty="0">
                <a:solidFill>
                  <a:srgbClr val="FFFFFF"/>
                </a:solidFill>
              </a:rPr>
              <a:t>06</a:t>
            </a:r>
            <a:endParaRPr lang="en-US" sz="1600" dirty="0"/>
          </a:p>
        </p:txBody>
      </p:sp>
      <p:sp>
        <p:nvSpPr>
          <p:cNvPr id="35" name="Text 33"/>
          <p:cNvSpPr/>
          <p:nvPr/>
        </p:nvSpPr>
        <p:spPr>
          <a:xfrm>
            <a:off x="5394960" y="2871216"/>
            <a:ext cx="3063240" cy="475488"/>
          </a:xfrm>
          <a:prstGeom prst="rect">
            <a:avLst/>
          </a:prstGeom>
          <a:noFill/>
          <a:ln/>
        </p:spPr>
        <p:txBody>
          <a:bodyPr wrap="square" lIns="0" tIns="0" rIns="0" bIns="0" rtlCol="0" anchor="ctr"/>
          <a:lstStyle/>
          <a:p>
            <a:pPr indent="0" marL="0">
              <a:buNone/>
            </a:pPr>
            <a:r>
              <a:rPr lang="en-US" sz="1200" b="1" dirty="0">
                <a:solidFill>
                  <a:srgbClr val="1A2B3C"/>
                </a:solidFill>
              </a:rPr>
              <a:t>Autoscaling Integration</a:t>
            </a:r>
            <a:endParaRPr lang="en-US" sz="1200" dirty="0"/>
          </a:p>
        </p:txBody>
      </p:sp>
      <p:sp>
        <p:nvSpPr>
          <p:cNvPr id="36" name="Text 34"/>
          <p:cNvSpPr/>
          <p:nvPr/>
        </p:nvSpPr>
        <p:spPr>
          <a:xfrm>
            <a:off x="5394960" y="3364992"/>
            <a:ext cx="3566160" cy="219456"/>
          </a:xfrm>
          <a:prstGeom prst="rect">
            <a:avLst/>
          </a:prstGeom>
          <a:noFill/>
          <a:ln/>
        </p:spPr>
        <p:txBody>
          <a:bodyPr wrap="square" lIns="0" tIns="0" rIns="0" bIns="0" rtlCol="0" anchor="ctr"/>
          <a:lstStyle/>
          <a:p>
            <a:pPr indent="0" marL="0">
              <a:buNone/>
            </a:pPr>
            <a:r>
              <a:rPr lang="en-US" sz="1000" dirty="0">
                <a:solidFill>
                  <a:srgbClr val="7C3AED"/>
                </a:solidFill>
              </a:rPr>
              <a:t>⏱ 6 min</a:t>
            </a:r>
            <a:endParaRPr lang="en-US" sz="1000" dirty="0"/>
          </a:p>
        </p:txBody>
      </p:sp>
      <p:sp>
        <p:nvSpPr>
          <p:cNvPr id="37" name="Shape 35"/>
          <p:cNvSpPr/>
          <p:nvPr/>
        </p:nvSpPr>
        <p:spPr>
          <a:xfrm>
            <a:off x="320040" y="3767328"/>
            <a:ext cx="4206240" cy="8686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320040" y="3767328"/>
            <a:ext cx="502920" cy="868680"/>
          </a:xfrm>
          <a:prstGeom prst="rect">
            <a:avLst/>
          </a:prstGeom>
          <a:solidFill>
            <a:srgbClr val="1E6FC8"/>
          </a:solidFill>
          <a:ln/>
        </p:spPr>
      </p:sp>
      <p:sp>
        <p:nvSpPr>
          <p:cNvPr id="39" name="Text 37"/>
          <p:cNvSpPr/>
          <p:nvPr/>
        </p:nvSpPr>
        <p:spPr>
          <a:xfrm>
            <a:off x="320040" y="3767328"/>
            <a:ext cx="502920" cy="868680"/>
          </a:xfrm>
          <a:prstGeom prst="rect">
            <a:avLst/>
          </a:prstGeom>
          <a:noFill/>
          <a:ln/>
        </p:spPr>
        <p:txBody>
          <a:bodyPr wrap="square" lIns="0" tIns="0" rIns="0" bIns="0" rtlCol="0" anchor="ctr"/>
          <a:lstStyle/>
          <a:p>
            <a:pPr algn="ctr" indent="0" marL="0">
              <a:buNone/>
            </a:pPr>
            <a:r>
              <a:rPr lang="en-US" sz="1600" b="1" dirty="0">
                <a:solidFill>
                  <a:srgbClr val="FFFFFF"/>
                </a:solidFill>
              </a:rPr>
              <a:t>07</a:t>
            </a:r>
            <a:endParaRPr lang="en-US" sz="1600" dirty="0"/>
          </a:p>
        </p:txBody>
      </p:sp>
      <p:sp>
        <p:nvSpPr>
          <p:cNvPr id="40" name="Text 38"/>
          <p:cNvSpPr/>
          <p:nvPr/>
        </p:nvSpPr>
        <p:spPr>
          <a:xfrm>
            <a:off x="914400" y="3858768"/>
            <a:ext cx="3063240" cy="475488"/>
          </a:xfrm>
          <a:prstGeom prst="rect">
            <a:avLst/>
          </a:prstGeom>
          <a:noFill/>
          <a:ln/>
        </p:spPr>
        <p:txBody>
          <a:bodyPr wrap="square" lIns="0" tIns="0" rIns="0" bIns="0" rtlCol="0" anchor="ctr"/>
          <a:lstStyle/>
          <a:p>
            <a:pPr indent="0" marL="0">
              <a:buNone/>
            </a:pPr>
            <a:r>
              <a:rPr lang="en-US" sz="1200" b="1" dirty="0">
                <a:solidFill>
                  <a:srgbClr val="1A2B3C"/>
                </a:solidFill>
              </a:rPr>
              <a:t>Systematic Tuning Workflow &amp; Cost ROI</a:t>
            </a:r>
            <a:endParaRPr lang="en-US" sz="1200" dirty="0"/>
          </a:p>
        </p:txBody>
      </p:sp>
      <p:sp>
        <p:nvSpPr>
          <p:cNvPr id="41" name="Text 39"/>
          <p:cNvSpPr/>
          <p:nvPr/>
        </p:nvSpPr>
        <p:spPr>
          <a:xfrm>
            <a:off x="914400" y="4352544"/>
            <a:ext cx="3566160" cy="219456"/>
          </a:xfrm>
          <a:prstGeom prst="rect">
            <a:avLst/>
          </a:prstGeom>
          <a:noFill/>
          <a:ln/>
        </p:spPr>
        <p:txBody>
          <a:bodyPr wrap="square" lIns="0" tIns="0" rIns="0" bIns="0" rtlCol="0" anchor="ctr"/>
          <a:lstStyle/>
          <a:p>
            <a:pPr indent="0" marL="0">
              <a:buNone/>
            </a:pPr>
            <a:r>
              <a:rPr lang="en-US" sz="1000" dirty="0">
                <a:solidFill>
                  <a:srgbClr val="1E6FC8"/>
                </a:solidFill>
              </a:rPr>
              <a:t>⏱ 7 min</a:t>
            </a:r>
            <a:endParaRPr lang="en-US" sz="1000" dirty="0"/>
          </a:p>
        </p:txBody>
      </p:sp>
      <p:sp>
        <p:nvSpPr>
          <p:cNvPr id="42" name="Shape 40"/>
          <p:cNvSpPr/>
          <p:nvPr/>
        </p:nvSpPr>
        <p:spPr>
          <a:xfrm>
            <a:off x="320040" y="4370832"/>
            <a:ext cx="8503920" cy="384048"/>
          </a:xfrm>
          <a:prstGeom prst="rect">
            <a:avLst/>
          </a:prstGeom>
          <a:solidFill>
            <a:srgbClr val="0A1628"/>
          </a:solidFill>
          <a:ln/>
          <a:effectLst>
            <a:outerShdw sx="100000" sy="100000" kx="0" ky="0" algn="bl" rotWithShape="0" blurRad="101600" dist="38100" dir="8100000">
              <a:srgbClr val="000000">
                <a:alpha val="18000"/>
              </a:srgbClr>
            </a:outerShdw>
          </a:effectLst>
        </p:spPr>
      </p:sp>
      <p:sp>
        <p:nvSpPr>
          <p:cNvPr id="43" name="Text 41"/>
          <p:cNvSpPr/>
          <p:nvPr/>
        </p:nvSpPr>
        <p:spPr>
          <a:xfrm>
            <a:off x="457200" y="4370832"/>
            <a:ext cx="8321040" cy="384048"/>
          </a:xfrm>
          <a:prstGeom prst="rect">
            <a:avLst/>
          </a:prstGeom>
          <a:noFill/>
          <a:ln/>
        </p:spPr>
        <p:txBody>
          <a:bodyPr wrap="square" lIns="0" tIns="0" rIns="0" bIns="0" rtlCol="0" anchor="ctr"/>
          <a:lstStyle/>
          <a:p>
            <a:pPr algn="ctr" indent="0" marL="0">
              <a:buNone/>
            </a:pPr>
            <a:r>
              <a:rPr lang="en-US" sz="1100" b="1" dirty="0">
                <a:solidFill>
                  <a:srgbClr val="00E5C3"/>
                </a:solidFill>
              </a:rPr>
              <a:t>🎯  3 Live Demos: Container Heap Sizing  •  Quarkus GC Monitoring (Grafana LGTM stack)  •  Quarkus AOT Cache Startup  (10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Why Java + Kubernetes = Complexity</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The Problem</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3/26</a:t>
            </a:r>
            <a:endParaRPr lang="en-US" sz="900" dirty="0"/>
          </a:p>
        </p:txBody>
      </p:sp>
      <p:sp>
        <p:nvSpPr>
          <p:cNvPr id="7" name="Shape 5"/>
          <p:cNvSpPr/>
          <p:nvPr/>
        </p:nvSpPr>
        <p:spPr>
          <a:xfrm>
            <a:off x="274320" y="777240"/>
            <a:ext cx="2011680" cy="1188720"/>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8" name="Text 6"/>
          <p:cNvSpPr/>
          <p:nvPr/>
        </p:nvSpPr>
        <p:spPr>
          <a:xfrm>
            <a:off x="274320" y="868680"/>
            <a:ext cx="2011680" cy="653796"/>
          </a:xfrm>
          <a:prstGeom prst="rect">
            <a:avLst/>
          </a:prstGeom>
          <a:noFill/>
          <a:ln/>
        </p:spPr>
        <p:txBody>
          <a:bodyPr wrap="square" lIns="0" tIns="0" rIns="0" bIns="0" rtlCol="0" anchor="b"/>
          <a:lstStyle/>
          <a:p>
            <a:pPr algn="ctr" indent="0" marL="0">
              <a:buNone/>
            </a:pPr>
            <a:r>
              <a:rPr lang="en-US" sz="3600" b="1" dirty="0">
                <a:solidFill>
                  <a:srgbClr val="E84855"/>
                </a:solidFill>
              </a:rPr>
              <a:t>60%</a:t>
            </a:r>
            <a:endParaRPr lang="en-US" sz="3600" dirty="0"/>
          </a:p>
        </p:txBody>
      </p:sp>
      <p:sp>
        <p:nvSpPr>
          <p:cNvPr id="9" name="Text 7"/>
          <p:cNvSpPr/>
          <p:nvPr/>
        </p:nvSpPr>
        <p:spPr>
          <a:xfrm>
            <a:off x="274320" y="1431036"/>
            <a:ext cx="2011680" cy="475488"/>
          </a:xfrm>
          <a:prstGeom prst="rect">
            <a:avLst/>
          </a:prstGeom>
          <a:noFill/>
          <a:ln/>
        </p:spPr>
        <p:txBody>
          <a:bodyPr wrap="square" lIns="0" tIns="0" rIns="0" bIns="0" rtlCol="0" anchor="t"/>
          <a:lstStyle/>
          <a:p>
            <a:pPr algn="ctr" indent="0" marL="0">
              <a:buNone/>
            </a:pPr>
            <a:r>
              <a:rPr lang="en-US" sz="1100" dirty="0">
                <a:solidFill>
                  <a:srgbClr val="90A4AE"/>
                </a:solidFill>
              </a:rPr>
              <a:t>of Java apps</a:t>
            </a:r>
            <a:endParaRPr lang="en-US" sz="1100" dirty="0"/>
          </a:p>
          <a:p>
            <a:pPr algn="ctr" indent="0" marL="0">
              <a:buNone/>
            </a:pPr>
            <a:r>
              <a:rPr lang="en-US" sz="1100" dirty="0">
                <a:solidFill>
                  <a:srgbClr val="90A4AE"/>
                </a:solidFill>
              </a:rPr>
              <a:t>overprovision memory</a:t>
            </a:r>
            <a:endParaRPr lang="en-US" sz="1100" dirty="0"/>
          </a:p>
        </p:txBody>
      </p:sp>
      <p:sp>
        <p:nvSpPr>
          <p:cNvPr id="10" name="Shape 8"/>
          <p:cNvSpPr/>
          <p:nvPr/>
        </p:nvSpPr>
        <p:spPr>
          <a:xfrm>
            <a:off x="2441448" y="777240"/>
            <a:ext cx="2011680" cy="1188720"/>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11" name="Text 9"/>
          <p:cNvSpPr/>
          <p:nvPr/>
        </p:nvSpPr>
        <p:spPr>
          <a:xfrm>
            <a:off x="2441448" y="868680"/>
            <a:ext cx="2011680" cy="653796"/>
          </a:xfrm>
          <a:prstGeom prst="rect">
            <a:avLst/>
          </a:prstGeom>
          <a:noFill/>
          <a:ln/>
        </p:spPr>
        <p:txBody>
          <a:bodyPr wrap="square" lIns="0" tIns="0" rIns="0" bIns="0" rtlCol="0" anchor="b"/>
          <a:lstStyle/>
          <a:p>
            <a:pPr algn="ctr" indent="0" marL="0">
              <a:buNone/>
            </a:pPr>
            <a:r>
              <a:rPr lang="en-US" sz="3600" b="1" dirty="0">
                <a:solidFill>
                  <a:srgbClr val="F5A623"/>
                </a:solidFill>
              </a:rPr>
              <a:t>4–8s</a:t>
            </a:r>
            <a:endParaRPr lang="en-US" sz="3600" dirty="0"/>
          </a:p>
        </p:txBody>
      </p:sp>
      <p:sp>
        <p:nvSpPr>
          <p:cNvPr id="12" name="Text 10"/>
          <p:cNvSpPr/>
          <p:nvPr/>
        </p:nvSpPr>
        <p:spPr>
          <a:xfrm>
            <a:off x="2441448" y="1431036"/>
            <a:ext cx="2011680" cy="475488"/>
          </a:xfrm>
          <a:prstGeom prst="rect">
            <a:avLst/>
          </a:prstGeom>
          <a:noFill/>
          <a:ln/>
        </p:spPr>
        <p:txBody>
          <a:bodyPr wrap="square" lIns="0" tIns="0" rIns="0" bIns="0" rtlCol="0" anchor="t"/>
          <a:lstStyle/>
          <a:p>
            <a:pPr algn="ctr" indent="0" marL="0">
              <a:buNone/>
            </a:pPr>
            <a:r>
              <a:rPr lang="en-US" sz="1100" dirty="0">
                <a:solidFill>
                  <a:srgbClr val="90A4AE"/>
                </a:solidFill>
              </a:rPr>
              <a:t>typical JVM cold</a:t>
            </a:r>
            <a:endParaRPr lang="en-US" sz="1100" dirty="0"/>
          </a:p>
          <a:p>
            <a:pPr algn="ctr" indent="0" marL="0">
              <a:buNone/>
            </a:pPr>
            <a:r>
              <a:rPr lang="en-US" sz="1100" dirty="0">
                <a:solidFill>
                  <a:srgbClr val="90A4AE"/>
                </a:solidFill>
              </a:rPr>
              <a:t>start on Kubernetes</a:t>
            </a:r>
            <a:endParaRPr lang="en-US" sz="1100" dirty="0"/>
          </a:p>
        </p:txBody>
      </p:sp>
      <p:sp>
        <p:nvSpPr>
          <p:cNvPr id="13" name="Shape 11"/>
          <p:cNvSpPr/>
          <p:nvPr/>
        </p:nvSpPr>
        <p:spPr>
          <a:xfrm>
            <a:off x="4608576" y="777240"/>
            <a:ext cx="2011680" cy="1188720"/>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14" name="Text 12"/>
          <p:cNvSpPr/>
          <p:nvPr/>
        </p:nvSpPr>
        <p:spPr>
          <a:xfrm>
            <a:off x="4608576" y="868680"/>
            <a:ext cx="2011680" cy="653796"/>
          </a:xfrm>
          <a:prstGeom prst="rect">
            <a:avLst/>
          </a:prstGeom>
          <a:noFill/>
          <a:ln/>
        </p:spPr>
        <p:txBody>
          <a:bodyPr wrap="square" lIns="0" tIns="0" rIns="0" bIns="0" rtlCol="0" anchor="b"/>
          <a:lstStyle/>
          <a:p>
            <a:pPr algn="ctr" indent="0" marL="0">
              <a:buNone/>
            </a:pPr>
            <a:r>
              <a:rPr lang="en-US" sz="3600" b="1" dirty="0">
                <a:solidFill>
                  <a:srgbClr val="E84855"/>
                </a:solidFill>
              </a:rPr>
              <a:t>2–3×</a:t>
            </a:r>
            <a:endParaRPr lang="en-US" sz="3600" dirty="0"/>
          </a:p>
        </p:txBody>
      </p:sp>
      <p:sp>
        <p:nvSpPr>
          <p:cNvPr id="15" name="Text 13"/>
          <p:cNvSpPr/>
          <p:nvPr/>
        </p:nvSpPr>
        <p:spPr>
          <a:xfrm>
            <a:off x="4608576" y="1431036"/>
            <a:ext cx="2011680" cy="475488"/>
          </a:xfrm>
          <a:prstGeom prst="rect">
            <a:avLst/>
          </a:prstGeom>
          <a:noFill/>
          <a:ln/>
        </p:spPr>
        <p:txBody>
          <a:bodyPr wrap="square" lIns="0" tIns="0" rIns="0" bIns="0" rtlCol="0" anchor="t"/>
          <a:lstStyle/>
          <a:p>
            <a:pPr algn="ctr" indent="0" marL="0">
              <a:buNone/>
            </a:pPr>
            <a:r>
              <a:rPr lang="en-US" sz="1100" dirty="0">
                <a:solidFill>
                  <a:srgbClr val="90A4AE"/>
                </a:solidFill>
              </a:rPr>
              <a:t>infrastructure waste</a:t>
            </a:r>
            <a:endParaRPr lang="en-US" sz="1100" dirty="0"/>
          </a:p>
          <a:p>
            <a:pPr algn="ctr" indent="0" marL="0">
              <a:buNone/>
            </a:pPr>
            <a:r>
              <a:rPr lang="en-US" sz="1100" dirty="0">
                <a:solidFill>
                  <a:srgbClr val="90A4AE"/>
                </a:solidFill>
              </a:rPr>
              <a:t>from poor bin-packing</a:t>
            </a:r>
            <a:endParaRPr lang="en-US" sz="1100" dirty="0"/>
          </a:p>
        </p:txBody>
      </p:sp>
      <p:sp>
        <p:nvSpPr>
          <p:cNvPr id="16" name="Shape 14"/>
          <p:cNvSpPr/>
          <p:nvPr/>
        </p:nvSpPr>
        <p:spPr>
          <a:xfrm>
            <a:off x="6775704" y="777240"/>
            <a:ext cx="2011680" cy="1188720"/>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17" name="Text 15"/>
          <p:cNvSpPr/>
          <p:nvPr/>
        </p:nvSpPr>
        <p:spPr>
          <a:xfrm>
            <a:off x="6775704" y="868680"/>
            <a:ext cx="2011680" cy="653796"/>
          </a:xfrm>
          <a:prstGeom prst="rect">
            <a:avLst/>
          </a:prstGeom>
          <a:noFill/>
          <a:ln/>
        </p:spPr>
        <p:txBody>
          <a:bodyPr wrap="square" lIns="0" tIns="0" rIns="0" bIns="0" rtlCol="0" anchor="b"/>
          <a:lstStyle/>
          <a:p>
            <a:pPr algn="ctr" indent="0" marL="0">
              <a:buNone/>
            </a:pPr>
            <a:r>
              <a:rPr lang="en-US" sz="3600" b="1" dirty="0">
                <a:solidFill>
                  <a:srgbClr val="F5A623"/>
                </a:solidFill>
              </a:rPr>
              <a:t>$$$</a:t>
            </a:r>
            <a:endParaRPr lang="en-US" sz="3600" dirty="0"/>
          </a:p>
        </p:txBody>
      </p:sp>
      <p:sp>
        <p:nvSpPr>
          <p:cNvPr id="18" name="Text 16"/>
          <p:cNvSpPr/>
          <p:nvPr/>
        </p:nvSpPr>
        <p:spPr>
          <a:xfrm>
            <a:off x="6775704" y="1431036"/>
            <a:ext cx="2011680" cy="475488"/>
          </a:xfrm>
          <a:prstGeom prst="rect">
            <a:avLst/>
          </a:prstGeom>
          <a:noFill/>
          <a:ln/>
        </p:spPr>
        <p:txBody>
          <a:bodyPr wrap="square" lIns="0" tIns="0" rIns="0" bIns="0" rtlCol="0" anchor="t"/>
          <a:lstStyle/>
          <a:p>
            <a:pPr algn="ctr" indent="0" marL="0">
              <a:buNone/>
            </a:pPr>
            <a:r>
              <a:rPr lang="en-US" sz="1100" dirty="0">
                <a:solidFill>
                  <a:srgbClr val="90A4AE"/>
                </a:solidFill>
              </a:rPr>
              <a:t>unnecessary cloud</a:t>
            </a:r>
            <a:endParaRPr lang="en-US" sz="1100" dirty="0"/>
          </a:p>
          <a:p>
            <a:pPr algn="ctr" indent="0" marL="0">
              <a:buNone/>
            </a:pPr>
            <a:r>
              <a:rPr lang="en-US" sz="1100" dirty="0">
                <a:solidFill>
                  <a:srgbClr val="90A4AE"/>
                </a:solidFill>
              </a:rPr>
              <a:t>spend each month</a:t>
            </a:r>
            <a:endParaRPr lang="en-US" sz="1100" dirty="0"/>
          </a:p>
        </p:txBody>
      </p:sp>
      <p:sp>
        <p:nvSpPr>
          <p:cNvPr id="19" name="Text 17"/>
          <p:cNvSpPr/>
          <p:nvPr/>
        </p:nvSpPr>
        <p:spPr>
          <a:xfrm>
            <a:off x="365760" y="2103120"/>
            <a:ext cx="8229600" cy="320040"/>
          </a:xfrm>
          <a:prstGeom prst="rect">
            <a:avLst/>
          </a:prstGeom>
          <a:noFill/>
          <a:ln/>
        </p:spPr>
        <p:txBody>
          <a:bodyPr wrap="square" lIns="0" tIns="0" rIns="0" bIns="0" rtlCol="0" anchor="ctr"/>
          <a:lstStyle/>
          <a:p>
            <a:pPr indent="0" marL="0">
              <a:buNone/>
            </a:pPr>
            <a:r>
              <a:rPr lang="en-US" sz="1400" b="1" dirty="0">
                <a:solidFill>
                  <a:srgbClr val="ECF0F1"/>
                </a:solidFill>
              </a:rPr>
              <a:t>Common failure patterns:</a:t>
            </a:r>
            <a:endParaRPr lang="en-US" sz="1400" dirty="0"/>
          </a:p>
        </p:txBody>
      </p:sp>
      <p:sp>
        <p:nvSpPr>
          <p:cNvPr id="20" name="Shape 18"/>
          <p:cNvSpPr/>
          <p:nvPr/>
        </p:nvSpPr>
        <p:spPr>
          <a:xfrm>
            <a:off x="320040" y="2560320"/>
            <a:ext cx="8503920" cy="402336"/>
          </a:xfrm>
          <a:prstGeom prst="rect">
            <a:avLst/>
          </a:prstGeom>
          <a:solidFill>
            <a:srgbClr val="122040"/>
          </a:solidFill>
          <a:ln/>
        </p:spPr>
      </p:sp>
      <p:sp>
        <p:nvSpPr>
          <p:cNvPr id="21" name="Shape 19"/>
          <p:cNvSpPr/>
          <p:nvPr/>
        </p:nvSpPr>
        <p:spPr>
          <a:xfrm>
            <a:off x="320040" y="2560320"/>
            <a:ext cx="54864" cy="402336"/>
          </a:xfrm>
          <a:prstGeom prst="rect">
            <a:avLst/>
          </a:prstGeom>
          <a:solidFill>
            <a:srgbClr val="E84855"/>
          </a:solidFill>
          <a:ln/>
        </p:spPr>
      </p:sp>
      <p:sp>
        <p:nvSpPr>
          <p:cNvPr id="22" name="Text 20"/>
          <p:cNvSpPr/>
          <p:nvPr/>
        </p:nvSpPr>
        <p:spPr>
          <a:xfrm>
            <a:off x="475488" y="2578608"/>
            <a:ext cx="2194560" cy="365760"/>
          </a:xfrm>
          <a:prstGeom prst="rect">
            <a:avLst/>
          </a:prstGeom>
          <a:noFill/>
          <a:ln/>
        </p:spPr>
        <p:txBody>
          <a:bodyPr wrap="square" lIns="0" tIns="0" rIns="0" bIns="0" rtlCol="0" anchor="ctr"/>
          <a:lstStyle/>
          <a:p>
            <a:pPr indent="0" marL="0">
              <a:buNone/>
            </a:pPr>
            <a:r>
              <a:rPr lang="en-US" sz="1100" b="1" dirty="0">
                <a:solidFill>
                  <a:srgbClr val="E84855"/>
                </a:solidFill>
              </a:rPr>
              <a:t>Default JVM ignores cgroup limits</a:t>
            </a:r>
            <a:endParaRPr lang="en-US" sz="1100" dirty="0"/>
          </a:p>
        </p:txBody>
      </p:sp>
      <p:sp>
        <p:nvSpPr>
          <p:cNvPr id="23" name="Text 21"/>
          <p:cNvSpPr/>
          <p:nvPr/>
        </p:nvSpPr>
        <p:spPr>
          <a:xfrm>
            <a:off x="2788920" y="2578608"/>
            <a:ext cx="5943600" cy="365760"/>
          </a:xfrm>
          <a:prstGeom prst="rect">
            <a:avLst/>
          </a:prstGeom>
          <a:noFill/>
          <a:ln/>
        </p:spPr>
        <p:txBody>
          <a:bodyPr wrap="square" lIns="0" tIns="0" rIns="0" bIns="0" rtlCol="0" anchor="ctr"/>
          <a:lstStyle/>
          <a:p>
            <a:pPr indent="0" marL="0">
              <a:buNone/>
            </a:pPr>
            <a:r>
              <a:rPr lang="en-US" sz="1050" dirty="0">
                <a:solidFill>
                  <a:srgbClr val="ECF0F1"/>
                </a:solidFill>
              </a:rPr>
              <a:t>Default JVM reads host RAM — claims 25% of 256 GB node = 64 GB heap per pod</a:t>
            </a:r>
            <a:endParaRPr lang="en-US" sz="1050" dirty="0"/>
          </a:p>
        </p:txBody>
      </p:sp>
      <p:sp>
        <p:nvSpPr>
          <p:cNvPr id="24" name="Shape 22"/>
          <p:cNvSpPr/>
          <p:nvPr/>
        </p:nvSpPr>
        <p:spPr>
          <a:xfrm>
            <a:off x="320040" y="3017520"/>
            <a:ext cx="8503920" cy="402336"/>
          </a:xfrm>
          <a:prstGeom prst="rect">
            <a:avLst/>
          </a:prstGeom>
          <a:solidFill>
            <a:srgbClr val="122040"/>
          </a:solidFill>
          <a:ln/>
        </p:spPr>
      </p:sp>
      <p:sp>
        <p:nvSpPr>
          <p:cNvPr id="25" name="Shape 23"/>
          <p:cNvSpPr/>
          <p:nvPr/>
        </p:nvSpPr>
        <p:spPr>
          <a:xfrm>
            <a:off x="320040" y="3017520"/>
            <a:ext cx="54864" cy="402336"/>
          </a:xfrm>
          <a:prstGeom prst="rect">
            <a:avLst/>
          </a:prstGeom>
          <a:solidFill>
            <a:srgbClr val="E84855"/>
          </a:solidFill>
          <a:ln/>
        </p:spPr>
      </p:sp>
      <p:sp>
        <p:nvSpPr>
          <p:cNvPr id="26" name="Text 24"/>
          <p:cNvSpPr/>
          <p:nvPr/>
        </p:nvSpPr>
        <p:spPr>
          <a:xfrm>
            <a:off x="475488" y="3035808"/>
            <a:ext cx="2194560" cy="365760"/>
          </a:xfrm>
          <a:prstGeom prst="rect">
            <a:avLst/>
          </a:prstGeom>
          <a:noFill/>
          <a:ln/>
        </p:spPr>
        <p:txBody>
          <a:bodyPr wrap="square" lIns="0" tIns="0" rIns="0" bIns="0" rtlCol="0" anchor="ctr"/>
          <a:lstStyle/>
          <a:p>
            <a:pPr indent="0" marL="0">
              <a:buNone/>
            </a:pPr>
            <a:r>
              <a:rPr lang="en-US" sz="1100" b="1" dirty="0">
                <a:solidFill>
                  <a:srgbClr val="E84855"/>
                </a:solidFill>
              </a:rPr>
              <a:t>OOMKill storms</a:t>
            </a:r>
            <a:endParaRPr lang="en-US" sz="1100" dirty="0"/>
          </a:p>
        </p:txBody>
      </p:sp>
      <p:sp>
        <p:nvSpPr>
          <p:cNvPr id="27" name="Text 25"/>
          <p:cNvSpPr/>
          <p:nvPr/>
        </p:nvSpPr>
        <p:spPr>
          <a:xfrm>
            <a:off x="2788920" y="3035808"/>
            <a:ext cx="5943600" cy="365760"/>
          </a:xfrm>
          <a:prstGeom prst="rect">
            <a:avLst/>
          </a:prstGeom>
          <a:noFill/>
          <a:ln/>
        </p:spPr>
        <p:txBody>
          <a:bodyPr wrap="square" lIns="0" tIns="0" rIns="0" bIns="0" rtlCol="0" anchor="ctr"/>
          <a:lstStyle/>
          <a:p>
            <a:pPr indent="0" marL="0">
              <a:buNone/>
            </a:pPr>
            <a:r>
              <a:rPr lang="en-US" sz="1050" dirty="0">
                <a:solidFill>
                  <a:srgbClr val="ECF0F1"/>
                </a:solidFill>
              </a:rPr>
              <a:t>Container limit is 2 GB; JVM claimed 4 GB → Kubernetes terminates pod mid-request</a:t>
            </a:r>
            <a:endParaRPr lang="en-US" sz="1050" dirty="0"/>
          </a:p>
        </p:txBody>
      </p:sp>
      <p:sp>
        <p:nvSpPr>
          <p:cNvPr id="28" name="Shape 26"/>
          <p:cNvSpPr/>
          <p:nvPr/>
        </p:nvSpPr>
        <p:spPr>
          <a:xfrm>
            <a:off x="320040" y="3474720"/>
            <a:ext cx="8503920" cy="402336"/>
          </a:xfrm>
          <a:prstGeom prst="rect">
            <a:avLst/>
          </a:prstGeom>
          <a:solidFill>
            <a:srgbClr val="122040"/>
          </a:solidFill>
          <a:ln/>
        </p:spPr>
      </p:sp>
      <p:sp>
        <p:nvSpPr>
          <p:cNvPr id="29" name="Shape 27"/>
          <p:cNvSpPr/>
          <p:nvPr/>
        </p:nvSpPr>
        <p:spPr>
          <a:xfrm>
            <a:off x="320040" y="3474720"/>
            <a:ext cx="54864" cy="402336"/>
          </a:xfrm>
          <a:prstGeom prst="rect">
            <a:avLst/>
          </a:prstGeom>
          <a:solidFill>
            <a:srgbClr val="E84855"/>
          </a:solidFill>
          <a:ln/>
        </p:spPr>
      </p:sp>
      <p:sp>
        <p:nvSpPr>
          <p:cNvPr id="30" name="Text 28"/>
          <p:cNvSpPr/>
          <p:nvPr/>
        </p:nvSpPr>
        <p:spPr>
          <a:xfrm>
            <a:off x="475488" y="3493008"/>
            <a:ext cx="2194560" cy="365760"/>
          </a:xfrm>
          <a:prstGeom prst="rect">
            <a:avLst/>
          </a:prstGeom>
          <a:noFill/>
          <a:ln/>
        </p:spPr>
        <p:txBody>
          <a:bodyPr wrap="square" lIns="0" tIns="0" rIns="0" bIns="0" rtlCol="0" anchor="ctr"/>
          <a:lstStyle/>
          <a:p>
            <a:pPr indent="0" marL="0">
              <a:buNone/>
            </a:pPr>
            <a:r>
              <a:rPr lang="en-US" sz="1100" b="1" dirty="0">
                <a:solidFill>
                  <a:srgbClr val="E84855"/>
                </a:solidFill>
              </a:rPr>
              <a:t>GC pause autoscaling</a:t>
            </a:r>
            <a:endParaRPr lang="en-US" sz="1100" dirty="0"/>
          </a:p>
        </p:txBody>
      </p:sp>
      <p:sp>
        <p:nvSpPr>
          <p:cNvPr id="31" name="Text 29"/>
          <p:cNvSpPr/>
          <p:nvPr/>
        </p:nvSpPr>
        <p:spPr>
          <a:xfrm>
            <a:off x="2788920" y="3493008"/>
            <a:ext cx="5943600" cy="365760"/>
          </a:xfrm>
          <a:prstGeom prst="rect">
            <a:avLst/>
          </a:prstGeom>
          <a:noFill/>
          <a:ln/>
        </p:spPr>
        <p:txBody>
          <a:bodyPr wrap="square" lIns="0" tIns="0" rIns="0" bIns="0" rtlCol="0" anchor="ctr"/>
          <a:lstStyle/>
          <a:p>
            <a:pPr indent="0" marL="0">
              <a:buNone/>
            </a:pPr>
            <a:r>
              <a:rPr lang="en-US" sz="1050" dirty="0">
                <a:solidFill>
                  <a:srgbClr val="ECF0F1"/>
                </a:solidFill>
              </a:rPr>
              <a:t>ZooKeeper-level GC pauses → CPU spikes → HPA scales out → waste × N replicas</a:t>
            </a:r>
            <a:endParaRPr lang="en-US" sz="1050" dirty="0"/>
          </a:p>
        </p:txBody>
      </p:sp>
      <p:sp>
        <p:nvSpPr>
          <p:cNvPr id="32" name="Shape 30"/>
          <p:cNvSpPr/>
          <p:nvPr/>
        </p:nvSpPr>
        <p:spPr>
          <a:xfrm>
            <a:off x="320040" y="3931920"/>
            <a:ext cx="8503920" cy="402336"/>
          </a:xfrm>
          <a:prstGeom prst="rect">
            <a:avLst/>
          </a:prstGeom>
          <a:solidFill>
            <a:srgbClr val="122040"/>
          </a:solidFill>
          <a:ln/>
        </p:spPr>
      </p:sp>
      <p:sp>
        <p:nvSpPr>
          <p:cNvPr id="33" name="Shape 31"/>
          <p:cNvSpPr/>
          <p:nvPr/>
        </p:nvSpPr>
        <p:spPr>
          <a:xfrm>
            <a:off x="320040" y="3931920"/>
            <a:ext cx="54864" cy="402336"/>
          </a:xfrm>
          <a:prstGeom prst="rect">
            <a:avLst/>
          </a:prstGeom>
          <a:solidFill>
            <a:srgbClr val="E84855"/>
          </a:solidFill>
          <a:ln/>
        </p:spPr>
      </p:sp>
      <p:sp>
        <p:nvSpPr>
          <p:cNvPr id="34" name="Text 32"/>
          <p:cNvSpPr/>
          <p:nvPr/>
        </p:nvSpPr>
        <p:spPr>
          <a:xfrm>
            <a:off x="475488" y="3950208"/>
            <a:ext cx="2194560" cy="365760"/>
          </a:xfrm>
          <a:prstGeom prst="rect">
            <a:avLst/>
          </a:prstGeom>
          <a:noFill/>
          <a:ln/>
        </p:spPr>
        <p:txBody>
          <a:bodyPr wrap="square" lIns="0" tIns="0" rIns="0" bIns="0" rtlCol="0" anchor="ctr"/>
          <a:lstStyle/>
          <a:p>
            <a:pPr indent="0" marL="0">
              <a:buNone/>
            </a:pPr>
            <a:r>
              <a:rPr lang="en-US" sz="1100" b="1" dirty="0">
                <a:solidFill>
                  <a:srgbClr val="E84855"/>
                </a:solidFill>
              </a:rPr>
              <a:t>Slow startup throttles</a:t>
            </a:r>
            <a:endParaRPr lang="en-US" sz="1100" dirty="0"/>
          </a:p>
        </p:txBody>
      </p:sp>
      <p:sp>
        <p:nvSpPr>
          <p:cNvPr id="35" name="Text 33"/>
          <p:cNvSpPr/>
          <p:nvPr/>
        </p:nvSpPr>
        <p:spPr>
          <a:xfrm>
            <a:off x="2788920" y="3950208"/>
            <a:ext cx="5943600" cy="365760"/>
          </a:xfrm>
          <a:prstGeom prst="rect">
            <a:avLst/>
          </a:prstGeom>
          <a:noFill/>
          <a:ln/>
        </p:spPr>
        <p:txBody>
          <a:bodyPr wrap="square" lIns="0" tIns="0" rIns="0" bIns="0" rtlCol="0" anchor="ctr"/>
          <a:lstStyle/>
          <a:p>
            <a:pPr indent="0" marL="0">
              <a:buNone/>
            </a:pPr>
            <a:r>
              <a:rPr lang="en-US" sz="1050" dirty="0">
                <a:solidFill>
                  <a:srgbClr val="ECF0F1"/>
                </a:solidFill>
              </a:rPr>
              <a:t>4-8s JVM init delays scale-out during traffic bursts — SLAs breached</a:t>
            </a:r>
            <a:endParaRPr lang="en-US" sz="1050" dirty="0"/>
          </a:p>
        </p:txBody>
      </p:sp>
      <p:sp>
        <p:nvSpPr>
          <p:cNvPr id="36" name="Shape 34"/>
          <p:cNvSpPr/>
          <p:nvPr/>
        </p:nvSpPr>
        <p:spPr>
          <a:xfrm>
            <a:off x="320040" y="4389120"/>
            <a:ext cx="8503920" cy="402336"/>
          </a:xfrm>
          <a:prstGeom prst="rect">
            <a:avLst/>
          </a:prstGeom>
          <a:solidFill>
            <a:srgbClr val="122040"/>
          </a:solidFill>
          <a:ln/>
        </p:spPr>
      </p:sp>
      <p:sp>
        <p:nvSpPr>
          <p:cNvPr id="37" name="Shape 35"/>
          <p:cNvSpPr/>
          <p:nvPr/>
        </p:nvSpPr>
        <p:spPr>
          <a:xfrm>
            <a:off x="320040" y="4389120"/>
            <a:ext cx="54864" cy="402336"/>
          </a:xfrm>
          <a:prstGeom prst="rect">
            <a:avLst/>
          </a:prstGeom>
          <a:solidFill>
            <a:srgbClr val="E84855"/>
          </a:solidFill>
          <a:ln/>
        </p:spPr>
      </p:sp>
      <p:sp>
        <p:nvSpPr>
          <p:cNvPr id="38" name="Text 36"/>
          <p:cNvSpPr/>
          <p:nvPr/>
        </p:nvSpPr>
        <p:spPr>
          <a:xfrm>
            <a:off x="475488" y="4407408"/>
            <a:ext cx="2194560" cy="365760"/>
          </a:xfrm>
          <a:prstGeom prst="rect">
            <a:avLst/>
          </a:prstGeom>
          <a:noFill/>
          <a:ln/>
        </p:spPr>
        <p:txBody>
          <a:bodyPr wrap="square" lIns="0" tIns="0" rIns="0" bIns="0" rtlCol="0" anchor="ctr"/>
          <a:lstStyle/>
          <a:p>
            <a:pPr indent="0" marL="0">
              <a:buNone/>
            </a:pPr>
            <a:r>
              <a:rPr lang="en-US" sz="1100" b="1" dirty="0">
                <a:solidFill>
                  <a:srgbClr val="E84855"/>
                </a:solidFill>
              </a:rPr>
              <a:t>No observability</a:t>
            </a:r>
            <a:endParaRPr lang="en-US" sz="1100" dirty="0"/>
          </a:p>
        </p:txBody>
      </p:sp>
      <p:sp>
        <p:nvSpPr>
          <p:cNvPr id="39" name="Text 37"/>
          <p:cNvSpPr/>
          <p:nvPr/>
        </p:nvSpPr>
        <p:spPr>
          <a:xfrm>
            <a:off x="2788920" y="4407408"/>
            <a:ext cx="5943600" cy="365760"/>
          </a:xfrm>
          <a:prstGeom prst="rect">
            <a:avLst/>
          </a:prstGeom>
          <a:noFill/>
          <a:ln/>
        </p:spPr>
        <p:txBody>
          <a:bodyPr wrap="square" lIns="0" tIns="0" rIns="0" bIns="0" rtlCol="0" anchor="ctr"/>
          <a:lstStyle/>
          <a:p>
            <a:pPr indent="0" marL="0">
              <a:buNone/>
            </a:pPr>
            <a:r>
              <a:rPr lang="en-US" sz="1050" dirty="0">
                <a:solidFill>
                  <a:srgbClr val="ECF0F1"/>
                </a:solidFill>
              </a:rPr>
              <a:t>JVM internals invisible to Prometheus → tuning is guesswork, not engineering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Container-Native JVM Fundamentals</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01</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4/26</a:t>
            </a:r>
            <a:endParaRPr lang="en-US" sz="900" dirty="0"/>
          </a:p>
        </p:txBody>
      </p:sp>
      <p:sp>
        <p:nvSpPr>
          <p:cNvPr id="7" name="Text 5"/>
          <p:cNvSpPr/>
          <p:nvPr/>
        </p:nvSpPr>
        <p:spPr>
          <a:xfrm>
            <a:off x="365760" y="777240"/>
            <a:ext cx="4389120" cy="365760"/>
          </a:xfrm>
          <a:prstGeom prst="rect">
            <a:avLst/>
          </a:prstGeom>
          <a:noFill/>
          <a:ln/>
        </p:spPr>
        <p:txBody>
          <a:bodyPr wrap="square" lIns="0" tIns="0" rIns="0" bIns="0" rtlCol="0" anchor="ctr"/>
          <a:lstStyle/>
          <a:p>
            <a:pPr indent="0" marL="0">
              <a:buNone/>
            </a:pPr>
            <a:r>
              <a:rPr lang="en-US" sz="1600" b="1" dirty="0">
                <a:solidFill>
                  <a:srgbClr val="1E6FC8"/>
                </a:solidFill>
              </a:rPr>
              <a:t>How JVM Discovers Memory</a:t>
            </a:r>
            <a:endParaRPr lang="en-US" sz="1600" dirty="0"/>
          </a:p>
        </p:txBody>
      </p:sp>
      <p:sp>
        <p:nvSpPr>
          <p:cNvPr id="8" name="Text 6"/>
          <p:cNvSpPr/>
          <p:nvPr/>
        </p:nvSpPr>
        <p:spPr>
          <a:xfrm>
            <a:off x="365760" y="1234440"/>
            <a:ext cx="4297680" cy="2286000"/>
          </a:xfrm>
          <a:prstGeom prst="rect">
            <a:avLst/>
          </a:prstGeom>
          <a:noFill/>
          <a:ln/>
        </p:spPr>
        <p:txBody>
          <a:bodyPr wrap="square" rtlCol="0" anchor="t"/>
          <a:lstStyle/>
          <a:p>
            <a:pPr marL="342900" indent="-342900">
              <a:spcAft>
                <a:spcPts val="600"/>
              </a:spcAft>
              <a:buSzPct val="100000"/>
              <a:buChar char="•"/>
            </a:pPr>
            <a:r>
              <a:rPr lang="en-US" sz="1100" dirty="0">
                <a:solidFill>
                  <a:srgbClr val="1A2B3C"/>
                </a:solidFill>
              </a:rPr>
              <a:t>JVM default (before container flags): reads /proc/meminfo and sees the NODE's full RAM — claims 64 GB heap inside a 512 MB container</a:t>
            </a:r>
            <a:endParaRPr lang="en-US" sz="1100" dirty="0"/>
          </a:p>
          <a:p>
            <a:pPr marL="342900" indent="-342900">
              <a:spcAft>
                <a:spcPts val="600"/>
              </a:spcAft>
              <a:buSzPct val="100000"/>
              <a:buChar char="•"/>
            </a:pPr>
            <a:r>
              <a:rPr lang="en-US" sz="1100" dirty="0">
                <a:solidFill>
                  <a:srgbClr val="1A2B3C"/>
                </a:solidFill>
              </a:rPr>
              <a:t>Java 21 LTS (our baseline): UseContainerSupport is ON by default — reads cgroup memory limits correctly</a:t>
            </a:r>
            <a:endParaRPr lang="en-US" sz="1100" dirty="0"/>
          </a:p>
          <a:p>
            <a:pPr marL="342900" indent="-342900">
              <a:spcAft>
                <a:spcPts val="600"/>
              </a:spcAft>
              <a:buSzPct val="100000"/>
              <a:buChar char="•"/>
            </a:pPr>
            <a:r>
              <a:rPr lang="en-US" sz="1100" dirty="0">
                <a:solidFill>
                  <a:srgbClr val="1A2B3C"/>
                </a:solidFill>
              </a:rPr>
              <a:t>MaxRAMPercentage replaces hardcoded -Xmx — heap scales automatically with the container limit</a:t>
            </a:r>
            <a:endParaRPr lang="en-US" sz="1100" dirty="0"/>
          </a:p>
          <a:p>
            <a:pPr marL="342900" indent="-342900">
              <a:spcAft>
                <a:spcPts val="600"/>
              </a:spcAft>
              <a:buSzPct val="100000"/>
              <a:buChar char="•"/>
            </a:pPr>
            <a:r>
              <a:rPr lang="en-US" sz="1100" dirty="0">
                <a:solidFill>
                  <a:srgbClr val="1A2B3C"/>
                </a:solidFill>
              </a:rPr>
              <a:t>cgroup v2 (RHEL 9 / OCP 4.14+ default): JVM reads /sys/fs/cgroup/memory.max, fully supported Java 15+</a:t>
            </a:r>
            <a:endParaRPr lang="en-US" sz="1100" dirty="0"/>
          </a:p>
          <a:p>
            <a:pPr marL="342900" indent="-342900">
              <a:spcAft>
                <a:spcPts val="600"/>
              </a:spcAft>
              <a:buSzPct val="100000"/>
              <a:buChar char="•"/>
            </a:pPr>
            <a:r>
              <a:rPr lang="en-US" sz="1100" dirty="0">
                <a:solidFill>
                  <a:srgbClr val="1A2B3C"/>
                </a:solidFill>
              </a:rPr>
              <a:t>Verify with: java -XX:+PrintFlagsFinal -version | grep MaxRAMPercentage</a:t>
            </a:r>
            <a:endParaRPr lang="en-US" sz="1100" dirty="0"/>
          </a:p>
        </p:txBody>
      </p:sp>
      <p:sp>
        <p:nvSpPr>
          <p:cNvPr id="9" name="Text 7"/>
          <p:cNvSpPr/>
          <p:nvPr/>
        </p:nvSpPr>
        <p:spPr>
          <a:xfrm>
            <a:off x="4892040" y="777240"/>
            <a:ext cx="3931920" cy="320040"/>
          </a:xfrm>
          <a:prstGeom prst="rect">
            <a:avLst/>
          </a:prstGeom>
          <a:noFill/>
          <a:ln/>
        </p:spPr>
        <p:txBody>
          <a:bodyPr wrap="square" lIns="0" tIns="0" rIns="0" bIns="0" rtlCol="0" anchor="ctr"/>
          <a:lstStyle/>
          <a:p>
            <a:pPr indent="0" marL="0">
              <a:buNone/>
            </a:pPr>
            <a:r>
              <a:rPr lang="en-US" sz="1400" b="1" dirty="0">
                <a:solidFill>
                  <a:srgbClr val="1E6FC8"/>
                </a:solidFill>
              </a:rPr>
              <a:t>The Fix:</a:t>
            </a:r>
            <a:endParaRPr lang="en-US" sz="1400" dirty="0"/>
          </a:p>
        </p:txBody>
      </p:sp>
      <p:sp>
        <p:nvSpPr>
          <p:cNvPr id="10" name="Shape 8"/>
          <p:cNvSpPr/>
          <p:nvPr/>
        </p:nvSpPr>
        <p:spPr>
          <a:xfrm>
            <a:off x="4892040" y="1143000"/>
            <a:ext cx="3931920" cy="2834640"/>
          </a:xfrm>
          <a:prstGeom prst="rect">
            <a:avLst/>
          </a:prstGeom>
          <a:solidFill>
            <a:srgbClr val="0D2137"/>
          </a:solidFill>
          <a:ln w="19050">
            <a:solidFill>
              <a:srgbClr val="00BCD4"/>
            </a:solidFill>
            <a:prstDash val="solid"/>
          </a:ln>
        </p:spPr>
      </p:sp>
      <p:sp>
        <p:nvSpPr>
          <p:cNvPr id="11" name="Text 9"/>
          <p:cNvSpPr/>
          <p:nvPr/>
        </p:nvSpPr>
        <p:spPr>
          <a:xfrm>
            <a:off x="4965192" y="1188720"/>
            <a:ext cx="3785616" cy="2743200"/>
          </a:xfrm>
          <a:prstGeom prst="rect">
            <a:avLst/>
          </a:prstGeom>
          <a:noFill/>
          <a:ln/>
        </p:spPr>
        <p:txBody>
          <a:bodyPr wrap="square" rtlCol="0" anchor="t"/>
          <a:lstStyle/>
          <a:p>
            <a:pPr indent="0" marL="0">
              <a:buNone/>
            </a:pPr>
            <a:r>
              <a:rPr lang="en-US" sz="950" dirty="0">
                <a:solidFill>
                  <a:srgbClr val="A8D8EA"/>
                </a:solidFill>
                <a:latin typeface="Courier New" pitchFamily="34" charset="0"/>
                <a:ea typeface="Courier New" pitchFamily="34" charset="-122"/>
                <a:cs typeface="Courier New" pitchFamily="34" charset="-120"/>
              </a:rPr>
              <a:t># ❌ BEFORE — Hardcoded, breaks with resize / VPA</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-Xms512m -Xmx2048m</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Java 21 — Container-aware (UseContainerSupport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is ON by default in Java 21; MaxRAMPercentage</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is the key flag to tune)</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-XX:MaxRAMPercentage=75.0</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-XX:InitialRAMPercentage=50.0</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-XX:MinRAMPercentage=25.0</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-XX:NativeMemoryTracking=summary</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OpenShift Deployment (env var pattern)</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env:</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name: JAVA_OPTS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value: &gt;-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-XX:MaxRAMPercentage=75.0</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-XX:+UseZGC -XX:+ZGenerational</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resources: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requests: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memory: "512Mi"</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limits: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memory: "1Gi"</a:t>
            </a:r>
            <a:endParaRPr lang="en-US" sz="950" dirty="0"/>
          </a:p>
        </p:txBody>
      </p:sp>
      <p:sp>
        <p:nvSpPr>
          <p:cNvPr id="12" name="Shape 10"/>
          <p:cNvSpPr/>
          <p:nvPr/>
        </p:nvSpPr>
        <p:spPr>
          <a:xfrm>
            <a:off x="365760" y="4114800"/>
            <a:ext cx="8412480" cy="685800"/>
          </a:xfrm>
          <a:prstGeom prst="rect">
            <a:avLst/>
          </a:prstGeom>
          <a:solidFill>
            <a:srgbClr val="0A1628"/>
          </a:solidFill>
          <a:ln/>
          <a:effectLst>
            <a:outerShdw sx="100000" sy="100000" kx="0" ky="0" algn="bl" rotWithShape="0" blurRad="101600" dist="38100" dir="8100000">
              <a:srgbClr val="000000">
                <a:alpha val="18000"/>
              </a:srgbClr>
            </a:outerShdw>
          </a:effectLst>
        </p:spPr>
      </p:sp>
      <p:sp>
        <p:nvSpPr>
          <p:cNvPr id="13" name="Text 11"/>
          <p:cNvSpPr/>
          <p:nvPr/>
        </p:nvSpPr>
        <p:spPr>
          <a:xfrm>
            <a:off x="548640" y="4114800"/>
            <a:ext cx="8229600" cy="685800"/>
          </a:xfrm>
          <a:prstGeom prst="rect">
            <a:avLst/>
          </a:prstGeom>
          <a:noFill/>
          <a:ln/>
        </p:spPr>
        <p:txBody>
          <a:bodyPr wrap="square" lIns="0" tIns="0" rIns="0" bIns="0" rtlCol="0" anchor="ctr"/>
          <a:lstStyle/>
          <a:p>
            <a:pPr indent="0" marL="0">
              <a:buNone/>
            </a:pPr>
            <a:r>
              <a:rPr lang="en-US" sz="1050" dirty="0">
                <a:solidFill>
                  <a:srgbClr val="00E5C3"/>
                </a:solidFill>
              </a:rPr>
              <a:t>📖  Reference: "Optimizing Cloud Native Java" Ch. 3 — Container Memory Management</a:t>
            </a:r>
            <a:endParaRPr lang="en-US" sz="1050" dirty="0"/>
          </a:p>
          <a:p>
            <a:pPr indent="0" marL="0">
              <a:buNone/>
            </a:pPr>
            <a:r>
              <a:rPr lang="en-US" sz="1050" dirty="0">
                <a:solidFill>
                  <a:srgbClr val="00E5C3"/>
                </a:solidFill>
              </a:rPr>
              <a:t>"The JVM must be told it lives in a container. UseContainerSupport is your first tuning flag."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JVM Memory Regions — What You Must Account For</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01</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5/26</a:t>
            </a:r>
            <a:endParaRPr lang="en-US" sz="900" dirty="0"/>
          </a:p>
        </p:txBody>
      </p:sp>
      <p:sp>
        <p:nvSpPr>
          <p:cNvPr id="7" name="Text 5"/>
          <p:cNvSpPr/>
          <p:nvPr/>
        </p:nvSpPr>
        <p:spPr>
          <a:xfrm>
            <a:off x="365760" y="749808"/>
            <a:ext cx="8229600" cy="320040"/>
          </a:xfrm>
          <a:prstGeom prst="rect">
            <a:avLst/>
          </a:prstGeom>
          <a:noFill/>
          <a:ln/>
        </p:spPr>
        <p:txBody>
          <a:bodyPr wrap="square" lIns="0" tIns="0" rIns="0" bIns="0" rtlCol="0" anchor="ctr"/>
          <a:lstStyle/>
          <a:p>
            <a:pPr indent="0" marL="0">
              <a:buNone/>
            </a:pPr>
            <a:r>
              <a:rPr lang="en-US" sz="1300" i="1" dirty="0">
                <a:solidFill>
                  <a:srgbClr val="90A4AE"/>
                </a:solidFill>
              </a:rPr>
              <a:t>Java 21 LTS: Container Limit ≠ Heap Size — off-heap regions must be budgeted explicitly</a:t>
            </a:r>
            <a:endParaRPr lang="en-US" sz="1300" dirty="0"/>
          </a:p>
        </p:txBody>
      </p:sp>
      <p:sp>
        <p:nvSpPr>
          <p:cNvPr id="8" name="Shape 6"/>
          <p:cNvSpPr/>
          <p:nvPr/>
        </p:nvSpPr>
        <p:spPr>
          <a:xfrm>
            <a:off x="320040" y="1188720"/>
            <a:ext cx="8503920" cy="594360"/>
          </a:xfrm>
          <a:prstGeom prst="rect">
            <a:avLst/>
          </a:prstGeom>
          <a:solidFill>
            <a:srgbClr val="122040"/>
          </a:solidFill>
          <a:ln/>
        </p:spPr>
      </p:sp>
      <p:sp>
        <p:nvSpPr>
          <p:cNvPr id="9" name="Shape 7"/>
          <p:cNvSpPr/>
          <p:nvPr/>
        </p:nvSpPr>
        <p:spPr>
          <a:xfrm>
            <a:off x="320040" y="1188720"/>
            <a:ext cx="2560320" cy="594360"/>
          </a:xfrm>
          <a:prstGeom prst="rect">
            <a:avLst/>
          </a:prstGeom>
          <a:solidFill>
            <a:srgbClr val="1E6FC8">
              <a:alpha val="85000"/>
            </a:srgbClr>
          </a:solidFill>
          <a:ln/>
        </p:spPr>
      </p:sp>
      <p:sp>
        <p:nvSpPr>
          <p:cNvPr id="10" name="Text 8"/>
          <p:cNvSpPr/>
          <p:nvPr/>
        </p:nvSpPr>
        <p:spPr>
          <a:xfrm>
            <a:off x="411480" y="1243584"/>
            <a:ext cx="2468880" cy="274320"/>
          </a:xfrm>
          <a:prstGeom prst="rect">
            <a:avLst/>
          </a:prstGeom>
          <a:noFill/>
          <a:ln/>
        </p:spPr>
        <p:txBody>
          <a:bodyPr wrap="square" lIns="0" tIns="0" rIns="0" bIns="0" rtlCol="0" anchor="ctr"/>
          <a:lstStyle/>
          <a:p>
            <a:pPr indent="0" marL="0">
              <a:buNone/>
            </a:pPr>
            <a:r>
              <a:rPr lang="en-US" sz="1100" b="1" dirty="0">
                <a:solidFill>
                  <a:srgbClr val="FFFFFF"/>
                </a:solidFill>
              </a:rPr>
              <a:t>Heap (Old Gen + Young Gen)</a:t>
            </a:r>
            <a:endParaRPr lang="en-US" sz="1100" dirty="0"/>
          </a:p>
        </p:txBody>
      </p:sp>
      <p:sp>
        <p:nvSpPr>
          <p:cNvPr id="11" name="Text 9"/>
          <p:cNvSpPr/>
          <p:nvPr/>
        </p:nvSpPr>
        <p:spPr>
          <a:xfrm>
            <a:off x="411480" y="1527048"/>
            <a:ext cx="2468880" cy="201168"/>
          </a:xfrm>
          <a:prstGeom prst="rect">
            <a:avLst/>
          </a:prstGeom>
          <a:noFill/>
          <a:ln/>
        </p:spPr>
        <p:txBody>
          <a:bodyPr wrap="square" lIns="0" tIns="0" rIns="0" bIns="0" rtlCol="0" anchor="ctr"/>
          <a:lstStyle/>
          <a:p>
            <a:pPr indent="0" marL="0">
              <a:buNone/>
            </a:pPr>
            <a:r>
              <a:rPr lang="en-US" sz="1000" dirty="0">
                <a:solidFill>
                  <a:srgbClr val="FFFFFF"/>
                </a:solidFill>
              </a:rPr>
              <a:t>~50-75%</a:t>
            </a:r>
            <a:endParaRPr lang="en-US" sz="1000" dirty="0"/>
          </a:p>
        </p:txBody>
      </p:sp>
      <p:sp>
        <p:nvSpPr>
          <p:cNvPr id="12" name="Text 10"/>
          <p:cNvSpPr/>
          <p:nvPr/>
        </p:nvSpPr>
        <p:spPr>
          <a:xfrm>
            <a:off x="2971800" y="1188720"/>
            <a:ext cx="5760720" cy="594360"/>
          </a:xfrm>
          <a:prstGeom prst="rect">
            <a:avLst/>
          </a:prstGeom>
          <a:noFill/>
          <a:ln/>
        </p:spPr>
        <p:txBody>
          <a:bodyPr wrap="square" lIns="0" tIns="0" rIns="0" bIns="0" rtlCol="0" anchor="ctr"/>
          <a:lstStyle/>
          <a:p>
            <a:pPr indent="0" marL="0">
              <a:buNone/>
            </a:pPr>
            <a:r>
              <a:rPr lang="en-US" sz="1100" dirty="0">
                <a:solidFill>
                  <a:srgbClr val="ECF0F1"/>
                </a:solidFill>
              </a:rPr>
              <a:t>Objects, controlled by MaxRAMPercentage</a:t>
            </a:r>
            <a:endParaRPr lang="en-US" sz="1100" dirty="0"/>
          </a:p>
        </p:txBody>
      </p:sp>
      <p:sp>
        <p:nvSpPr>
          <p:cNvPr id="13" name="Shape 11"/>
          <p:cNvSpPr/>
          <p:nvPr/>
        </p:nvSpPr>
        <p:spPr>
          <a:xfrm>
            <a:off x="320040" y="1892808"/>
            <a:ext cx="8503920" cy="594360"/>
          </a:xfrm>
          <a:prstGeom prst="rect">
            <a:avLst/>
          </a:prstGeom>
          <a:solidFill>
            <a:srgbClr val="122040"/>
          </a:solidFill>
          <a:ln/>
        </p:spPr>
      </p:sp>
      <p:sp>
        <p:nvSpPr>
          <p:cNvPr id="14" name="Shape 12"/>
          <p:cNvSpPr/>
          <p:nvPr/>
        </p:nvSpPr>
        <p:spPr>
          <a:xfrm>
            <a:off x="320040" y="1892808"/>
            <a:ext cx="2560320" cy="594360"/>
          </a:xfrm>
          <a:prstGeom prst="rect">
            <a:avLst/>
          </a:prstGeom>
          <a:solidFill>
            <a:srgbClr val="00BCD4">
              <a:alpha val="85000"/>
            </a:srgbClr>
          </a:solidFill>
          <a:ln/>
        </p:spPr>
      </p:sp>
      <p:sp>
        <p:nvSpPr>
          <p:cNvPr id="15" name="Text 13"/>
          <p:cNvSpPr/>
          <p:nvPr/>
        </p:nvSpPr>
        <p:spPr>
          <a:xfrm>
            <a:off x="411480" y="1947672"/>
            <a:ext cx="2468880" cy="274320"/>
          </a:xfrm>
          <a:prstGeom prst="rect">
            <a:avLst/>
          </a:prstGeom>
          <a:noFill/>
          <a:ln/>
        </p:spPr>
        <p:txBody>
          <a:bodyPr wrap="square" lIns="0" tIns="0" rIns="0" bIns="0" rtlCol="0" anchor="ctr"/>
          <a:lstStyle/>
          <a:p>
            <a:pPr indent="0" marL="0">
              <a:buNone/>
            </a:pPr>
            <a:r>
              <a:rPr lang="en-US" sz="1100" b="1" dirty="0">
                <a:solidFill>
                  <a:srgbClr val="FFFFFF"/>
                </a:solidFill>
              </a:rPr>
              <a:t>Metaspace</a:t>
            </a:r>
            <a:endParaRPr lang="en-US" sz="1100" dirty="0"/>
          </a:p>
        </p:txBody>
      </p:sp>
      <p:sp>
        <p:nvSpPr>
          <p:cNvPr id="16" name="Text 14"/>
          <p:cNvSpPr/>
          <p:nvPr/>
        </p:nvSpPr>
        <p:spPr>
          <a:xfrm>
            <a:off x="411480" y="2231136"/>
            <a:ext cx="2468880" cy="201168"/>
          </a:xfrm>
          <a:prstGeom prst="rect">
            <a:avLst/>
          </a:prstGeom>
          <a:noFill/>
          <a:ln/>
        </p:spPr>
        <p:txBody>
          <a:bodyPr wrap="square" lIns="0" tIns="0" rIns="0" bIns="0" rtlCol="0" anchor="ctr"/>
          <a:lstStyle/>
          <a:p>
            <a:pPr indent="0" marL="0">
              <a:buNone/>
            </a:pPr>
            <a:r>
              <a:rPr lang="en-US" sz="1000" dirty="0">
                <a:solidFill>
                  <a:srgbClr val="FFFFFF"/>
                </a:solidFill>
              </a:rPr>
              <a:t>~50-200MB</a:t>
            </a:r>
            <a:endParaRPr lang="en-US" sz="1000" dirty="0"/>
          </a:p>
        </p:txBody>
      </p:sp>
      <p:sp>
        <p:nvSpPr>
          <p:cNvPr id="17" name="Text 15"/>
          <p:cNvSpPr/>
          <p:nvPr/>
        </p:nvSpPr>
        <p:spPr>
          <a:xfrm>
            <a:off x="2971800" y="1892808"/>
            <a:ext cx="5760720" cy="594360"/>
          </a:xfrm>
          <a:prstGeom prst="rect">
            <a:avLst/>
          </a:prstGeom>
          <a:noFill/>
          <a:ln/>
        </p:spPr>
        <p:txBody>
          <a:bodyPr wrap="square" lIns="0" tIns="0" rIns="0" bIns="0" rtlCol="0" anchor="ctr"/>
          <a:lstStyle/>
          <a:p>
            <a:pPr indent="0" marL="0">
              <a:buNone/>
            </a:pPr>
            <a:r>
              <a:rPr lang="en-US" sz="1100" dirty="0">
                <a:solidFill>
                  <a:srgbClr val="ECF0F1"/>
                </a:solidFill>
              </a:rPr>
              <a:t>Class metadata, -XX:MaxMetaspaceSize</a:t>
            </a:r>
            <a:endParaRPr lang="en-US" sz="1100" dirty="0"/>
          </a:p>
        </p:txBody>
      </p:sp>
      <p:sp>
        <p:nvSpPr>
          <p:cNvPr id="18" name="Shape 16"/>
          <p:cNvSpPr/>
          <p:nvPr/>
        </p:nvSpPr>
        <p:spPr>
          <a:xfrm>
            <a:off x="320040" y="2596896"/>
            <a:ext cx="8503920" cy="594360"/>
          </a:xfrm>
          <a:prstGeom prst="rect">
            <a:avLst/>
          </a:prstGeom>
          <a:solidFill>
            <a:srgbClr val="122040"/>
          </a:solidFill>
          <a:ln/>
        </p:spPr>
      </p:sp>
      <p:sp>
        <p:nvSpPr>
          <p:cNvPr id="19" name="Shape 17"/>
          <p:cNvSpPr/>
          <p:nvPr/>
        </p:nvSpPr>
        <p:spPr>
          <a:xfrm>
            <a:off x="320040" y="2596896"/>
            <a:ext cx="2560320" cy="594360"/>
          </a:xfrm>
          <a:prstGeom prst="rect">
            <a:avLst/>
          </a:prstGeom>
          <a:solidFill>
            <a:srgbClr val="F5A623">
              <a:alpha val="85000"/>
            </a:srgbClr>
          </a:solidFill>
          <a:ln/>
        </p:spPr>
      </p:sp>
      <p:sp>
        <p:nvSpPr>
          <p:cNvPr id="20" name="Text 18"/>
          <p:cNvSpPr/>
          <p:nvPr/>
        </p:nvSpPr>
        <p:spPr>
          <a:xfrm>
            <a:off x="411480" y="2651760"/>
            <a:ext cx="2468880" cy="274320"/>
          </a:xfrm>
          <a:prstGeom prst="rect">
            <a:avLst/>
          </a:prstGeom>
          <a:noFill/>
          <a:ln/>
        </p:spPr>
        <p:txBody>
          <a:bodyPr wrap="square" lIns="0" tIns="0" rIns="0" bIns="0" rtlCol="0" anchor="ctr"/>
          <a:lstStyle/>
          <a:p>
            <a:pPr indent="0" marL="0">
              <a:buNone/>
            </a:pPr>
            <a:r>
              <a:rPr lang="en-US" sz="1100" b="1" dirty="0">
                <a:solidFill>
                  <a:srgbClr val="FFFFFF"/>
                </a:solidFill>
              </a:rPr>
              <a:t>Platform Thread Stacks</a:t>
            </a:r>
            <a:endParaRPr lang="en-US" sz="1100" dirty="0"/>
          </a:p>
        </p:txBody>
      </p:sp>
      <p:sp>
        <p:nvSpPr>
          <p:cNvPr id="21" name="Text 19"/>
          <p:cNvSpPr/>
          <p:nvPr/>
        </p:nvSpPr>
        <p:spPr>
          <a:xfrm>
            <a:off x="411480" y="2935224"/>
            <a:ext cx="2468880" cy="201168"/>
          </a:xfrm>
          <a:prstGeom prst="rect">
            <a:avLst/>
          </a:prstGeom>
          <a:noFill/>
          <a:ln/>
        </p:spPr>
        <p:txBody>
          <a:bodyPr wrap="square" lIns="0" tIns="0" rIns="0" bIns="0" rtlCol="0" anchor="ctr"/>
          <a:lstStyle/>
          <a:p>
            <a:pPr indent="0" marL="0">
              <a:buNone/>
            </a:pPr>
            <a:r>
              <a:rPr lang="en-US" sz="1000" dirty="0">
                <a:solidFill>
                  <a:srgbClr val="FFFFFF"/>
                </a:solidFill>
              </a:rPr>
              <a:t>~1MB/thread</a:t>
            </a:r>
            <a:endParaRPr lang="en-US" sz="1000" dirty="0"/>
          </a:p>
        </p:txBody>
      </p:sp>
      <p:sp>
        <p:nvSpPr>
          <p:cNvPr id="22" name="Text 20"/>
          <p:cNvSpPr/>
          <p:nvPr/>
        </p:nvSpPr>
        <p:spPr>
          <a:xfrm>
            <a:off x="2971800" y="2596896"/>
            <a:ext cx="5760720" cy="594360"/>
          </a:xfrm>
          <a:prstGeom prst="rect">
            <a:avLst/>
          </a:prstGeom>
          <a:noFill/>
          <a:ln/>
        </p:spPr>
        <p:txBody>
          <a:bodyPr wrap="square" lIns="0" tIns="0" rIns="0" bIns="0" rtlCol="0" anchor="ctr"/>
          <a:lstStyle/>
          <a:p>
            <a:pPr indent="0" marL="0">
              <a:buNone/>
            </a:pPr>
            <a:r>
              <a:rPr lang="en-US" sz="1100" dirty="0">
                <a:solidFill>
                  <a:srgbClr val="ECF0F1"/>
                </a:solidFill>
              </a:rPr>
              <a:t>1MB default per platform thread, -Xss to reduce. Java 21: Virtual Threads use heap instead — massive stack savings for high concurrency</a:t>
            </a:r>
            <a:endParaRPr lang="en-US" sz="1100" dirty="0"/>
          </a:p>
        </p:txBody>
      </p:sp>
      <p:sp>
        <p:nvSpPr>
          <p:cNvPr id="23" name="Shape 21"/>
          <p:cNvSpPr/>
          <p:nvPr/>
        </p:nvSpPr>
        <p:spPr>
          <a:xfrm>
            <a:off x="320040" y="3300984"/>
            <a:ext cx="8503920" cy="594360"/>
          </a:xfrm>
          <a:prstGeom prst="rect">
            <a:avLst/>
          </a:prstGeom>
          <a:solidFill>
            <a:srgbClr val="122040"/>
          </a:solidFill>
          <a:ln/>
        </p:spPr>
      </p:sp>
      <p:sp>
        <p:nvSpPr>
          <p:cNvPr id="24" name="Shape 22"/>
          <p:cNvSpPr/>
          <p:nvPr/>
        </p:nvSpPr>
        <p:spPr>
          <a:xfrm>
            <a:off x="320040" y="3300984"/>
            <a:ext cx="2560320" cy="594360"/>
          </a:xfrm>
          <a:prstGeom prst="rect">
            <a:avLst/>
          </a:prstGeom>
          <a:solidFill>
            <a:srgbClr val="27AE60">
              <a:alpha val="85000"/>
            </a:srgbClr>
          </a:solidFill>
          <a:ln/>
        </p:spPr>
      </p:sp>
      <p:sp>
        <p:nvSpPr>
          <p:cNvPr id="25" name="Text 23"/>
          <p:cNvSpPr/>
          <p:nvPr/>
        </p:nvSpPr>
        <p:spPr>
          <a:xfrm>
            <a:off x="411480" y="3355848"/>
            <a:ext cx="2468880" cy="274320"/>
          </a:xfrm>
          <a:prstGeom prst="rect">
            <a:avLst/>
          </a:prstGeom>
          <a:noFill/>
          <a:ln/>
        </p:spPr>
        <p:txBody>
          <a:bodyPr wrap="square" lIns="0" tIns="0" rIns="0" bIns="0" rtlCol="0" anchor="ctr"/>
          <a:lstStyle/>
          <a:p>
            <a:pPr indent="0" marL="0">
              <a:buNone/>
            </a:pPr>
            <a:r>
              <a:rPr lang="en-US" sz="1100" b="1" dirty="0">
                <a:solidFill>
                  <a:srgbClr val="FFFFFF"/>
                </a:solidFill>
              </a:rPr>
              <a:t>Native Memory (JIT, GC)</a:t>
            </a:r>
            <a:endParaRPr lang="en-US" sz="1100" dirty="0"/>
          </a:p>
        </p:txBody>
      </p:sp>
      <p:sp>
        <p:nvSpPr>
          <p:cNvPr id="26" name="Text 24"/>
          <p:cNvSpPr/>
          <p:nvPr/>
        </p:nvSpPr>
        <p:spPr>
          <a:xfrm>
            <a:off x="411480" y="3639312"/>
            <a:ext cx="2468880" cy="201168"/>
          </a:xfrm>
          <a:prstGeom prst="rect">
            <a:avLst/>
          </a:prstGeom>
          <a:noFill/>
          <a:ln/>
        </p:spPr>
        <p:txBody>
          <a:bodyPr wrap="square" lIns="0" tIns="0" rIns="0" bIns="0" rtlCol="0" anchor="ctr"/>
          <a:lstStyle/>
          <a:p>
            <a:pPr indent="0" marL="0">
              <a:buNone/>
            </a:pPr>
            <a:r>
              <a:rPr lang="en-US" sz="1000" dirty="0">
                <a:solidFill>
                  <a:srgbClr val="FFFFFF"/>
                </a:solidFill>
              </a:rPr>
              <a:t>~100-300MB</a:t>
            </a:r>
            <a:endParaRPr lang="en-US" sz="1000" dirty="0"/>
          </a:p>
        </p:txBody>
      </p:sp>
      <p:sp>
        <p:nvSpPr>
          <p:cNvPr id="27" name="Text 25"/>
          <p:cNvSpPr/>
          <p:nvPr/>
        </p:nvSpPr>
        <p:spPr>
          <a:xfrm>
            <a:off x="2971800" y="3300984"/>
            <a:ext cx="5760720" cy="594360"/>
          </a:xfrm>
          <a:prstGeom prst="rect">
            <a:avLst/>
          </a:prstGeom>
          <a:noFill/>
          <a:ln/>
        </p:spPr>
        <p:txBody>
          <a:bodyPr wrap="square" lIns="0" tIns="0" rIns="0" bIns="0" rtlCol="0" anchor="ctr"/>
          <a:lstStyle/>
          <a:p>
            <a:pPr indent="0" marL="0">
              <a:buNone/>
            </a:pPr>
            <a:r>
              <a:rPr lang="en-US" sz="1100" dirty="0">
                <a:solidFill>
                  <a:srgbClr val="ECF0F1"/>
                </a:solidFill>
              </a:rPr>
              <a:t>Code cache, GC structures</a:t>
            </a:r>
            <a:endParaRPr lang="en-US" sz="1100" dirty="0"/>
          </a:p>
        </p:txBody>
      </p:sp>
      <p:sp>
        <p:nvSpPr>
          <p:cNvPr id="28" name="Shape 26"/>
          <p:cNvSpPr/>
          <p:nvPr/>
        </p:nvSpPr>
        <p:spPr>
          <a:xfrm>
            <a:off x="320040" y="4005072"/>
            <a:ext cx="8503920" cy="594360"/>
          </a:xfrm>
          <a:prstGeom prst="rect">
            <a:avLst/>
          </a:prstGeom>
          <a:solidFill>
            <a:srgbClr val="122040"/>
          </a:solidFill>
          <a:ln/>
        </p:spPr>
      </p:sp>
      <p:sp>
        <p:nvSpPr>
          <p:cNvPr id="29" name="Shape 27"/>
          <p:cNvSpPr/>
          <p:nvPr/>
        </p:nvSpPr>
        <p:spPr>
          <a:xfrm>
            <a:off x="320040" y="4005072"/>
            <a:ext cx="2560320" cy="594360"/>
          </a:xfrm>
          <a:prstGeom prst="rect">
            <a:avLst/>
          </a:prstGeom>
          <a:solidFill>
            <a:srgbClr val="7C3AED">
              <a:alpha val="85000"/>
            </a:srgbClr>
          </a:solidFill>
          <a:ln/>
        </p:spPr>
      </p:sp>
      <p:sp>
        <p:nvSpPr>
          <p:cNvPr id="30" name="Text 28"/>
          <p:cNvSpPr/>
          <p:nvPr/>
        </p:nvSpPr>
        <p:spPr>
          <a:xfrm>
            <a:off x="411480" y="4059936"/>
            <a:ext cx="2468880" cy="274320"/>
          </a:xfrm>
          <a:prstGeom prst="rect">
            <a:avLst/>
          </a:prstGeom>
          <a:noFill/>
          <a:ln/>
        </p:spPr>
        <p:txBody>
          <a:bodyPr wrap="square" lIns="0" tIns="0" rIns="0" bIns="0" rtlCol="0" anchor="ctr"/>
          <a:lstStyle/>
          <a:p>
            <a:pPr indent="0" marL="0">
              <a:buNone/>
            </a:pPr>
            <a:r>
              <a:rPr lang="en-US" sz="1100" b="1" dirty="0">
                <a:solidFill>
                  <a:srgbClr val="FFFFFF"/>
                </a:solidFill>
              </a:rPr>
              <a:t>Direct ByteBuffers</a:t>
            </a:r>
            <a:endParaRPr lang="en-US" sz="1100" dirty="0"/>
          </a:p>
        </p:txBody>
      </p:sp>
      <p:sp>
        <p:nvSpPr>
          <p:cNvPr id="31" name="Text 29"/>
          <p:cNvSpPr/>
          <p:nvPr/>
        </p:nvSpPr>
        <p:spPr>
          <a:xfrm>
            <a:off x="411480" y="4343400"/>
            <a:ext cx="2468880" cy="201168"/>
          </a:xfrm>
          <a:prstGeom prst="rect">
            <a:avLst/>
          </a:prstGeom>
          <a:noFill/>
          <a:ln/>
        </p:spPr>
        <p:txBody>
          <a:bodyPr wrap="square" lIns="0" tIns="0" rIns="0" bIns="0" rtlCol="0" anchor="ctr"/>
          <a:lstStyle/>
          <a:p>
            <a:pPr indent="0" marL="0">
              <a:buNone/>
            </a:pPr>
            <a:r>
              <a:rPr lang="en-US" sz="1000" dirty="0">
                <a:solidFill>
                  <a:srgbClr val="FFFFFF"/>
                </a:solidFill>
              </a:rPr>
              <a:t>Varies</a:t>
            </a:r>
            <a:endParaRPr lang="en-US" sz="1000" dirty="0"/>
          </a:p>
        </p:txBody>
      </p:sp>
      <p:sp>
        <p:nvSpPr>
          <p:cNvPr id="32" name="Text 30"/>
          <p:cNvSpPr/>
          <p:nvPr/>
        </p:nvSpPr>
        <p:spPr>
          <a:xfrm>
            <a:off x="2971800" y="4005072"/>
            <a:ext cx="5760720" cy="594360"/>
          </a:xfrm>
          <a:prstGeom prst="rect">
            <a:avLst/>
          </a:prstGeom>
          <a:noFill/>
          <a:ln/>
        </p:spPr>
        <p:txBody>
          <a:bodyPr wrap="square" lIns="0" tIns="0" rIns="0" bIns="0" rtlCol="0" anchor="ctr"/>
          <a:lstStyle/>
          <a:p>
            <a:pPr indent="0" marL="0">
              <a:buNone/>
            </a:pPr>
            <a:r>
              <a:rPr lang="en-US" sz="1100" dirty="0">
                <a:solidFill>
                  <a:srgbClr val="ECF0F1"/>
                </a:solidFill>
              </a:rPr>
              <a:t>NIO, Netty — add to memory budget</a:t>
            </a:r>
            <a:endParaRPr lang="en-US" sz="1100" dirty="0"/>
          </a:p>
        </p:txBody>
      </p:sp>
      <p:sp>
        <p:nvSpPr>
          <p:cNvPr id="33" name="Text 31"/>
          <p:cNvSpPr/>
          <p:nvPr/>
        </p:nvSpPr>
        <p:spPr>
          <a:xfrm>
            <a:off x="320040" y="4663440"/>
            <a:ext cx="8503920" cy="256032"/>
          </a:xfrm>
          <a:prstGeom prst="rect">
            <a:avLst/>
          </a:prstGeom>
          <a:noFill/>
          <a:ln/>
        </p:spPr>
        <p:txBody>
          <a:bodyPr wrap="square" lIns="0" tIns="0" rIns="0" bIns="0" rtlCol="0" anchor="ctr"/>
          <a:lstStyle/>
          <a:p>
            <a:pPr indent="0" marL="0">
              <a:buNone/>
            </a:pPr>
            <a:r>
              <a:rPr lang="en-US" sz="1000" dirty="0">
                <a:solidFill>
                  <a:srgbClr val="F5A623"/>
                </a:solidFill>
              </a:rPr>
              <a:t>Java 21 tip: MaxRAMPercentage=75 leaves 25% for off-heap. Virtual Threads (Loom) eliminate platform thread stack cost for I/O-bound workloads. NMT: -XX:NativeMemoryTracking=summary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Right-Sizing Java Workloads</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02</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6/26</a:t>
            </a:r>
            <a:endParaRPr lang="en-US" sz="900" dirty="0"/>
          </a:p>
        </p:txBody>
      </p:sp>
      <p:sp>
        <p:nvSpPr>
          <p:cNvPr id="7" name="Text 5"/>
          <p:cNvSpPr/>
          <p:nvPr/>
        </p:nvSpPr>
        <p:spPr>
          <a:xfrm>
            <a:off x="365760" y="749808"/>
            <a:ext cx="8229600" cy="320040"/>
          </a:xfrm>
          <a:prstGeom prst="rect">
            <a:avLst/>
          </a:prstGeom>
          <a:noFill/>
          <a:ln/>
        </p:spPr>
        <p:txBody>
          <a:bodyPr wrap="square" lIns="0" tIns="0" rIns="0" bIns="0" rtlCol="0" anchor="ctr"/>
          <a:lstStyle/>
          <a:p>
            <a:pPr indent="0" marL="0">
              <a:buNone/>
            </a:pPr>
            <a:r>
              <a:rPr lang="en-US" sz="1300" b="1" dirty="0">
                <a:solidFill>
                  <a:srgbClr val="1A2B3C"/>
                </a:solidFill>
              </a:rPr>
              <a:t>Kubernetes Resource Requests vs. Limits — Getting Both Right</a:t>
            </a:r>
            <a:endParaRPr lang="en-US" sz="1300" dirty="0"/>
          </a:p>
        </p:txBody>
      </p:sp>
      <p:sp>
        <p:nvSpPr>
          <p:cNvPr id="8" name="Shape 6"/>
          <p:cNvSpPr/>
          <p:nvPr/>
        </p:nvSpPr>
        <p:spPr>
          <a:xfrm>
            <a:off x="320040" y="1188720"/>
            <a:ext cx="4114800" cy="1920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320040" y="1188720"/>
            <a:ext cx="54864" cy="1920240"/>
          </a:xfrm>
          <a:prstGeom prst="rect">
            <a:avLst/>
          </a:prstGeom>
          <a:solidFill>
            <a:srgbClr val="1E6FC8"/>
          </a:solidFill>
          <a:ln/>
        </p:spPr>
      </p:sp>
      <p:sp>
        <p:nvSpPr>
          <p:cNvPr id="10" name="Text 8"/>
          <p:cNvSpPr/>
          <p:nvPr/>
        </p:nvSpPr>
        <p:spPr>
          <a:xfrm>
            <a:off x="457200" y="1261872"/>
            <a:ext cx="3931920" cy="274320"/>
          </a:xfrm>
          <a:prstGeom prst="rect">
            <a:avLst/>
          </a:prstGeom>
          <a:noFill/>
          <a:ln/>
        </p:spPr>
        <p:txBody>
          <a:bodyPr wrap="square" lIns="0" tIns="0" rIns="0" bIns="0" rtlCol="0" anchor="ctr"/>
          <a:lstStyle/>
          <a:p>
            <a:pPr indent="0" marL="0">
              <a:buNone/>
            </a:pPr>
            <a:r>
              <a:rPr lang="en-US" sz="1200" b="1" dirty="0">
                <a:solidFill>
                  <a:srgbClr val="1E6FC8"/>
                </a:solidFill>
              </a:rPr>
              <a:t>requests — Scheduling Guarantee</a:t>
            </a:r>
            <a:endParaRPr lang="en-US" sz="1200" dirty="0"/>
          </a:p>
        </p:txBody>
      </p:sp>
      <p:sp>
        <p:nvSpPr>
          <p:cNvPr id="11" name="Text 9"/>
          <p:cNvSpPr/>
          <p:nvPr/>
        </p:nvSpPr>
        <p:spPr>
          <a:xfrm>
            <a:off x="484632" y="1572768"/>
            <a:ext cx="3858768" cy="1444752"/>
          </a:xfrm>
          <a:prstGeom prst="rect">
            <a:avLst/>
          </a:prstGeom>
          <a:noFill/>
          <a:ln/>
        </p:spPr>
        <p:txBody>
          <a:bodyPr wrap="square" rtlCol="0" anchor="t"/>
          <a:lstStyle/>
          <a:p>
            <a:pPr marL="342900" indent="-342900">
              <a:buSzPct val="100000"/>
              <a:buChar char="•"/>
            </a:pPr>
            <a:r>
              <a:rPr lang="en-US" sz="1050" dirty="0">
                <a:solidFill>
                  <a:srgbClr val="1A2B3C"/>
                </a:solidFill>
              </a:rPr>
              <a:t>Kubernetes scheduler uses this to find a node</a:t>
            </a:r>
            <a:endParaRPr lang="en-US" sz="1050" dirty="0"/>
          </a:p>
          <a:p>
            <a:pPr marL="342900" indent="-342900">
              <a:buSzPct val="100000"/>
              <a:buChar char="•"/>
            </a:pPr>
            <a:r>
              <a:rPr lang="en-US" sz="1050" dirty="0">
                <a:solidFill>
                  <a:srgbClr val="1A2B3C"/>
                </a:solidFill>
              </a:rPr>
              <a:t>Set to actual baseline usage (P50 of your load test)</a:t>
            </a:r>
            <a:endParaRPr lang="en-US" sz="1050" dirty="0"/>
          </a:p>
          <a:p>
            <a:pPr marL="342900" indent="-342900">
              <a:buSzPct val="100000"/>
              <a:buChar char="•"/>
            </a:pPr>
            <a:r>
              <a:rPr lang="en-US" sz="1050" dirty="0">
                <a:solidFill>
                  <a:srgbClr val="1A2B3C"/>
                </a:solidFill>
              </a:rPr>
              <a:t>Too high → pods can't schedule (cluster waste)</a:t>
            </a:r>
            <a:endParaRPr lang="en-US" sz="1050" dirty="0"/>
          </a:p>
          <a:p>
            <a:pPr marL="342900" indent="-342900">
              <a:buSzPct val="100000"/>
              <a:buChar char="•"/>
            </a:pPr>
            <a:r>
              <a:rPr lang="en-US" sz="1050" dirty="0">
                <a:solidFill>
                  <a:srgbClr val="1A2B3C"/>
                </a:solidFill>
              </a:rPr>
              <a:t>Too low → pod scheduled on full node → CPU throttle</a:t>
            </a:r>
            <a:endParaRPr lang="en-US" sz="1050" dirty="0"/>
          </a:p>
        </p:txBody>
      </p:sp>
      <p:sp>
        <p:nvSpPr>
          <p:cNvPr id="12" name="Shape 10"/>
          <p:cNvSpPr/>
          <p:nvPr/>
        </p:nvSpPr>
        <p:spPr>
          <a:xfrm>
            <a:off x="4709160" y="1188720"/>
            <a:ext cx="4114800" cy="1920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4709160" y="1188720"/>
            <a:ext cx="54864" cy="1920240"/>
          </a:xfrm>
          <a:prstGeom prst="rect">
            <a:avLst/>
          </a:prstGeom>
          <a:solidFill>
            <a:srgbClr val="E84855"/>
          </a:solidFill>
          <a:ln/>
        </p:spPr>
      </p:sp>
      <p:sp>
        <p:nvSpPr>
          <p:cNvPr id="14" name="Text 12"/>
          <p:cNvSpPr/>
          <p:nvPr/>
        </p:nvSpPr>
        <p:spPr>
          <a:xfrm>
            <a:off x="4846320" y="1261872"/>
            <a:ext cx="3931920" cy="274320"/>
          </a:xfrm>
          <a:prstGeom prst="rect">
            <a:avLst/>
          </a:prstGeom>
          <a:noFill/>
          <a:ln/>
        </p:spPr>
        <p:txBody>
          <a:bodyPr wrap="square" lIns="0" tIns="0" rIns="0" bIns="0" rtlCol="0" anchor="ctr"/>
          <a:lstStyle/>
          <a:p>
            <a:pPr indent="0" marL="0">
              <a:buNone/>
            </a:pPr>
            <a:r>
              <a:rPr lang="en-US" sz="1200" b="1" dirty="0">
                <a:solidFill>
                  <a:srgbClr val="E84855"/>
                </a:solidFill>
              </a:rPr>
              <a:t>limits — Hard Ceiling</a:t>
            </a:r>
            <a:endParaRPr lang="en-US" sz="1200" dirty="0"/>
          </a:p>
        </p:txBody>
      </p:sp>
      <p:sp>
        <p:nvSpPr>
          <p:cNvPr id="15" name="Text 13"/>
          <p:cNvSpPr/>
          <p:nvPr/>
        </p:nvSpPr>
        <p:spPr>
          <a:xfrm>
            <a:off x="4873752" y="1572768"/>
            <a:ext cx="3858768" cy="1444752"/>
          </a:xfrm>
          <a:prstGeom prst="rect">
            <a:avLst/>
          </a:prstGeom>
          <a:noFill/>
          <a:ln/>
        </p:spPr>
        <p:txBody>
          <a:bodyPr wrap="square" rtlCol="0" anchor="t"/>
          <a:lstStyle/>
          <a:p>
            <a:pPr marL="342900" indent="-342900">
              <a:buSzPct val="100000"/>
              <a:buChar char="•"/>
            </a:pPr>
            <a:r>
              <a:rPr lang="en-US" sz="1050" dirty="0">
                <a:solidFill>
                  <a:srgbClr val="1A2B3C"/>
                </a:solidFill>
              </a:rPr>
              <a:t>Container is killed if memory exceeds limit (OOMKill)</a:t>
            </a:r>
            <a:endParaRPr lang="en-US" sz="1050" dirty="0"/>
          </a:p>
          <a:p>
            <a:pPr marL="342900" indent="-342900">
              <a:buSzPct val="100000"/>
              <a:buChar char="•"/>
            </a:pPr>
            <a:r>
              <a:rPr lang="en-US" sz="1050" dirty="0">
                <a:solidFill>
                  <a:srgbClr val="1A2B3C"/>
                </a:solidFill>
              </a:rPr>
              <a:t>CPU is throttled (not killed) above CPU limit</a:t>
            </a:r>
            <a:endParaRPr lang="en-US" sz="1050" dirty="0"/>
          </a:p>
          <a:p>
            <a:pPr marL="342900" indent="-342900">
              <a:buSzPct val="100000"/>
              <a:buChar char="•"/>
            </a:pPr>
            <a:r>
              <a:rPr lang="en-US" sz="1050" dirty="0">
                <a:solidFill>
                  <a:srgbClr val="1A2B3C"/>
                </a:solidFill>
              </a:rPr>
              <a:t>Set memory limit 25-30% above normal peak</a:t>
            </a:r>
            <a:endParaRPr lang="en-US" sz="1050" dirty="0"/>
          </a:p>
          <a:p>
            <a:pPr marL="342900" indent="-342900">
              <a:buSzPct val="100000"/>
              <a:buChar char="•"/>
            </a:pPr>
            <a:r>
              <a:rPr lang="en-US" sz="1050" dirty="0">
                <a:solidFill>
                  <a:srgbClr val="1A2B3C"/>
                </a:solidFill>
              </a:rPr>
              <a:t>Set CPU limit 2-4× request to absorb GC spikes</a:t>
            </a:r>
            <a:endParaRPr lang="en-US" sz="1050" dirty="0"/>
          </a:p>
        </p:txBody>
      </p:sp>
      <p:sp>
        <p:nvSpPr>
          <p:cNvPr id="16" name="Shape 14"/>
          <p:cNvSpPr/>
          <p:nvPr/>
        </p:nvSpPr>
        <p:spPr>
          <a:xfrm>
            <a:off x="320040" y="3246120"/>
            <a:ext cx="4114800" cy="164592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320040" y="3246120"/>
            <a:ext cx="54864" cy="1645920"/>
          </a:xfrm>
          <a:prstGeom prst="rect">
            <a:avLst/>
          </a:prstGeom>
          <a:solidFill>
            <a:srgbClr val="27AE60"/>
          </a:solidFill>
          <a:ln/>
        </p:spPr>
      </p:sp>
      <p:sp>
        <p:nvSpPr>
          <p:cNvPr id="18" name="Text 16"/>
          <p:cNvSpPr/>
          <p:nvPr/>
        </p:nvSpPr>
        <p:spPr>
          <a:xfrm>
            <a:off x="457200" y="3319272"/>
            <a:ext cx="3931920" cy="274320"/>
          </a:xfrm>
          <a:prstGeom prst="rect">
            <a:avLst/>
          </a:prstGeom>
          <a:noFill/>
          <a:ln/>
        </p:spPr>
        <p:txBody>
          <a:bodyPr wrap="square" lIns="0" tIns="0" rIns="0" bIns="0" rtlCol="0" anchor="ctr"/>
          <a:lstStyle/>
          <a:p>
            <a:pPr indent="0" marL="0">
              <a:buNone/>
            </a:pPr>
            <a:r>
              <a:rPr lang="en-US" sz="1200" b="1" dirty="0">
                <a:solidFill>
                  <a:srgbClr val="27AE60"/>
                </a:solidFill>
              </a:rPr>
              <a:t>Memory Sizing Formula</a:t>
            </a:r>
            <a:endParaRPr lang="en-US" sz="1200" dirty="0"/>
          </a:p>
        </p:txBody>
      </p:sp>
      <p:sp>
        <p:nvSpPr>
          <p:cNvPr id="19" name="Text 17"/>
          <p:cNvSpPr/>
          <p:nvPr/>
        </p:nvSpPr>
        <p:spPr>
          <a:xfrm>
            <a:off x="484632" y="3630168"/>
            <a:ext cx="3858768" cy="1170432"/>
          </a:xfrm>
          <a:prstGeom prst="rect">
            <a:avLst/>
          </a:prstGeom>
          <a:noFill/>
          <a:ln/>
        </p:spPr>
        <p:txBody>
          <a:bodyPr wrap="square" rtlCol="0" anchor="t"/>
          <a:lstStyle/>
          <a:p>
            <a:pPr marL="342900" indent="-342900">
              <a:buSzPct val="100000"/>
              <a:buChar char="•"/>
            </a:pPr>
            <a:r>
              <a:rPr lang="en-US" sz="1050" dirty="0">
                <a:solidFill>
                  <a:srgbClr val="1A2B3C"/>
                </a:solidFill>
              </a:rPr>
              <a:t>Measure: jcmd &lt;pid&gt; VM.native_memory summary</a:t>
            </a:r>
            <a:endParaRPr lang="en-US" sz="1050" dirty="0"/>
          </a:p>
          <a:p>
            <a:pPr marL="342900" indent="-342900">
              <a:buSzPct val="100000"/>
              <a:buChar char="•"/>
            </a:pPr>
            <a:r>
              <a:rPr lang="en-US" sz="1050" dirty="0">
                <a:solidFill>
                  <a:srgbClr val="1A2B3C"/>
                </a:solidFill>
              </a:rPr>
              <a:t>Budget: Heap + Metaspace + Threads + Native + 20% buffer</a:t>
            </a:r>
            <a:endParaRPr lang="en-US" sz="1050" dirty="0"/>
          </a:p>
          <a:p>
            <a:pPr marL="342900" indent="-342900">
              <a:buSzPct val="100000"/>
              <a:buChar char="•"/>
            </a:pPr>
            <a:r>
              <a:rPr lang="en-US" sz="1050" dirty="0">
                <a:solidFill>
                  <a:srgbClr val="1A2B3C"/>
                </a:solidFill>
              </a:rPr>
              <a:t>Request = P50 steady-state RSS (use kubectl top pod)</a:t>
            </a:r>
            <a:endParaRPr lang="en-US" sz="1050" dirty="0"/>
          </a:p>
          <a:p>
            <a:pPr marL="342900" indent="-342900">
              <a:buSzPct val="100000"/>
              <a:buChar char="•"/>
            </a:pPr>
            <a:r>
              <a:rPr lang="en-US" sz="1050" dirty="0">
                <a:solidFill>
                  <a:srgbClr val="1A2B3C"/>
                </a:solidFill>
              </a:rPr>
              <a:t>Limit = P99 peak + 15% safety margin</a:t>
            </a:r>
            <a:endParaRPr lang="en-US" sz="1050" dirty="0"/>
          </a:p>
        </p:txBody>
      </p:sp>
      <p:sp>
        <p:nvSpPr>
          <p:cNvPr id="20" name="Shape 18"/>
          <p:cNvSpPr/>
          <p:nvPr/>
        </p:nvSpPr>
        <p:spPr>
          <a:xfrm>
            <a:off x="4709160" y="3246120"/>
            <a:ext cx="4114800" cy="164592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4709160" y="3246120"/>
            <a:ext cx="54864" cy="1645920"/>
          </a:xfrm>
          <a:prstGeom prst="rect">
            <a:avLst/>
          </a:prstGeom>
          <a:solidFill>
            <a:srgbClr val="F5A623"/>
          </a:solidFill>
          <a:ln/>
        </p:spPr>
      </p:sp>
      <p:sp>
        <p:nvSpPr>
          <p:cNvPr id="22" name="Text 20"/>
          <p:cNvSpPr/>
          <p:nvPr/>
        </p:nvSpPr>
        <p:spPr>
          <a:xfrm>
            <a:off x="4846320" y="3319272"/>
            <a:ext cx="3931920" cy="274320"/>
          </a:xfrm>
          <a:prstGeom prst="rect">
            <a:avLst/>
          </a:prstGeom>
          <a:noFill/>
          <a:ln/>
        </p:spPr>
        <p:txBody>
          <a:bodyPr wrap="square" lIns="0" tIns="0" rIns="0" bIns="0" rtlCol="0" anchor="ctr"/>
          <a:lstStyle/>
          <a:p>
            <a:pPr indent="0" marL="0">
              <a:buNone/>
            </a:pPr>
            <a:r>
              <a:rPr lang="en-US" sz="1200" b="1" dirty="0">
                <a:solidFill>
                  <a:srgbClr val="F5A623"/>
                </a:solidFill>
              </a:rPr>
              <a:t>CPU Sizing for JVM</a:t>
            </a:r>
            <a:endParaRPr lang="en-US" sz="1200" dirty="0"/>
          </a:p>
        </p:txBody>
      </p:sp>
      <p:sp>
        <p:nvSpPr>
          <p:cNvPr id="23" name="Text 21"/>
          <p:cNvSpPr/>
          <p:nvPr/>
        </p:nvSpPr>
        <p:spPr>
          <a:xfrm>
            <a:off x="4873752" y="3630168"/>
            <a:ext cx="3858768" cy="1170432"/>
          </a:xfrm>
          <a:prstGeom prst="rect">
            <a:avLst/>
          </a:prstGeom>
          <a:noFill/>
          <a:ln/>
        </p:spPr>
        <p:txBody>
          <a:bodyPr wrap="square" rtlCol="0" anchor="t"/>
          <a:lstStyle/>
          <a:p>
            <a:pPr marL="342900" indent="-342900">
              <a:buSzPct val="100000"/>
              <a:buChar char="•"/>
            </a:pPr>
            <a:r>
              <a:rPr lang="en-US" sz="1050" dirty="0">
                <a:solidFill>
                  <a:srgbClr val="1A2B3C"/>
                </a:solidFill>
              </a:rPr>
              <a:t>CPU is reclaimable — two schools of thought: no limit (burst freely) vs. 2-4× request (predictable GC)</a:t>
            </a:r>
            <a:endParaRPr lang="en-US" sz="1050" dirty="0"/>
          </a:p>
          <a:p>
            <a:pPr marL="342900" indent="-342900">
              <a:buSzPct val="100000"/>
              <a:buChar char="•"/>
            </a:pPr>
            <a:r>
              <a:rPr lang="en-US" sz="1050" dirty="0">
                <a:solidFill>
                  <a:srgbClr val="1A2B3C"/>
                </a:solidFill>
              </a:rPr>
              <a:t>If setting a limit: GC threads still run — tight limit extends stop-the-world pause duration</a:t>
            </a:r>
            <a:endParaRPr lang="en-US" sz="1050" dirty="0"/>
          </a:p>
          <a:p>
            <a:pPr marL="342900" indent="-342900">
              <a:buSzPct val="100000"/>
              <a:buChar char="•"/>
            </a:pPr>
            <a:r>
              <a:rPr lang="en-US" sz="1050" dirty="0">
                <a:solidFill>
                  <a:srgbClr val="1A2B3C"/>
                </a:solidFill>
              </a:rPr>
              <a:t>Whatever you choose, ensure metrics can be correlated with CPU to diagnose GC-induced spikes</a:t>
            </a:r>
            <a:endParaRPr lang="en-US" sz="1050" dirty="0"/>
          </a:p>
          <a:p>
            <a:pPr marL="342900" indent="-342900">
              <a:buSzPct val="100000"/>
              <a:buChar char="•"/>
            </a:pPr>
            <a:r>
              <a:rPr lang="en-US" sz="1050" dirty="0">
                <a:solidFill>
                  <a:srgbClr val="1A2B3C"/>
                </a:solidFill>
              </a:rPr>
              <a:t>-XX:ActiveProcessorCount=N for fractional CPUs — prevents JVM assuming 0 GC threads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Pod Bin-Packing: The Cost of Memory Hoarding</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02</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7/26</a:t>
            </a:r>
            <a:endParaRPr lang="en-US" sz="900" dirty="0"/>
          </a:p>
        </p:txBody>
      </p:sp>
      <p:sp>
        <p:nvSpPr>
          <p:cNvPr id="7" name="Text 5"/>
          <p:cNvSpPr/>
          <p:nvPr/>
        </p:nvSpPr>
        <p:spPr>
          <a:xfrm>
            <a:off x="457200" y="749808"/>
            <a:ext cx="3657600" cy="320040"/>
          </a:xfrm>
          <a:prstGeom prst="rect">
            <a:avLst/>
          </a:prstGeom>
          <a:noFill/>
          <a:ln/>
        </p:spPr>
        <p:txBody>
          <a:bodyPr wrap="square" lIns="0" tIns="0" rIns="0" bIns="0" rtlCol="0" anchor="ctr"/>
          <a:lstStyle/>
          <a:p>
            <a:pPr algn="ctr" indent="0" marL="0">
              <a:buNone/>
            </a:pPr>
            <a:r>
              <a:rPr lang="en-US" sz="1300" b="1" dirty="0">
                <a:solidFill>
                  <a:srgbClr val="E84855"/>
                </a:solidFill>
              </a:rPr>
              <a:t>BEFORE Optimization</a:t>
            </a:r>
            <a:endParaRPr lang="en-US" sz="1300" dirty="0"/>
          </a:p>
        </p:txBody>
      </p:sp>
      <p:sp>
        <p:nvSpPr>
          <p:cNvPr id="8" name="Shape 6"/>
          <p:cNvSpPr/>
          <p:nvPr/>
        </p:nvSpPr>
        <p:spPr>
          <a:xfrm>
            <a:off x="320040" y="1143000"/>
            <a:ext cx="3749040" cy="3291840"/>
          </a:xfrm>
          <a:prstGeom prst="rect">
            <a:avLst/>
          </a:prstGeom>
          <a:solidFill>
            <a:srgbClr val="122040"/>
          </a:solidFill>
          <a:ln w="25400">
            <a:solidFill>
              <a:srgbClr val="E84855"/>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365760" y="1188720"/>
            <a:ext cx="3657600" cy="320040"/>
          </a:xfrm>
          <a:prstGeom prst="rect">
            <a:avLst/>
          </a:prstGeom>
          <a:noFill/>
          <a:ln/>
        </p:spPr>
        <p:txBody>
          <a:bodyPr wrap="square" lIns="0" tIns="0" rIns="0" bIns="0" rtlCol="0" anchor="ctr"/>
          <a:lstStyle/>
          <a:p>
            <a:pPr algn="ctr" indent="0" marL="0">
              <a:buNone/>
            </a:pPr>
            <a:r>
              <a:rPr lang="en-US" sz="1200" b="1" dirty="0">
                <a:solidFill>
                  <a:srgbClr val="ECF0F1"/>
                </a:solidFill>
              </a:rPr>
              <a:t>Node: 32 GB RAM</a:t>
            </a:r>
            <a:endParaRPr lang="en-US" sz="1200" dirty="0"/>
          </a:p>
        </p:txBody>
      </p:sp>
      <p:sp>
        <p:nvSpPr>
          <p:cNvPr id="10" name="Shape 8"/>
          <p:cNvSpPr/>
          <p:nvPr/>
        </p:nvSpPr>
        <p:spPr>
          <a:xfrm>
            <a:off x="502920" y="1554480"/>
            <a:ext cx="3383280" cy="749808"/>
          </a:xfrm>
          <a:prstGeom prst="rect">
            <a:avLst/>
          </a:prstGeom>
          <a:solidFill>
            <a:srgbClr val="E84855">
              <a:alpha val="70000"/>
            </a:srgbClr>
          </a:solidFill>
          <a:ln w="12700">
            <a:solidFill>
              <a:srgbClr val="E84855"/>
            </a:solidFill>
            <a:prstDash val="solid"/>
          </a:ln>
        </p:spPr>
      </p:sp>
      <p:sp>
        <p:nvSpPr>
          <p:cNvPr id="11" name="Text 9"/>
          <p:cNvSpPr/>
          <p:nvPr/>
        </p:nvSpPr>
        <p:spPr>
          <a:xfrm>
            <a:off x="548640" y="1572768"/>
            <a:ext cx="3291840" cy="713232"/>
          </a:xfrm>
          <a:prstGeom prst="rect">
            <a:avLst/>
          </a:prstGeom>
          <a:noFill/>
          <a:ln/>
        </p:spPr>
        <p:txBody>
          <a:bodyPr wrap="square" lIns="0" tIns="0" rIns="0" bIns="0" rtlCol="0" anchor="ctr"/>
          <a:lstStyle/>
          <a:p>
            <a:pPr algn="ctr" indent="0" marL="0">
              <a:buNone/>
            </a:pPr>
            <a:r>
              <a:rPr lang="en-US" sz="1000" dirty="0">
                <a:solidFill>
                  <a:srgbClr val="FFFFFF"/>
                </a:solidFill>
              </a:rPr>
              <a:t>Pod: Quarkus App</a:t>
            </a:r>
            <a:endParaRPr lang="en-US" sz="1000" dirty="0"/>
          </a:p>
          <a:p>
            <a:pPr algn="ctr" indent="0" marL="0">
              <a:buNone/>
            </a:pPr>
            <a:r>
              <a:rPr lang="en-US" sz="1000" dirty="0">
                <a:solidFill>
                  <a:srgbClr val="FFFFFF"/>
                </a:solidFill>
              </a:rPr>
              <a:t>-Xmx8192m (default)</a:t>
            </a:r>
            <a:endParaRPr lang="en-US" sz="1000" dirty="0"/>
          </a:p>
          <a:p>
            <a:pPr algn="ctr" indent="0" marL="0">
              <a:buNone/>
            </a:pPr>
            <a:r>
              <a:rPr lang="en-US" sz="1000" dirty="0">
                <a:solidFill>
                  <a:srgbClr val="FFFFFF"/>
                </a:solidFill>
              </a:rPr>
              <a:t>8 GB heap claimed</a:t>
            </a:r>
            <a:endParaRPr lang="en-US" sz="1000" dirty="0"/>
          </a:p>
        </p:txBody>
      </p:sp>
      <p:sp>
        <p:nvSpPr>
          <p:cNvPr id="12" name="Shape 10"/>
          <p:cNvSpPr/>
          <p:nvPr/>
        </p:nvSpPr>
        <p:spPr>
          <a:xfrm>
            <a:off x="502920" y="2414016"/>
            <a:ext cx="3383280" cy="749808"/>
          </a:xfrm>
          <a:prstGeom prst="rect">
            <a:avLst/>
          </a:prstGeom>
          <a:solidFill>
            <a:srgbClr val="E84855">
              <a:alpha val="70000"/>
            </a:srgbClr>
          </a:solidFill>
          <a:ln w="12700">
            <a:solidFill>
              <a:srgbClr val="E84855"/>
            </a:solidFill>
            <a:prstDash val="solid"/>
          </a:ln>
        </p:spPr>
      </p:sp>
      <p:sp>
        <p:nvSpPr>
          <p:cNvPr id="13" name="Text 11"/>
          <p:cNvSpPr/>
          <p:nvPr/>
        </p:nvSpPr>
        <p:spPr>
          <a:xfrm>
            <a:off x="548640" y="2432304"/>
            <a:ext cx="3291840" cy="713232"/>
          </a:xfrm>
          <a:prstGeom prst="rect">
            <a:avLst/>
          </a:prstGeom>
          <a:noFill/>
          <a:ln/>
        </p:spPr>
        <p:txBody>
          <a:bodyPr wrap="square" lIns="0" tIns="0" rIns="0" bIns="0" rtlCol="0" anchor="ctr"/>
          <a:lstStyle/>
          <a:p>
            <a:pPr algn="ctr" indent="0" marL="0">
              <a:buNone/>
            </a:pPr>
            <a:r>
              <a:rPr lang="en-US" sz="1000" dirty="0">
                <a:solidFill>
                  <a:srgbClr val="FFFFFF"/>
                </a:solidFill>
              </a:rPr>
              <a:t>Pod: Quarkus App</a:t>
            </a:r>
            <a:endParaRPr lang="en-US" sz="1000" dirty="0"/>
          </a:p>
          <a:p>
            <a:pPr algn="ctr" indent="0" marL="0">
              <a:buNone/>
            </a:pPr>
            <a:r>
              <a:rPr lang="en-US" sz="1000" dirty="0">
                <a:solidFill>
                  <a:srgbClr val="FFFFFF"/>
                </a:solidFill>
              </a:rPr>
              <a:t>-Xmx8192m (default)</a:t>
            </a:r>
            <a:endParaRPr lang="en-US" sz="1000" dirty="0"/>
          </a:p>
          <a:p>
            <a:pPr algn="ctr" indent="0" marL="0">
              <a:buNone/>
            </a:pPr>
            <a:r>
              <a:rPr lang="en-US" sz="1000" dirty="0">
                <a:solidFill>
                  <a:srgbClr val="FFFFFF"/>
                </a:solidFill>
              </a:rPr>
              <a:t>8 GB heap claimed</a:t>
            </a:r>
            <a:endParaRPr lang="en-US" sz="1000" dirty="0"/>
          </a:p>
        </p:txBody>
      </p:sp>
      <p:sp>
        <p:nvSpPr>
          <p:cNvPr id="14" name="Shape 12"/>
          <p:cNvSpPr/>
          <p:nvPr/>
        </p:nvSpPr>
        <p:spPr>
          <a:xfrm>
            <a:off x="502920" y="3273552"/>
            <a:ext cx="3383280" cy="749808"/>
          </a:xfrm>
          <a:prstGeom prst="rect">
            <a:avLst/>
          </a:prstGeom>
          <a:solidFill>
            <a:srgbClr val="E84855">
              <a:alpha val="70000"/>
            </a:srgbClr>
          </a:solidFill>
          <a:ln w="12700">
            <a:solidFill>
              <a:srgbClr val="E84855"/>
            </a:solidFill>
            <a:prstDash val="solid"/>
          </a:ln>
        </p:spPr>
      </p:sp>
      <p:sp>
        <p:nvSpPr>
          <p:cNvPr id="15" name="Text 13"/>
          <p:cNvSpPr/>
          <p:nvPr/>
        </p:nvSpPr>
        <p:spPr>
          <a:xfrm>
            <a:off x="548640" y="3291840"/>
            <a:ext cx="3291840" cy="713232"/>
          </a:xfrm>
          <a:prstGeom prst="rect">
            <a:avLst/>
          </a:prstGeom>
          <a:noFill/>
          <a:ln/>
        </p:spPr>
        <p:txBody>
          <a:bodyPr wrap="square" lIns="0" tIns="0" rIns="0" bIns="0" rtlCol="0" anchor="ctr"/>
          <a:lstStyle/>
          <a:p>
            <a:pPr algn="ctr" indent="0" marL="0">
              <a:buNone/>
            </a:pPr>
            <a:r>
              <a:rPr lang="en-US" sz="1000" dirty="0">
                <a:solidFill>
                  <a:srgbClr val="FFFFFF"/>
                </a:solidFill>
              </a:rPr>
              <a:t>Pod: Quarkus App</a:t>
            </a:r>
            <a:endParaRPr lang="en-US" sz="1000" dirty="0"/>
          </a:p>
          <a:p>
            <a:pPr algn="ctr" indent="0" marL="0">
              <a:buNone/>
            </a:pPr>
            <a:r>
              <a:rPr lang="en-US" sz="1000" dirty="0">
                <a:solidFill>
                  <a:srgbClr val="FFFFFF"/>
                </a:solidFill>
              </a:rPr>
              <a:t>-Xmx8192m (default)</a:t>
            </a:r>
            <a:endParaRPr lang="en-US" sz="1000" dirty="0"/>
          </a:p>
          <a:p>
            <a:pPr algn="ctr" indent="0" marL="0">
              <a:buNone/>
            </a:pPr>
            <a:r>
              <a:rPr lang="en-US" sz="1000" dirty="0">
                <a:solidFill>
                  <a:srgbClr val="FFFFFF"/>
                </a:solidFill>
              </a:rPr>
              <a:t>8 GB heap claimed</a:t>
            </a:r>
            <a:endParaRPr lang="en-US" sz="1000" dirty="0"/>
          </a:p>
        </p:txBody>
      </p:sp>
      <p:sp>
        <p:nvSpPr>
          <p:cNvPr id="16" name="Text 14"/>
          <p:cNvSpPr/>
          <p:nvPr/>
        </p:nvSpPr>
        <p:spPr>
          <a:xfrm>
            <a:off x="365760" y="4206240"/>
            <a:ext cx="3657600" cy="274320"/>
          </a:xfrm>
          <a:prstGeom prst="rect">
            <a:avLst/>
          </a:prstGeom>
          <a:noFill/>
          <a:ln/>
        </p:spPr>
        <p:txBody>
          <a:bodyPr wrap="square" lIns="0" tIns="0" rIns="0" bIns="0" rtlCol="0" anchor="ctr"/>
          <a:lstStyle/>
          <a:p>
            <a:pPr algn="ctr" indent="0" marL="0">
              <a:buNone/>
            </a:pPr>
            <a:r>
              <a:rPr lang="en-US" sz="1000" dirty="0">
                <a:solidFill>
                  <a:srgbClr val="E84855"/>
                </a:solidFill>
              </a:rPr>
              <a:t>⚠ 24/32 GB used → only 3 pods/node</a:t>
            </a:r>
            <a:endParaRPr lang="en-US" sz="1000" dirty="0"/>
          </a:p>
        </p:txBody>
      </p:sp>
      <p:sp>
        <p:nvSpPr>
          <p:cNvPr id="17" name="Text 15"/>
          <p:cNvSpPr/>
          <p:nvPr/>
        </p:nvSpPr>
        <p:spPr>
          <a:xfrm>
            <a:off x="5029200" y="749808"/>
            <a:ext cx="3749040" cy="320040"/>
          </a:xfrm>
          <a:prstGeom prst="rect">
            <a:avLst/>
          </a:prstGeom>
          <a:noFill/>
          <a:ln/>
        </p:spPr>
        <p:txBody>
          <a:bodyPr wrap="square" lIns="0" tIns="0" rIns="0" bIns="0" rtlCol="0" anchor="ctr"/>
          <a:lstStyle/>
          <a:p>
            <a:pPr algn="ctr" indent="0" marL="0">
              <a:buNone/>
            </a:pPr>
            <a:r>
              <a:rPr lang="en-US" sz="1300" b="1" dirty="0">
                <a:solidFill>
                  <a:srgbClr val="27AE60"/>
                </a:solidFill>
              </a:rPr>
              <a:t>AFTER Optimization</a:t>
            </a:r>
            <a:endParaRPr lang="en-US" sz="1300" dirty="0"/>
          </a:p>
        </p:txBody>
      </p:sp>
      <p:sp>
        <p:nvSpPr>
          <p:cNvPr id="18" name="Shape 16"/>
          <p:cNvSpPr/>
          <p:nvPr/>
        </p:nvSpPr>
        <p:spPr>
          <a:xfrm>
            <a:off x="5074920" y="1143000"/>
            <a:ext cx="3749040" cy="3291840"/>
          </a:xfrm>
          <a:prstGeom prst="rect">
            <a:avLst/>
          </a:prstGeom>
          <a:solidFill>
            <a:srgbClr val="122040"/>
          </a:solidFill>
          <a:ln w="25400">
            <a:solidFill>
              <a:srgbClr val="27AE60"/>
            </a:solidFill>
            <a:prstDash val="solid"/>
          </a:ln>
          <a:effectLst>
            <a:outerShdw sx="100000" sy="100000" kx="0" ky="0" algn="bl" rotWithShape="0" blurRad="101600" dist="38100" dir="8100000">
              <a:srgbClr val="000000">
                <a:alpha val="18000"/>
              </a:srgbClr>
            </a:outerShdw>
          </a:effectLst>
        </p:spPr>
      </p:sp>
      <p:sp>
        <p:nvSpPr>
          <p:cNvPr id="19" name="Text 17"/>
          <p:cNvSpPr/>
          <p:nvPr/>
        </p:nvSpPr>
        <p:spPr>
          <a:xfrm>
            <a:off x="5120640" y="1188720"/>
            <a:ext cx="3566160" cy="320040"/>
          </a:xfrm>
          <a:prstGeom prst="rect">
            <a:avLst/>
          </a:prstGeom>
          <a:noFill/>
          <a:ln/>
        </p:spPr>
        <p:txBody>
          <a:bodyPr wrap="square" lIns="0" tIns="0" rIns="0" bIns="0" rtlCol="0" anchor="ctr"/>
          <a:lstStyle/>
          <a:p>
            <a:pPr algn="ctr" indent="0" marL="0">
              <a:buNone/>
            </a:pPr>
            <a:r>
              <a:rPr lang="en-US" sz="1200" b="1" dirty="0">
                <a:solidFill>
                  <a:srgbClr val="ECF0F1"/>
                </a:solidFill>
              </a:rPr>
              <a:t>Node: 32 GB RAM</a:t>
            </a:r>
            <a:endParaRPr lang="en-US" sz="1200" dirty="0"/>
          </a:p>
        </p:txBody>
      </p:sp>
      <p:sp>
        <p:nvSpPr>
          <p:cNvPr id="20" name="Shape 18"/>
          <p:cNvSpPr/>
          <p:nvPr/>
        </p:nvSpPr>
        <p:spPr>
          <a:xfrm>
            <a:off x="5166360" y="1554480"/>
            <a:ext cx="1709928" cy="749808"/>
          </a:xfrm>
          <a:prstGeom prst="rect">
            <a:avLst/>
          </a:prstGeom>
          <a:solidFill>
            <a:srgbClr val="27AE60">
              <a:alpha val="65000"/>
            </a:srgbClr>
          </a:solidFill>
          <a:ln w="12700">
            <a:solidFill>
              <a:srgbClr val="27AE60"/>
            </a:solidFill>
            <a:prstDash val="solid"/>
          </a:ln>
        </p:spPr>
      </p:sp>
      <p:sp>
        <p:nvSpPr>
          <p:cNvPr id="21" name="Text 19"/>
          <p:cNvSpPr/>
          <p:nvPr/>
        </p:nvSpPr>
        <p:spPr>
          <a:xfrm>
            <a:off x="5166360" y="1572768"/>
            <a:ext cx="1709928" cy="713232"/>
          </a:xfrm>
          <a:prstGeom prst="rect">
            <a:avLst/>
          </a:prstGeom>
          <a:noFill/>
          <a:ln/>
        </p:spPr>
        <p:txBody>
          <a:bodyPr wrap="square" lIns="0" tIns="0" rIns="0" bIns="0" rtlCol="0" anchor="ctr"/>
          <a:lstStyle/>
          <a:p>
            <a:pPr algn="ctr" indent="0" marL="0">
              <a:buNone/>
            </a:pPr>
            <a:r>
              <a:rPr lang="en-US" sz="1000" dirty="0">
                <a:solidFill>
                  <a:srgbClr val="FFFFFF"/>
                </a:solidFill>
              </a:rPr>
              <a:t>App 1</a:t>
            </a:r>
            <a:endParaRPr lang="en-US" sz="1000" dirty="0"/>
          </a:p>
          <a:p>
            <a:pPr algn="ctr" indent="0" marL="0">
              <a:buNone/>
            </a:pPr>
            <a:r>
              <a:rPr lang="en-US" sz="1000" dirty="0">
                <a:solidFill>
                  <a:srgbClr val="FFFFFF"/>
                </a:solidFill>
              </a:rPr>
              <a:t>1.5 GB</a:t>
            </a:r>
            <a:endParaRPr lang="en-US" sz="1000" dirty="0"/>
          </a:p>
        </p:txBody>
      </p:sp>
      <p:sp>
        <p:nvSpPr>
          <p:cNvPr id="22" name="Shape 20"/>
          <p:cNvSpPr/>
          <p:nvPr/>
        </p:nvSpPr>
        <p:spPr>
          <a:xfrm>
            <a:off x="6967728" y="1554480"/>
            <a:ext cx="1709928" cy="749808"/>
          </a:xfrm>
          <a:prstGeom prst="rect">
            <a:avLst/>
          </a:prstGeom>
          <a:solidFill>
            <a:srgbClr val="27AE60">
              <a:alpha val="65000"/>
            </a:srgbClr>
          </a:solidFill>
          <a:ln w="12700">
            <a:solidFill>
              <a:srgbClr val="27AE60"/>
            </a:solidFill>
            <a:prstDash val="solid"/>
          </a:ln>
        </p:spPr>
      </p:sp>
      <p:sp>
        <p:nvSpPr>
          <p:cNvPr id="23" name="Text 21"/>
          <p:cNvSpPr/>
          <p:nvPr/>
        </p:nvSpPr>
        <p:spPr>
          <a:xfrm>
            <a:off x="6967728" y="1572768"/>
            <a:ext cx="1709928" cy="713232"/>
          </a:xfrm>
          <a:prstGeom prst="rect">
            <a:avLst/>
          </a:prstGeom>
          <a:noFill/>
          <a:ln/>
        </p:spPr>
        <p:txBody>
          <a:bodyPr wrap="square" lIns="0" tIns="0" rIns="0" bIns="0" rtlCol="0" anchor="ctr"/>
          <a:lstStyle/>
          <a:p>
            <a:pPr algn="ctr" indent="0" marL="0">
              <a:buNone/>
            </a:pPr>
            <a:r>
              <a:rPr lang="en-US" sz="1000" dirty="0">
                <a:solidFill>
                  <a:srgbClr val="FFFFFF"/>
                </a:solidFill>
              </a:rPr>
              <a:t>App 2</a:t>
            </a:r>
            <a:endParaRPr lang="en-US" sz="1000" dirty="0"/>
          </a:p>
          <a:p>
            <a:pPr algn="ctr" indent="0" marL="0">
              <a:buNone/>
            </a:pPr>
            <a:r>
              <a:rPr lang="en-US" sz="1000" dirty="0">
                <a:solidFill>
                  <a:srgbClr val="FFFFFF"/>
                </a:solidFill>
              </a:rPr>
              <a:t>1.5 GB</a:t>
            </a:r>
            <a:endParaRPr lang="en-US" sz="1000" dirty="0"/>
          </a:p>
        </p:txBody>
      </p:sp>
      <p:sp>
        <p:nvSpPr>
          <p:cNvPr id="24" name="Shape 22"/>
          <p:cNvSpPr/>
          <p:nvPr/>
        </p:nvSpPr>
        <p:spPr>
          <a:xfrm>
            <a:off x="5166360" y="2414016"/>
            <a:ext cx="1709928" cy="749808"/>
          </a:xfrm>
          <a:prstGeom prst="rect">
            <a:avLst/>
          </a:prstGeom>
          <a:solidFill>
            <a:srgbClr val="27AE60">
              <a:alpha val="65000"/>
            </a:srgbClr>
          </a:solidFill>
          <a:ln w="12700">
            <a:solidFill>
              <a:srgbClr val="27AE60"/>
            </a:solidFill>
            <a:prstDash val="solid"/>
          </a:ln>
        </p:spPr>
      </p:sp>
      <p:sp>
        <p:nvSpPr>
          <p:cNvPr id="25" name="Text 23"/>
          <p:cNvSpPr/>
          <p:nvPr/>
        </p:nvSpPr>
        <p:spPr>
          <a:xfrm>
            <a:off x="5166360" y="2432304"/>
            <a:ext cx="1709928" cy="713232"/>
          </a:xfrm>
          <a:prstGeom prst="rect">
            <a:avLst/>
          </a:prstGeom>
          <a:noFill/>
          <a:ln/>
        </p:spPr>
        <p:txBody>
          <a:bodyPr wrap="square" lIns="0" tIns="0" rIns="0" bIns="0" rtlCol="0" anchor="ctr"/>
          <a:lstStyle/>
          <a:p>
            <a:pPr algn="ctr" indent="0" marL="0">
              <a:buNone/>
            </a:pPr>
            <a:r>
              <a:rPr lang="en-US" sz="1000" dirty="0">
                <a:solidFill>
                  <a:srgbClr val="FFFFFF"/>
                </a:solidFill>
              </a:rPr>
              <a:t>App 3</a:t>
            </a:r>
            <a:endParaRPr lang="en-US" sz="1000" dirty="0"/>
          </a:p>
          <a:p>
            <a:pPr algn="ctr" indent="0" marL="0">
              <a:buNone/>
            </a:pPr>
            <a:r>
              <a:rPr lang="en-US" sz="1000" dirty="0">
                <a:solidFill>
                  <a:srgbClr val="FFFFFF"/>
                </a:solidFill>
              </a:rPr>
              <a:t>1.5 GB</a:t>
            </a:r>
            <a:endParaRPr lang="en-US" sz="1000" dirty="0"/>
          </a:p>
        </p:txBody>
      </p:sp>
      <p:sp>
        <p:nvSpPr>
          <p:cNvPr id="26" name="Shape 24"/>
          <p:cNvSpPr/>
          <p:nvPr/>
        </p:nvSpPr>
        <p:spPr>
          <a:xfrm>
            <a:off x="6967728" y="2414016"/>
            <a:ext cx="1709928" cy="749808"/>
          </a:xfrm>
          <a:prstGeom prst="rect">
            <a:avLst/>
          </a:prstGeom>
          <a:solidFill>
            <a:srgbClr val="27AE60">
              <a:alpha val="65000"/>
            </a:srgbClr>
          </a:solidFill>
          <a:ln w="12700">
            <a:solidFill>
              <a:srgbClr val="27AE60"/>
            </a:solidFill>
            <a:prstDash val="solid"/>
          </a:ln>
        </p:spPr>
      </p:sp>
      <p:sp>
        <p:nvSpPr>
          <p:cNvPr id="27" name="Text 25"/>
          <p:cNvSpPr/>
          <p:nvPr/>
        </p:nvSpPr>
        <p:spPr>
          <a:xfrm>
            <a:off x="6967728" y="2432304"/>
            <a:ext cx="1709928" cy="713232"/>
          </a:xfrm>
          <a:prstGeom prst="rect">
            <a:avLst/>
          </a:prstGeom>
          <a:noFill/>
          <a:ln/>
        </p:spPr>
        <p:txBody>
          <a:bodyPr wrap="square" lIns="0" tIns="0" rIns="0" bIns="0" rtlCol="0" anchor="ctr"/>
          <a:lstStyle/>
          <a:p>
            <a:pPr algn="ctr" indent="0" marL="0">
              <a:buNone/>
            </a:pPr>
            <a:r>
              <a:rPr lang="en-US" sz="1000" dirty="0">
                <a:solidFill>
                  <a:srgbClr val="FFFFFF"/>
                </a:solidFill>
              </a:rPr>
              <a:t>App 4</a:t>
            </a:r>
            <a:endParaRPr lang="en-US" sz="1000" dirty="0"/>
          </a:p>
          <a:p>
            <a:pPr algn="ctr" indent="0" marL="0">
              <a:buNone/>
            </a:pPr>
            <a:r>
              <a:rPr lang="en-US" sz="1000" dirty="0">
                <a:solidFill>
                  <a:srgbClr val="FFFFFF"/>
                </a:solidFill>
              </a:rPr>
              <a:t>1.5 GB</a:t>
            </a:r>
            <a:endParaRPr lang="en-US" sz="1000" dirty="0"/>
          </a:p>
        </p:txBody>
      </p:sp>
      <p:sp>
        <p:nvSpPr>
          <p:cNvPr id="28" name="Shape 26"/>
          <p:cNvSpPr/>
          <p:nvPr/>
        </p:nvSpPr>
        <p:spPr>
          <a:xfrm>
            <a:off x="5166360" y="3273552"/>
            <a:ext cx="1709928" cy="749808"/>
          </a:xfrm>
          <a:prstGeom prst="rect">
            <a:avLst/>
          </a:prstGeom>
          <a:solidFill>
            <a:srgbClr val="27AE60">
              <a:alpha val="65000"/>
            </a:srgbClr>
          </a:solidFill>
          <a:ln w="12700">
            <a:solidFill>
              <a:srgbClr val="27AE60"/>
            </a:solidFill>
            <a:prstDash val="solid"/>
          </a:ln>
        </p:spPr>
      </p:sp>
      <p:sp>
        <p:nvSpPr>
          <p:cNvPr id="29" name="Text 27"/>
          <p:cNvSpPr/>
          <p:nvPr/>
        </p:nvSpPr>
        <p:spPr>
          <a:xfrm>
            <a:off x="5166360" y="3291840"/>
            <a:ext cx="1709928" cy="713232"/>
          </a:xfrm>
          <a:prstGeom prst="rect">
            <a:avLst/>
          </a:prstGeom>
          <a:noFill/>
          <a:ln/>
        </p:spPr>
        <p:txBody>
          <a:bodyPr wrap="square" lIns="0" tIns="0" rIns="0" bIns="0" rtlCol="0" anchor="ctr"/>
          <a:lstStyle/>
          <a:p>
            <a:pPr algn="ctr" indent="0" marL="0">
              <a:buNone/>
            </a:pPr>
            <a:r>
              <a:rPr lang="en-US" sz="1000" dirty="0">
                <a:solidFill>
                  <a:srgbClr val="FFFFFF"/>
                </a:solidFill>
              </a:rPr>
              <a:t>App 5</a:t>
            </a:r>
            <a:endParaRPr lang="en-US" sz="1000" dirty="0"/>
          </a:p>
          <a:p>
            <a:pPr algn="ctr" indent="0" marL="0">
              <a:buNone/>
            </a:pPr>
            <a:r>
              <a:rPr lang="en-US" sz="1000" dirty="0">
                <a:solidFill>
                  <a:srgbClr val="FFFFFF"/>
                </a:solidFill>
              </a:rPr>
              <a:t>1.5 GB</a:t>
            </a:r>
            <a:endParaRPr lang="en-US" sz="1000" dirty="0"/>
          </a:p>
        </p:txBody>
      </p:sp>
      <p:sp>
        <p:nvSpPr>
          <p:cNvPr id="30" name="Shape 28"/>
          <p:cNvSpPr/>
          <p:nvPr/>
        </p:nvSpPr>
        <p:spPr>
          <a:xfrm>
            <a:off x="6967728" y="3273552"/>
            <a:ext cx="1709928" cy="749808"/>
          </a:xfrm>
          <a:prstGeom prst="rect">
            <a:avLst/>
          </a:prstGeom>
          <a:solidFill>
            <a:srgbClr val="27AE60">
              <a:alpha val="65000"/>
            </a:srgbClr>
          </a:solidFill>
          <a:ln w="12700">
            <a:solidFill>
              <a:srgbClr val="27AE60"/>
            </a:solidFill>
            <a:prstDash val="solid"/>
          </a:ln>
        </p:spPr>
      </p:sp>
      <p:sp>
        <p:nvSpPr>
          <p:cNvPr id="31" name="Text 29"/>
          <p:cNvSpPr/>
          <p:nvPr/>
        </p:nvSpPr>
        <p:spPr>
          <a:xfrm>
            <a:off x="6967728" y="3291840"/>
            <a:ext cx="1709928" cy="713232"/>
          </a:xfrm>
          <a:prstGeom prst="rect">
            <a:avLst/>
          </a:prstGeom>
          <a:noFill/>
          <a:ln/>
        </p:spPr>
        <p:txBody>
          <a:bodyPr wrap="square" lIns="0" tIns="0" rIns="0" bIns="0" rtlCol="0" anchor="ctr"/>
          <a:lstStyle/>
          <a:p>
            <a:pPr algn="ctr" indent="0" marL="0">
              <a:buNone/>
            </a:pPr>
            <a:r>
              <a:rPr lang="en-US" sz="1000" dirty="0">
                <a:solidFill>
                  <a:srgbClr val="FFFFFF"/>
                </a:solidFill>
              </a:rPr>
              <a:t>App 6</a:t>
            </a:r>
            <a:endParaRPr lang="en-US" sz="1000" dirty="0"/>
          </a:p>
          <a:p>
            <a:pPr algn="ctr" indent="0" marL="0">
              <a:buNone/>
            </a:pPr>
            <a:r>
              <a:rPr lang="en-US" sz="1000" dirty="0">
                <a:solidFill>
                  <a:srgbClr val="FFFFFF"/>
                </a:solidFill>
              </a:rPr>
              <a:t>1.5 GB</a:t>
            </a:r>
            <a:endParaRPr lang="en-US" sz="1000" dirty="0"/>
          </a:p>
        </p:txBody>
      </p:sp>
      <p:sp>
        <p:nvSpPr>
          <p:cNvPr id="32" name="Text 30"/>
          <p:cNvSpPr/>
          <p:nvPr/>
        </p:nvSpPr>
        <p:spPr>
          <a:xfrm>
            <a:off x="5029200" y="4206240"/>
            <a:ext cx="3749040" cy="274320"/>
          </a:xfrm>
          <a:prstGeom prst="rect">
            <a:avLst/>
          </a:prstGeom>
          <a:noFill/>
          <a:ln/>
        </p:spPr>
        <p:txBody>
          <a:bodyPr wrap="square" lIns="0" tIns="0" rIns="0" bIns="0" rtlCol="0" anchor="ctr"/>
          <a:lstStyle/>
          <a:p>
            <a:pPr algn="ctr" indent="0" marL="0">
              <a:buNone/>
            </a:pPr>
            <a:r>
              <a:rPr lang="en-US" sz="1000" dirty="0">
                <a:solidFill>
                  <a:srgbClr val="27AE60"/>
                </a:solidFill>
              </a:rPr>
              <a:t>✅ 9 GB used → 6 pods/node → 2× density</a:t>
            </a:r>
            <a:endParaRPr lang="en-US" sz="1000" dirty="0"/>
          </a:p>
        </p:txBody>
      </p:sp>
      <p:sp>
        <p:nvSpPr>
          <p:cNvPr id="33" name="Shape 31"/>
          <p:cNvSpPr/>
          <p:nvPr/>
        </p:nvSpPr>
        <p:spPr>
          <a:xfrm>
            <a:off x="4133088" y="2651760"/>
            <a:ext cx="877824" cy="457200"/>
          </a:xfrm>
          <a:prstGeom prst="rect">
            <a:avLst/>
          </a:prstGeom>
          <a:solidFill>
            <a:srgbClr val="F5A623"/>
          </a:solidFill>
          <a:ln/>
        </p:spPr>
      </p:sp>
      <p:sp>
        <p:nvSpPr>
          <p:cNvPr id="34" name="Text 32"/>
          <p:cNvSpPr/>
          <p:nvPr/>
        </p:nvSpPr>
        <p:spPr>
          <a:xfrm>
            <a:off x="4133088" y="2651760"/>
            <a:ext cx="877824" cy="45720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Garbage Collection Optimization</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03</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8/26</a:t>
            </a:r>
            <a:endParaRPr lang="en-US" sz="900" dirty="0"/>
          </a:p>
        </p:txBody>
      </p:sp>
      <p:sp>
        <p:nvSpPr>
          <p:cNvPr id="7" name="Text 5"/>
          <p:cNvSpPr/>
          <p:nvPr/>
        </p:nvSpPr>
        <p:spPr>
          <a:xfrm>
            <a:off x="365760" y="749808"/>
            <a:ext cx="8229600" cy="320040"/>
          </a:xfrm>
          <a:prstGeom prst="rect">
            <a:avLst/>
          </a:prstGeom>
          <a:noFill/>
          <a:ln/>
        </p:spPr>
        <p:txBody>
          <a:bodyPr wrap="square" lIns="0" tIns="0" rIns="0" bIns="0" rtlCol="0" anchor="ctr"/>
          <a:lstStyle/>
          <a:p>
            <a:pPr indent="0" marL="0">
              <a:buNone/>
            </a:pPr>
            <a:r>
              <a:rPr lang="en-US" sz="1600" b="1" dirty="0">
                <a:solidFill>
                  <a:srgbClr val="1A2B3C"/>
                </a:solidFill>
              </a:rPr>
              <a:t>GC in Containers: The Challenges</a:t>
            </a:r>
            <a:endParaRPr lang="en-US" sz="1600" dirty="0"/>
          </a:p>
        </p:txBody>
      </p:sp>
      <p:sp>
        <p:nvSpPr>
          <p:cNvPr id="8" name="Shape 6"/>
          <p:cNvSpPr/>
          <p:nvPr/>
        </p:nvSpPr>
        <p:spPr>
          <a:xfrm>
            <a:off x="320040" y="1234440"/>
            <a:ext cx="4069080" cy="15087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320040" y="1234440"/>
            <a:ext cx="4069080" cy="384048"/>
          </a:xfrm>
          <a:prstGeom prst="rect">
            <a:avLst/>
          </a:prstGeom>
          <a:solidFill>
            <a:srgbClr val="E84855"/>
          </a:solidFill>
          <a:ln/>
        </p:spPr>
      </p:sp>
      <p:sp>
        <p:nvSpPr>
          <p:cNvPr id="10" name="Text 8"/>
          <p:cNvSpPr/>
          <p:nvPr/>
        </p:nvSpPr>
        <p:spPr>
          <a:xfrm>
            <a:off x="429768" y="1271016"/>
            <a:ext cx="3886200" cy="310896"/>
          </a:xfrm>
          <a:prstGeom prst="rect">
            <a:avLst/>
          </a:prstGeom>
          <a:noFill/>
          <a:ln/>
        </p:spPr>
        <p:txBody>
          <a:bodyPr wrap="square" lIns="0" tIns="0" rIns="0" bIns="0" rtlCol="0" anchor="ctr"/>
          <a:lstStyle/>
          <a:p>
            <a:pPr indent="0" marL="0">
              <a:buNone/>
            </a:pPr>
            <a:r>
              <a:rPr lang="en-US" sz="1200" b="1" dirty="0">
                <a:solidFill>
                  <a:srgbClr val="FFFFFF"/>
                </a:solidFill>
              </a:rPr>
              <a:t>CPU Throttling Extends GC</a:t>
            </a:r>
            <a:endParaRPr lang="en-US" sz="1200" dirty="0"/>
          </a:p>
        </p:txBody>
      </p:sp>
      <p:sp>
        <p:nvSpPr>
          <p:cNvPr id="11" name="Text 9"/>
          <p:cNvSpPr/>
          <p:nvPr/>
        </p:nvSpPr>
        <p:spPr>
          <a:xfrm>
            <a:off x="429768" y="1691640"/>
            <a:ext cx="3840480" cy="960120"/>
          </a:xfrm>
          <a:prstGeom prst="rect">
            <a:avLst/>
          </a:prstGeom>
          <a:noFill/>
          <a:ln/>
        </p:spPr>
        <p:txBody>
          <a:bodyPr wrap="square" lIns="0" tIns="0" rIns="0" bIns="0" rtlCol="0" anchor="t"/>
          <a:lstStyle/>
          <a:p>
            <a:pPr indent="0" marL="0">
              <a:buNone/>
            </a:pPr>
            <a:r>
              <a:rPr lang="en-US" sz="1050" dirty="0">
                <a:solidFill>
                  <a:srgbClr val="1A2B3C"/>
                </a:solidFill>
              </a:rPr>
              <a:t>GC is CPU-intensive. CPU limits throttle GC threads mid-pause. A 100ms G1GC pause becomes 400ms under throttle. Set CPU limit ≥ 2× request.</a:t>
            </a:r>
            <a:endParaRPr lang="en-US" sz="1050" dirty="0"/>
          </a:p>
        </p:txBody>
      </p:sp>
      <p:sp>
        <p:nvSpPr>
          <p:cNvPr id="12" name="Shape 10"/>
          <p:cNvSpPr/>
          <p:nvPr/>
        </p:nvSpPr>
        <p:spPr>
          <a:xfrm>
            <a:off x="4663440" y="1234440"/>
            <a:ext cx="4069080" cy="15087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4663440" y="1234440"/>
            <a:ext cx="4069080" cy="384048"/>
          </a:xfrm>
          <a:prstGeom prst="rect">
            <a:avLst/>
          </a:prstGeom>
          <a:solidFill>
            <a:srgbClr val="F5A623"/>
          </a:solidFill>
          <a:ln/>
        </p:spPr>
      </p:sp>
      <p:sp>
        <p:nvSpPr>
          <p:cNvPr id="14" name="Text 12"/>
          <p:cNvSpPr/>
          <p:nvPr/>
        </p:nvSpPr>
        <p:spPr>
          <a:xfrm>
            <a:off x="4773168" y="1271016"/>
            <a:ext cx="3886200" cy="310896"/>
          </a:xfrm>
          <a:prstGeom prst="rect">
            <a:avLst/>
          </a:prstGeom>
          <a:noFill/>
          <a:ln/>
        </p:spPr>
        <p:txBody>
          <a:bodyPr wrap="square" lIns="0" tIns="0" rIns="0" bIns="0" rtlCol="0" anchor="ctr"/>
          <a:lstStyle/>
          <a:p>
            <a:pPr indent="0" marL="0">
              <a:buNone/>
            </a:pPr>
            <a:r>
              <a:rPr lang="en-US" sz="1200" b="1" dirty="0">
                <a:solidFill>
                  <a:srgbClr val="FFFFFF"/>
                </a:solidFill>
              </a:rPr>
              <a:t>Parallel GC Thread Count</a:t>
            </a:r>
            <a:endParaRPr lang="en-US" sz="1200" dirty="0"/>
          </a:p>
        </p:txBody>
      </p:sp>
      <p:sp>
        <p:nvSpPr>
          <p:cNvPr id="15" name="Text 13"/>
          <p:cNvSpPr/>
          <p:nvPr/>
        </p:nvSpPr>
        <p:spPr>
          <a:xfrm>
            <a:off x="4773168" y="1691640"/>
            <a:ext cx="3840480" cy="960120"/>
          </a:xfrm>
          <a:prstGeom prst="rect">
            <a:avLst/>
          </a:prstGeom>
          <a:noFill/>
          <a:ln/>
        </p:spPr>
        <p:txBody>
          <a:bodyPr wrap="square" lIns="0" tIns="0" rIns="0" bIns="0" rtlCol="0" anchor="t"/>
          <a:lstStyle/>
          <a:p>
            <a:pPr indent="0" marL="0">
              <a:buNone/>
            </a:pPr>
            <a:r>
              <a:rPr lang="en-US" sz="1050" dirty="0">
                <a:solidFill>
                  <a:srgbClr val="1A2B3C"/>
                </a:solidFill>
              </a:rPr>
              <a:t>JVM defaults ParallelGCThreads to host CPU count. On a 64-core node with 4 CPU limit, GC spawns 64 threads competing for 4 CPUs. Fix: -XX:ParallelGCThreads=4</a:t>
            </a:r>
            <a:endParaRPr lang="en-US" sz="1050" dirty="0"/>
          </a:p>
        </p:txBody>
      </p:sp>
      <p:sp>
        <p:nvSpPr>
          <p:cNvPr id="16" name="Shape 14"/>
          <p:cNvSpPr/>
          <p:nvPr/>
        </p:nvSpPr>
        <p:spPr>
          <a:xfrm>
            <a:off x="320040" y="2926080"/>
            <a:ext cx="4069080" cy="15087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7" name="Shape 15"/>
          <p:cNvSpPr/>
          <p:nvPr/>
        </p:nvSpPr>
        <p:spPr>
          <a:xfrm>
            <a:off x="320040" y="2926080"/>
            <a:ext cx="4069080" cy="384048"/>
          </a:xfrm>
          <a:prstGeom prst="rect">
            <a:avLst/>
          </a:prstGeom>
          <a:solidFill>
            <a:srgbClr val="E84855"/>
          </a:solidFill>
          <a:ln/>
        </p:spPr>
      </p:sp>
      <p:sp>
        <p:nvSpPr>
          <p:cNvPr id="18" name="Text 16"/>
          <p:cNvSpPr/>
          <p:nvPr/>
        </p:nvSpPr>
        <p:spPr>
          <a:xfrm>
            <a:off x="429768" y="2962656"/>
            <a:ext cx="3886200" cy="310896"/>
          </a:xfrm>
          <a:prstGeom prst="rect">
            <a:avLst/>
          </a:prstGeom>
          <a:noFill/>
          <a:ln/>
        </p:spPr>
        <p:txBody>
          <a:bodyPr wrap="square" lIns="0" tIns="0" rIns="0" bIns="0" rtlCol="0" anchor="ctr"/>
          <a:lstStyle/>
          <a:p>
            <a:pPr indent="0" marL="0">
              <a:buNone/>
            </a:pPr>
            <a:r>
              <a:rPr lang="en-US" sz="1200" b="1" dirty="0">
                <a:solidFill>
                  <a:srgbClr val="FFFFFF"/>
                </a:solidFill>
              </a:rPr>
              <a:t>GC-Induced HPA Thrash</a:t>
            </a:r>
            <a:endParaRPr lang="en-US" sz="1200" dirty="0"/>
          </a:p>
        </p:txBody>
      </p:sp>
      <p:sp>
        <p:nvSpPr>
          <p:cNvPr id="19" name="Text 17"/>
          <p:cNvSpPr/>
          <p:nvPr/>
        </p:nvSpPr>
        <p:spPr>
          <a:xfrm>
            <a:off x="429768" y="3383280"/>
            <a:ext cx="3840480" cy="960120"/>
          </a:xfrm>
          <a:prstGeom prst="rect">
            <a:avLst/>
          </a:prstGeom>
          <a:noFill/>
          <a:ln/>
        </p:spPr>
        <p:txBody>
          <a:bodyPr wrap="square" lIns="0" tIns="0" rIns="0" bIns="0" rtlCol="0" anchor="t"/>
          <a:lstStyle/>
          <a:p>
            <a:pPr indent="0" marL="0">
              <a:buNone/>
            </a:pPr>
            <a:r>
              <a:rPr lang="en-US" sz="1050" dirty="0">
                <a:solidFill>
                  <a:srgbClr val="1A2B3C"/>
                </a:solidFill>
              </a:rPr>
              <a:t>GC pause → CPU spike → HPA fires → new pods start → GC on new pods → repeat. Solution: longer HPA stabilizationWindow + JVM-specific metrics.</a:t>
            </a:r>
            <a:endParaRPr lang="en-US" sz="1050" dirty="0"/>
          </a:p>
        </p:txBody>
      </p:sp>
      <p:sp>
        <p:nvSpPr>
          <p:cNvPr id="20" name="Shape 18"/>
          <p:cNvSpPr/>
          <p:nvPr/>
        </p:nvSpPr>
        <p:spPr>
          <a:xfrm>
            <a:off x="4663440" y="2926080"/>
            <a:ext cx="4069080" cy="15087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1" name="Shape 19"/>
          <p:cNvSpPr/>
          <p:nvPr/>
        </p:nvSpPr>
        <p:spPr>
          <a:xfrm>
            <a:off x="4663440" y="2926080"/>
            <a:ext cx="4069080" cy="384048"/>
          </a:xfrm>
          <a:prstGeom prst="rect">
            <a:avLst/>
          </a:prstGeom>
          <a:solidFill>
            <a:srgbClr val="F5A623"/>
          </a:solidFill>
          <a:ln/>
        </p:spPr>
      </p:sp>
      <p:sp>
        <p:nvSpPr>
          <p:cNvPr id="22" name="Text 20"/>
          <p:cNvSpPr/>
          <p:nvPr/>
        </p:nvSpPr>
        <p:spPr>
          <a:xfrm>
            <a:off x="4773168" y="2962656"/>
            <a:ext cx="3886200" cy="310896"/>
          </a:xfrm>
          <a:prstGeom prst="rect">
            <a:avLst/>
          </a:prstGeom>
          <a:noFill/>
          <a:ln/>
        </p:spPr>
        <p:txBody>
          <a:bodyPr wrap="square" lIns="0" tIns="0" rIns="0" bIns="0" rtlCol="0" anchor="ctr"/>
          <a:lstStyle/>
          <a:p>
            <a:pPr indent="0" marL="0">
              <a:buNone/>
            </a:pPr>
            <a:r>
              <a:rPr lang="en-US" sz="1200" b="1" dirty="0">
                <a:solidFill>
                  <a:srgbClr val="FFFFFF"/>
                </a:solidFill>
              </a:rPr>
              <a:t>Heap Sizing vs. GC Pressure</a:t>
            </a:r>
            <a:endParaRPr lang="en-US" sz="1200" dirty="0"/>
          </a:p>
        </p:txBody>
      </p:sp>
      <p:sp>
        <p:nvSpPr>
          <p:cNvPr id="23" name="Text 21"/>
          <p:cNvSpPr/>
          <p:nvPr/>
        </p:nvSpPr>
        <p:spPr>
          <a:xfrm>
            <a:off x="4773168" y="3383280"/>
            <a:ext cx="3840480" cy="960120"/>
          </a:xfrm>
          <a:prstGeom prst="rect">
            <a:avLst/>
          </a:prstGeom>
          <a:noFill/>
          <a:ln/>
        </p:spPr>
        <p:txBody>
          <a:bodyPr wrap="square" lIns="0" tIns="0" rIns="0" bIns="0" rtlCol="0" anchor="t"/>
          <a:lstStyle/>
          <a:p>
            <a:pPr indent="0" marL="0">
              <a:buNone/>
            </a:pPr>
            <a:r>
              <a:rPr lang="en-US" sz="1050" dirty="0">
                <a:solidFill>
                  <a:srgbClr val="1A2B3C"/>
                </a:solidFill>
              </a:rPr>
              <a:t>Small heap = frequent GC. Too large = infrequent but long GC. For containers: start at 75% MaxRAMPercentage, tune based on GC pause data from JFR.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Garbage Collector Selection Guide</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03</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9/26</a:t>
            </a:r>
            <a:endParaRPr lang="en-US" sz="900" dirty="0"/>
          </a:p>
        </p:txBody>
      </p:sp>
      <p:sp>
        <p:nvSpPr>
          <p:cNvPr id="7" name="Text 5"/>
          <p:cNvSpPr/>
          <p:nvPr/>
        </p:nvSpPr>
        <p:spPr>
          <a:xfrm>
            <a:off x="365760" y="749808"/>
            <a:ext cx="8229600" cy="274320"/>
          </a:xfrm>
          <a:prstGeom prst="rect">
            <a:avLst/>
          </a:prstGeom>
          <a:noFill/>
          <a:ln/>
        </p:spPr>
        <p:txBody>
          <a:bodyPr wrap="square" lIns="0" tIns="0" rIns="0" bIns="0" rtlCol="0" anchor="ctr"/>
          <a:lstStyle/>
          <a:p>
            <a:pPr indent="0" marL="0">
              <a:buNone/>
            </a:pPr>
            <a:r>
              <a:rPr lang="en-US" sz="1200" i="1" dirty="0">
                <a:solidFill>
                  <a:srgbClr val="90A4AE"/>
                </a:solidFill>
              </a:rPr>
              <a:t>Choosing the right GC for container workloads</a:t>
            </a:r>
            <a:endParaRPr lang="en-US" sz="1200" dirty="0"/>
          </a:p>
        </p:txBody>
      </p:sp>
      <p:sp>
        <p:nvSpPr>
          <p:cNvPr id="8" name="Shape 6"/>
          <p:cNvSpPr/>
          <p:nvPr/>
        </p:nvSpPr>
        <p:spPr>
          <a:xfrm>
            <a:off x="274320" y="1097280"/>
            <a:ext cx="1280160" cy="384048"/>
          </a:xfrm>
          <a:prstGeom prst="rect">
            <a:avLst/>
          </a:prstGeom>
          <a:solidFill>
            <a:srgbClr val="1E6FC8"/>
          </a:solidFill>
          <a:ln/>
        </p:spPr>
      </p:sp>
      <p:sp>
        <p:nvSpPr>
          <p:cNvPr id="9" name="Text 7"/>
          <p:cNvSpPr/>
          <p:nvPr/>
        </p:nvSpPr>
        <p:spPr>
          <a:xfrm>
            <a:off x="320040" y="1097280"/>
            <a:ext cx="1188720" cy="384048"/>
          </a:xfrm>
          <a:prstGeom prst="rect">
            <a:avLst/>
          </a:prstGeom>
          <a:noFill/>
          <a:ln/>
        </p:spPr>
        <p:txBody>
          <a:bodyPr wrap="square" lIns="0" tIns="0" rIns="0" bIns="0" rtlCol="0" anchor="ctr"/>
          <a:lstStyle/>
          <a:p>
            <a:pPr algn="ctr" indent="0" marL="0">
              <a:buNone/>
            </a:pPr>
            <a:r>
              <a:rPr lang="en-US" sz="1050" b="1" dirty="0">
                <a:solidFill>
                  <a:srgbClr val="FFFFFF"/>
                </a:solidFill>
              </a:rPr>
              <a:t>Collector</a:t>
            </a:r>
            <a:endParaRPr lang="en-US" sz="1050" dirty="0"/>
          </a:p>
        </p:txBody>
      </p:sp>
      <p:sp>
        <p:nvSpPr>
          <p:cNvPr id="10" name="Shape 8"/>
          <p:cNvSpPr/>
          <p:nvPr/>
        </p:nvSpPr>
        <p:spPr>
          <a:xfrm>
            <a:off x="1554480" y="1097280"/>
            <a:ext cx="1371600" cy="384048"/>
          </a:xfrm>
          <a:prstGeom prst="rect">
            <a:avLst/>
          </a:prstGeom>
          <a:solidFill>
            <a:srgbClr val="1E6FC8"/>
          </a:solidFill>
          <a:ln/>
        </p:spPr>
      </p:sp>
      <p:sp>
        <p:nvSpPr>
          <p:cNvPr id="11" name="Text 9"/>
          <p:cNvSpPr/>
          <p:nvPr/>
        </p:nvSpPr>
        <p:spPr>
          <a:xfrm>
            <a:off x="1600200" y="1097280"/>
            <a:ext cx="1280160" cy="384048"/>
          </a:xfrm>
          <a:prstGeom prst="rect">
            <a:avLst/>
          </a:prstGeom>
          <a:noFill/>
          <a:ln/>
        </p:spPr>
        <p:txBody>
          <a:bodyPr wrap="square" lIns="0" tIns="0" rIns="0" bIns="0" rtlCol="0" anchor="ctr"/>
          <a:lstStyle/>
          <a:p>
            <a:pPr algn="ctr" indent="0" marL="0">
              <a:buNone/>
            </a:pPr>
            <a:r>
              <a:rPr lang="en-US" sz="1050" b="1" dirty="0">
                <a:solidFill>
                  <a:srgbClr val="FFFFFF"/>
                </a:solidFill>
              </a:rPr>
              <a:t>Pause Model</a:t>
            </a:r>
            <a:endParaRPr lang="en-US" sz="1050" dirty="0"/>
          </a:p>
        </p:txBody>
      </p:sp>
      <p:sp>
        <p:nvSpPr>
          <p:cNvPr id="12" name="Shape 10"/>
          <p:cNvSpPr/>
          <p:nvPr/>
        </p:nvSpPr>
        <p:spPr>
          <a:xfrm>
            <a:off x="2926080" y="1097280"/>
            <a:ext cx="1280160" cy="384048"/>
          </a:xfrm>
          <a:prstGeom prst="rect">
            <a:avLst/>
          </a:prstGeom>
          <a:solidFill>
            <a:srgbClr val="1E6FC8"/>
          </a:solidFill>
          <a:ln/>
        </p:spPr>
      </p:sp>
      <p:sp>
        <p:nvSpPr>
          <p:cNvPr id="13" name="Text 11"/>
          <p:cNvSpPr/>
          <p:nvPr/>
        </p:nvSpPr>
        <p:spPr>
          <a:xfrm>
            <a:off x="2971800" y="1097280"/>
            <a:ext cx="1188720" cy="384048"/>
          </a:xfrm>
          <a:prstGeom prst="rect">
            <a:avLst/>
          </a:prstGeom>
          <a:noFill/>
          <a:ln/>
        </p:spPr>
        <p:txBody>
          <a:bodyPr wrap="square" lIns="0" tIns="0" rIns="0" bIns="0" rtlCol="0" anchor="ctr"/>
          <a:lstStyle/>
          <a:p>
            <a:pPr algn="ctr" indent="0" marL="0">
              <a:buNone/>
            </a:pPr>
            <a:r>
              <a:rPr lang="en-US" sz="1050" b="1" dirty="0">
                <a:solidFill>
                  <a:srgbClr val="FFFFFF"/>
                </a:solidFill>
              </a:rPr>
              <a:t>CPU Overhead</a:t>
            </a:r>
            <a:endParaRPr lang="en-US" sz="1050" dirty="0"/>
          </a:p>
        </p:txBody>
      </p:sp>
      <p:sp>
        <p:nvSpPr>
          <p:cNvPr id="14" name="Shape 12"/>
          <p:cNvSpPr/>
          <p:nvPr/>
        </p:nvSpPr>
        <p:spPr>
          <a:xfrm>
            <a:off x="4206240" y="1097280"/>
            <a:ext cx="2560320" cy="384048"/>
          </a:xfrm>
          <a:prstGeom prst="rect">
            <a:avLst/>
          </a:prstGeom>
          <a:solidFill>
            <a:srgbClr val="1E6FC8"/>
          </a:solidFill>
          <a:ln/>
        </p:spPr>
      </p:sp>
      <p:sp>
        <p:nvSpPr>
          <p:cNvPr id="15" name="Text 13"/>
          <p:cNvSpPr/>
          <p:nvPr/>
        </p:nvSpPr>
        <p:spPr>
          <a:xfrm>
            <a:off x="4251960" y="1097280"/>
            <a:ext cx="2468880" cy="384048"/>
          </a:xfrm>
          <a:prstGeom prst="rect">
            <a:avLst/>
          </a:prstGeom>
          <a:noFill/>
          <a:ln/>
        </p:spPr>
        <p:txBody>
          <a:bodyPr wrap="square" lIns="0" tIns="0" rIns="0" bIns="0" rtlCol="0" anchor="ctr"/>
          <a:lstStyle/>
          <a:p>
            <a:pPr algn="ctr" indent="0" marL="0">
              <a:buNone/>
            </a:pPr>
            <a:r>
              <a:rPr lang="en-US" sz="1050" b="1" dirty="0">
                <a:solidFill>
                  <a:srgbClr val="FFFFFF"/>
                </a:solidFill>
              </a:rPr>
              <a:t>Best For (Containers)</a:t>
            </a:r>
            <a:endParaRPr lang="en-US" sz="1050" dirty="0"/>
          </a:p>
        </p:txBody>
      </p:sp>
      <p:sp>
        <p:nvSpPr>
          <p:cNvPr id="16" name="Shape 14"/>
          <p:cNvSpPr/>
          <p:nvPr/>
        </p:nvSpPr>
        <p:spPr>
          <a:xfrm>
            <a:off x="6766560" y="1097280"/>
            <a:ext cx="2377440" cy="384048"/>
          </a:xfrm>
          <a:prstGeom prst="rect">
            <a:avLst/>
          </a:prstGeom>
          <a:solidFill>
            <a:srgbClr val="1E6FC8"/>
          </a:solidFill>
          <a:ln/>
        </p:spPr>
      </p:sp>
      <p:sp>
        <p:nvSpPr>
          <p:cNvPr id="17" name="Text 15"/>
          <p:cNvSpPr/>
          <p:nvPr/>
        </p:nvSpPr>
        <p:spPr>
          <a:xfrm>
            <a:off x="6812280" y="1097280"/>
            <a:ext cx="2286000" cy="384048"/>
          </a:xfrm>
          <a:prstGeom prst="rect">
            <a:avLst/>
          </a:prstGeom>
          <a:noFill/>
          <a:ln/>
        </p:spPr>
        <p:txBody>
          <a:bodyPr wrap="square" lIns="0" tIns="0" rIns="0" bIns="0" rtlCol="0" anchor="ctr"/>
          <a:lstStyle/>
          <a:p>
            <a:pPr algn="ctr" indent="0" marL="0">
              <a:buNone/>
            </a:pPr>
            <a:r>
              <a:rPr lang="en-US" sz="1050" b="1" dirty="0">
                <a:solidFill>
                  <a:srgbClr val="FFFFFF"/>
                </a:solidFill>
              </a:rPr>
              <a:t>Key Flags</a:t>
            </a:r>
            <a:endParaRPr lang="en-US" sz="1050" dirty="0"/>
          </a:p>
        </p:txBody>
      </p:sp>
      <p:sp>
        <p:nvSpPr>
          <p:cNvPr id="18" name="Shape 16"/>
          <p:cNvSpPr/>
          <p:nvPr/>
        </p:nvSpPr>
        <p:spPr>
          <a:xfrm>
            <a:off x="274320" y="1481328"/>
            <a:ext cx="1280160" cy="731520"/>
          </a:xfrm>
          <a:prstGeom prst="rect">
            <a:avLst/>
          </a:prstGeom>
          <a:solidFill>
            <a:srgbClr val="122040"/>
          </a:solidFill>
          <a:ln/>
        </p:spPr>
      </p:sp>
      <p:sp>
        <p:nvSpPr>
          <p:cNvPr id="19" name="Text 17"/>
          <p:cNvSpPr/>
          <p:nvPr/>
        </p:nvSpPr>
        <p:spPr>
          <a:xfrm>
            <a:off x="320040" y="1499616"/>
            <a:ext cx="1188720" cy="694944"/>
          </a:xfrm>
          <a:prstGeom prst="rect">
            <a:avLst/>
          </a:prstGeom>
          <a:noFill/>
          <a:ln/>
        </p:spPr>
        <p:txBody>
          <a:bodyPr wrap="square" lIns="0" tIns="0" rIns="0" bIns="0" rtlCol="0" anchor="ctr"/>
          <a:lstStyle/>
          <a:p>
            <a:pPr algn="ctr" indent="0" marL="0">
              <a:buNone/>
            </a:pPr>
            <a:r>
              <a:rPr lang="en-US" sz="1150" b="1" dirty="0">
                <a:solidFill>
                  <a:srgbClr val="00BCD4"/>
                </a:solidFill>
                <a:latin typeface="Calibri" pitchFamily="34" charset="0"/>
                <a:ea typeface="Calibri" pitchFamily="34" charset="-122"/>
                <a:cs typeface="Calibri" pitchFamily="34" charset="-120"/>
              </a:rPr>
              <a:t>G1GC</a:t>
            </a:r>
            <a:endParaRPr lang="en-US" sz="1150" dirty="0"/>
          </a:p>
        </p:txBody>
      </p:sp>
      <p:sp>
        <p:nvSpPr>
          <p:cNvPr id="20" name="Shape 18"/>
          <p:cNvSpPr/>
          <p:nvPr/>
        </p:nvSpPr>
        <p:spPr>
          <a:xfrm>
            <a:off x="1554480" y="1481328"/>
            <a:ext cx="1371600" cy="731520"/>
          </a:xfrm>
          <a:prstGeom prst="rect">
            <a:avLst/>
          </a:prstGeom>
          <a:solidFill>
            <a:srgbClr val="122040"/>
          </a:solidFill>
          <a:ln/>
        </p:spPr>
      </p:sp>
      <p:sp>
        <p:nvSpPr>
          <p:cNvPr id="21" name="Text 19"/>
          <p:cNvSpPr/>
          <p:nvPr/>
        </p:nvSpPr>
        <p:spPr>
          <a:xfrm>
            <a:off x="1600200" y="1499616"/>
            <a:ext cx="128016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Short (50-200ms)</a:t>
            </a:r>
            <a:endParaRPr lang="en-US" sz="950" dirty="0"/>
          </a:p>
        </p:txBody>
      </p:sp>
      <p:sp>
        <p:nvSpPr>
          <p:cNvPr id="22" name="Shape 20"/>
          <p:cNvSpPr/>
          <p:nvPr/>
        </p:nvSpPr>
        <p:spPr>
          <a:xfrm>
            <a:off x="2926080" y="1481328"/>
            <a:ext cx="1280160" cy="731520"/>
          </a:xfrm>
          <a:prstGeom prst="rect">
            <a:avLst/>
          </a:prstGeom>
          <a:solidFill>
            <a:srgbClr val="122040"/>
          </a:solidFill>
          <a:ln/>
        </p:spPr>
      </p:sp>
      <p:sp>
        <p:nvSpPr>
          <p:cNvPr id="23" name="Text 21"/>
          <p:cNvSpPr/>
          <p:nvPr/>
        </p:nvSpPr>
        <p:spPr>
          <a:xfrm>
            <a:off x="2971800" y="1499616"/>
            <a:ext cx="118872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Medium</a:t>
            </a:r>
            <a:endParaRPr lang="en-US" sz="950" dirty="0"/>
          </a:p>
        </p:txBody>
      </p:sp>
      <p:sp>
        <p:nvSpPr>
          <p:cNvPr id="24" name="Shape 22"/>
          <p:cNvSpPr/>
          <p:nvPr/>
        </p:nvSpPr>
        <p:spPr>
          <a:xfrm>
            <a:off x="4206240" y="1481328"/>
            <a:ext cx="2560320" cy="731520"/>
          </a:xfrm>
          <a:prstGeom prst="rect">
            <a:avLst/>
          </a:prstGeom>
          <a:solidFill>
            <a:srgbClr val="122040"/>
          </a:solidFill>
          <a:ln/>
        </p:spPr>
      </p:sp>
      <p:sp>
        <p:nvSpPr>
          <p:cNvPr id="25" name="Text 23"/>
          <p:cNvSpPr/>
          <p:nvPr/>
        </p:nvSpPr>
        <p:spPr>
          <a:xfrm>
            <a:off x="4251960" y="1499616"/>
            <a:ext cx="246888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General-purpose, mixed heap; microservices with modest latency SLOs</a:t>
            </a:r>
            <a:endParaRPr lang="en-US" sz="950" dirty="0"/>
          </a:p>
        </p:txBody>
      </p:sp>
      <p:sp>
        <p:nvSpPr>
          <p:cNvPr id="26" name="Shape 24"/>
          <p:cNvSpPr/>
          <p:nvPr/>
        </p:nvSpPr>
        <p:spPr>
          <a:xfrm>
            <a:off x="6766560" y="1481328"/>
            <a:ext cx="2377440" cy="731520"/>
          </a:xfrm>
          <a:prstGeom prst="rect">
            <a:avLst/>
          </a:prstGeom>
          <a:solidFill>
            <a:srgbClr val="122040"/>
          </a:solidFill>
          <a:ln/>
        </p:spPr>
      </p:sp>
      <p:sp>
        <p:nvSpPr>
          <p:cNvPr id="27" name="Text 25"/>
          <p:cNvSpPr/>
          <p:nvPr/>
        </p:nvSpPr>
        <p:spPr>
          <a:xfrm>
            <a:off x="6812280" y="1499616"/>
            <a:ext cx="2286000" cy="694944"/>
          </a:xfrm>
          <a:prstGeom prst="rect">
            <a:avLst/>
          </a:prstGeom>
          <a:noFill/>
          <a:ln/>
        </p:spPr>
        <p:txBody>
          <a:bodyPr wrap="square" lIns="0" tIns="0" rIns="0" bIns="0" rtlCol="0" anchor="ctr"/>
          <a:lstStyle/>
          <a:p>
            <a:pPr algn="l" indent="0" marL="0">
              <a:buNone/>
            </a:pPr>
            <a:r>
              <a:rPr lang="en-US" sz="950" dirty="0">
                <a:solidFill>
                  <a:srgbClr val="ECF0F1"/>
                </a:solidFill>
                <a:latin typeface="Courier New" pitchFamily="34" charset="0"/>
                <a:ea typeface="Courier New" pitchFamily="34" charset="-122"/>
                <a:cs typeface="Courier New" pitchFamily="34" charset="-120"/>
              </a:rPr>
              <a:t>-XX:+UseG1GC</a:t>
            </a:r>
            <a:endParaRPr lang="en-US" sz="950" dirty="0"/>
          </a:p>
          <a:p>
            <a:pPr algn="l" indent="0" marL="0">
              <a:buNone/>
            </a:pPr>
            <a:r>
              <a:rPr lang="en-US" sz="950" dirty="0">
                <a:solidFill>
                  <a:srgbClr val="ECF0F1"/>
                </a:solidFill>
                <a:latin typeface="Courier New" pitchFamily="34" charset="0"/>
                <a:ea typeface="Courier New" pitchFamily="34" charset="-122"/>
                <a:cs typeface="Courier New" pitchFamily="34" charset="-120"/>
              </a:rPr>
              <a:t>-XX:MaxGCPauseMillis=200</a:t>
            </a:r>
            <a:endParaRPr lang="en-US" sz="950" dirty="0"/>
          </a:p>
          <a:p>
            <a:pPr algn="l" indent="0" marL="0">
              <a:buNone/>
            </a:pPr>
            <a:r>
              <a:rPr lang="en-US" sz="950" dirty="0">
                <a:solidFill>
                  <a:srgbClr val="ECF0F1"/>
                </a:solidFill>
                <a:latin typeface="Courier New" pitchFamily="34" charset="0"/>
                <a:ea typeface="Courier New" pitchFamily="34" charset="-122"/>
                <a:cs typeface="Courier New" pitchFamily="34" charset="-120"/>
              </a:rPr>
              <a:t>-XX:G1HeapRegionSize=16m</a:t>
            </a:r>
            <a:endParaRPr lang="en-US" sz="950" dirty="0"/>
          </a:p>
        </p:txBody>
      </p:sp>
      <p:sp>
        <p:nvSpPr>
          <p:cNvPr id="28" name="Shape 26"/>
          <p:cNvSpPr/>
          <p:nvPr/>
        </p:nvSpPr>
        <p:spPr>
          <a:xfrm>
            <a:off x="274320" y="2240280"/>
            <a:ext cx="1280160" cy="731520"/>
          </a:xfrm>
          <a:prstGeom prst="rect">
            <a:avLst/>
          </a:prstGeom>
          <a:solidFill>
            <a:srgbClr val="0D2842"/>
          </a:solidFill>
          <a:ln/>
        </p:spPr>
      </p:sp>
      <p:sp>
        <p:nvSpPr>
          <p:cNvPr id="29" name="Text 27"/>
          <p:cNvSpPr/>
          <p:nvPr/>
        </p:nvSpPr>
        <p:spPr>
          <a:xfrm>
            <a:off x="320040" y="2258568"/>
            <a:ext cx="1188720" cy="694944"/>
          </a:xfrm>
          <a:prstGeom prst="rect">
            <a:avLst/>
          </a:prstGeom>
          <a:noFill/>
          <a:ln/>
        </p:spPr>
        <p:txBody>
          <a:bodyPr wrap="square" lIns="0" tIns="0" rIns="0" bIns="0" rtlCol="0" anchor="ctr"/>
          <a:lstStyle/>
          <a:p>
            <a:pPr algn="ctr" indent="0" marL="0">
              <a:buNone/>
            </a:pPr>
            <a:r>
              <a:rPr lang="en-US" sz="1150" b="1" dirty="0">
                <a:solidFill>
                  <a:srgbClr val="00BCD4"/>
                </a:solidFill>
                <a:latin typeface="Calibri" pitchFamily="34" charset="0"/>
                <a:ea typeface="Calibri" pitchFamily="34" charset="-122"/>
                <a:cs typeface="Calibri" pitchFamily="34" charset="-120"/>
              </a:rPr>
              <a:t>ZGC (Gen)</a:t>
            </a:r>
            <a:endParaRPr lang="en-US" sz="1150" dirty="0"/>
          </a:p>
        </p:txBody>
      </p:sp>
      <p:sp>
        <p:nvSpPr>
          <p:cNvPr id="30" name="Shape 28"/>
          <p:cNvSpPr/>
          <p:nvPr/>
        </p:nvSpPr>
        <p:spPr>
          <a:xfrm>
            <a:off x="1554480" y="2240280"/>
            <a:ext cx="1371600" cy="731520"/>
          </a:xfrm>
          <a:prstGeom prst="rect">
            <a:avLst/>
          </a:prstGeom>
          <a:solidFill>
            <a:srgbClr val="0D2842"/>
          </a:solidFill>
          <a:ln/>
        </p:spPr>
      </p:sp>
      <p:sp>
        <p:nvSpPr>
          <p:cNvPr id="31" name="Text 29"/>
          <p:cNvSpPr/>
          <p:nvPr/>
        </p:nvSpPr>
        <p:spPr>
          <a:xfrm>
            <a:off x="1600200" y="2258568"/>
            <a:ext cx="128016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Sub-millisecond</a:t>
            </a:r>
            <a:endParaRPr lang="en-US" sz="950" dirty="0"/>
          </a:p>
        </p:txBody>
      </p:sp>
      <p:sp>
        <p:nvSpPr>
          <p:cNvPr id="32" name="Shape 30"/>
          <p:cNvSpPr/>
          <p:nvPr/>
        </p:nvSpPr>
        <p:spPr>
          <a:xfrm>
            <a:off x="2926080" y="2240280"/>
            <a:ext cx="1280160" cy="731520"/>
          </a:xfrm>
          <a:prstGeom prst="rect">
            <a:avLst/>
          </a:prstGeom>
          <a:solidFill>
            <a:srgbClr val="0D2842"/>
          </a:solidFill>
          <a:ln/>
        </p:spPr>
      </p:sp>
      <p:sp>
        <p:nvSpPr>
          <p:cNvPr id="33" name="Text 31"/>
          <p:cNvSpPr/>
          <p:nvPr/>
        </p:nvSpPr>
        <p:spPr>
          <a:xfrm>
            <a:off x="2971800" y="2258568"/>
            <a:ext cx="118872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Higher</a:t>
            </a:r>
            <a:endParaRPr lang="en-US" sz="950" dirty="0"/>
          </a:p>
        </p:txBody>
      </p:sp>
      <p:sp>
        <p:nvSpPr>
          <p:cNvPr id="34" name="Shape 32"/>
          <p:cNvSpPr/>
          <p:nvPr/>
        </p:nvSpPr>
        <p:spPr>
          <a:xfrm>
            <a:off x="4206240" y="2240280"/>
            <a:ext cx="2560320" cy="731520"/>
          </a:xfrm>
          <a:prstGeom prst="rect">
            <a:avLst/>
          </a:prstGeom>
          <a:solidFill>
            <a:srgbClr val="0D2842"/>
          </a:solidFill>
          <a:ln/>
        </p:spPr>
      </p:sp>
      <p:sp>
        <p:nvSpPr>
          <p:cNvPr id="35" name="Text 33"/>
          <p:cNvSpPr/>
          <p:nvPr/>
        </p:nvSpPr>
        <p:spPr>
          <a:xfrm>
            <a:off x="4251960" y="2258568"/>
            <a:ext cx="246888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Low-latency APIs; Java 21 Generational ZGC is production-ready and preferred — any heap size</a:t>
            </a:r>
            <a:endParaRPr lang="en-US" sz="950" dirty="0"/>
          </a:p>
        </p:txBody>
      </p:sp>
      <p:sp>
        <p:nvSpPr>
          <p:cNvPr id="36" name="Shape 34"/>
          <p:cNvSpPr/>
          <p:nvPr/>
        </p:nvSpPr>
        <p:spPr>
          <a:xfrm>
            <a:off x="6766560" y="2240280"/>
            <a:ext cx="2377440" cy="731520"/>
          </a:xfrm>
          <a:prstGeom prst="rect">
            <a:avLst/>
          </a:prstGeom>
          <a:solidFill>
            <a:srgbClr val="0D2842"/>
          </a:solidFill>
          <a:ln/>
        </p:spPr>
      </p:sp>
      <p:sp>
        <p:nvSpPr>
          <p:cNvPr id="37" name="Text 35"/>
          <p:cNvSpPr/>
          <p:nvPr/>
        </p:nvSpPr>
        <p:spPr>
          <a:xfrm>
            <a:off x="6812280" y="2258568"/>
            <a:ext cx="2286000" cy="694944"/>
          </a:xfrm>
          <a:prstGeom prst="rect">
            <a:avLst/>
          </a:prstGeom>
          <a:noFill/>
          <a:ln/>
        </p:spPr>
        <p:txBody>
          <a:bodyPr wrap="square" lIns="0" tIns="0" rIns="0" bIns="0" rtlCol="0" anchor="ctr"/>
          <a:lstStyle/>
          <a:p>
            <a:pPr algn="l" indent="0" marL="0">
              <a:buNone/>
            </a:pPr>
            <a:r>
              <a:rPr lang="en-US" sz="950" dirty="0">
                <a:solidFill>
                  <a:srgbClr val="ECF0F1"/>
                </a:solidFill>
                <a:latin typeface="Courier New" pitchFamily="34" charset="0"/>
                <a:ea typeface="Courier New" pitchFamily="34" charset="-122"/>
                <a:cs typeface="Courier New" pitchFamily="34" charset="-120"/>
              </a:rPr>
              <a:t>-XX:+UseZGC</a:t>
            </a:r>
            <a:endParaRPr lang="en-US" sz="950" dirty="0"/>
          </a:p>
          <a:p>
            <a:pPr algn="l" indent="0" marL="0">
              <a:buNone/>
            </a:pPr>
            <a:r>
              <a:rPr lang="en-US" sz="950" dirty="0">
                <a:solidFill>
                  <a:srgbClr val="ECF0F1"/>
                </a:solidFill>
                <a:latin typeface="Courier New" pitchFamily="34" charset="0"/>
                <a:ea typeface="Courier New" pitchFamily="34" charset="-122"/>
                <a:cs typeface="Courier New" pitchFamily="34" charset="-120"/>
              </a:rPr>
              <a:t>-XX:+ZGenerational</a:t>
            </a:r>
            <a:endParaRPr lang="en-US" sz="950" dirty="0"/>
          </a:p>
          <a:p>
            <a:pPr algn="l" indent="0" marL="0">
              <a:buNone/>
            </a:pPr>
            <a:r>
              <a:rPr lang="en-US" sz="950" dirty="0">
                <a:solidFill>
                  <a:srgbClr val="ECF0F1"/>
                </a:solidFill>
                <a:latin typeface="Courier New" pitchFamily="34" charset="0"/>
                <a:ea typeface="Courier New" pitchFamily="34" charset="-122"/>
                <a:cs typeface="Courier New" pitchFamily="34" charset="-120"/>
              </a:rPr>
              <a:t>-XX:SoftMaxHeapSize=Xg</a:t>
            </a:r>
            <a:endParaRPr lang="en-US" sz="950" dirty="0"/>
          </a:p>
        </p:txBody>
      </p:sp>
      <p:sp>
        <p:nvSpPr>
          <p:cNvPr id="38" name="Shape 36"/>
          <p:cNvSpPr/>
          <p:nvPr/>
        </p:nvSpPr>
        <p:spPr>
          <a:xfrm>
            <a:off x="274320" y="2999232"/>
            <a:ext cx="1280160" cy="731520"/>
          </a:xfrm>
          <a:prstGeom prst="rect">
            <a:avLst/>
          </a:prstGeom>
          <a:solidFill>
            <a:srgbClr val="122040"/>
          </a:solidFill>
          <a:ln/>
        </p:spPr>
      </p:sp>
      <p:sp>
        <p:nvSpPr>
          <p:cNvPr id="39" name="Text 37"/>
          <p:cNvSpPr/>
          <p:nvPr/>
        </p:nvSpPr>
        <p:spPr>
          <a:xfrm>
            <a:off x="320040" y="3017520"/>
            <a:ext cx="1188720" cy="694944"/>
          </a:xfrm>
          <a:prstGeom prst="rect">
            <a:avLst/>
          </a:prstGeom>
          <a:noFill/>
          <a:ln/>
        </p:spPr>
        <p:txBody>
          <a:bodyPr wrap="square" lIns="0" tIns="0" rIns="0" bIns="0" rtlCol="0" anchor="ctr"/>
          <a:lstStyle/>
          <a:p>
            <a:pPr algn="ctr" indent="0" marL="0">
              <a:buNone/>
            </a:pPr>
            <a:r>
              <a:rPr lang="en-US" sz="1150" b="1" dirty="0">
                <a:solidFill>
                  <a:srgbClr val="00BCD4"/>
                </a:solidFill>
                <a:latin typeface="Calibri" pitchFamily="34" charset="0"/>
                <a:ea typeface="Calibri" pitchFamily="34" charset="-122"/>
                <a:cs typeface="Calibri" pitchFamily="34" charset="-120"/>
              </a:rPr>
              <a:t>Shenandoah</a:t>
            </a:r>
            <a:endParaRPr lang="en-US" sz="1150" dirty="0"/>
          </a:p>
        </p:txBody>
      </p:sp>
      <p:sp>
        <p:nvSpPr>
          <p:cNvPr id="40" name="Shape 38"/>
          <p:cNvSpPr/>
          <p:nvPr/>
        </p:nvSpPr>
        <p:spPr>
          <a:xfrm>
            <a:off x="1554480" y="2999232"/>
            <a:ext cx="1371600" cy="731520"/>
          </a:xfrm>
          <a:prstGeom prst="rect">
            <a:avLst/>
          </a:prstGeom>
          <a:solidFill>
            <a:srgbClr val="122040"/>
          </a:solidFill>
          <a:ln/>
        </p:spPr>
      </p:sp>
      <p:sp>
        <p:nvSpPr>
          <p:cNvPr id="41" name="Text 39"/>
          <p:cNvSpPr/>
          <p:nvPr/>
        </p:nvSpPr>
        <p:spPr>
          <a:xfrm>
            <a:off x="1600200" y="3017520"/>
            <a:ext cx="128016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Sub-millisecond</a:t>
            </a:r>
            <a:endParaRPr lang="en-US" sz="950" dirty="0"/>
          </a:p>
        </p:txBody>
      </p:sp>
      <p:sp>
        <p:nvSpPr>
          <p:cNvPr id="42" name="Shape 40"/>
          <p:cNvSpPr/>
          <p:nvPr/>
        </p:nvSpPr>
        <p:spPr>
          <a:xfrm>
            <a:off x="2926080" y="2999232"/>
            <a:ext cx="1280160" cy="731520"/>
          </a:xfrm>
          <a:prstGeom prst="rect">
            <a:avLst/>
          </a:prstGeom>
          <a:solidFill>
            <a:srgbClr val="122040"/>
          </a:solidFill>
          <a:ln/>
        </p:spPr>
      </p:sp>
      <p:sp>
        <p:nvSpPr>
          <p:cNvPr id="43" name="Text 41"/>
          <p:cNvSpPr/>
          <p:nvPr/>
        </p:nvSpPr>
        <p:spPr>
          <a:xfrm>
            <a:off x="2971800" y="3017520"/>
            <a:ext cx="118872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Higher</a:t>
            </a:r>
            <a:endParaRPr lang="en-US" sz="950" dirty="0"/>
          </a:p>
        </p:txBody>
      </p:sp>
      <p:sp>
        <p:nvSpPr>
          <p:cNvPr id="44" name="Shape 42"/>
          <p:cNvSpPr/>
          <p:nvPr/>
        </p:nvSpPr>
        <p:spPr>
          <a:xfrm>
            <a:off x="4206240" y="2999232"/>
            <a:ext cx="2560320" cy="731520"/>
          </a:xfrm>
          <a:prstGeom prst="rect">
            <a:avLst/>
          </a:prstGeom>
          <a:solidFill>
            <a:srgbClr val="122040"/>
          </a:solidFill>
          <a:ln/>
        </p:spPr>
      </p:sp>
      <p:sp>
        <p:nvSpPr>
          <p:cNvPr id="45" name="Text 43"/>
          <p:cNvSpPr/>
          <p:nvPr/>
        </p:nvSpPr>
        <p:spPr>
          <a:xfrm>
            <a:off x="4251960" y="3017520"/>
            <a:ext cx="246888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Alternative to ZGC, OpenJDK/RHEL default; excellent for all heap sizes</a:t>
            </a:r>
            <a:endParaRPr lang="en-US" sz="950" dirty="0"/>
          </a:p>
        </p:txBody>
      </p:sp>
      <p:sp>
        <p:nvSpPr>
          <p:cNvPr id="46" name="Shape 44"/>
          <p:cNvSpPr/>
          <p:nvPr/>
        </p:nvSpPr>
        <p:spPr>
          <a:xfrm>
            <a:off x="6766560" y="2999232"/>
            <a:ext cx="2377440" cy="731520"/>
          </a:xfrm>
          <a:prstGeom prst="rect">
            <a:avLst/>
          </a:prstGeom>
          <a:solidFill>
            <a:srgbClr val="122040"/>
          </a:solidFill>
          <a:ln/>
        </p:spPr>
      </p:sp>
      <p:sp>
        <p:nvSpPr>
          <p:cNvPr id="47" name="Text 45"/>
          <p:cNvSpPr/>
          <p:nvPr/>
        </p:nvSpPr>
        <p:spPr>
          <a:xfrm>
            <a:off x="6812280" y="3017520"/>
            <a:ext cx="2286000" cy="694944"/>
          </a:xfrm>
          <a:prstGeom prst="rect">
            <a:avLst/>
          </a:prstGeom>
          <a:noFill/>
          <a:ln/>
        </p:spPr>
        <p:txBody>
          <a:bodyPr wrap="square" lIns="0" tIns="0" rIns="0" bIns="0" rtlCol="0" anchor="ctr"/>
          <a:lstStyle/>
          <a:p>
            <a:pPr algn="l" indent="0" marL="0">
              <a:buNone/>
            </a:pPr>
            <a:r>
              <a:rPr lang="en-US" sz="950" dirty="0">
                <a:solidFill>
                  <a:srgbClr val="ECF0F1"/>
                </a:solidFill>
                <a:latin typeface="Courier New" pitchFamily="34" charset="0"/>
                <a:ea typeface="Courier New" pitchFamily="34" charset="-122"/>
                <a:cs typeface="Courier New" pitchFamily="34" charset="-120"/>
              </a:rPr>
              <a:t>-XX:+UseShenandoahGC</a:t>
            </a:r>
            <a:endParaRPr lang="en-US" sz="950" dirty="0"/>
          </a:p>
          <a:p>
            <a:pPr algn="l" indent="0" marL="0">
              <a:buNone/>
            </a:pPr>
            <a:r>
              <a:rPr lang="en-US" sz="950" dirty="0">
                <a:solidFill>
                  <a:srgbClr val="ECF0F1"/>
                </a:solidFill>
                <a:latin typeface="Courier New" pitchFamily="34" charset="0"/>
                <a:ea typeface="Courier New" pitchFamily="34" charset="-122"/>
                <a:cs typeface="Courier New" pitchFamily="34" charset="-120"/>
              </a:rPr>
              <a:t>-XX:ShenandoahGCMode=</a:t>
            </a:r>
            <a:endParaRPr lang="en-US" sz="950" dirty="0"/>
          </a:p>
          <a:p>
            <a:pPr algn="l" indent="0" marL="0">
              <a:buNone/>
            </a:pPr>
            <a:r>
              <a:rPr lang="en-US" sz="950" dirty="0">
                <a:solidFill>
                  <a:srgbClr val="ECF0F1"/>
                </a:solidFill>
                <a:latin typeface="Courier New" pitchFamily="34" charset="0"/>
                <a:ea typeface="Courier New" pitchFamily="34" charset="-122"/>
                <a:cs typeface="Courier New" pitchFamily="34" charset="-120"/>
              </a:rPr>
              <a:t>  adaptive</a:t>
            </a:r>
            <a:endParaRPr lang="en-US" sz="950" dirty="0"/>
          </a:p>
        </p:txBody>
      </p:sp>
      <p:sp>
        <p:nvSpPr>
          <p:cNvPr id="48" name="Shape 46"/>
          <p:cNvSpPr/>
          <p:nvPr/>
        </p:nvSpPr>
        <p:spPr>
          <a:xfrm>
            <a:off x="274320" y="3758184"/>
            <a:ext cx="1280160" cy="731520"/>
          </a:xfrm>
          <a:prstGeom prst="rect">
            <a:avLst/>
          </a:prstGeom>
          <a:solidFill>
            <a:srgbClr val="0D2842"/>
          </a:solidFill>
          <a:ln/>
        </p:spPr>
      </p:sp>
      <p:sp>
        <p:nvSpPr>
          <p:cNvPr id="49" name="Text 47"/>
          <p:cNvSpPr/>
          <p:nvPr/>
        </p:nvSpPr>
        <p:spPr>
          <a:xfrm>
            <a:off x="320040" y="3776472"/>
            <a:ext cx="1188720" cy="694944"/>
          </a:xfrm>
          <a:prstGeom prst="rect">
            <a:avLst/>
          </a:prstGeom>
          <a:noFill/>
          <a:ln/>
        </p:spPr>
        <p:txBody>
          <a:bodyPr wrap="square" lIns="0" tIns="0" rIns="0" bIns="0" rtlCol="0" anchor="ctr"/>
          <a:lstStyle/>
          <a:p>
            <a:pPr algn="ctr" indent="0" marL="0">
              <a:buNone/>
            </a:pPr>
            <a:r>
              <a:rPr lang="en-US" sz="1150" b="1" dirty="0">
                <a:solidFill>
                  <a:srgbClr val="00BCD4"/>
                </a:solidFill>
                <a:latin typeface="Calibri" pitchFamily="34" charset="0"/>
                <a:ea typeface="Calibri" pitchFamily="34" charset="-122"/>
                <a:cs typeface="Calibri" pitchFamily="34" charset="-120"/>
              </a:rPr>
              <a:t>Serial GC</a:t>
            </a:r>
            <a:endParaRPr lang="en-US" sz="1150" dirty="0"/>
          </a:p>
        </p:txBody>
      </p:sp>
      <p:sp>
        <p:nvSpPr>
          <p:cNvPr id="50" name="Shape 48"/>
          <p:cNvSpPr/>
          <p:nvPr/>
        </p:nvSpPr>
        <p:spPr>
          <a:xfrm>
            <a:off x="1554480" y="3758184"/>
            <a:ext cx="1371600" cy="731520"/>
          </a:xfrm>
          <a:prstGeom prst="rect">
            <a:avLst/>
          </a:prstGeom>
          <a:solidFill>
            <a:srgbClr val="0D2842"/>
          </a:solidFill>
          <a:ln/>
        </p:spPr>
      </p:sp>
      <p:sp>
        <p:nvSpPr>
          <p:cNvPr id="51" name="Text 49"/>
          <p:cNvSpPr/>
          <p:nvPr/>
        </p:nvSpPr>
        <p:spPr>
          <a:xfrm>
            <a:off x="1600200" y="3776472"/>
            <a:ext cx="128016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Stop-the-world</a:t>
            </a:r>
            <a:endParaRPr lang="en-US" sz="950" dirty="0"/>
          </a:p>
        </p:txBody>
      </p:sp>
      <p:sp>
        <p:nvSpPr>
          <p:cNvPr id="52" name="Shape 50"/>
          <p:cNvSpPr/>
          <p:nvPr/>
        </p:nvSpPr>
        <p:spPr>
          <a:xfrm>
            <a:off x="2926080" y="3758184"/>
            <a:ext cx="1280160" cy="731520"/>
          </a:xfrm>
          <a:prstGeom prst="rect">
            <a:avLst/>
          </a:prstGeom>
          <a:solidFill>
            <a:srgbClr val="0D2842"/>
          </a:solidFill>
          <a:ln/>
        </p:spPr>
      </p:sp>
      <p:sp>
        <p:nvSpPr>
          <p:cNvPr id="53" name="Text 51"/>
          <p:cNvSpPr/>
          <p:nvPr/>
        </p:nvSpPr>
        <p:spPr>
          <a:xfrm>
            <a:off x="2971800" y="3776472"/>
            <a:ext cx="118872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Lowest</a:t>
            </a:r>
            <a:endParaRPr lang="en-US" sz="950" dirty="0"/>
          </a:p>
        </p:txBody>
      </p:sp>
      <p:sp>
        <p:nvSpPr>
          <p:cNvPr id="54" name="Shape 52"/>
          <p:cNvSpPr/>
          <p:nvPr/>
        </p:nvSpPr>
        <p:spPr>
          <a:xfrm>
            <a:off x="4206240" y="3758184"/>
            <a:ext cx="2560320" cy="731520"/>
          </a:xfrm>
          <a:prstGeom prst="rect">
            <a:avLst/>
          </a:prstGeom>
          <a:solidFill>
            <a:srgbClr val="0D2842"/>
          </a:solidFill>
          <a:ln/>
        </p:spPr>
      </p:sp>
      <p:sp>
        <p:nvSpPr>
          <p:cNvPr id="55" name="Text 53"/>
          <p:cNvSpPr/>
          <p:nvPr/>
        </p:nvSpPr>
        <p:spPr>
          <a:xfrm>
            <a:off x="4251960" y="3776472"/>
            <a:ext cx="2468880" cy="694944"/>
          </a:xfrm>
          <a:prstGeom prst="rect">
            <a:avLst/>
          </a:prstGeom>
          <a:noFill/>
          <a:ln/>
        </p:spPr>
        <p:txBody>
          <a:bodyPr wrap="square" lIns="0" tIns="0" rIns="0" bIns="0" rtlCol="0" anchor="ctr"/>
          <a:lstStyle/>
          <a:p>
            <a:pPr algn="ctr" indent="0" marL="0">
              <a:buNone/>
            </a:pPr>
            <a:r>
              <a:rPr lang="en-US" sz="950" dirty="0">
                <a:solidFill>
                  <a:srgbClr val="ECF0F1"/>
                </a:solidFill>
                <a:latin typeface="Calibri" pitchFamily="34" charset="0"/>
                <a:ea typeface="Calibri" pitchFamily="34" charset="-122"/>
                <a:cs typeface="Calibri" pitchFamily="34" charset="-120"/>
              </a:rPr>
              <a:t>CLI tools, batch jobs, very small heaps (&lt;256MB); avoid for microservices</a:t>
            </a:r>
            <a:endParaRPr lang="en-US" sz="950" dirty="0"/>
          </a:p>
        </p:txBody>
      </p:sp>
      <p:sp>
        <p:nvSpPr>
          <p:cNvPr id="56" name="Shape 54"/>
          <p:cNvSpPr/>
          <p:nvPr/>
        </p:nvSpPr>
        <p:spPr>
          <a:xfrm>
            <a:off x="6766560" y="3758184"/>
            <a:ext cx="2377440" cy="731520"/>
          </a:xfrm>
          <a:prstGeom prst="rect">
            <a:avLst/>
          </a:prstGeom>
          <a:solidFill>
            <a:srgbClr val="0D2842"/>
          </a:solidFill>
          <a:ln/>
        </p:spPr>
      </p:sp>
      <p:sp>
        <p:nvSpPr>
          <p:cNvPr id="57" name="Text 55"/>
          <p:cNvSpPr/>
          <p:nvPr/>
        </p:nvSpPr>
        <p:spPr>
          <a:xfrm>
            <a:off x="6812280" y="3776472"/>
            <a:ext cx="2286000" cy="694944"/>
          </a:xfrm>
          <a:prstGeom prst="rect">
            <a:avLst/>
          </a:prstGeom>
          <a:noFill/>
          <a:ln/>
        </p:spPr>
        <p:txBody>
          <a:bodyPr wrap="square" lIns="0" tIns="0" rIns="0" bIns="0" rtlCol="0" anchor="ctr"/>
          <a:lstStyle/>
          <a:p>
            <a:pPr algn="l" indent="0" marL="0">
              <a:buNone/>
            </a:pPr>
            <a:r>
              <a:rPr lang="en-US" sz="950" dirty="0">
                <a:solidFill>
                  <a:srgbClr val="ECF0F1"/>
                </a:solidFill>
                <a:latin typeface="Courier New" pitchFamily="34" charset="0"/>
                <a:ea typeface="Courier New" pitchFamily="34" charset="-122"/>
                <a:cs typeface="Courier New" pitchFamily="34" charset="-120"/>
              </a:rPr>
              <a:t>-XX:+UseSerialGC</a:t>
            </a:r>
            <a:endParaRPr lang="en-US" sz="950" dirty="0"/>
          </a:p>
          <a:p>
            <a:pPr algn="l" indent="0" marL="0">
              <a:buNone/>
            </a:pPr>
            <a:r>
              <a:rPr lang="en-US" sz="950" dirty="0">
                <a:solidFill>
                  <a:srgbClr val="ECF0F1"/>
                </a:solidFill>
                <a:latin typeface="Courier New" pitchFamily="34" charset="0"/>
                <a:ea typeface="Courier New" pitchFamily="34" charset="-122"/>
                <a:cs typeface="Courier New" pitchFamily="34" charset="-120"/>
              </a:rPr>
              <a:t>(only for batch / small</a:t>
            </a:r>
            <a:endParaRPr lang="en-US" sz="950" dirty="0"/>
          </a:p>
          <a:p>
            <a:pPr algn="l" indent="0" marL="0">
              <a:buNone/>
            </a:pPr>
            <a:r>
              <a:rPr lang="en-US" sz="950" dirty="0">
                <a:solidFill>
                  <a:srgbClr val="ECF0F1"/>
                </a:solidFill>
                <a:latin typeface="Courier New" pitchFamily="34" charset="0"/>
                <a:ea typeface="Courier New" pitchFamily="34" charset="-122"/>
                <a:cs typeface="Courier New" pitchFamily="34" charset="-120"/>
              </a:rPr>
              <a:t>containers)</a:t>
            </a:r>
            <a:endParaRPr lang="en-US" sz="950" dirty="0"/>
          </a:p>
        </p:txBody>
      </p:sp>
      <p:sp>
        <p:nvSpPr>
          <p:cNvPr id="58" name="Text 56"/>
          <p:cNvSpPr/>
          <p:nvPr/>
        </p:nvSpPr>
        <p:spPr>
          <a:xfrm>
            <a:off x="320040" y="4645152"/>
            <a:ext cx="8503920" cy="256032"/>
          </a:xfrm>
          <a:prstGeom prst="rect">
            <a:avLst/>
          </a:prstGeom>
          <a:noFill/>
          <a:ln/>
        </p:spPr>
        <p:txBody>
          <a:bodyPr wrap="square" lIns="0" tIns="0" rIns="0" bIns="0" rtlCol="0" anchor="ctr"/>
          <a:lstStyle/>
          <a:p>
            <a:pPr indent="0" marL="0">
              <a:buNone/>
            </a:pPr>
            <a:r>
              <a:rPr lang="en-US" sz="1000" dirty="0">
                <a:solidFill>
                  <a:srgbClr val="F5A623"/>
                </a:solidFill>
              </a:rPr>
              <a:t>💡  Tip (SRE with Java Microservices): Monitor jvm.gc.pause via Micrometer — if P99 pause &gt; 500ms, switch from G1GC to ZGC/Shenandoah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Essential GC Tuning Parameters for Kubernetes</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03</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10/26</a:t>
            </a:r>
            <a:endParaRPr lang="en-US" sz="900" dirty="0"/>
          </a:p>
        </p:txBody>
      </p:sp>
      <p:sp>
        <p:nvSpPr>
          <p:cNvPr id="7" name="Shape 5"/>
          <p:cNvSpPr/>
          <p:nvPr/>
        </p:nvSpPr>
        <p:spPr>
          <a:xfrm>
            <a:off x="320040" y="749808"/>
            <a:ext cx="8503920" cy="3337560"/>
          </a:xfrm>
          <a:prstGeom prst="rect">
            <a:avLst/>
          </a:prstGeom>
          <a:solidFill>
            <a:srgbClr val="0D2137"/>
          </a:solidFill>
          <a:ln w="19050">
            <a:solidFill>
              <a:srgbClr val="00BCD4"/>
            </a:solidFill>
            <a:prstDash val="solid"/>
          </a:ln>
        </p:spPr>
      </p:sp>
      <p:sp>
        <p:nvSpPr>
          <p:cNvPr id="8" name="Text 6"/>
          <p:cNvSpPr/>
          <p:nvPr/>
        </p:nvSpPr>
        <p:spPr>
          <a:xfrm>
            <a:off x="393192" y="795528"/>
            <a:ext cx="8357616" cy="3246120"/>
          </a:xfrm>
          <a:prstGeom prst="rect">
            <a:avLst/>
          </a:prstGeom>
          <a:noFill/>
          <a:ln/>
        </p:spPr>
        <p:txBody>
          <a:bodyPr wrap="square" rtlCol="0" anchor="t"/>
          <a:lstStyle/>
          <a:p>
            <a:pPr indent="0" marL="0">
              <a:buNone/>
            </a:pPr>
            <a:r>
              <a:rPr lang="en-US" sz="950" dirty="0">
                <a:solidFill>
                  <a:srgbClr val="A8D8EA"/>
                </a:solidFill>
                <a:latin typeface="Courier New" pitchFamily="34" charset="0"/>
                <a:ea typeface="Courier New" pitchFamily="34" charset="-122"/>
                <a:cs typeface="Courier New" pitchFamily="34" charset="-120"/>
              </a:rPr>
              <a:t># === G1GC Container-Optimized Settings ===</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-XX:+UseG1GC</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-XX:+UseContainerSupport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-XX:MaxRAMPercentage=75.0</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-XX:MaxGCPauseMillis=200          # Target pause goal (not a hard limit)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-XX:G1HeapRegionSize=16m          # Larger regions reduce fragmentation</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-XX:ParallelGCThreads=4           # Match container CPU limit!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-XX:ConcGCThreads=2               # Background GC threads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-XX:InitiatingHeapOccupancyPercent=45  # Start concurrent GC earlier</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-XX:+G1UseAdaptiveIHOP           # Let G1 self-tune IHOP</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-XX:+ExplicitGCInvokesConcurrent  # Make System.gc() concurrent</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ZGC Container Settings (Java 21 Generational ZGC) ===</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-XX:+UseZGC -XX:+ZGenerational   # Java 21 default recommended</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-XX:SoftMaxHeapSize=768m          # Soft limit (within 1GB limit)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-XX:ZCollectionInterval=5         # Proactive GC every 5s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-XX:ZUncommitDelay=300            # Return memory to OS after 5min idle</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Shenandoah (RHEL / OpenJDK default extra points) ===</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-XX:+UseShenandoahGC</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-XX:ShenandoahGCMode=adaptive     # Self-tuning heuristic</a:t>
            </a:r>
            <a:endParaRPr lang="en-US" sz="950" dirty="0"/>
          </a:p>
        </p:txBody>
      </p:sp>
      <p:sp>
        <p:nvSpPr>
          <p:cNvPr id="9" name="Shape 7"/>
          <p:cNvSpPr/>
          <p:nvPr/>
        </p:nvSpPr>
        <p:spPr>
          <a:xfrm>
            <a:off x="320040" y="4206240"/>
            <a:ext cx="2697480" cy="6583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0" name="Text 8"/>
          <p:cNvSpPr/>
          <p:nvPr/>
        </p:nvSpPr>
        <p:spPr>
          <a:xfrm>
            <a:off x="411480" y="4251960"/>
            <a:ext cx="2514600" cy="256032"/>
          </a:xfrm>
          <a:prstGeom prst="rect">
            <a:avLst/>
          </a:prstGeom>
          <a:noFill/>
          <a:ln/>
        </p:spPr>
        <p:txBody>
          <a:bodyPr wrap="square" lIns="0" tIns="0" rIns="0" bIns="0" rtlCol="0" anchor="ctr"/>
          <a:lstStyle/>
          <a:p>
            <a:pPr indent="0" marL="0">
              <a:buNone/>
            </a:pPr>
            <a:r>
              <a:rPr lang="en-US" sz="1100" b="1" dirty="0">
                <a:solidFill>
                  <a:srgbClr val="1E6FC8"/>
                </a:solidFill>
              </a:rPr>
              <a:t>ParallelGCThreads</a:t>
            </a:r>
            <a:endParaRPr lang="en-US" sz="1100" dirty="0"/>
          </a:p>
        </p:txBody>
      </p:sp>
      <p:sp>
        <p:nvSpPr>
          <p:cNvPr id="11" name="Text 9"/>
          <p:cNvSpPr/>
          <p:nvPr/>
        </p:nvSpPr>
        <p:spPr>
          <a:xfrm>
            <a:off x="411480" y="4526280"/>
            <a:ext cx="2514600" cy="292608"/>
          </a:xfrm>
          <a:prstGeom prst="rect">
            <a:avLst/>
          </a:prstGeom>
          <a:noFill/>
          <a:ln/>
        </p:spPr>
        <p:txBody>
          <a:bodyPr wrap="square" lIns="0" tIns="0" rIns="0" bIns="0" rtlCol="0" anchor="ctr"/>
          <a:lstStyle/>
          <a:p>
            <a:pPr indent="0" marL="0">
              <a:buNone/>
            </a:pPr>
            <a:r>
              <a:rPr lang="en-US" sz="1000" dirty="0">
                <a:solidFill>
                  <a:srgbClr val="1A2B3C"/>
                </a:solidFill>
              </a:rPr>
              <a:t>Must match your CPU limit — defaults to host CPU count</a:t>
            </a:r>
            <a:endParaRPr lang="en-US" sz="1000" dirty="0"/>
          </a:p>
        </p:txBody>
      </p:sp>
      <p:sp>
        <p:nvSpPr>
          <p:cNvPr id="12" name="Shape 10"/>
          <p:cNvSpPr/>
          <p:nvPr/>
        </p:nvSpPr>
        <p:spPr>
          <a:xfrm>
            <a:off x="3172968" y="4206240"/>
            <a:ext cx="2697480" cy="6583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Text 11"/>
          <p:cNvSpPr/>
          <p:nvPr/>
        </p:nvSpPr>
        <p:spPr>
          <a:xfrm>
            <a:off x="3264408" y="4251960"/>
            <a:ext cx="2514600" cy="256032"/>
          </a:xfrm>
          <a:prstGeom prst="rect">
            <a:avLst/>
          </a:prstGeom>
          <a:noFill/>
          <a:ln/>
        </p:spPr>
        <p:txBody>
          <a:bodyPr wrap="square" lIns="0" tIns="0" rIns="0" bIns="0" rtlCol="0" anchor="ctr"/>
          <a:lstStyle/>
          <a:p>
            <a:pPr indent="0" marL="0">
              <a:buNone/>
            </a:pPr>
            <a:r>
              <a:rPr lang="en-US" sz="1100" b="1" dirty="0">
                <a:solidFill>
                  <a:srgbClr val="1E6FC8"/>
                </a:solidFill>
              </a:rPr>
              <a:t>Heap Regions</a:t>
            </a:r>
            <a:endParaRPr lang="en-US" sz="1100" dirty="0"/>
          </a:p>
        </p:txBody>
      </p:sp>
      <p:sp>
        <p:nvSpPr>
          <p:cNvPr id="14" name="Text 12"/>
          <p:cNvSpPr/>
          <p:nvPr/>
        </p:nvSpPr>
        <p:spPr>
          <a:xfrm>
            <a:off x="3264408" y="4526280"/>
            <a:ext cx="2514600" cy="292608"/>
          </a:xfrm>
          <a:prstGeom prst="rect">
            <a:avLst/>
          </a:prstGeom>
          <a:noFill/>
          <a:ln/>
        </p:spPr>
        <p:txBody>
          <a:bodyPr wrap="square" lIns="0" tIns="0" rIns="0" bIns="0" rtlCol="0" anchor="ctr"/>
          <a:lstStyle/>
          <a:p>
            <a:pPr indent="0" marL="0">
              <a:buNone/>
            </a:pPr>
            <a:r>
              <a:rPr lang="en-US" sz="1000" dirty="0">
                <a:solidFill>
                  <a:srgbClr val="1A2B3C"/>
                </a:solidFill>
              </a:rPr>
              <a:t>G1HeapRegionSize: larger = fewer regions = less GC bookkeeping</a:t>
            </a:r>
            <a:endParaRPr lang="en-US" sz="1000" dirty="0"/>
          </a:p>
        </p:txBody>
      </p:sp>
      <p:sp>
        <p:nvSpPr>
          <p:cNvPr id="15" name="Shape 13"/>
          <p:cNvSpPr/>
          <p:nvPr/>
        </p:nvSpPr>
        <p:spPr>
          <a:xfrm>
            <a:off x="6025896" y="4206240"/>
            <a:ext cx="2697480" cy="6583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6" name="Text 14"/>
          <p:cNvSpPr/>
          <p:nvPr/>
        </p:nvSpPr>
        <p:spPr>
          <a:xfrm>
            <a:off x="6117336" y="4251960"/>
            <a:ext cx="2514600" cy="256032"/>
          </a:xfrm>
          <a:prstGeom prst="rect">
            <a:avLst/>
          </a:prstGeom>
          <a:noFill/>
          <a:ln/>
        </p:spPr>
        <p:txBody>
          <a:bodyPr wrap="square" lIns="0" tIns="0" rIns="0" bIns="0" rtlCol="0" anchor="ctr"/>
          <a:lstStyle/>
          <a:p>
            <a:pPr indent="0" marL="0">
              <a:buNone/>
            </a:pPr>
            <a:r>
              <a:rPr lang="en-US" sz="1100" b="1" dirty="0">
                <a:solidFill>
                  <a:srgbClr val="1E6FC8"/>
                </a:solidFill>
              </a:rPr>
              <a:t>IHOP</a:t>
            </a:r>
            <a:endParaRPr lang="en-US" sz="1100" dirty="0"/>
          </a:p>
        </p:txBody>
      </p:sp>
      <p:sp>
        <p:nvSpPr>
          <p:cNvPr id="17" name="Text 15"/>
          <p:cNvSpPr/>
          <p:nvPr/>
        </p:nvSpPr>
        <p:spPr>
          <a:xfrm>
            <a:off x="6117336" y="4526280"/>
            <a:ext cx="2514600" cy="292608"/>
          </a:xfrm>
          <a:prstGeom prst="rect">
            <a:avLst/>
          </a:prstGeom>
          <a:noFill/>
          <a:ln/>
        </p:spPr>
        <p:txBody>
          <a:bodyPr wrap="square" lIns="0" tIns="0" rIns="0" bIns="0" rtlCol="0" anchor="ctr"/>
          <a:lstStyle/>
          <a:p>
            <a:pPr indent="0" marL="0">
              <a:buNone/>
            </a:pPr>
            <a:r>
              <a:rPr lang="en-US" sz="1000" dirty="0">
                <a:solidFill>
                  <a:srgbClr val="1A2B3C"/>
                </a:solidFill>
              </a:rPr>
              <a:t>Start GC earlier (IHOP=40-45) in containers to avoid emergency GC</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Startup Time Reduction</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04</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11/26</a:t>
            </a:r>
            <a:endParaRPr lang="en-US" sz="900" dirty="0"/>
          </a:p>
        </p:txBody>
      </p:sp>
      <p:sp>
        <p:nvSpPr>
          <p:cNvPr id="7" name="Text 5"/>
          <p:cNvSpPr/>
          <p:nvPr/>
        </p:nvSpPr>
        <p:spPr>
          <a:xfrm>
            <a:off x="365760" y="749808"/>
            <a:ext cx="8229600" cy="274320"/>
          </a:xfrm>
          <a:prstGeom prst="rect">
            <a:avLst/>
          </a:prstGeom>
          <a:noFill/>
          <a:ln/>
        </p:spPr>
        <p:txBody>
          <a:bodyPr wrap="square" lIns="0" tIns="0" rIns="0" bIns="0" rtlCol="0" anchor="ctr"/>
          <a:lstStyle/>
          <a:p>
            <a:pPr indent="0" marL="0">
              <a:buNone/>
            </a:pPr>
            <a:r>
              <a:rPr lang="en-US" sz="1200" i="1" dirty="0">
                <a:solidFill>
                  <a:srgbClr val="90A4AE"/>
                </a:solidFill>
              </a:rPr>
              <a:t>Spring Boot: 4-8s cold start  |  Quarkus 3.33.1 JVM: 0.3-0.8s  |  Quarkus + AOT cache (JDK 25): 0.15-0.4s</a:t>
            </a:r>
            <a:endParaRPr lang="en-US" sz="1200" dirty="0"/>
          </a:p>
        </p:txBody>
      </p:sp>
      <p:sp>
        <p:nvSpPr>
          <p:cNvPr id="8" name="Text 6"/>
          <p:cNvSpPr/>
          <p:nvPr/>
        </p:nvSpPr>
        <p:spPr>
          <a:xfrm>
            <a:off x="365760" y="1097280"/>
            <a:ext cx="8229600" cy="292608"/>
          </a:xfrm>
          <a:prstGeom prst="rect">
            <a:avLst/>
          </a:prstGeom>
          <a:noFill/>
          <a:ln/>
        </p:spPr>
        <p:txBody>
          <a:bodyPr wrap="square" lIns="0" tIns="0" rIns="0" bIns="0" rtlCol="0" anchor="ctr"/>
          <a:lstStyle/>
          <a:p>
            <a:pPr indent="0" marL="0">
              <a:buNone/>
            </a:pPr>
            <a:r>
              <a:rPr lang="en-US" sz="1300" b="1" dirty="0">
                <a:solidFill>
                  <a:srgbClr val="ECF0F1"/>
                </a:solidFill>
              </a:rPr>
              <a:t>JVM Startup Breakdown — Spring Boot vs Quarkus 3.33.1 LTS (JVM only):</a:t>
            </a:r>
            <a:endParaRPr lang="en-US" sz="1300" dirty="0"/>
          </a:p>
        </p:txBody>
      </p:sp>
      <p:sp>
        <p:nvSpPr>
          <p:cNvPr id="9" name="Shape 7"/>
          <p:cNvSpPr/>
          <p:nvPr/>
        </p:nvSpPr>
        <p:spPr>
          <a:xfrm>
            <a:off x="365760" y="1508760"/>
            <a:ext cx="1193292" cy="502920"/>
          </a:xfrm>
          <a:prstGeom prst="rect">
            <a:avLst/>
          </a:prstGeom>
          <a:solidFill>
            <a:srgbClr val="00BCD4"/>
          </a:solidFill>
          <a:ln/>
        </p:spPr>
      </p:sp>
      <p:sp>
        <p:nvSpPr>
          <p:cNvPr id="10" name="Shape 8"/>
          <p:cNvSpPr/>
          <p:nvPr/>
        </p:nvSpPr>
        <p:spPr>
          <a:xfrm>
            <a:off x="1559052" y="1508760"/>
            <a:ext cx="2784348" cy="502920"/>
          </a:xfrm>
          <a:prstGeom prst="rect">
            <a:avLst/>
          </a:prstGeom>
          <a:solidFill>
            <a:srgbClr val="1E6FC8"/>
          </a:solidFill>
          <a:ln/>
        </p:spPr>
      </p:sp>
      <p:sp>
        <p:nvSpPr>
          <p:cNvPr id="11" name="Shape 9"/>
          <p:cNvSpPr/>
          <p:nvPr/>
        </p:nvSpPr>
        <p:spPr>
          <a:xfrm>
            <a:off x="4343400" y="1508760"/>
            <a:ext cx="2386584" cy="502920"/>
          </a:xfrm>
          <a:prstGeom prst="rect">
            <a:avLst/>
          </a:prstGeom>
          <a:solidFill>
            <a:srgbClr val="F5A623"/>
          </a:solidFill>
          <a:ln/>
        </p:spPr>
      </p:sp>
      <p:sp>
        <p:nvSpPr>
          <p:cNvPr id="12" name="Shape 10"/>
          <p:cNvSpPr/>
          <p:nvPr/>
        </p:nvSpPr>
        <p:spPr>
          <a:xfrm>
            <a:off x="6729984" y="1508760"/>
            <a:ext cx="1591056" cy="502920"/>
          </a:xfrm>
          <a:prstGeom prst="rect">
            <a:avLst/>
          </a:prstGeom>
          <a:solidFill>
            <a:srgbClr val="E84855"/>
          </a:solidFill>
          <a:ln/>
        </p:spPr>
      </p:sp>
      <p:sp>
        <p:nvSpPr>
          <p:cNvPr id="13" name="Shape 11"/>
          <p:cNvSpPr/>
          <p:nvPr/>
        </p:nvSpPr>
        <p:spPr>
          <a:xfrm>
            <a:off x="320040" y="2148840"/>
            <a:ext cx="8503920" cy="502920"/>
          </a:xfrm>
          <a:prstGeom prst="rect">
            <a:avLst/>
          </a:prstGeom>
          <a:solidFill>
            <a:srgbClr val="122040"/>
          </a:solidFill>
          <a:ln/>
        </p:spPr>
      </p:sp>
      <p:sp>
        <p:nvSpPr>
          <p:cNvPr id="14" name="Shape 12"/>
          <p:cNvSpPr/>
          <p:nvPr/>
        </p:nvSpPr>
        <p:spPr>
          <a:xfrm>
            <a:off x="320040" y="2148840"/>
            <a:ext cx="164592" cy="502920"/>
          </a:xfrm>
          <a:prstGeom prst="rect">
            <a:avLst/>
          </a:prstGeom>
          <a:solidFill>
            <a:srgbClr val="00BCD4"/>
          </a:solidFill>
          <a:ln/>
        </p:spPr>
      </p:sp>
      <p:sp>
        <p:nvSpPr>
          <p:cNvPr id="15" name="Text 13"/>
          <p:cNvSpPr/>
          <p:nvPr/>
        </p:nvSpPr>
        <p:spPr>
          <a:xfrm>
            <a:off x="594360" y="2148840"/>
            <a:ext cx="5029200" cy="502920"/>
          </a:xfrm>
          <a:prstGeom prst="rect">
            <a:avLst/>
          </a:prstGeom>
          <a:noFill/>
          <a:ln/>
        </p:spPr>
        <p:txBody>
          <a:bodyPr wrap="square" lIns="0" tIns="0" rIns="0" bIns="0" rtlCol="0" anchor="ctr"/>
          <a:lstStyle/>
          <a:p>
            <a:pPr indent="0" marL="0">
              <a:buNone/>
            </a:pPr>
            <a:r>
              <a:rPr lang="en-US" sz="1150" b="1" dirty="0">
                <a:solidFill>
                  <a:srgbClr val="ECF0F1"/>
                </a:solidFill>
              </a:rPr>
              <a:t>JVM Bootstrap</a:t>
            </a:r>
            <a:endParaRPr lang="en-US" sz="1150" dirty="0"/>
          </a:p>
        </p:txBody>
      </p:sp>
      <p:sp>
        <p:nvSpPr>
          <p:cNvPr id="16" name="Text 14"/>
          <p:cNvSpPr/>
          <p:nvPr/>
        </p:nvSpPr>
        <p:spPr>
          <a:xfrm>
            <a:off x="7635240" y="2148840"/>
            <a:ext cx="1097280" cy="502920"/>
          </a:xfrm>
          <a:prstGeom prst="rect">
            <a:avLst/>
          </a:prstGeom>
          <a:noFill/>
          <a:ln/>
        </p:spPr>
        <p:txBody>
          <a:bodyPr wrap="square" lIns="0" tIns="0" rIns="0" bIns="0" rtlCol="0" anchor="ctr"/>
          <a:lstStyle/>
          <a:p>
            <a:pPr algn="r" indent="0" marL="0">
              <a:buNone/>
            </a:pPr>
            <a:r>
              <a:rPr lang="en-US" sz="1200" b="1" dirty="0">
                <a:solidFill>
                  <a:srgbClr val="00BCD4"/>
                </a:solidFill>
              </a:rPr>
              <a:t>~200ms</a:t>
            </a:r>
            <a:endParaRPr lang="en-US" sz="1200" dirty="0"/>
          </a:p>
        </p:txBody>
      </p:sp>
      <p:sp>
        <p:nvSpPr>
          <p:cNvPr id="17" name="Shape 15"/>
          <p:cNvSpPr/>
          <p:nvPr/>
        </p:nvSpPr>
        <p:spPr>
          <a:xfrm>
            <a:off x="320040" y="2743200"/>
            <a:ext cx="8503920" cy="502920"/>
          </a:xfrm>
          <a:prstGeom prst="rect">
            <a:avLst/>
          </a:prstGeom>
          <a:solidFill>
            <a:srgbClr val="122040"/>
          </a:solidFill>
          <a:ln/>
        </p:spPr>
      </p:sp>
      <p:sp>
        <p:nvSpPr>
          <p:cNvPr id="18" name="Shape 16"/>
          <p:cNvSpPr/>
          <p:nvPr/>
        </p:nvSpPr>
        <p:spPr>
          <a:xfrm>
            <a:off x="320040" y="2743200"/>
            <a:ext cx="164592" cy="502920"/>
          </a:xfrm>
          <a:prstGeom prst="rect">
            <a:avLst/>
          </a:prstGeom>
          <a:solidFill>
            <a:srgbClr val="1E6FC8"/>
          </a:solidFill>
          <a:ln/>
        </p:spPr>
      </p:sp>
      <p:sp>
        <p:nvSpPr>
          <p:cNvPr id="19" name="Text 17"/>
          <p:cNvSpPr/>
          <p:nvPr/>
        </p:nvSpPr>
        <p:spPr>
          <a:xfrm>
            <a:off x="594360" y="2743200"/>
            <a:ext cx="5029200" cy="502920"/>
          </a:xfrm>
          <a:prstGeom prst="rect">
            <a:avLst/>
          </a:prstGeom>
          <a:noFill/>
          <a:ln/>
        </p:spPr>
        <p:txBody>
          <a:bodyPr wrap="square" lIns="0" tIns="0" rIns="0" bIns="0" rtlCol="0" anchor="ctr"/>
          <a:lstStyle/>
          <a:p>
            <a:pPr indent="0" marL="0">
              <a:buNone/>
            </a:pPr>
            <a:r>
              <a:rPr lang="en-US" sz="1150" b="1" dirty="0">
                <a:solidFill>
                  <a:srgbClr val="ECF0F1"/>
                </a:solidFill>
              </a:rPr>
              <a:t>Class Loading</a:t>
            </a:r>
            <a:endParaRPr lang="en-US" sz="1150" dirty="0"/>
          </a:p>
        </p:txBody>
      </p:sp>
      <p:sp>
        <p:nvSpPr>
          <p:cNvPr id="20" name="Text 18"/>
          <p:cNvSpPr/>
          <p:nvPr/>
        </p:nvSpPr>
        <p:spPr>
          <a:xfrm>
            <a:off x="7635240" y="2743200"/>
            <a:ext cx="1097280" cy="502920"/>
          </a:xfrm>
          <a:prstGeom prst="rect">
            <a:avLst/>
          </a:prstGeom>
          <a:noFill/>
          <a:ln/>
        </p:spPr>
        <p:txBody>
          <a:bodyPr wrap="square" lIns="0" tIns="0" rIns="0" bIns="0" rtlCol="0" anchor="ctr"/>
          <a:lstStyle/>
          <a:p>
            <a:pPr algn="r" indent="0" marL="0">
              <a:buNone/>
            </a:pPr>
            <a:r>
              <a:rPr lang="en-US" sz="1200" b="1" dirty="0">
                <a:solidFill>
                  <a:srgbClr val="1E6FC8"/>
                </a:solidFill>
              </a:rPr>
              <a:t>~800ms</a:t>
            </a:r>
            <a:endParaRPr lang="en-US" sz="1200" dirty="0"/>
          </a:p>
        </p:txBody>
      </p:sp>
      <p:sp>
        <p:nvSpPr>
          <p:cNvPr id="21" name="Shape 19"/>
          <p:cNvSpPr/>
          <p:nvPr/>
        </p:nvSpPr>
        <p:spPr>
          <a:xfrm>
            <a:off x="320040" y="3337560"/>
            <a:ext cx="8503920" cy="502920"/>
          </a:xfrm>
          <a:prstGeom prst="rect">
            <a:avLst/>
          </a:prstGeom>
          <a:solidFill>
            <a:srgbClr val="122040"/>
          </a:solidFill>
          <a:ln/>
        </p:spPr>
      </p:sp>
      <p:sp>
        <p:nvSpPr>
          <p:cNvPr id="22" name="Shape 20"/>
          <p:cNvSpPr/>
          <p:nvPr/>
        </p:nvSpPr>
        <p:spPr>
          <a:xfrm>
            <a:off x="320040" y="3337560"/>
            <a:ext cx="164592" cy="502920"/>
          </a:xfrm>
          <a:prstGeom prst="rect">
            <a:avLst/>
          </a:prstGeom>
          <a:solidFill>
            <a:srgbClr val="F5A623"/>
          </a:solidFill>
          <a:ln/>
        </p:spPr>
      </p:sp>
      <p:sp>
        <p:nvSpPr>
          <p:cNvPr id="23" name="Text 21"/>
          <p:cNvSpPr/>
          <p:nvPr/>
        </p:nvSpPr>
        <p:spPr>
          <a:xfrm>
            <a:off x="594360" y="3337560"/>
            <a:ext cx="5029200" cy="502920"/>
          </a:xfrm>
          <a:prstGeom prst="rect">
            <a:avLst/>
          </a:prstGeom>
          <a:noFill/>
          <a:ln/>
        </p:spPr>
        <p:txBody>
          <a:bodyPr wrap="square" lIns="0" tIns="0" rIns="0" bIns="0" rtlCol="0" anchor="ctr"/>
          <a:lstStyle/>
          <a:p>
            <a:pPr indent="0" marL="0">
              <a:buNone/>
            </a:pPr>
            <a:r>
              <a:rPr lang="en-US" sz="1150" b="1" dirty="0">
                <a:solidFill>
                  <a:srgbClr val="ECF0F1"/>
                </a:solidFill>
              </a:rPr>
              <a:t>Framework Context Init</a:t>
            </a:r>
            <a:endParaRPr lang="en-US" sz="1150" dirty="0"/>
          </a:p>
        </p:txBody>
      </p:sp>
      <p:sp>
        <p:nvSpPr>
          <p:cNvPr id="24" name="Text 22"/>
          <p:cNvSpPr/>
          <p:nvPr/>
        </p:nvSpPr>
        <p:spPr>
          <a:xfrm>
            <a:off x="7635240" y="3337560"/>
            <a:ext cx="1097280" cy="502920"/>
          </a:xfrm>
          <a:prstGeom prst="rect">
            <a:avLst/>
          </a:prstGeom>
          <a:noFill/>
          <a:ln/>
        </p:spPr>
        <p:txBody>
          <a:bodyPr wrap="square" lIns="0" tIns="0" rIns="0" bIns="0" rtlCol="0" anchor="ctr"/>
          <a:lstStyle/>
          <a:p>
            <a:pPr algn="r" indent="0" marL="0">
              <a:buNone/>
            </a:pPr>
            <a:r>
              <a:rPr lang="en-US" sz="1200" b="1" dirty="0">
                <a:solidFill>
                  <a:srgbClr val="F5A623"/>
                </a:solidFill>
              </a:rPr>
              <a:t>~1500ms (Spring) / ~50ms (Quarkus)</a:t>
            </a:r>
            <a:endParaRPr lang="en-US" sz="1200" dirty="0"/>
          </a:p>
        </p:txBody>
      </p:sp>
      <p:sp>
        <p:nvSpPr>
          <p:cNvPr id="25" name="Shape 23"/>
          <p:cNvSpPr/>
          <p:nvPr/>
        </p:nvSpPr>
        <p:spPr>
          <a:xfrm>
            <a:off x="320040" y="3931920"/>
            <a:ext cx="8503920" cy="502920"/>
          </a:xfrm>
          <a:prstGeom prst="rect">
            <a:avLst/>
          </a:prstGeom>
          <a:solidFill>
            <a:srgbClr val="122040"/>
          </a:solidFill>
          <a:ln/>
        </p:spPr>
      </p:sp>
      <p:sp>
        <p:nvSpPr>
          <p:cNvPr id="26" name="Shape 24"/>
          <p:cNvSpPr/>
          <p:nvPr/>
        </p:nvSpPr>
        <p:spPr>
          <a:xfrm>
            <a:off x="320040" y="3931920"/>
            <a:ext cx="164592" cy="502920"/>
          </a:xfrm>
          <a:prstGeom prst="rect">
            <a:avLst/>
          </a:prstGeom>
          <a:solidFill>
            <a:srgbClr val="E84855"/>
          </a:solidFill>
          <a:ln/>
        </p:spPr>
      </p:sp>
      <p:sp>
        <p:nvSpPr>
          <p:cNvPr id="27" name="Text 25"/>
          <p:cNvSpPr/>
          <p:nvPr/>
        </p:nvSpPr>
        <p:spPr>
          <a:xfrm>
            <a:off x="594360" y="3931920"/>
            <a:ext cx="5029200" cy="502920"/>
          </a:xfrm>
          <a:prstGeom prst="rect">
            <a:avLst/>
          </a:prstGeom>
          <a:noFill/>
          <a:ln/>
        </p:spPr>
        <p:txBody>
          <a:bodyPr wrap="square" lIns="0" tIns="0" rIns="0" bIns="0" rtlCol="0" anchor="ctr"/>
          <a:lstStyle/>
          <a:p>
            <a:pPr indent="0" marL="0">
              <a:buNone/>
            </a:pPr>
            <a:r>
              <a:rPr lang="en-US" sz="1150" b="1" dirty="0">
                <a:solidFill>
                  <a:srgbClr val="ECF0F1"/>
                </a:solidFill>
              </a:rPr>
              <a:t>JIT Compilation (C1/C2)</a:t>
            </a:r>
            <a:endParaRPr lang="en-US" sz="1150" dirty="0"/>
          </a:p>
        </p:txBody>
      </p:sp>
      <p:sp>
        <p:nvSpPr>
          <p:cNvPr id="28" name="Text 26"/>
          <p:cNvSpPr/>
          <p:nvPr/>
        </p:nvSpPr>
        <p:spPr>
          <a:xfrm>
            <a:off x="7635240" y="3931920"/>
            <a:ext cx="1097280" cy="502920"/>
          </a:xfrm>
          <a:prstGeom prst="rect">
            <a:avLst/>
          </a:prstGeom>
          <a:noFill/>
          <a:ln/>
        </p:spPr>
        <p:txBody>
          <a:bodyPr wrap="square" lIns="0" tIns="0" rIns="0" bIns="0" rtlCol="0" anchor="ctr"/>
          <a:lstStyle/>
          <a:p>
            <a:pPr algn="r" indent="0" marL="0">
              <a:buNone/>
            </a:pPr>
            <a:r>
              <a:rPr lang="en-US" sz="1200" b="1" dirty="0">
                <a:solidFill>
                  <a:srgbClr val="E84855"/>
                </a:solidFill>
              </a:rPr>
              <a:t>~600ms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AOT Caching: CDS → AppCDS → Leyden AOT Cache</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04</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12/26</a:t>
            </a:r>
            <a:endParaRPr lang="en-US" sz="900" dirty="0"/>
          </a:p>
        </p:txBody>
      </p:sp>
      <p:sp>
        <p:nvSpPr>
          <p:cNvPr id="7" name="Text 5"/>
          <p:cNvSpPr/>
          <p:nvPr/>
        </p:nvSpPr>
        <p:spPr>
          <a:xfrm>
            <a:off x="365760" y="749808"/>
            <a:ext cx="8229600" cy="274320"/>
          </a:xfrm>
          <a:prstGeom prst="rect">
            <a:avLst/>
          </a:prstGeom>
          <a:noFill/>
          <a:ln/>
        </p:spPr>
        <p:txBody>
          <a:bodyPr wrap="square" lIns="0" tIns="0" rIns="0" bIns="0" rtlCol="0" anchor="ctr"/>
          <a:lstStyle/>
          <a:p>
            <a:pPr indent="0" marL="0">
              <a:buNone/>
            </a:pPr>
            <a:r>
              <a:rPr lang="en-US" sz="1200" i="1" dirty="0">
                <a:solidFill>
                  <a:srgbClr val="546E7A"/>
                </a:solidFill>
              </a:rPr>
              <a:t>Terminology: AppCDS (JDK ≤21) is now the AOT Cache (JDK 24+). Both terms appear in the wild.</a:t>
            </a:r>
            <a:endParaRPr lang="en-US" sz="1200" dirty="0"/>
          </a:p>
        </p:txBody>
      </p:sp>
      <p:sp>
        <p:nvSpPr>
          <p:cNvPr id="8" name="Shape 6"/>
          <p:cNvSpPr/>
          <p:nvPr/>
        </p:nvSpPr>
        <p:spPr>
          <a:xfrm>
            <a:off x="320040" y="1097280"/>
            <a:ext cx="4069080" cy="14630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320040" y="1097280"/>
            <a:ext cx="54864" cy="1463040"/>
          </a:xfrm>
          <a:prstGeom prst="rect">
            <a:avLst/>
          </a:prstGeom>
          <a:solidFill>
            <a:srgbClr val="1E6FC8"/>
          </a:solidFill>
          <a:ln/>
        </p:spPr>
      </p:sp>
      <p:sp>
        <p:nvSpPr>
          <p:cNvPr id="10" name="Text 8"/>
          <p:cNvSpPr/>
          <p:nvPr/>
        </p:nvSpPr>
        <p:spPr>
          <a:xfrm>
            <a:off x="457200" y="1170432"/>
            <a:ext cx="3886200" cy="274320"/>
          </a:xfrm>
          <a:prstGeom prst="rect">
            <a:avLst/>
          </a:prstGeom>
          <a:noFill/>
          <a:ln/>
        </p:spPr>
        <p:txBody>
          <a:bodyPr wrap="square" lIns="0" tIns="0" rIns="0" bIns="0" rtlCol="0" anchor="ctr"/>
          <a:lstStyle/>
          <a:p>
            <a:pPr indent="0" marL="0">
              <a:buNone/>
            </a:pPr>
            <a:r>
              <a:rPr lang="en-US" sz="1200" b="1" dirty="0">
                <a:solidFill>
                  <a:srgbClr val="1E6FC8"/>
                </a:solidFill>
              </a:rPr>
              <a:t>CDS (Java 21 — enabled by default)</a:t>
            </a:r>
            <a:endParaRPr lang="en-US" sz="1200" dirty="0"/>
          </a:p>
        </p:txBody>
      </p:sp>
      <p:sp>
        <p:nvSpPr>
          <p:cNvPr id="11" name="Text 9"/>
          <p:cNvSpPr/>
          <p:nvPr/>
        </p:nvSpPr>
        <p:spPr>
          <a:xfrm>
            <a:off x="484632" y="1481328"/>
            <a:ext cx="3813048" cy="987552"/>
          </a:xfrm>
          <a:prstGeom prst="rect">
            <a:avLst/>
          </a:prstGeom>
          <a:noFill/>
          <a:ln/>
        </p:spPr>
        <p:txBody>
          <a:bodyPr wrap="square" rtlCol="0" anchor="t"/>
          <a:lstStyle/>
          <a:p>
            <a:pPr marL="342900" indent="-342900">
              <a:buSzPct val="100000"/>
              <a:buChar char="•"/>
            </a:pPr>
            <a:r>
              <a:rPr lang="en-US" sz="1050" dirty="0">
                <a:solidFill>
                  <a:srgbClr val="1A2B3C"/>
                </a:solidFill>
              </a:rPr>
              <a:t>JDK ships with a pre-built shared archive for JDK classes</a:t>
            </a:r>
            <a:endParaRPr lang="en-US" sz="1050" dirty="0"/>
          </a:p>
          <a:p>
            <a:pPr marL="342900" indent="-342900">
              <a:buSzPct val="100000"/>
              <a:buChar char="•"/>
            </a:pPr>
            <a:r>
              <a:rPr lang="en-US" sz="1050" dirty="0">
                <a:solidFill>
                  <a:srgbClr val="1A2B3C"/>
                </a:solidFill>
              </a:rPr>
              <a:t>Java 21: active by default — no flags needed for JDK class sharing</a:t>
            </a:r>
            <a:endParaRPr lang="en-US" sz="1050" dirty="0"/>
          </a:p>
          <a:p>
            <a:pPr marL="342900" indent="-342900">
              <a:buSzPct val="100000"/>
              <a:buChar char="•"/>
            </a:pPr>
            <a:r>
              <a:rPr lang="en-US" sz="1050" dirty="0">
                <a:solidFill>
                  <a:srgbClr val="1A2B3C"/>
                </a:solidFill>
              </a:rPr>
              <a:t>Saves ~150-300ms on startup with zero configuration</a:t>
            </a:r>
            <a:endParaRPr lang="en-US" sz="1050" dirty="0"/>
          </a:p>
          <a:p>
            <a:pPr marL="342900" indent="-342900">
              <a:buSzPct val="100000"/>
              <a:buChar char="•"/>
            </a:pPr>
            <a:r>
              <a:rPr lang="en-US" sz="1050" dirty="0">
                <a:solidFill>
                  <a:srgbClr val="1A2B3C"/>
                </a:solidFill>
              </a:rPr>
              <a:t>Shared across all JVM processes on the same container node</a:t>
            </a:r>
            <a:endParaRPr lang="en-US" sz="1050" dirty="0"/>
          </a:p>
        </p:txBody>
      </p:sp>
      <p:sp>
        <p:nvSpPr>
          <p:cNvPr id="12" name="Shape 10"/>
          <p:cNvSpPr/>
          <p:nvPr/>
        </p:nvSpPr>
        <p:spPr>
          <a:xfrm>
            <a:off x="320040" y="2697480"/>
            <a:ext cx="4069080" cy="173736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320040" y="2697480"/>
            <a:ext cx="54864" cy="1737360"/>
          </a:xfrm>
          <a:prstGeom prst="rect">
            <a:avLst/>
          </a:prstGeom>
          <a:solidFill>
            <a:srgbClr val="00BCD4"/>
          </a:solidFill>
          <a:ln/>
        </p:spPr>
      </p:sp>
      <p:sp>
        <p:nvSpPr>
          <p:cNvPr id="14" name="Text 12"/>
          <p:cNvSpPr/>
          <p:nvPr/>
        </p:nvSpPr>
        <p:spPr>
          <a:xfrm>
            <a:off x="457200" y="2770632"/>
            <a:ext cx="3886200" cy="274320"/>
          </a:xfrm>
          <a:prstGeom prst="rect">
            <a:avLst/>
          </a:prstGeom>
          <a:noFill/>
          <a:ln/>
        </p:spPr>
        <p:txBody>
          <a:bodyPr wrap="square" lIns="0" tIns="0" rIns="0" bIns="0" rtlCol="0" anchor="ctr"/>
          <a:lstStyle/>
          <a:p>
            <a:pPr indent="0" marL="0">
              <a:buNone/>
            </a:pPr>
            <a:r>
              <a:rPr lang="en-US" sz="1200" b="1" dirty="0">
                <a:solidFill>
                  <a:srgbClr val="00BCD4"/>
                </a:solidFill>
              </a:rPr>
              <a:t>AOT Cache — Quarkus 3.33.1 (JDK 21: one property)</a:t>
            </a:r>
            <a:endParaRPr lang="en-US" sz="1200" dirty="0"/>
          </a:p>
        </p:txBody>
      </p:sp>
      <p:sp>
        <p:nvSpPr>
          <p:cNvPr id="15" name="Text 13"/>
          <p:cNvSpPr/>
          <p:nvPr/>
        </p:nvSpPr>
        <p:spPr>
          <a:xfrm>
            <a:off x="484632" y="3081528"/>
            <a:ext cx="3813048" cy="1261872"/>
          </a:xfrm>
          <a:prstGeom prst="rect">
            <a:avLst/>
          </a:prstGeom>
          <a:noFill/>
          <a:ln/>
        </p:spPr>
        <p:txBody>
          <a:bodyPr wrap="square" rtlCol="0" anchor="t"/>
          <a:lstStyle/>
          <a:p>
            <a:pPr marL="342900" indent="-342900">
              <a:buSzPct val="100000"/>
              <a:buChar char="•"/>
            </a:pPr>
            <a:r>
              <a:rPr lang="en-US" sz="1050" dirty="0">
                <a:solidFill>
                  <a:srgbClr val="1A2B3C"/>
                </a:solidFill>
              </a:rPr>
              <a:t>Requires @QuarkusIntegrationTest tests in your project — these are the training workload</a:t>
            </a:r>
            <a:endParaRPr lang="en-US" sz="1050" dirty="0"/>
          </a:p>
          <a:p>
            <a:pPr marL="342900" indent="-342900">
              <a:buSzPct val="100000"/>
              <a:buChar char="•"/>
            </a:pPr>
            <a:r>
              <a:rPr lang="en-US" sz="1050" dirty="0">
                <a:solidFill>
                  <a:srgbClr val="1A2B3C"/>
                </a:solidFill>
              </a:rPr>
              <a:t>quarkus.package.jar.aot.enabled=true — trains on @QuarkusIntegrationTest suite (required for optimal cache)</a:t>
            </a:r>
            <a:endParaRPr lang="en-US" sz="1050" dirty="0"/>
          </a:p>
          <a:p>
            <a:pPr marL="342900" indent="-342900">
              <a:buSzPct val="100000"/>
              <a:buChar char="•"/>
            </a:pPr>
            <a:r>
              <a:rPr lang="en-US" sz="1050" dirty="0">
                <a:solidFill>
                  <a:srgbClr val="1A2B3C"/>
                </a:solidFill>
              </a:rPr>
              <a:t>Quarkus JVM baseline: ~0.3-0.8s (already 5-10x faster than Spring Boot)</a:t>
            </a:r>
            <a:endParaRPr lang="en-US" sz="1050" dirty="0"/>
          </a:p>
          <a:p>
            <a:pPr marL="342900" indent="-342900">
              <a:buSzPct val="100000"/>
              <a:buChar char="•"/>
            </a:pPr>
            <a:r>
              <a:rPr lang="en-US" sz="1050" dirty="0">
                <a:solidFill>
                  <a:srgbClr val="1A2B3C"/>
                </a:solidFill>
              </a:rPr>
              <a:t>Quarkus JVM + AppCDS: ~0.15-0.4s (additional 30-50% reduction)</a:t>
            </a:r>
            <a:endParaRPr lang="en-US" sz="1050" dirty="0"/>
          </a:p>
        </p:txBody>
      </p:sp>
      <p:sp>
        <p:nvSpPr>
          <p:cNvPr id="16" name="Text 14"/>
          <p:cNvSpPr/>
          <p:nvPr/>
        </p:nvSpPr>
        <p:spPr>
          <a:xfrm>
            <a:off x="4617720" y="1097280"/>
            <a:ext cx="4206240" cy="292608"/>
          </a:xfrm>
          <a:prstGeom prst="rect">
            <a:avLst/>
          </a:prstGeom>
          <a:noFill/>
          <a:ln/>
        </p:spPr>
        <p:txBody>
          <a:bodyPr wrap="square" lIns="0" tIns="0" rIns="0" bIns="0" rtlCol="0" anchor="ctr"/>
          <a:lstStyle/>
          <a:p>
            <a:pPr indent="0" marL="0">
              <a:buNone/>
            </a:pPr>
            <a:r>
              <a:rPr lang="en-US" sz="1300" b="1" dirty="0">
                <a:solidFill>
                  <a:srgbClr val="1E6FC8"/>
                </a:solidFill>
              </a:rPr>
              <a:t>AppCDS Setup in Docker:</a:t>
            </a:r>
            <a:endParaRPr lang="en-US" sz="1300" dirty="0"/>
          </a:p>
        </p:txBody>
      </p:sp>
      <p:sp>
        <p:nvSpPr>
          <p:cNvPr id="17" name="Shape 15"/>
          <p:cNvSpPr/>
          <p:nvPr/>
        </p:nvSpPr>
        <p:spPr>
          <a:xfrm>
            <a:off x="4617720" y="1444752"/>
            <a:ext cx="4206240" cy="2788920"/>
          </a:xfrm>
          <a:prstGeom prst="rect">
            <a:avLst/>
          </a:prstGeom>
          <a:solidFill>
            <a:srgbClr val="0D2137"/>
          </a:solidFill>
          <a:ln w="19050">
            <a:solidFill>
              <a:srgbClr val="00BCD4"/>
            </a:solidFill>
            <a:prstDash val="solid"/>
          </a:ln>
        </p:spPr>
      </p:sp>
      <p:sp>
        <p:nvSpPr>
          <p:cNvPr id="18" name="Text 16"/>
          <p:cNvSpPr/>
          <p:nvPr/>
        </p:nvSpPr>
        <p:spPr>
          <a:xfrm>
            <a:off x="4690872" y="1490472"/>
            <a:ext cx="4059936" cy="2697480"/>
          </a:xfrm>
          <a:prstGeom prst="rect">
            <a:avLst/>
          </a:prstGeom>
          <a:noFill/>
          <a:ln/>
        </p:spPr>
        <p:txBody>
          <a:bodyPr wrap="square" rtlCol="0" anchor="t"/>
          <a:lstStyle/>
          <a:p>
            <a:pPr indent="0" marL="0">
              <a:buNone/>
            </a:pPr>
            <a:r>
              <a:rPr lang="en-US" sz="950" dirty="0">
                <a:solidFill>
                  <a:srgbClr val="A8D8EA"/>
                </a:solidFill>
                <a:latin typeface="Courier New" pitchFamily="34" charset="0"/>
                <a:ea typeface="Courier New" pitchFamily="34" charset="-122"/>
                <a:cs typeface="Courier New" pitchFamily="34" charset="-120"/>
              </a:rPr>
              <a:t># Quarkus 3.33.1 LTS: AppCDS = ONE property</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application.properties: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quarkus.package.jar.aot.enabled=true</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Build — plugin trains on @QuarkusIntegrationTest suite:</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./mvnw verify  # (not package — integration tests needed)</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No manual steps! Plugin handles everything.</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Dockerfile — Quarkus layered output (Docker cache-friendly):</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COPY target/quarkus-app/lib/     ./lib/</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COPY target/quarkus-app/*.jar    ./</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COPY target/quarkus-app/*.cds    ./</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COPY target/quarkus-app/app/     ./app/</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COPY target/quarkus-app/quarkus/ ./quarkus/</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Run — archive activated automatically if found:</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ENV JAVA_OPTS="-XX:+UseContainerSupport -XX:MaxRAMPercentage=75"</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ENTRYPOINT ["java", "-jar", "quarkus-run.jar"]</a:t>
            </a:r>
            <a:endParaRPr lang="en-US" sz="950" dirty="0"/>
          </a:p>
        </p:txBody>
      </p:sp>
      <p:sp>
        <p:nvSpPr>
          <p:cNvPr id="19" name="Shape 17"/>
          <p:cNvSpPr/>
          <p:nvPr/>
        </p:nvSpPr>
        <p:spPr>
          <a:xfrm>
            <a:off x="320040" y="4553712"/>
            <a:ext cx="8503920" cy="365760"/>
          </a:xfrm>
          <a:prstGeom prst="rect">
            <a:avLst/>
          </a:prstGeom>
          <a:solidFill>
            <a:srgbClr val="0A1628"/>
          </a:solidFill>
          <a:ln/>
        </p:spPr>
      </p:sp>
      <p:sp>
        <p:nvSpPr>
          <p:cNvPr id="20" name="Text 18"/>
          <p:cNvSpPr/>
          <p:nvPr/>
        </p:nvSpPr>
        <p:spPr>
          <a:xfrm>
            <a:off x="457200" y="4553712"/>
            <a:ext cx="8321040" cy="365760"/>
          </a:xfrm>
          <a:prstGeom prst="rect">
            <a:avLst/>
          </a:prstGeom>
          <a:noFill/>
          <a:ln/>
        </p:spPr>
        <p:txBody>
          <a:bodyPr wrap="square" lIns="0" tIns="0" rIns="0" bIns="0" rtlCol="0" anchor="ctr"/>
          <a:lstStyle/>
          <a:p>
            <a:pPr indent="0" marL="0">
              <a:buNone/>
            </a:pPr>
            <a:r>
              <a:rPr lang="en-US" sz="1050" dirty="0">
                <a:solidFill>
                  <a:srgbClr val="00E5C3"/>
                </a:solidFill>
              </a:rPr>
              <a:t>📊  Quarkus benchmark: 0.6s JVM baseline → 0.3s with AppCDS (50% faster) vs Spring Boot: 4.2s → 2.4s. Quarkus + AppCDS is 14x faster than Spring Boot baseline!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Java 21 Virtual Threads — Quarkus @RunOnVirtualThread</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04</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13/26</a:t>
            </a:r>
            <a:endParaRPr lang="en-US" sz="900" dirty="0"/>
          </a:p>
        </p:txBody>
      </p:sp>
      <p:sp>
        <p:nvSpPr>
          <p:cNvPr id="7" name="Text 5"/>
          <p:cNvSpPr/>
          <p:nvPr/>
        </p:nvSpPr>
        <p:spPr>
          <a:xfrm>
            <a:off x="365760" y="749808"/>
            <a:ext cx="8229600" cy="274320"/>
          </a:xfrm>
          <a:prstGeom prst="rect">
            <a:avLst/>
          </a:prstGeom>
          <a:noFill/>
          <a:ln/>
        </p:spPr>
        <p:txBody>
          <a:bodyPr wrap="square" lIns="0" tIns="0" rIns="0" bIns="0" rtlCol="0" anchor="ctr"/>
          <a:lstStyle/>
          <a:p>
            <a:pPr indent="0" marL="0">
              <a:buNone/>
            </a:pPr>
            <a:r>
              <a:rPr lang="en-US" sz="1200" i="1" dirty="0">
                <a:solidFill>
                  <a:srgbClr val="546E7A"/>
                </a:solidFill>
              </a:rPr>
              <a:t>Project Loom (JEP 444) — one annotation in Quarkus vs one property in Spring Boot</a:t>
            </a:r>
            <a:endParaRPr lang="en-US" sz="1200" dirty="0"/>
          </a:p>
        </p:txBody>
      </p:sp>
      <p:sp>
        <p:nvSpPr>
          <p:cNvPr id="8" name="Shape 6"/>
          <p:cNvSpPr/>
          <p:nvPr/>
        </p:nvSpPr>
        <p:spPr>
          <a:xfrm>
            <a:off x="320040" y="1097280"/>
            <a:ext cx="4069080" cy="182880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320040" y="1097280"/>
            <a:ext cx="54864" cy="1828800"/>
          </a:xfrm>
          <a:prstGeom prst="rect">
            <a:avLst/>
          </a:prstGeom>
          <a:solidFill>
            <a:srgbClr val="1E6FC8"/>
          </a:solidFill>
          <a:ln/>
        </p:spPr>
      </p:sp>
      <p:sp>
        <p:nvSpPr>
          <p:cNvPr id="10" name="Text 8"/>
          <p:cNvSpPr/>
          <p:nvPr/>
        </p:nvSpPr>
        <p:spPr>
          <a:xfrm>
            <a:off x="457200" y="1170432"/>
            <a:ext cx="3886200" cy="274320"/>
          </a:xfrm>
          <a:prstGeom prst="rect">
            <a:avLst/>
          </a:prstGeom>
          <a:noFill/>
          <a:ln/>
        </p:spPr>
        <p:txBody>
          <a:bodyPr wrap="square" lIns="0" tIns="0" rIns="0" bIns="0" rtlCol="0" anchor="ctr"/>
          <a:lstStyle/>
          <a:p>
            <a:pPr indent="0" marL="0">
              <a:buNone/>
            </a:pPr>
            <a:r>
              <a:rPr lang="en-US" sz="1200" b="1" dirty="0">
                <a:solidFill>
                  <a:srgbClr val="1E6FC8"/>
                </a:solidFill>
              </a:rPr>
              <a:t>What Are Virtual Threads? (JEP 444 — Java 21)</a:t>
            </a:r>
            <a:endParaRPr lang="en-US" sz="1200" dirty="0"/>
          </a:p>
        </p:txBody>
      </p:sp>
      <p:sp>
        <p:nvSpPr>
          <p:cNvPr id="11" name="Text 9"/>
          <p:cNvSpPr/>
          <p:nvPr/>
        </p:nvSpPr>
        <p:spPr>
          <a:xfrm>
            <a:off x="484632" y="1481328"/>
            <a:ext cx="3813048" cy="1353312"/>
          </a:xfrm>
          <a:prstGeom prst="rect">
            <a:avLst/>
          </a:prstGeom>
          <a:noFill/>
          <a:ln/>
        </p:spPr>
        <p:txBody>
          <a:bodyPr wrap="square" rtlCol="0" anchor="t"/>
          <a:lstStyle/>
          <a:p>
            <a:pPr marL="342900" indent="-342900">
              <a:buSzPct val="100000"/>
              <a:buChar char="•"/>
            </a:pPr>
            <a:r>
              <a:rPr lang="en-US" sz="1050" dirty="0">
                <a:solidFill>
                  <a:srgbClr val="1A2B3C"/>
                </a:solidFill>
              </a:rPr>
              <a:t>Lightweight threads scheduled on a small pool of OS (platform) threads</a:t>
            </a:r>
            <a:endParaRPr lang="en-US" sz="1050" dirty="0"/>
          </a:p>
          <a:p>
            <a:pPr marL="342900" indent="-342900">
              <a:buSzPct val="100000"/>
              <a:buChar char="•"/>
            </a:pPr>
            <a:r>
              <a:rPr lang="en-US" sz="1050" dirty="0">
                <a:solidFill>
                  <a:srgbClr val="1A2B3C"/>
                </a:solidFill>
              </a:rPr>
              <a:t>1M virtual threads use ~1 GB heap vs 1M platform threads = ~1 TB stack</a:t>
            </a:r>
            <a:endParaRPr lang="en-US" sz="1050" dirty="0"/>
          </a:p>
          <a:p>
            <a:pPr marL="342900" indent="-342900">
              <a:buSzPct val="100000"/>
              <a:buChar char="•"/>
            </a:pPr>
            <a:r>
              <a:rPr lang="en-US" sz="1050" dirty="0">
                <a:solidFill>
                  <a:srgbClr val="1A2B3C"/>
                </a:solidFill>
              </a:rPr>
              <a:t>Identical API: Thread.ofVirtual().start(() -&gt; ...) or ExecutorService</a:t>
            </a:r>
            <a:endParaRPr lang="en-US" sz="1050" dirty="0"/>
          </a:p>
          <a:p>
            <a:pPr marL="342900" indent="-342900">
              <a:buSzPct val="100000"/>
              <a:buChar char="•"/>
            </a:pPr>
            <a:r>
              <a:rPr lang="en-US" sz="1050" dirty="0">
                <a:solidFill>
                  <a:srgbClr val="1A2B3C"/>
                </a:solidFill>
              </a:rPr>
              <a:t>Quarkus 3.33.1: @RunOnVirtualThread on any resource method — no config needed</a:t>
            </a:r>
            <a:endParaRPr lang="en-US" sz="1050" dirty="0"/>
          </a:p>
        </p:txBody>
      </p:sp>
      <p:sp>
        <p:nvSpPr>
          <p:cNvPr id="12" name="Shape 10"/>
          <p:cNvSpPr/>
          <p:nvPr/>
        </p:nvSpPr>
        <p:spPr>
          <a:xfrm>
            <a:off x="4709160" y="1097280"/>
            <a:ext cx="4069080" cy="182880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4709160" y="1097280"/>
            <a:ext cx="54864" cy="1828800"/>
          </a:xfrm>
          <a:prstGeom prst="rect">
            <a:avLst/>
          </a:prstGeom>
          <a:solidFill>
            <a:srgbClr val="00BCD4"/>
          </a:solidFill>
          <a:ln/>
        </p:spPr>
      </p:sp>
      <p:sp>
        <p:nvSpPr>
          <p:cNvPr id="14" name="Text 12"/>
          <p:cNvSpPr/>
          <p:nvPr/>
        </p:nvSpPr>
        <p:spPr>
          <a:xfrm>
            <a:off x="4846320" y="1170432"/>
            <a:ext cx="3886200" cy="274320"/>
          </a:xfrm>
          <a:prstGeom prst="rect">
            <a:avLst/>
          </a:prstGeom>
          <a:noFill/>
          <a:ln/>
        </p:spPr>
        <p:txBody>
          <a:bodyPr wrap="square" lIns="0" tIns="0" rIns="0" bIns="0" rtlCol="0" anchor="ctr"/>
          <a:lstStyle/>
          <a:p>
            <a:pPr indent="0" marL="0">
              <a:buNone/>
            </a:pPr>
            <a:r>
              <a:rPr lang="en-US" sz="1200" b="1" dirty="0">
                <a:solidFill>
                  <a:srgbClr val="00BCD4"/>
                </a:solidFill>
              </a:rPr>
              <a:t>Impact on Container Sizing</a:t>
            </a:r>
            <a:endParaRPr lang="en-US" sz="1200" dirty="0"/>
          </a:p>
        </p:txBody>
      </p:sp>
      <p:sp>
        <p:nvSpPr>
          <p:cNvPr id="15" name="Text 13"/>
          <p:cNvSpPr/>
          <p:nvPr/>
        </p:nvSpPr>
        <p:spPr>
          <a:xfrm>
            <a:off x="4873752" y="1481328"/>
            <a:ext cx="3813048" cy="1353312"/>
          </a:xfrm>
          <a:prstGeom prst="rect">
            <a:avLst/>
          </a:prstGeom>
          <a:noFill/>
          <a:ln/>
        </p:spPr>
        <p:txBody>
          <a:bodyPr wrap="square" rtlCol="0" anchor="t"/>
          <a:lstStyle/>
          <a:p>
            <a:pPr marL="342900" indent="-342900">
              <a:buSzPct val="100000"/>
              <a:buChar char="•"/>
            </a:pPr>
            <a:r>
              <a:rPr lang="en-US" sz="1050" dirty="0">
                <a:solidFill>
                  <a:srgbClr val="1A2B3C"/>
                </a:solidFill>
              </a:rPr>
              <a:t>Thread stack memory (-Xss) budget shrinks dramatically for I/O-bound apps</a:t>
            </a:r>
            <a:endParaRPr lang="en-US" sz="1050" dirty="0"/>
          </a:p>
          <a:p>
            <a:pPr marL="342900" indent="-342900">
              <a:buSzPct val="100000"/>
              <a:buChar char="•"/>
            </a:pPr>
            <a:r>
              <a:rPr lang="en-US" sz="1050" dirty="0">
                <a:solidFill>
                  <a:srgbClr val="1A2B3C"/>
                </a:solidFill>
              </a:rPr>
              <a:t>A REST service that needed 512m for 200 threads now handles 10k with same memory</a:t>
            </a:r>
            <a:endParaRPr lang="en-US" sz="1050" dirty="0"/>
          </a:p>
          <a:p>
            <a:pPr marL="342900" indent="-342900">
              <a:buSzPct val="100000"/>
              <a:buChar char="•"/>
            </a:pPr>
            <a:r>
              <a:rPr lang="en-US" sz="1050" dirty="0">
                <a:solidFill>
                  <a:srgbClr val="1A2B3C"/>
                </a:solidFill>
              </a:rPr>
              <a:t>Enables smaller container limits → better bin-packing → lower cost</a:t>
            </a:r>
            <a:endParaRPr lang="en-US" sz="1050" dirty="0"/>
          </a:p>
          <a:p>
            <a:pPr marL="342900" indent="-342900">
              <a:buSzPct val="100000"/>
              <a:buChar char="•"/>
            </a:pPr>
            <a:r>
              <a:rPr lang="en-US" sz="1050" dirty="0">
                <a:solidFill>
                  <a:srgbClr val="1A2B3C"/>
                </a:solidFill>
              </a:rPr>
              <a:t>JVM metrics: watch jvm.threads.live — virtual threads appear here too</a:t>
            </a:r>
            <a:endParaRPr lang="en-US" sz="1050" dirty="0"/>
          </a:p>
        </p:txBody>
      </p:sp>
      <p:sp>
        <p:nvSpPr>
          <p:cNvPr id="16" name="Text 14"/>
          <p:cNvSpPr/>
          <p:nvPr/>
        </p:nvSpPr>
        <p:spPr>
          <a:xfrm>
            <a:off x="365760" y="3063240"/>
            <a:ext cx="8229600" cy="274320"/>
          </a:xfrm>
          <a:prstGeom prst="rect">
            <a:avLst/>
          </a:prstGeom>
          <a:noFill/>
          <a:ln/>
        </p:spPr>
        <p:txBody>
          <a:bodyPr wrap="square" lIns="0" tIns="0" rIns="0" bIns="0" rtlCol="0" anchor="ctr"/>
          <a:lstStyle/>
          <a:p>
            <a:pPr indent="0" marL="0">
              <a:buNone/>
            </a:pPr>
            <a:r>
              <a:rPr lang="en-US" sz="1200" b="1" dirty="0">
                <a:solidFill>
                  <a:srgbClr val="1E6FC8"/>
                </a:solidFill>
              </a:rPr>
              <a:t>Quarkus 3.33.1 — @RunOnVirtualThread (Jakarta REST resource):</a:t>
            </a:r>
            <a:endParaRPr lang="en-US" sz="1200" dirty="0"/>
          </a:p>
        </p:txBody>
      </p:sp>
      <p:sp>
        <p:nvSpPr>
          <p:cNvPr id="17" name="Shape 15"/>
          <p:cNvSpPr/>
          <p:nvPr/>
        </p:nvSpPr>
        <p:spPr>
          <a:xfrm>
            <a:off x="320040" y="3401568"/>
            <a:ext cx="8503920" cy="1417320"/>
          </a:xfrm>
          <a:prstGeom prst="rect">
            <a:avLst/>
          </a:prstGeom>
          <a:solidFill>
            <a:srgbClr val="0D2137"/>
          </a:solidFill>
          <a:ln w="19050">
            <a:solidFill>
              <a:srgbClr val="00BCD4"/>
            </a:solidFill>
            <a:prstDash val="solid"/>
          </a:ln>
        </p:spPr>
      </p:sp>
      <p:sp>
        <p:nvSpPr>
          <p:cNvPr id="18" name="Text 16"/>
          <p:cNvSpPr/>
          <p:nvPr/>
        </p:nvSpPr>
        <p:spPr>
          <a:xfrm>
            <a:off x="393192" y="3447288"/>
            <a:ext cx="8357616" cy="1325880"/>
          </a:xfrm>
          <a:prstGeom prst="rect">
            <a:avLst/>
          </a:prstGeom>
          <a:noFill/>
          <a:ln/>
        </p:spPr>
        <p:txBody>
          <a:bodyPr wrap="square" rtlCol="0" anchor="t"/>
          <a:lstStyle/>
          <a:p>
            <a:pPr indent="0" marL="0">
              <a:buNone/>
            </a:pPr>
            <a:r>
              <a:rPr lang="en-US" sz="950" dirty="0">
                <a:solidFill>
                  <a:srgbClr val="A8D8EA"/>
                </a:solidFill>
                <a:latin typeface="Courier New" pitchFamily="34" charset="0"/>
                <a:ea typeface="Courier New" pitchFamily="34" charset="-122"/>
                <a:cs typeface="Courier New" pitchFamily="34" charset="-120"/>
              </a:rPr>
              <a:t>// Quarkus 3.33.1 — @RunOnVirtualThread on any resource method</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@Path("/allocate")</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@ApplicationScoped</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public class GcResource {</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@GET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@RunOnVirtualThread   // ← One annotation. Done.</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public AllocResponse allocate(@QueryParam("mb") int mb) {</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This runs on a Java 21 virtual thread automatically</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return doHeavyWork(mb);</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OCP Deployment — smaller container (fewer platform thread stacks):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resources: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requests: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memory: "256Mi"  # Was 512Mi with platform threads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limits: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memory: "512Mi"  # VT stacks live in heap — no -Xss budget needed</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Verify: /q/metrics → jvm_threads_live_threads (platform carrier count)</a:t>
            </a:r>
            <a:endParaRPr lang="en-US" sz="950" dirty="0"/>
          </a:p>
        </p:txBody>
      </p:sp>
      <p:sp>
        <p:nvSpPr>
          <p:cNvPr id="19" name="Shape 17"/>
          <p:cNvSpPr/>
          <p:nvPr/>
        </p:nvSpPr>
        <p:spPr>
          <a:xfrm>
            <a:off x="320040" y="4892040"/>
            <a:ext cx="8503920" cy="201168"/>
          </a:xfrm>
          <a:prstGeom prst="rect">
            <a:avLst/>
          </a:prstGeom>
          <a:solidFill>
            <a:srgbClr val="0A1628"/>
          </a:solidFill>
          <a:ln/>
        </p:spPr>
      </p:sp>
      <p:sp>
        <p:nvSpPr>
          <p:cNvPr id="20" name="Text 18"/>
          <p:cNvSpPr/>
          <p:nvPr/>
        </p:nvSpPr>
        <p:spPr>
          <a:xfrm>
            <a:off x="457200" y="4892040"/>
            <a:ext cx="8321040" cy="201168"/>
          </a:xfrm>
          <a:prstGeom prst="rect">
            <a:avLst/>
          </a:prstGeom>
          <a:noFill/>
          <a:ln/>
        </p:spPr>
        <p:txBody>
          <a:bodyPr wrap="square" lIns="0" tIns="0" rIns="0" bIns="0" rtlCol="0" anchor="ctr"/>
          <a:lstStyle/>
          <a:p>
            <a:pPr indent="0" marL="0">
              <a:buNone/>
            </a:pPr>
            <a:r>
              <a:rPr lang="en-US" sz="950" dirty="0">
                <a:solidFill>
                  <a:srgbClr val="F5A623"/>
                </a:solidFill>
              </a:rPr>
              <a:t>⚠  Quarkus: @RunOnVirtualThread works on any @GET/@POST method. Avoid synchronized + I/O (pins carrier thread). Use ReentrantLock instead.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Observability &amp; Instrumentation Stack</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05</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14/26</a:t>
            </a:r>
            <a:endParaRPr lang="en-US" sz="900" dirty="0"/>
          </a:p>
        </p:txBody>
      </p:sp>
      <p:sp>
        <p:nvSpPr>
          <p:cNvPr id="7" name="Text 5"/>
          <p:cNvSpPr/>
          <p:nvPr/>
        </p:nvSpPr>
        <p:spPr>
          <a:xfrm>
            <a:off x="365760" y="749808"/>
            <a:ext cx="8229600" cy="274320"/>
          </a:xfrm>
          <a:prstGeom prst="rect">
            <a:avLst/>
          </a:prstGeom>
          <a:noFill/>
          <a:ln/>
        </p:spPr>
        <p:txBody>
          <a:bodyPr wrap="square" lIns="0" tIns="0" rIns="0" bIns="0" rtlCol="0" anchor="ctr"/>
          <a:lstStyle/>
          <a:p>
            <a:pPr indent="0" marL="0">
              <a:buNone/>
            </a:pPr>
            <a:r>
              <a:rPr lang="en-US" sz="1200" i="1" dirty="0">
                <a:solidFill>
                  <a:srgbClr val="546E7A"/>
                </a:solidFill>
              </a:rPr>
              <a:t>You can't tune what you can't see — build observability before you tune</a:t>
            </a:r>
            <a:endParaRPr lang="en-US" sz="1200" dirty="0"/>
          </a:p>
        </p:txBody>
      </p:sp>
      <p:sp>
        <p:nvSpPr>
          <p:cNvPr id="8" name="Shape 6"/>
          <p:cNvSpPr/>
          <p:nvPr/>
        </p:nvSpPr>
        <p:spPr>
          <a:xfrm>
            <a:off x="320040" y="1188720"/>
            <a:ext cx="4069080" cy="15544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320040" y="1188720"/>
            <a:ext cx="4069080" cy="365760"/>
          </a:xfrm>
          <a:prstGeom prst="rect">
            <a:avLst/>
          </a:prstGeom>
          <a:solidFill>
            <a:srgbClr val="1E6FC8"/>
          </a:solidFill>
          <a:ln/>
        </p:spPr>
      </p:sp>
      <p:sp>
        <p:nvSpPr>
          <p:cNvPr id="10" name="Text 8"/>
          <p:cNvSpPr/>
          <p:nvPr/>
        </p:nvSpPr>
        <p:spPr>
          <a:xfrm>
            <a:off x="411480" y="1216152"/>
            <a:ext cx="3200400" cy="310896"/>
          </a:xfrm>
          <a:prstGeom prst="rect">
            <a:avLst/>
          </a:prstGeom>
          <a:noFill/>
          <a:ln/>
        </p:spPr>
        <p:txBody>
          <a:bodyPr wrap="square" lIns="0" tIns="0" rIns="0" bIns="0" rtlCol="0" anchor="ctr"/>
          <a:lstStyle/>
          <a:p>
            <a:pPr indent="0" marL="0">
              <a:buNone/>
            </a:pPr>
            <a:r>
              <a:rPr lang="en-US" sz="1200" b="1" dirty="0">
                <a:solidFill>
                  <a:srgbClr val="FFFFFF"/>
                </a:solidFill>
              </a:rPr>
              <a:t>JDK Flight Recorder (JFR)</a:t>
            </a:r>
            <a:endParaRPr lang="en-US" sz="1200" dirty="0"/>
          </a:p>
        </p:txBody>
      </p:sp>
      <p:sp>
        <p:nvSpPr>
          <p:cNvPr id="11" name="Text 9"/>
          <p:cNvSpPr/>
          <p:nvPr/>
        </p:nvSpPr>
        <p:spPr>
          <a:xfrm>
            <a:off x="3566160" y="1243584"/>
            <a:ext cx="749808" cy="256032"/>
          </a:xfrm>
          <a:prstGeom prst="rect">
            <a:avLst/>
          </a:prstGeom>
          <a:solidFill>
            <a:srgbClr val="1E1E1E">
              <a:alpha val="50000"/>
            </a:srgbClr>
          </a:solidFill>
          <a:ln/>
        </p:spPr>
        <p:txBody>
          <a:bodyPr wrap="square" lIns="0" tIns="0" rIns="0" bIns="0" rtlCol="0" anchor="ctr"/>
          <a:lstStyle/>
          <a:p>
            <a:pPr algn="ctr" indent="0" marL="0">
              <a:buNone/>
            </a:pPr>
            <a:r>
              <a:rPr lang="en-US" sz="900" dirty="0">
                <a:solidFill>
                  <a:srgbClr val="FFFFFF"/>
                </a:solidFill>
              </a:rPr>
              <a:t>Built-in</a:t>
            </a:r>
            <a:endParaRPr lang="en-US" sz="900" dirty="0"/>
          </a:p>
        </p:txBody>
      </p:sp>
      <p:sp>
        <p:nvSpPr>
          <p:cNvPr id="12" name="Text 10"/>
          <p:cNvSpPr/>
          <p:nvPr/>
        </p:nvSpPr>
        <p:spPr>
          <a:xfrm>
            <a:off x="429768" y="1609344"/>
            <a:ext cx="3840480" cy="1078992"/>
          </a:xfrm>
          <a:prstGeom prst="rect">
            <a:avLst/>
          </a:prstGeom>
          <a:noFill/>
          <a:ln/>
        </p:spPr>
        <p:txBody>
          <a:bodyPr wrap="square" rtlCol="0" anchor="t"/>
          <a:lstStyle/>
          <a:p>
            <a:pPr marL="342900" indent="-342900">
              <a:buSzPct val="100000"/>
              <a:buChar char="•"/>
            </a:pPr>
            <a:r>
              <a:rPr lang="en-US" sz="1000" dirty="0">
                <a:solidFill>
                  <a:srgbClr val="1A2B3C"/>
                </a:solidFill>
              </a:rPr>
              <a:t>Zero-overhead production profiling (&lt; 1% overhead)</a:t>
            </a:r>
            <a:endParaRPr lang="en-US" sz="1000" dirty="0"/>
          </a:p>
          <a:p>
            <a:pPr marL="342900" indent="-342900">
              <a:buSzPct val="100000"/>
              <a:buChar char="•"/>
            </a:pPr>
            <a:r>
              <a:rPr lang="en-US" sz="1000" dirty="0">
                <a:solidFill>
                  <a:srgbClr val="1A2B3C"/>
                </a:solidFill>
              </a:rPr>
              <a:t>Captures GC events, thread activity, allocations, IO</a:t>
            </a:r>
            <a:endParaRPr lang="en-US" sz="1000" dirty="0"/>
          </a:p>
          <a:p>
            <a:pPr marL="342900" indent="-342900">
              <a:buSzPct val="100000"/>
              <a:buChar char="•"/>
            </a:pPr>
            <a:r>
              <a:rPr lang="en-US" sz="1000" dirty="0">
                <a:solidFill>
                  <a:srgbClr val="1A2B3C"/>
                </a:solidFill>
              </a:rPr>
              <a:t>Start via Cryostat UI or: jcmd &lt;pid&gt; JFR.start duration=60s</a:t>
            </a:r>
            <a:endParaRPr lang="en-US" sz="1000" dirty="0"/>
          </a:p>
        </p:txBody>
      </p:sp>
      <p:sp>
        <p:nvSpPr>
          <p:cNvPr id="13" name="Shape 11"/>
          <p:cNvSpPr/>
          <p:nvPr/>
        </p:nvSpPr>
        <p:spPr>
          <a:xfrm>
            <a:off x="4663440" y="1188720"/>
            <a:ext cx="4069080" cy="15544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663440" y="1188720"/>
            <a:ext cx="4069080" cy="365760"/>
          </a:xfrm>
          <a:prstGeom prst="rect">
            <a:avLst/>
          </a:prstGeom>
          <a:solidFill>
            <a:srgbClr val="E83E8C"/>
          </a:solidFill>
          <a:ln/>
        </p:spPr>
      </p:sp>
      <p:sp>
        <p:nvSpPr>
          <p:cNvPr id="15" name="Text 13"/>
          <p:cNvSpPr/>
          <p:nvPr/>
        </p:nvSpPr>
        <p:spPr>
          <a:xfrm>
            <a:off x="4754880" y="1216152"/>
            <a:ext cx="3200400" cy="310896"/>
          </a:xfrm>
          <a:prstGeom prst="rect">
            <a:avLst/>
          </a:prstGeom>
          <a:noFill/>
          <a:ln/>
        </p:spPr>
        <p:txBody>
          <a:bodyPr wrap="square" lIns="0" tIns="0" rIns="0" bIns="0" rtlCol="0" anchor="ctr"/>
          <a:lstStyle/>
          <a:p>
            <a:pPr indent="0" marL="0">
              <a:buNone/>
            </a:pPr>
            <a:r>
              <a:rPr lang="en-US" sz="1200" b="1" dirty="0">
                <a:solidFill>
                  <a:srgbClr val="FFFFFF"/>
                </a:solidFill>
              </a:rPr>
              <a:t>Cryostat</a:t>
            </a:r>
            <a:endParaRPr lang="en-US" sz="1200" dirty="0"/>
          </a:p>
        </p:txBody>
      </p:sp>
      <p:sp>
        <p:nvSpPr>
          <p:cNvPr id="16" name="Text 14"/>
          <p:cNvSpPr/>
          <p:nvPr/>
        </p:nvSpPr>
        <p:spPr>
          <a:xfrm>
            <a:off x="7909560" y="1243584"/>
            <a:ext cx="749808" cy="256032"/>
          </a:xfrm>
          <a:prstGeom prst="rect">
            <a:avLst/>
          </a:prstGeom>
          <a:solidFill>
            <a:srgbClr val="1E1E1E">
              <a:alpha val="50000"/>
            </a:srgbClr>
          </a:solidFill>
          <a:ln/>
        </p:spPr>
        <p:txBody>
          <a:bodyPr wrap="square" lIns="0" tIns="0" rIns="0" bIns="0" rtlCol="0" anchor="ctr"/>
          <a:lstStyle/>
          <a:p>
            <a:pPr algn="ctr" indent="0" marL="0">
              <a:buNone/>
            </a:pPr>
            <a:r>
              <a:rPr lang="en-US" sz="900" dirty="0">
                <a:solidFill>
                  <a:srgbClr val="FFFFFF"/>
                </a:solidFill>
              </a:rPr>
              <a:t>OpenShift</a:t>
            </a:r>
            <a:endParaRPr lang="en-US" sz="900" dirty="0"/>
          </a:p>
        </p:txBody>
      </p:sp>
      <p:sp>
        <p:nvSpPr>
          <p:cNvPr id="17" name="Text 15"/>
          <p:cNvSpPr/>
          <p:nvPr/>
        </p:nvSpPr>
        <p:spPr>
          <a:xfrm>
            <a:off x="4773168" y="1609344"/>
            <a:ext cx="3840480" cy="1078992"/>
          </a:xfrm>
          <a:prstGeom prst="rect">
            <a:avLst/>
          </a:prstGeom>
          <a:noFill/>
          <a:ln/>
        </p:spPr>
        <p:txBody>
          <a:bodyPr wrap="square" rtlCol="0" anchor="t"/>
          <a:lstStyle/>
          <a:p>
            <a:pPr marL="342900" indent="-342900">
              <a:buSzPct val="100000"/>
              <a:buChar char="•"/>
            </a:pPr>
            <a:r>
              <a:rPr lang="en-US" sz="1000" dirty="0">
                <a:solidFill>
                  <a:srgbClr val="1A2B3C"/>
                </a:solidFill>
              </a:rPr>
              <a:t>OpenShift-native JFR management via Kubernetes operator</a:t>
            </a:r>
            <a:endParaRPr lang="en-US" sz="1000" dirty="0"/>
          </a:p>
          <a:p>
            <a:pPr marL="342900" indent="-342900">
              <a:buSzPct val="100000"/>
              <a:buChar char="•"/>
            </a:pPr>
            <a:r>
              <a:rPr lang="en-US" sz="1000" dirty="0">
                <a:solidFill>
                  <a:srgbClr val="1A2B3C"/>
                </a:solidFill>
              </a:rPr>
              <a:t>Discover pods automatically via annotation, manage recordings via UI</a:t>
            </a:r>
            <a:endParaRPr lang="en-US" sz="1000" dirty="0"/>
          </a:p>
          <a:p>
            <a:pPr marL="342900" indent="-342900">
              <a:buSzPct val="100000"/>
              <a:buChar char="•"/>
            </a:pPr>
            <a:r>
              <a:rPr lang="en-US" sz="1000" dirty="0">
                <a:solidFill>
                  <a:srgbClr val="1A2B3C"/>
                </a:solidFill>
              </a:rPr>
              <a:t>Stores JFR files in PVC; integrates with Grafana for dashboards</a:t>
            </a:r>
            <a:endParaRPr lang="en-US" sz="1000" dirty="0"/>
          </a:p>
        </p:txBody>
      </p:sp>
      <p:sp>
        <p:nvSpPr>
          <p:cNvPr id="18" name="Shape 16"/>
          <p:cNvSpPr/>
          <p:nvPr/>
        </p:nvSpPr>
        <p:spPr>
          <a:xfrm>
            <a:off x="320040" y="2926080"/>
            <a:ext cx="4069080" cy="15544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320040" y="2926080"/>
            <a:ext cx="4069080" cy="365760"/>
          </a:xfrm>
          <a:prstGeom prst="rect">
            <a:avLst/>
          </a:prstGeom>
          <a:solidFill>
            <a:srgbClr val="F5A623"/>
          </a:solidFill>
          <a:ln/>
        </p:spPr>
      </p:sp>
      <p:sp>
        <p:nvSpPr>
          <p:cNvPr id="20" name="Text 18"/>
          <p:cNvSpPr/>
          <p:nvPr/>
        </p:nvSpPr>
        <p:spPr>
          <a:xfrm>
            <a:off x="411480" y="2953512"/>
            <a:ext cx="3200400" cy="310896"/>
          </a:xfrm>
          <a:prstGeom prst="rect">
            <a:avLst/>
          </a:prstGeom>
          <a:noFill/>
          <a:ln/>
        </p:spPr>
        <p:txBody>
          <a:bodyPr wrap="square" lIns="0" tIns="0" rIns="0" bIns="0" rtlCol="0" anchor="ctr"/>
          <a:lstStyle/>
          <a:p>
            <a:pPr indent="0" marL="0">
              <a:buNone/>
            </a:pPr>
            <a:r>
              <a:rPr lang="en-US" sz="1200" b="1" dirty="0">
                <a:solidFill>
                  <a:srgbClr val="FFFFFF"/>
                </a:solidFill>
              </a:rPr>
              <a:t>OTel → Grafana LGTM Stack</a:t>
            </a:r>
            <a:endParaRPr lang="en-US" sz="1200" dirty="0"/>
          </a:p>
        </p:txBody>
      </p:sp>
      <p:sp>
        <p:nvSpPr>
          <p:cNvPr id="21" name="Text 19"/>
          <p:cNvSpPr/>
          <p:nvPr/>
        </p:nvSpPr>
        <p:spPr>
          <a:xfrm>
            <a:off x="3566160" y="2980944"/>
            <a:ext cx="749808" cy="256032"/>
          </a:xfrm>
          <a:prstGeom prst="rect">
            <a:avLst/>
          </a:prstGeom>
          <a:solidFill>
            <a:srgbClr val="1E1E1E">
              <a:alpha val="50000"/>
            </a:srgbClr>
          </a:solidFill>
          <a:ln/>
        </p:spPr>
        <p:txBody>
          <a:bodyPr wrap="square" lIns="0" tIns="0" rIns="0" bIns="0" rtlCol="0" anchor="ctr"/>
          <a:lstStyle/>
          <a:p>
            <a:pPr algn="ctr" indent="0" marL="0">
              <a:buNone/>
            </a:pPr>
            <a:r>
              <a:rPr lang="en-US" sz="900" dirty="0">
                <a:solidFill>
                  <a:srgbClr val="FFFFFF"/>
                </a:solidFill>
              </a:rPr>
              <a:t>Quarkus 3.33</a:t>
            </a:r>
            <a:endParaRPr lang="en-US" sz="900" dirty="0"/>
          </a:p>
        </p:txBody>
      </p:sp>
      <p:sp>
        <p:nvSpPr>
          <p:cNvPr id="22" name="Text 20"/>
          <p:cNvSpPr/>
          <p:nvPr/>
        </p:nvSpPr>
        <p:spPr>
          <a:xfrm>
            <a:off x="429768" y="3346704"/>
            <a:ext cx="3840480" cy="1078992"/>
          </a:xfrm>
          <a:prstGeom prst="rect">
            <a:avLst/>
          </a:prstGeom>
          <a:noFill/>
          <a:ln/>
        </p:spPr>
        <p:txBody>
          <a:bodyPr wrap="square" rtlCol="0" anchor="t"/>
          <a:lstStyle/>
          <a:p>
            <a:pPr marL="342900" indent="-342900">
              <a:buSzPct val="100000"/>
              <a:buChar char="•"/>
            </a:pPr>
            <a:r>
              <a:rPr lang="en-US" sz="1000" dirty="0">
                <a:solidFill>
                  <a:srgbClr val="1A2B3C"/>
                </a:solidFill>
              </a:rPr>
              <a:t>quarkus-micrometer-opentelemetry: single extension, all telemetry via OTLP (preview since 3.19)</a:t>
            </a:r>
            <a:endParaRPr lang="en-US" sz="1000" dirty="0"/>
          </a:p>
          <a:p>
            <a:pPr marL="342900" indent="-342900">
              <a:buSzPct val="100000"/>
              <a:buChar char="•"/>
            </a:pPr>
            <a:r>
              <a:rPr lang="en-US" sz="1000" dirty="0">
                <a:solidFill>
                  <a:srgbClr val="1A2B3C"/>
                </a:solidFill>
              </a:rPr>
              <a:t>Grafana LGTM: Loki (logs) + Grafana (viz) + Tempo (traces) + Prometheus (metrics)</a:t>
            </a:r>
            <a:endParaRPr lang="en-US" sz="1000" dirty="0"/>
          </a:p>
          <a:p>
            <a:pPr marL="342900" indent="-342900">
              <a:buSzPct val="100000"/>
              <a:buChar char="•"/>
            </a:pPr>
            <a:r>
              <a:rPr lang="en-US" sz="1000" dirty="0">
                <a:solidFill>
                  <a:srgbClr val="1A2B3C"/>
                </a:solidFill>
              </a:rPr>
              <a:t>One extension replaces two: no separate Prometheus registry or OTel extension required</a:t>
            </a:r>
            <a:endParaRPr lang="en-US" sz="1000" dirty="0"/>
          </a:p>
        </p:txBody>
      </p:sp>
      <p:sp>
        <p:nvSpPr>
          <p:cNvPr id="23" name="Shape 21"/>
          <p:cNvSpPr/>
          <p:nvPr/>
        </p:nvSpPr>
        <p:spPr>
          <a:xfrm>
            <a:off x="4663440" y="2926080"/>
            <a:ext cx="4069080" cy="155448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4663440" y="2926080"/>
            <a:ext cx="4069080" cy="365760"/>
          </a:xfrm>
          <a:prstGeom prst="rect">
            <a:avLst/>
          </a:prstGeom>
          <a:solidFill>
            <a:srgbClr val="27AE60"/>
          </a:solidFill>
          <a:ln/>
        </p:spPr>
      </p:sp>
      <p:sp>
        <p:nvSpPr>
          <p:cNvPr id="25" name="Text 23"/>
          <p:cNvSpPr/>
          <p:nvPr/>
        </p:nvSpPr>
        <p:spPr>
          <a:xfrm>
            <a:off x="4754880" y="2953512"/>
            <a:ext cx="3200400" cy="310896"/>
          </a:xfrm>
          <a:prstGeom prst="rect">
            <a:avLst/>
          </a:prstGeom>
          <a:noFill/>
          <a:ln/>
        </p:spPr>
        <p:txBody>
          <a:bodyPr wrap="square" lIns="0" tIns="0" rIns="0" bIns="0" rtlCol="0" anchor="ctr"/>
          <a:lstStyle/>
          <a:p>
            <a:pPr indent="0" marL="0">
              <a:buNone/>
            </a:pPr>
            <a:r>
              <a:rPr lang="en-US" sz="1200" b="1" dirty="0">
                <a:solidFill>
                  <a:srgbClr val="FFFFFF"/>
                </a:solidFill>
              </a:rPr>
              <a:t>Micrometer → OTel (unified)</a:t>
            </a:r>
            <a:endParaRPr lang="en-US" sz="1200" dirty="0"/>
          </a:p>
        </p:txBody>
      </p:sp>
      <p:sp>
        <p:nvSpPr>
          <p:cNvPr id="26" name="Text 24"/>
          <p:cNvSpPr/>
          <p:nvPr/>
        </p:nvSpPr>
        <p:spPr>
          <a:xfrm>
            <a:off x="7909560" y="2980944"/>
            <a:ext cx="749808" cy="256032"/>
          </a:xfrm>
          <a:prstGeom prst="rect">
            <a:avLst/>
          </a:prstGeom>
          <a:solidFill>
            <a:srgbClr val="1E1E1E">
              <a:alpha val="50000"/>
            </a:srgbClr>
          </a:solidFill>
          <a:ln/>
        </p:spPr>
        <p:txBody>
          <a:bodyPr wrap="square" lIns="0" tIns="0" rIns="0" bIns="0" rtlCol="0" anchor="ctr"/>
          <a:lstStyle/>
          <a:p>
            <a:pPr algn="ctr" indent="0" marL="0">
              <a:buNone/>
            </a:pPr>
            <a:r>
              <a:rPr lang="en-US" sz="900" dirty="0">
                <a:solidFill>
                  <a:srgbClr val="FFFFFF"/>
                </a:solidFill>
              </a:rPr>
              <a:t>Metrics</a:t>
            </a:r>
            <a:endParaRPr lang="en-US" sz="900" dirty="0"/>
          </a:p>
        </p:txBody>
      </p:sp>
      <p:sp>
        <p:nvSpPr>
          <p:cNvPr id="27" name="Text 25"/>
          <p:cNvSpPr/>
          <p:nvPr/>
        </p:nvSpPr>
        <p:spPr>
          <a:xfrm>
            <a:off x="4773168" y="3346704"/>
            <a:ext cx="3840480" cy="1078992"/>
          </a:xfrm>
          <a:prstGeom prst="rect">
            <a:avLst/>
          </a:prstGeom>
          <a:noFill/>
          <a:ln/>
        </p:spPr>
        <p:txBody>
          <a:bodyPr wrap="square" rtlCol="0" anchor="t"/>
          <a:lstStyle/>
          <a:p>
            <a:pPr marL="342900" indent="-342900">
              <a:buSzPct val="100000"/>
              <a:buChar char="•"/>
            </a:pPr>
            <a:r>
              <a:rPr lang="en-US" sz="1000" dirty="0">
                <a:solidFill>
                  <a:srgbClr val="1A2B3C"/>
                </a:solidFill>
              </a:rPr>
              <a:t>jvm.gc.pause, jvm.memory.used, jvm.threads.live via quarkus.micrometer.binder.jvm=true</a:t>
            </a:r>
            <a:endParaRPr lang="en-US" sz="1000" dirty="0"/>
          </a:p>
          <a:p>
            <a:pPr marL="342900" indent="-342900">
              <a:buSzPct val="100000"/>
              <a:buChar char="•"/>
            </a:pPr>
            <a:r>
              <a:rPr lang="en-US" sz="1000" dirty="0">
                <a:solidFill>
                  <a:srgbClr val="1A2B3C"/>
                </a:solidFill>
              </a:rPr>
              <a:t>All Micrometer metrics flow through OTel SDK — no separate Prometheus endpoint required</a:t>
            </a:r>
            <a:endParaRPr lang="en-US" sz="1000" dirty="0"/>
          </a:p>
          <a:p>
            <a:pPr marL="342900" indent="-342900">
              <a:buSzPct val="100000"/>
              <a:buChar char="•"/>
            </a:pPr>
            <a:r>
              <a:rPr lang="en-US" sz="1000" dirty="0">
                <a:solidFill>
                  <a:srgbClr val="1A2B3C"/>
                </a:solidFill>
              </a:rPr>
              <a:t>Grafana alert rules replace PrometheusRule — same PromQL expressions work in Grafana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Cryostat: Production JFR on OpenShift</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05</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15/26</a:t>
            </a:r>
            <a:endParaRPr lang="en-US" sz="900" dirty="0"/>
          </a:p>
        </p:txBody>
      </p:sp>
      <p:sp>
        <p:nvSpPr>
          <p:cNvPr id="7" name="Shape 5"/>
          <p:cNvSpPr/>
          <p:nvPr/>
        </p:nvSpPr>
        <p:spPr>
          <a:xfrm>
            <a:off x="274320" y="1371600"/>
            <a:ext cx="2651760" cy="1097280"/>
          </a:xfrm>
          <a:prstGeom prst="rect">
            <a:avLst/>
          </a:prstGeom>
          <a:solidFill>
            <a:srgbClr val="122040"/>
          </a:solidFill>
          <a:ln w="25400">
            <a:solidFill>
              <a:srgbClr val="1E6FC8"/>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74320" y="1371600"/>
            <a:ext cx="2651760" cy="347472"/>
          </a:xfrm>
          <a:prstGeom prst="rect">
            <a:avLst/>
          </a:prstGeom>
          <a:solidFill>
            <a:srgbClr val="1E6FC8"/>
          </a:solidFill>
          <a:ln/>
        </p:spPr>
      </p:sp>
      <p:sp>
        <p:nvSpPr>
          <p:cNvPr id="9" name="Text 7"/>
          <p:cNvSpPr/>
          <p:nvPr/>
        </p:nvSpPr>
        <p:spPr>
          <a:xfrm>
            <a:off x="365760" y="1371600"/>
            <a:ext cx="2468880" cy="347472"/>
          </a:xfrm>
          <a:prstGeom prst="rect">
            <a:avLst/>
          </a:prstGeom>
          <a:noFill/>
          <a:ln/>
        </p:spPr>
        <p:txBody>
          <a:bodyPr wrap="square" lIns="0" tIns="0" rIns="0" bIns="0" rtlCol="0" anchor="ctr"/>
          <a:lstStyle/>
          <a:p>
            <a:pPr algn="ctr" indent="0" marL="0">
              <a:buNone/>
            </a:pPr>
            <a:r>
              <a:rPr lang="en-US" sz="1200" b="1" dirty="0">
                <a:solidFill>
                  <a:srgbClr val="FFFFFF"/>
                </a:solidFill>
              </a:rPr>
              <a:t>Your Java Pod</a:t>
            </a:r>
            <a:endParaRPr lang="en-US" sz="1200" dirty="0"/>
          </a:p>
        </p:txBody>
      </p:sp>
      <p:sp>
        <p:nvSpPr>
          <p:cNvPr id="10" name="Text 8"/>
          <p:cNvSpPr/>
          <p:nvPr/>
        </p:nvSpPr>
        <p:spPr>
          <a:xfrm>
            <a:off x="365760" y="1773936"/>
            <a:ext cx="2468880" cy="640080"/>
          </a:xfrm>
          <a:prstGeom prst="rect">
            <a:avLst/>
          </a:prstGeom>
          <a:noFill/>
          <a:ln/>
        </p:spPr>
        <p:txBody>
          <a:bodyPr wrap="square" lIns="0" tIns="0" rIns="0" bIns="0" rtlCol="0" anchor="ctr"/>
          <a:lstStyle/>
          <a:p>
            <a:pPr algn="ctr" indent="0" marL="0">
              <a:buNone/>
            </a:pPr>
            <a:r>
              <a:rPr lang="en-US" sz="1000" dirty="0">
                <a:solidFill>
                  <a:srgbClr val="ECF0F1"/>
                </a:solidFill>
              </a:rPr>
              <a:t>JFR Agent</a:t>
            </a:r>
            <a:endParaRPr lang="en-US" sz="1000" dirty="0"/>
          </a:p>
          <a:p>
            <a:pPr algn="ctr" indent="0" marL="0">
              <a:buNone/>
            </a:pPr>
            <a:r>
              <a:rPr lang="en-US" sz="1000" dirty="0">
                <a:solidFill>
                  <a:srgbClr val="ECF0F1"/>
                </a:solidFill>
              </a:rPr>
              <a:t>(-javaagent:cryostat-agent.jar)</a:t>
            </a:r>
            <a:endParaRPr lang="en-US" sz="1000" dirty="0"/>
          </a:p>
        </p:txBody>
      </p:sp>
      <p:sp>
        <p:nvSpPr>
          <p:cNvPr id="11" name="Shape 9"/>
          <p:cNvSpPr/>
          <p:nvPr/>
        </p:nvSpPr>
        <p:spPr>
          <a:xfrm>
            <a:off x="3246120" y="1371600"/>
            <a:ext cx="2651760" cy="1097280"/>
          </a:xfrm>
          <a:prstGeom prst="rect">
            <a:avLst/>
          </a:prstGeom>
          <a:solidFill>
            <a:srgbClr val="122040"/>
          </a:solidFill>
          <a:ln w="25400">
            <a:solidFill>
              <a:srgbClr val="E83E8C"/>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3246120" y="1371600"/>
            <a:ext cx="2651760" cy="347472"/>
          </a:xfrm>
          <a:prstGeom prst="rect">
            <a:avLst/>
          </a:prstGeom>
          <a:solidFill>
            <a:srgbClr val="E83E8C"/>
          </a:solidFill>
          <a:ln/>
        </p:spPr>
      </p:sp>
      <p:sp>
        <p:nvSpPr>
          <p:cNvPr id="13" name="Text 11"/>
          <p:cNvSpPr/>
          <p:nvPr/>
        </p:nvSpPr>
        <p:spPr>
          <a:xfrm>
            <a:off x="3337560" y="1371600"/>
            <a:ext cx="2468880" cy="347472"/>
          </a:xfrm>
          <a:prstGeom prst="rect">
            <a:avLst/>
          </a:prstGeom>
          <a:noFill/>
          <a:ln/>
        </p:spPr>
        <p:txBody>
          <a:bodyPr wrap="square" lIns="0" tIns="0" rIns="0" bIns="0" rtlCol="0" anchor="ctr"/>
          <a:lstStyle/>
          <a:p>
            <a:pPr algn="ctr" indent="0" marL="0">
              <a:buNone/>
            </a:pPr>
            <a:r>
              <a:rPr lang="en-US" sz="1200" b="1" dirty="0">
                <a:solidFill>
                  <a:srgbClr val="FFFFFF"/>
                </a:solidFill>
              </a:rPr>
              <a:t>Cryostat Server</a:t>
            </a:r>
            <a:endParaRPr lang="en-US" sz="1200" dirty="0"/>
          </a:p>
        </p:txBody>
      </p:sp>
      <p:sp>
        <p:nvSpPr>
          <p:cNvPr id="14" name="Text 12"/>
          <p:cNvSpPr/>
          <p:nvPr/>
        </p:nvSpPr>
        <p:spPr>
          <a:xfrm>
            <a:off x="3337560" y="1773936"/>
            <a:ext cx="2468880" cy="640080"/>
          </a:xfrm>
          <a:prstGeom prst="rect">
            <a:avLst/>
          </a:prstGeom>
          <a:noFill/>
          <a:ln/>
        </p:spPr>
        <p:txBody>
          <a:bodyPr wrap="square" lIns="0" tIns="0" rIns="0" bIns="0" rtlCol="0" anchor="ctr"/>
          <a:lstStyle/>
          <a:p>
            <a:pPr algn="ctr" indent="0" marL="0">
              <a:buNone/>
            </a:pPr>
            <a:r>
              <a:rPr lang="en-US" sz="1000" dirty="0">
                <a:solidFill>
                  <a:srgbClr val="ECF0F1"/>
                </a:solidFill>
              </a:rPr>
              <a:t>REST API + Storage</a:t>
            </a:r>
            <a:endParaRPr lang="en-US" sz="1000" dirty="0"/>
          </a:p>
          <a:p>
            <a:pPr algn="ctr" indent="0" marL="0">
              <a:buNone/>
            </a:pPr>
            <a:r>
              <a:rPr lang="en-US" sz="1000" dirty="0">
                <a:solidFill>
                  <a:srgbClr val="ECF0F1"/>
                </a:solidFill>
              </a:rPr>
              <a:t>(Kubernetes Operator)</a:t>
            </a:r>
            <a:endParaRPr lang="en-US" sz="1000" dirty="0"/>
          </a:p>
        </p:txBody>
      </p:sp>
      <p:sp>
        <p:nvSpPr>
          <p:cNvPr id="15" name="Shape 13"/>
          <p:cNvSpPr/>
          <p:nvPr/>
        </p:nvSpPr>
        <p:spPr>
          <a:xfrm>
            <a:off x="6217920" y="1371600"/>
            <a:ext cx="2651760" cy="1097280"/>
          </a:xfrm>
          <a:prstGeom prst="rect">
            <a:avLst/>
          </a:prstGeom>
          <a:solidFill>
            <a:srgbClr val="122040"/>
          </a:solidFill>
          <a:ln w="25400">
            <a:solidFill>
              <a:srgbClr val="F5A623"/>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6217920" y="1371600"/>
            <a:ext cx="2651760" cy="347472"/>
          </a:xfrm>
          <a:prstGeom prst="rect">
            <a:avLst/>
          </a:prstGeom>
          <a:solidFill>
            <a:srgbClr val="F5A623"/>
          </a:solidFill>
          <a:ln/>
        </p:spPr>
      </p:sp>
      <p:sp>
        <p:nvSpPr>
          <p:cNvPr id="17" name="Text 15"/>
          <p:cNvSpPr/>
          <p:nvPr/>
        </p:nvSpPr>
        <p:spPr>
          <a:xfrm>
            <a:off x="6309360" y="1371600"/>
            <a:ext cx="2468880" cy="347472"/>
          </a:xfrm>
          <a:prstGeom prst="rect">
            <a:avLst/>
          </a:prstGeom>
          <a:noFill/>
          <a:ln/>
        </p:spPr>
        <p:txBody>
          <a:bodyPr wrap="square" lIns="0" tIns="0" rIns="0" bIns="0" rtlCol="0" anchor="ctr"/>
          <a:lstStyle/>
          <a:p>
            <a:pPr algn="ctr" indent="0" marL="0">
              <a:buNone/>
            </a:pPr>
            <a:r>
              <a:rPr lang="en-US" sz="1200" b="1" dirty="0">
                <a:solidFill>
                  <a:srgbClr val="FFFFFF"/>
                </a:solidFill>
              </a:rPr>
              <a:t>Grafana / JMC</a:t>
            </a:r>
            <a:endParaRPr lang="en-US" sz="1200" dirty="0"/>
          </a:p>
        </p:txBody>
      </p:sp>
      <p:sp>
        <p:nvSpPr>
          <p:cNvPr id="18" name="Text 16"/>
          <p:cNvSpPr/>
          <p:nvPr/>
        </p:nvSpPr>
        <p:spPr>
          <a:xfrm>
            <a:off x="6309360" y="1773936"/>
            <a:ext cx="2468880" cy="640080"/>
          </a:xfrm>
          <a:prstGeom prst="rect">
            <a:avLst/>
          </a:prstGeom>
          <a:noFill/>
          <a:ln/>
        </p:spPr>
        <p:txBody>
          <a:bodyPr wrap="square" lIns="0" tIns="0" rIns="0" bIns="0" rtlCol="0" anchor="ctr"/>
          <a:lstStyle/>
          <a:p>
            <a:pPr algn="ctr" indent="0" marL="0">
              <a:buNone/>
            </a:pPr>
            <a:r>
              <a:rPr lang="en-US" sz="1000" dirty="0">
                <a:solidFill>
                  <a:srgbClr val="ECF0F1"/>
                </a:solidFill>
              </a:rPr>
              <a:t>Dashboards + Analysis</a:t>
            </a:r>
            <a:endParaRPr lang="en-US" sz="1000" dirty="0"/>
          </a:p>
          <a:p>
            <a:pPr algn="ctr" indent="0" marL="0">
              <a:buNone/>
            </a:pPr>
            <a:r>
              <a:rPr lang="en-US" sz="1000" dirty="0">
                <a:solidFill>
                  <a:srgbClr val="ECF0F1"/>
                </a:solidFill>
              </a:rPr>
              <a:t>(JFR reports)</a:t>
            </a:r>
            <a:endParaRPr lang="en-US" sz="1000" dirty="0"/>
          </a:p>
        </p:txBody>
      </p:sp>
      <p:sp>
        <p:nvSpPr>
          <p:cNvPr id="19" name="Shape 17"/>
          <p:cNvSpPr/>
          <p:nvPr/>
        </p:nvSpPr>
        <p:spPr>
          <a:xfrm>
            <a:off x="2953512" y="1783080"/>
            <a:ext cx="274320" cy="256032"/>
          </a:xfrm>
          <a:prstGeom prst="rect">
            <a:avLst/>
          </a:prstGeom>
          <a:solidFill>
            <a:srgbClr val="00BCD4"/>
          </a:solidFill>
          <a:ln/>
        </p:spPr>
      </p:sp>
      <p:sp>
        <p:nvSpPr>
          <p:cNvPr id="20" name="Text 18"/>
          <p:cNvSpPr/>
          <p:nvPr/>
        </p:nvSpPr>
        <p:spPr>
          <a:xfrm>
            <a:off x="2953512" y="1783080"/>
            <a:ext cx="274320" cy="256032"/>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Shape 19"/>
          <p:cNvSpPr/>
          <p:nvPr/>
        </p:nvSpPr>
        <p:spPr>
          <a:xfrm>
            <a:off x="5925312" y="1783080"/>
            <a:ext cx="274320" cy="256032"/>
          </a:xfrm>
          <a:prstGeom prst="rect">
            <a:avLst/>
          </a:prstGeom>
          <a:solidFill>
            <a:srgbClr val="00BCD4"/>
          </a:solidFill>
          <a:ln/>
        </p:spPr>
      </p:sp>
      <p:sp>
        <p:nvSpPr>
          <p:cNvPr id="22" name="Text 20"/>
          <p:cNvSpPr/>
          <p:nvPr/>
        </p:nvSpPr>
        <p:spPr>
          <a:xfrm>
            <a:off x="5925312" y="1783080"/>
            <a:ext cx="274320" cy="256032"/>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Text 21"/>
          <p:cNvSpPr/>
          <p:nvPr/>
        </p:nvSpPr>
        <p:spPr>
          <a:xfrm>
            <a:off x="365760" y="2651760"/>
            <a:ext cx="8229600" cy="292608"/>
          </a:xfrm>
          <a:prstGeom prst="rect">
            <a:avLst/>
          </a:prstGeom>
          <a:noFill/>
          <a:ln/>
        </p:spPr>
        <p:txBody>
          <a:bodyPr wrap="square" lIns="0" tIns="0" rIns="0" bIns="0" rtlCol="0" anchor="ctr"/>
          <a:lstStyle/>
          <a:p>
            <a:pPr indent="0" marL="0">
              <a:buNone/>
            </a:pPr>
            <a:r>
              <a:rPr lang="en-US" sz="1300" b="1" dirty="0">
                <a:solidFill>
                  <a:srgbClr val="00BCD4"/>
                </a:solidFill>
              </a:rPr>
              <a:t>Quick Setup (OpenShift Operator):</a:t>
            </a:r>
            <a:endParaRPr lang="en-US" sz="1300" dirty="0"/>
          </a:p>
        </p:txBody>
      </p:sp>
      <p:sp>
        <p:nvSpPr>
          <p:cNvPr id="24" name="Shape 22"/>
          <p:cNvSpPr/>
          <p:nvPr/>
        </p:nvSpPr>
        <p:spPr>
          <a:xfrm>
            <a:off x="320040" y="2999232"/>
            <a:ext cx="8503920" cy="1810512"/>
          </a:xfrm>
          <a:prstGeom prst="rect">
            <a:avLst/>
          </a:prstGeom>
          <a:solidFill>
            <a:srgbClr val="0D2137"/>
          </a:solidFill>
          <a:ln w="19050">
            <a:solidFill>
              <a:srgbClr val="00BCD4"/>
            </a:solidFill>
            <a:prstDash val="solid"/>
          </a:ln>
        </p:spPr>
      </p:sp>
      <p:sp>
        <p:nvSpPr>
          <p:cNvPr id="25" name="Text 23"/>
          <p:cNvSpPr/>
          <p:nvPr/>
        </p:nvSpPr>
        <p:spPr>
          <a:xfrm>
            <a:off x="393192" y="3044952"/>
            <a:ext cx="8357616" cy="1719072"/>
          </a:xfrm>
          <a:prstGeom prst="rect">
            <a:avLst/>
          </a:prstGeom>
          <a:noFill/>
          <a:ln/>
        </p:spPr>
        <p:txBody>
          <a:bodyPr wrap="square" rtlCol="0" anchor="t"/>
          <a:lstStyle/>
          <a:p>
            <a:pPr indent="0" marL="0">
              <a:buNone/>
            </a:pPr>
            <a:r>
              <a:rPr lang="en-US" sz="950" dirty="0">
                <a:solidFill>
                  <a:srgbClr val="A8D8EA"/>
                </a:solidFill>
                <a:latin typeface="Courier New" pitchFamily="34" charset="0"/>
                <a:ea typeface="Courier New" pitchFamily="34" charset="-122"/>
                <a:cs typeface="Courier New" pitchFamily="34" charset="-120"/>
              </a:rPr>
              <a:t># 1. Install via OperatorHub → search "Cryostat" → Install</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2. Annotate your pod for auto-discovery:</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metadata:</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annotations: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cryostat.io/scrape_port: "9097"</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3. Add agent JAR to your image:</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COPY --from=cryostat/cryostat-agent:latest /cryostat-agent.jar /opt/agent.jar</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ENV JAVA_OPTS="-javaagent:/opt/agent.jar"</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4. Start a recording (UI or REST API):</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curl -X POST http://cryostat:8181/api/v1/targets/{id}/recordings \</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-d '{"recordingName":"profile","events":"template=Profiling","duration":60}'</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Prometheus &amp; Micrometer — JVM Metrics in Production</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05</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16/26</a:t>
            </a:r>
            <a:endParaRPr lang="en-US" sz="900" dirty="0"/>
          </a:p>
        </p:txBody>
      </p:sp>
      <p:sp>
        <p:nvSpPr>
          <p:cNvPr id="7" name="Text 5"/>
          <p:cNvSpPr/>
          <p:nvPr/>
        </p:nvSpPr>
        <p:spPr>
          <a:xfrm>
            <a:off x="365760" y="777240"/>
            <a:ext cx="4206240" cy="274320"/>
          </a:xfrm>
          <a:prstGeom prst="rect">
            <a:avLst/>
          </a:prstGeom>
          <a:noFill/>
          <a:ln/>
        </p:spPr>
        <p:txBody>
          <a:bodyPr wrap="square" lIns="0" tIns="0" rIns="0" bIns="0" rtlCol="0" anchor="ctr"/>
          <a:lstStyle/>
          <a:p>
            <a:pPr indent="0" marL="0">
              <a:buNone/>
            </a:pPr>
            <a:r>
              <a:rPr lang="en-US" sz="1300" b="1" dirty="0">
                <a:solidFill>
                  <a:srgbClr val="1E6FC8"/>
                </a:solidFill>
              </a:rPr>
              <a:t>Quarkus 3.33.1 Setup:</a:t>
            </a:r>
            <a:endParaRPr lang="en-US" sz="1300" dirty="0"/>
          </a:p>
        </p:txBody>
      </p:sp>
      <p:sp>
        <p:nvSpPr>
          <p:cNvPr id="8" name="Shape 6"/>
          <p:cNvSpPr/>
          <p:nvPr/>
        </p:nvSpPr>
        <p:spPr>
          <a:xfrm>
            <a:off x="320040" y="1097280"/>
            <a:ext cx="4114800" cy="2103120"/>
          </a:xfrm>
          <a:prstGeom prst="rect">
            <a:avLst/>
          </a:prstGeom>
          <a:solidFill>
            <a:srgbClr val="0D2137"/>
          </a:solidFill>
          <a:ln w="19050">
            <a:solidFill>
              <a:srgbClr val="00BCD4"/>
            </a:solidFill>
            <a:prstDash val="solid"/>
          </a:ln>
        </p:spPr>
      </p:sp>
      <p:sp>
        <p:nvSpPr>
          <p:cNvPr id="9" name="Text 7"/>
          <p:cNvSpPr/>
          <p:nvPr/>
        </p:nvSpPr>
        <p:spPr>
          <a:xfrm>
            <a:off x="393192" y="1143000"/>
            <a:ext cx="3968496" cy="2011680"/>
          </a:xfrm>
          <a:prstGeom prst="rect">
            <a:avLst/>
          </a:prstGeom>
          <a:noFill/>
          <a:ln/>
        </p:spPr>
        <p:txBody>
          <a:bodyPr wrap="square" rtlCol="0" anchor="t"/>
          <a:lstStyle/>
          <a:p>
            <a:pPr indent="0" marL="0">
              <a:buNone/>
            </a:pPr>
            <a:r>
              <a:rPr lang="en-US" sz="950" dirty="0">
                <a:solidFill>
                  <a:srgbClr val="A8D8EA"/>
                </a:solidFill>
                <a:latin typeface="Courier New" pitchFamily="34" charset="0"/>
                <a:ea typeface="Courier New" pitchFamily="34" charset="-122"/>
                <a:cs typeface="Courier New" pitchFamily="34" charset="-120"/>
              </a:rPr>
              <a:t># pom.xml — quarkus-micrometer-opentelemetry (unified, 3.19+)</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&lt;dependency&gt;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&lt;groupId&gt;io.quarkus&lt;/groupId&gt;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&lt;artifactId&gt;quarkus-micrometer-opentelemetry&lt;/artifactId&gt;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&lt;/dependency&gt;</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application.properties — OTel SDK handles all telemetry</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quarkus.micrometer.binder.jvm=true</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quarkus.otel.exporter.otlp.endpoint=http://grafana:4317</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Metrics at /q/metrics still available if Prometheus also present</a:t>
            </a:r>
            <a:endParaRPr lang="en-US" sz="950" dirty="0"/>
          </a:p>
        </p:txBody>
      </p:sp>
      <p:sp>
        <p:nvSpPr>
          <p:cNvPr id="10" name="Text 8"/>
          <p:cNvSpPr/>
          <p:nvPr/>
        </p:nvSpPr>
        <p:spPr>
          <a:xfrm>
            <a:off x="4663440" y="777240"/>
            <a:ext cx="4206240" cy="274320"/>
          </a:xfrm>
          <a:prstGeom prst="rect">
            <a:avLst/>
          </a:prstGeom>
          <a:noFill/>
          <a:ln/>
        </p:spPr>
        <p:txBody>
          <a:bodyPr wrap="square" lIns="0" tIns="0" rIns="0" bIns="0" rtlCol="0" anchor="ctr"/>
          <a:lstStyle/>
          <a:p>
            <a:pPr indent="0" marL="0">
              <a:buNone/>
            </a:pPr>
            <a:r>
              <a:rPr lang="en-US" sz="1300" b="1" dirty="0">
                <a:solidFill>
                  <a:srgbClr val="1E6FC8"/>
                </a:solidFill>
              </a:rPr>
              <a:t>Essential JVM Metrics to Monitor:</a:t>
            </a:r>
            <a:endParaRPr lang="en-US" sz="1300" dirty="0"/>
          </a:p>
        </p:txBody>
      </p:sp>
      <p:sp>
        <p:nvSpPr>
          <p:cNvPr id="11" name="Shape 9"/>
          <p:cNvSpPr/>
          <p:nvPr/>
        </p:nvSpPr>
        <p:spPr>
          <a:xfrm>
            <a:off x="4663440" y="1097280"/>
            <a:ext cx="4160520" cy="347472"/>
          </a:xfrm>
          <a:prstGeom prst="rect">
            <a:avLst/>
          </a:prstGeom>
          <a:solidFill>
            <a:srgbClr val="FFFFFF"/>
          </a:solidFill>
          <a:ln w="12700">
            <a:solidFill>
              <a:srgbClr val="E0E8F0"/>
            </a:solidFill>
            <a:prstDash val="solid"/>
          </a:ln>
        </p:spPr>
      </p:sp>
      <p:sp>
        <p:nvSpPr>
          <p:cNvPr id="12" name="Text 10"/>
          <p:cNvSpPr/>
          <p:nvPr/>
        </p:nvSpPr>
        <p:spPr>
          <a:xfrm>
            <a:off x="4736592" y="1124712"/>
            <a:ext cx="2194560" cy="292608"/>
          </a:xfrm>
          <a:prstGeom prst="rect">
            <a:avLst/>
          </a:prstGeom>
          <a:noFill/>
          <a:ln/>
        </p:spPr>
        <p:txBody>
          <a:bodyPr wrap="square" lIns="0" tIns="0" rIns="0" bIns="0" rtlCol="0" anchor="ctr"/>
          <a:lstStyle/>
          <a:p>
            <a:pPr indent="0" marL="0">
              <a:buNone/>
            </a:pPr>
            <a:r>
              <a:rPr lang="en-US" sz="950" b="1" dirty="0">
                <a:solidFill>
                  <a:srgbClr val="1E6FC8"/>
                </a:solidFill>
                <a:latin typeface="Courier New" pitchFamily="34" charset="0"/>
                <a:ea typeface="Courier New" pitchFamily="34" charset="-122"/>
                <a:cs typeface="Courier New" pitchFamily="34" charset="-120"/>
              </a:rPr>
              <a:t>jvm_gc_pause_seconds</a:t>
            </a:r>
            <a:endParaRPr lang="en-US" sz="950" dirty="0"/>
          </a:p>
        </p:txBody>
      </p:sp>
      <p:sp>
        <p:nvSpPr>
          <p:cNvPr id="13" name="Text 11"/>
          <p:cNvSpPr/>
          <p:nvPr/>
        </p:nvSpPr>
        <p:spPr>
          <a:xfrm>
            <a:off x="6995160" y="1133856"/>
            <a:ext cx="1783080" cy="274320"/>
          </a:xfrm>
          <a:prstGeom prst="rect">
            <a:avLst/>
          </a:prstGeom>
          <a:noFill/>
          <a:ln/>
        </p:spPr>
        <p:txBody>
          <a:bodyPr wrap="square" lIns="0" tIns="0" rIns="0" bIns="0" rtlCol="0" anchor="ctr"/>
          <a:lstStyle/>
          <a:p>
            <a:pPr indent="0" marL="0">
              <a:buNone/>
            </a:pPr>
            <a:r>
              <a:rPr lang="en-US" sz="900" dirty="0">
                <a:solidFill>
                  <a:srgbClr val="546E7A"/>
                </a:solidFill>
              </a:rPr>
              <a:t>GC pause duration — alert if P99 &gt; 500ms</a:t>
            </a:r>
            <a:endParaRPr lang="en-US" sz="900" dirty="0"/>
          </a:p>
        </p:txBody>
      </p:sp>
      <p:sp>
        <p:nvSpPr>
          <p:cNvPr id="14" name="Shape 12"/>
          <p:cNvSpPr/>
          <p:nvPr/>
        </p:nvSpPr>
        <p:spPr>
          <a:xfrm>
            <a:off x="4663440" y="1490472"/>
            <a:ext cx="4160520" cy="347472"/>
          </a:xfrm>
          <a:prstGeom prst="rect">
            <a:avLst/>
          </a:prstGeom>
          <a:solidFill>
            <a:srgbClr val="F0F4F8"/>
          </a:solidFill>
          <a:ln w="12700">
            <a:solidFill>
              <a:srgbClr val="E0E8F0"/>
            </a:solidFill>
            <a:prstDash val="solid"/>
          </a:ln>
        </p:spPr>
      </p:sp>
      <p:sp>
        <p:nvSpPr>
          <p:cNvPr id="15" name="Text 13"/>
          <p:cNvSpPr/>
          <p:nvPr/>
        </p:nvSpPr>
        <p:spPr>
          <a:xfrm>
            <a:off x="4736592" y="1517904"/>
            <a:ext cx="2194560" cy="292608"/>
          </a:xfrm>
          <a:prstGeom prst="rect">
            <a:avLst/>
          </a:prstGeom>
          <a:noFill/>
          <a:ln/>
        </p:spPr>
        <p:txBody>
          <a:bodyPr wrap="square" lIns="0" tIns="0" rIns="0" bIns="0" rtlCol="0" anchor="ctr"/>
          <a:lstStyle/>
          <a:p>
            <a:pPr indent="0" marL="0">
              <a:buNone/>
            </a:pPr>
            <a:r>
              <a:rPr lang="en-US" sz="950" b="1" dirty="0">
                <a:solidFill>
                  <a:srgbClr val="1E6FC8"/>
                </a:solidFill>
                <a:latin typeface="Courier New" pitchFamily="34" charset="0"/>
                <a:ea typeface="Courier New" pitchFamily="34" charset="-122"/>
                <a:cs typeface="Courier New" pitchFamily="34" charset="-120"/>
              </a:rPr>
              <a:t>jvm_memory_used_bytes</a:t>
            </a:r>
            <a:endParaRPr lang="en-US" sz="950" dirty="0"/>
          </a:p>
        </p:txBody>
      </p:sp>
      <p:sp>
        <p:nvSpPr>
          <p:cNvPr id="16" name="Text 14"/>
          <p:cNvSpPr/>
          <p:nvPr/>
        </p:nvSpPr>
        <p:spPr>
          <a:xfrm>
            <a:off x="6995160" y="1527048"/>
            <a:ext cx="1783080" cy="274320"/>
          </a:xfrm>
          <a:prstGeom prst="rect">
            <a:avLst/>
          </a:prstGeom>
          <a:noFill/>
          <a:ln/>
        </p:spPr>
        <p:txBody>
          <a:bodyPr wrap="square" lIns="0" tIns="0" rIns="0" bIns="0" rtlCol="0" anchor="ctr"/>
          <a:lstStyle/>
          <a:p>
            <a:pPr indent="0" marL="0">
              <a:buNone/>
            </a:pPr>
            <a:r>
              <a:rPr lang="en-US" sz="900" dirty="0">
                <a:solidFill>
                  <a:srgbClr val="546E7A"/>
                </a:solidFill>
              </a:rPr>
              <a:t>Heap &amp; non-heap usage by area</a:t>
            </a:r>
            <a:endParaRPr lang="en-US" sz="900" dirty="0"/>
          </a:p>
        </p:txBody>
      </p:sp>
      <p:sp>
        <p:nvSpPr>
          <p:cNvPr id="17" name="Shape 15"/>
          <p:cNvSpPr/>
          <p:nvPr/>
        </p:nvSpPr>
        <p:spPr>
          <a:xfrm>
            <a:off x="4663440" y="1883664"/>
            <a:ext cx="4160520" cy="347472"/>
          </a:xfrm>
          <a:prstGeom prst="rect">
            <a:avLst/>
          </a:prstGeom>
          <a:solidFill>
            <a:srgbClr val="FFFFFF"/>
          </a:solidFill>
          <a:ln w="12700">
            <a:solidFill>
              <a:srgbClr val="E0E8F0"/>
            </a:solidFill>
            <a:prstDash val="solid"/>
          </a:ln>
        </p:spPr>
      </p:sp>
      <p:sp>
        <p:nvSpPr>
          <p:cNvPr id="18" name="Text 16"/>
          <p:cNvSpPr/>
          <p:nvPr/>
        </p:nvSpPr>
        <p:spPr>
          <a:xfrm>
            <a:off x="4736592" y="1911096"/>
            <a:ext cx="2194560" cy="292608"/>
          </a:xfrm>
          <a:prstGeom prst="rect">
            <a:avLst/>
          </a:prstGeom>
          <a:noFill/>
          <a:ln/>
        </p:spPr>
        <p:txBody>
          <a:bodyPr wrap="square" lIns="0" tIns="0" rIns="0" bIns="0" rtlCol="0" anchor="ctr"/>
          <a:lstStyle/>
          <a:p>
            <a:pPr indent="0" marL="0">
              <a:buNone/>
            </a:pPr>
            <a:r>
              <a:rPr lang="en-US" sz="950" b="1" dirty="0">
                <a:solidFill>
                  <a:srgbClr val="1E6FC8"/>
                </a:solidFill>
                <a:latin typeface="Courier New" pitchFamily="34" charset="0"/>
                <a:ea typeface="Courier New" pitchFamily="34" charset="-122"/>
                <a:cs typeface="Courier New" pitchFamily="34" charset="-120"/>
              </a:rPr>
              <a:t>jvm_memory_max_bytes</a:t>
            </a:r>
            <a:endParaRPr lang="en-US" sz="950" dirty="0"/>
          </a:p>
        </p:txBody>
      </p:sp>
      <p:sp>
        <p:nvSpPr>
          <p:cNvPr id="19" name="Text 17"/>
          <p:cNvSpPr/>
          <p:nvPr/>
        </p:nvSpPr>
        <p:spPr>
          <a:xfrm>
            <a:off x="6995160" y="1920240"/>
            <a:ext cx="1783080" cy="274320"/>
          </a:xfrm>
          <a:prstGeom prst="rect">
            <a:avLst/>
          </a:prstGeom>
          <a:noFill/>
          <a:ln/>
        </p:spPr>
        <p:txBody>
          <a:bodyPr wrap="square" lIns="0" tIns="0" rIns="0" bIns="0" rtlCol="0" anchor="ctr"/>
          <a:lstStyle/>
          <a:p>
            <a:pPr indent="0" marL="0">
              <a:buNone/>
            </a:pPr>
            <a:r>
              <a:rPr lang="en-US" sz="900" dirty="0">
                <a:solidFill>
                  <a:srgbClr val="546E7A"/>
                </a:solidFill>
              </a:rPr>
              <a:t>Container-enforced memory ceiling</a:t>
            </a:r>
            <a:endParaRPr lang="en-US" sz="900" dirty="0"/>
          </a:p>
        </p:txBody>
      </p:sp>
      <p:sp>
        <p:nvSpPr>
          <p:cNvPr id="20" name="Shape 18"/>
          <p:cNvSpPr/>
          <p:nvPr/>
        </p:nvSpPr>
        <p:spPr>
          <a:xfrm>
            <a:off x="4663440" y="2276856"/>
            <a:ext cx="4160520" cy="347472"/>
          </a:xfrm>
          <a:prstGeom prst="rect">
            <a:avLst/>
          </a:prstGeom>
          <a:solidFill>
            <a:srgbClr val="F0F4F8"/>
          </a:solidFill>
          <a:ln w="12700">
            <a:solidFill>
              <a:srgbClr val="E0E8F0"/>
            </a:solidFill>
            <a:prstDash val="solid"/>
          </a:ln>
        </p:spPr>
      </p:sp>
      <p:sp>
        <p:nvSpPr>
          <p:cNvPr id="21" name="Text 19"/>
          <p:cNvSpPr/>
          <p:nvPr/>
        </p:nvSpPr>
        <p:spPr>
          <a:xfrm>
            <a:off x="4736592" y="2304288"/>
            <a:ext cx="2194560" cy="292608"/>
          </a:xfrm>
          <a:prstGeom prst="rect">
            <a:avLst/>
          </a:prstGeom>
          <a:noFill/>
          <a:ln/>
        </p:spPr>
        <p:txBody>
          <a:bodyPr wrap="square" lIns="0" tIns="0" rIns="0" bIns="0" rtlCol="0" anchor="ctr"/>
          <a:lstStyle/>
          <a:p>
            <a:pPr indent="0" marL="0">
              <a:buNone/>
            </a:pPr>
            <a:r>
              <a:rPr lang="en-US" sz="950" b="1" dirty="0">
                <a:solidFill>
                  <a:srgbClr val="1E6FC8"/>
                </a:solidFill>
                <a:latin typeface="Courier New" pitchFamily="34" charset="0"/>
                <a:ea typeface="Courier New" pitchFamily="34" charset="-122"/>
                <a:cs typeface="Courier New" pitchFamily="34" charset="-120"/>
              </a:rPr>
              <a:t>jvm_threads_live</a:t>
            </a:r>
            <a:endParaRPr lang="en-US" sz="950" dirty="0"/>
          </a:p>
        </p:txBody>
      </p:sp>
      <p:sp>
        <p:nvSpPr>
          <p:cNvPr id="22" name="Text 20"/>
          <p:cNvSpPr/>
          <p:nvPr/>
        </p:nvSpPr>
        <p:spPr>
          <a:xfrm>
            <a:off x="6995160" y="2313432"/>
            <a:ext cx="1783080" cy="274320"/>
          </a:xfrm>
          <a:prstGeom prst="rect">
            <a:avLst/>
          </a:prstGeom>
          <a:noFill/>
          <a:ln/>
        </p:spPr>
        <p:txBody>
          <a:bodyPr wrap="square" lIns="0" tIns="0" rIns="0" bIns="0" rtlCol="0" anchor="ctr"/>
          <a:lstStyle/>
          <a:p>
            <a:pPr indent="0" marL="0">
              <a:buNone/>
            </a:pPr>
            <a:r>
              <a:rPr lang="en-US" sz="900" dirty="0">
                <a:solidFill>
                  <a:srgbClr val="546E7A"/>
                </a:solidFill>
              </a:rPr>
              <a:t>Thread count — watch for leaks</a:t>
            </a:r>
            <a:endParaRPr lang="en-US" sz="900" dirty="0"/>
          </a:p>
        </p:txBody>
      </p:sp>
      <p:sp>
        <p:nvSpPr>
          <p:cNvPr id="23" name="Shape 21"/>
          <p:cNvSpPr/>
          <p:nvPr/>
        </p:nvSpPr>
        <p:spPr>
          <a:xfrm>
            <a:off x="4663440" y="2670048"/>
            <a:ext cx="4160520" cy="347472"/>
          </a:xfrm>
          <a:prstGeom prst="rect">
            <a:avLst/>
          </a:prstGeom>
          <a:solidFill>
            <a:srgbClr val="FFFFFF"/>
          </a:solidFill>
          <a:ln w="12700">
            <a:solidFill>
              <a:srgbClr val="E0E8F0"/>
            </a:solidFill>
            <a:prstDash val="solid"/>
          </a:ln>
        </p:spPr>
      </p:sp>
      <p:sp>
        <p:nvSpPr>
          <p:cNvPr id="24" name="Text 22"/>
          <p:cNvSpPr/>
          <p:nvPr/>
        </p:nvSpPr>
        <p:spPr>
          <a:xfrm>
            <a:off x="4736592" y="2697480"/>
            <a:ext cx="2194560" cy="292608"/>
          </a:xfrm>
          <a:prstGeom prst="rect">
            <a:avLst/>
          </a:prstGeom>
          <a:noFill/>
          <a:ln/>
        </p:spPr>
        <p:txBody>
          <a:bodyPr wrap="square" lIns="0" tIns="0" rIns="0" bIns="0" rtlCol="0" anchor="ctr"/>
          <a:lstStyle/>
          <a:p>
            <a:pPr indent="0" marL="0">
              <a:buNone/>
            </a:pPr>
            <a:r>
              <a:rPr lang="en-US" sz="950" b="1" dirty="0">
                <a:solidFill>
                  <a:srgbClr val="1E6FC8"/>
                </a:solidFill>
                <a:latin typeface="Courier New" pitchFamily="34" charset="0"/>
                <a:ea typeface="Courier New" pitchFamily="34" charset="-122"/>
                <a:cs typeface="Courier New" pitchFamily="34" charset="-120"/>
              </a:rPr>
              <a:t>jvm_classes_loaded</a:t>
            </a:r>
            <a:endParaRPr lang="en-US" sz="950" dirty="0"/>
          </a:p>
        </p:txBody>
      </p:sp>
      <p:sp>
        <p:nvSpPr>
          <p:cNvPr id="25" name="Text 23"/>
          <p:cNvSpPr/>
          <p:nvPr/>
        </p:nvSpPr>
        <p:spPr>
          <a:xfrm>
            <a:off x="6995160" y="2706624"/>
            <a:ext cx="1783080" cy="274320"/>
          </a:xfrm>
          <a:prstGeom prst="rect">
            <a:avLst/>
          </a:prstGeom>
          <a:noFill/>
          <a:ln/>
        </p:spPr>
        <p:txBody>
          <a:bodyPr wrap="square" lIns="0" tIns="0" rIns="0" bIns="0" rtlCol="0" anchor="ctr"/>
          <a:lstStyle/>
          <a:p>
            <a:pPr indent="0" marL="0">
              <a:buNone/>
            </a:pPr>
            <a:r>
              <a:rPr lang="en-US" sz="900" dirty="0">
                <a:solidFill>
                  <a:srgbClr val="546E7A"/>
                </a:solidFill>
              </a:rPr>
              <a:t>Class loading activity at startup</a:t>
            </a:r>
            <a:endParaRPr lang="en-US" sz="900" dirty="0"/>
          </a:p>
        </p:txBody>
      </p:sp>
      <p:sp>
        <p:nvSpPr>
          <p:cNvPr id="26" name="Shape 24"/>
          <p:cNvSpPr/>
          <p:nvPr/>
        </p:nvSpPr>
        <p:spPr>
          <a:xfrm>
            <a:off x="4663440" y="3063240"/>
            <a:ext cx="4160520" cy="347472"/>
          </a:xfrm>
          <a:prstGeom prst="rect">
            <a:avLst/>
          </a:prstGeom>
          <a:solidFill>
            <a:srgbClr val="F0F4F8"/>
          </a:solidFill>
          <a:ln w="12700">
            <a:solidFill>
              <a:srgbClr val="E0E8F0"/>
            </a:solidFill>
            <a:prstDash val="solid"/>
          </a:ln>
        </p:spPr>
      </p:sp>
      <p:sp>
        <p:nvSpPr>
          <p:cNvPr id="27" name="Text 25"/>
          <p:cNvSpPr/>
          <p:nvPr/>
        </p:nvSpPr>
        <p:spPr>
          <a:xfrm>
            <a:off x="4736592" y="3090672"/>
            <a:ext cx="2194560" cy="292608"/>
          </a:xfrm>
          <a:prstGeom prst="rect">
            <a:avLst/>
          </a:prstGeom>
          <a:noFill/>
          <a:ln/>
        </p:spPr>
        <p:txBody>
          <a:bodyPr wrap="square" lIns="0" tIns="0" rIns="0" bIns="0" rtlCol="0" anchor="ctr"/>
          <a:lstStyle/>
          <a:p>
            <a:pPr indent="0" marL="0">
              <a:buNone/>
            </a:pPr>
            <a:r>
              <a:rPr lang="en-US" sz="950" b="1" dirty="0">
                <a:solidFill>
                  <a:srgbClr val="1E6FC8"/>
                </a:solidFill>
                <a:latin typeface="Courier New" pitchFamily="34" charset="0"/>
                <a:ea typeface="Courier New" pitchFamily="34" charset="-122"/>
                <a:cs typeface="Courier New" pitchFamily="34" charset="-120"/>
              </a:rPr>
              <a:t>jvm_buffer_memory_used</a:t>
            </a:r>
            <a:endParaRPr lang="en-US" sz="950" dirty="0"/>
          </a:p>
        </p:txBody>
      </p:sp>
      <p:sp>
        <p:nvSpPr>
          <p:cNvPr id="28" name="Text 26"/>
          <p:cNvSpPr/>
          <p:nvPr/>
        </p:nvSpPr>
        <p:spPr>
          <a:xfrm>
            <a:off x="6995160" y="3099816"/>
            <a:ext cx="1783080" cy="274320"/>
          </a:xfrm>
          <a:prstGeom prst="rect">
            <a:avLst/>
          </a:prstGeom>
          <a:noFill/>
          <a:ln/>
        </p:spPr>
        <p:txBody>
          <a:bodyPr wrap="square" lIns="0" tIns="0" rIns="0" bIns="0" rtlCol="0" anchor="ctr"/>
          <a:lstStyle/>
          <a:p>
            <a:pPr indent="0" marL="0">
              <a:buNone/>
            </a:pPr>
            <a:r>
              <a:rPr lang="en-US" sz="900" dirty="0">
                <a:solidFill>
                  <a:srgbClr val="546E7A"/>
                </a:solidFill>
              </a:rPr>
              <a:t>Direct ByteBuffer consumption</a:t>
            </a:r>
            <a:endParaRPr lang="en-US" sz="900" dirty="0"/>
          </a:p>
        </p:txBody>
      </p:sp>
      <p:sp>
        <p:nvSpPr>
          <p:cNvPr id="29" name="Shape 27"/>
          <p:cNvSpPr/>
          <p:nvPr/>
        </p:nvSpPr>
        <p:spPr>
          <a:xfrm>
            <a:off x="4663440" y="3456432"/>
            <a:ext cx="4160520" cy="347472"/>
          </a:xfrm>
          <a:prstGeom prst="rect">
            <a:avLst/>
          </a:prstGeom>
          <a:solidFill>
            <a:srgbClr val="FFFFFF"/>
          </a:solidFill>
          <a:ln w="12700">
            <a:solidFill>
              <a:srgbClr val="E0E8F0"/>
            </a:solidFill>
            <a:prstDash val="solid"/>
          </a:ln>
        </p:spPr>
      </p:sp>
      <p:sp>
        <p:nvSpPr>
          <p:cNvPr id="30" name="Text 28"/>
          <p:cNvSpPr/>
          <p:nvPr/>
        </p:nvSpPr>
        <p:spPr>
          <a:xfrm>
            <a:off x="4736592" y="3483864"/>
            <a:ext cx="2194560" cy="292608"/>
          </a:xfrm>
          <a:prstGeom prst="rect">
            <a:avLst/>
          </a:prstGeom>
          <a:noFill/>
          <a:ln/>
        </p:spPr>
        <p:txBody>
          <a:bodyPr wrap="square" lIns="0" tIns="0" rIns="0" bIns="0" rtlCol="0" anchor="ctr"/>
          <a:lstStyle/>
          <a:p>
            <a:pPr indent="0" marL="0">
              <a:buNone/>
            </a:pPr>
            <a:r>
              <a:rPr lang="en-US" sz="950" b="1" dirty="0">
                <a:solidFill>
                  <a:srgbClr val="1E6FC8"/>
                </a:solidFill>
                <a:latin typeface="Courier New" pitchFamily="34" charset="0"/>
                <a:ea typeface="Courier New" pitchFamily="34" charset="-122"/>
                <a:cs typeface="Courier New" pitchFamily="34" charset="-120"/>
              </a:rPr>
              <a:t>process_cpu_usage</a:t>
            </a:r>
            <a:endParaRPr lang="en-US" sz="950" dirty="0"/>
          </a:p>
        </p:txBody>
      </p:sp>
      <p:sp>
        <p:nvSpPr>
          <p:cNvPr id="31" name="Text 29"/>
          <p:cNvSpPr/>
          <p:nvPr/>
        </p:nvSpPr>
        <p:spPr>
          <a:xfrm>
            <a:off x="6995160" y="3493008"/>
            <a:ext cx="1783080" cy="274320"/>
          </a:xfrm>
          <a:prstGeom prst="rect">
            <a:avLst/>
          </a:prstGeom>
          <a:noFill/>
          <a:ln/>
        </p:spPr>
        <p:txBody>
          <a:bodyPr wrap="square" lIns="0" tIns="0" rIns="0" bIns="0" rtlCol="0" anchor="ctr"/>
          <a:lstStyle/>
          <a:p>
            <a:pPr indent="0" marL="0">
              <a:buNone/>
            </a:pPr>
            <a:r>
              <a:rPr lang="en-US" sz="900" dirty="0">
                <a:solidFill>
                  <a:srgbClr val="546E7A"/>
                </a:solidFill>
              </a:rPr>
              <a:t>JVM CPU — correlate with GC events</a:t>
            </a:r>
            <a:endParaRPr lang="en-US" sz="900" dirty="0"/>
          </a:p>
        </p:txBody>
      </p:sp>
      <p:sp>
        <p:nvSpPr>
          <p:cNvPr id="32" name="Text 30"/>
          <p:cNvSpPr/>
          <p:nvPr/>
        </p:nvSpPr>
        <p:spPr>
          <a:xfrm>
            <a:off x="365760" y="3246120"/>
            <a:ext cx="4206240" cy="256032"/>
          </a:xfrm>
          <a:prstGeom prst="rect">
            <a:avLst/>
          </a:prstGeom>
          <a:noFill/>
          <a:ln/>
        </p:spPr>
        <p:txBody>
          <a:bodyPr wrap="square" lIns="0" tIns="0" rIns="0" bIns="0" rtlCol="0" anchor="ctr"/>
          <a:lstStyle/>
          <a:p>
            <a:pPr indent="0" marL="0">
              <a:buNone/>
            </a:pPr>
            <a:r>
              <a:rPr lang="en-US" sz="1200" b="1" dirty="0">
                <a:solidFill>
                  <a:srgbClr val="E84855"/>
                </a:solidFill>
              </a:rPr>
              <a:t>PrometheusRule / Grafana Alert Example:</a:t>
            </a:r>
            <a:endParaRPr lang="en-US" sz="1200" dirty="0"/>
          </a:p>
        </p:txBody>
      </p:sp>
      <p:sp>
        <p:nvSpPr>
          <p:cNvPr id="33" name="Shape 31"/>
          <p:cNvSpPr/>
          <p:nvPr/>
        </p:nvSpPr>
        <p:spPr>
          <a:xfrm>
            <a:off x="320040" y="3520440"/>
            <a:ext cx="4114800" cy="1399032"/>
          </a:xfrm>
          <a:prstGeom prst="rect">
            <a:avLst/>
          </a:prstGeom>
          <a:solidFill>
            <a:srgbClr val="0D2137"/>
          </a:solidFill>
          <a:ln w="19050">
            <a:solidFill>
              <a:srgbClr val="00BCD4"/>
            </a:solidFill>
            <a:prstDash val="solid"/>
          </a:ln>
        </p:spPr>
      </p:sp>
      <p:sp>
        <p:nvSpPr>
          <p:cNvPr id="34" name="Text 32"/>
          <p:cNvSpPr/>
          <p:nvPr/>
        </p:nvSpPr>
        <p:spPr>
          <a:xfrm>
            <a:off x="393192" y="3566160"/>
            <a:ext cx="3968496" cy="1307592"/>
          </a:xfrm>
          <a:prstGeom prst="rect">
            <a:avLst/>
          </a:prstGeom>
          <a:noFill/>
          <a:ln/>
        </p:spPr>
        <p:txBody>
          <a:bodyPr wrap="square" rtlCol="0" anchor="t"/>
          <a:lstStyle/>
          <a:p>
            <a:pPr indent="0" marL="0">
              <a:buNone/>
            </a:pPr>
            <a:r>
              <a:rPr lang="en-US" sz="950" dirty="0">
                <a:solidFill>
                  <a:srgbClr val="A8D8EA"/>
                </a:solidFill>
                <a:latin typeface="Courier New" pitchFamily="34" charset="0"/>
                <a:ea typeface="Courier New" pitchFamily="34" charset="-122"/>
                <a:cs typeface="Courier New" pitchFamily="34" charset="-120"/>
              </a:rPr>
              <a:t>- alert: JVMHighGCPause</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expr: &gt;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histogram_quantile(0.99,</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rate(jvm_gc_pause_seconds_bucket[5m])</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&gt; 0.5</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for: 2m</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labels: { severity: warning }</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annotations: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summary: "GC P99 pause &gt; 500ms on {{ $labels.pod }}"</a:t>
            </a:r>
            <a:endParaRPr lang="en-US" sz="950" dirty="0"/>
          </a:p>
        </p:txBody>
      </p:sp>
      <p:sp>
        <p:nvSpPr>
          <p:cNvPr id="35" name="Text 33"/>
          <p:cNvSpPr/>
          <p:nvPr/>
        </p:nvSpPr>
        <p:spPr>
          <a:xfrm>
            <a:off x="4663440" y="3950208"/>
            <a:ext cx="4160520" cy="256032"/>
          </a:xfrm>
          <a:prstGeom prst="rect">
            <a:avLst/>
          </a:prstGeom>
          <a:noFill/>
          <a:ln/>
        </p:spPr>
        <p:txBody>
          <a:bodyPr wrap="square" lIns="0" tIns="0" rIns="0" bIns="0" rtlCol="0" anchor="ctr"/>
          <a:lstStyle/>
          <a:p>
            <a:pPr indent="0" marL="0">
              <a:buNone/>
            </a:pPr>
            <a:r>
              <a:rPr lang="en-US" sz="1000" i="1" dirty="0">
                <a:solidFill>
                  <a:srgbClr val="546E7A"/>
                </a:solidFill>
              </a:rPr>
              <a:t>quarkus.io/guides/telemetry-micrometer-to-opentelemetry  |  Grafana LGTM dev stack: quarkus.io/guides/observability-devservices-lgtm</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Autoscaling Integration — HPA with JVM-Aware Metrics</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06</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17/26</a:t>
            </a:r>
            <a:endParaRPr lang="en-US" sz="900" dirty="0"/>
          </a:p>
        </p:txBody>
      </p:sp>
      <p:sp>
        <p:nvSpPr>
          <p:cNvPr id="7" name="Text 5"/>
          <p:cNvSpPr/>
          <p:nvPr/>
        </p:nvSpPr>
        <p:spPr>
          <a:xfrm>
            <a:off x="365760" y="749808"/>
            <a:ext cx="8229600" cy="274320"/>
          </a:xfrm>
          <a:prstGeom prst="rect">
            <a:avLst/>
          </a:prstGeom>
          <a:noFill/>
          <a:ln/>
        </p:spPr>
        <p:txBody>
          <a:bodyPr wrap="square" lIns="0" tIns="0" rIns="0" bIns="0" rtlCol="0" anchor="ctr"/>
          <a:lstStyle/>
          <a:p>
            <a:pPr indent="0" marL="0">
              <a:buNone/>
            </a:pPr>
            <a:r>
              <a:rPr lang="en-US" sz="1200" i="1" dirty="0">
                <a:solidFill>
                  <a:srgbClr val="90A4AE"/>
                </a:solidFill>
              </a:rPr>
              <a:t>GC pauses cause CPU spikes — ensure scaling metrics can be correlated with CPU to diagnose false triggers</a:t>
            </a:r>
            <a:endParaRPr lang="en-US" sz="1200" dirty="0"/>
          </a:p>
        </p:txBody>
      </p:sp>
      <p:sp>
        <p:nvSpPr>
          <p:cNvPr id="8" name="Shape 6"/>
          <p:cNvSpPr/>
          <p:nvPr/>
        </p:nvSpPr>
        <p:spPr>
          <a:xfrm>
            <a:off x="320040" y="1078992"/>
            <a:ext cx="8503920" cy="3520440"/>
          </a:xfrm>
          <a:prstGeom prst="rect">
            <a:avLst/>
          </a:prstGeom>
          <a:solidFill>
            <a:srgbClr val="0D2137"/>
          </a:solidFill>
          <a:ln w="19050">
            <a:solidFill>
              <a:srgbClr val="00BCD4"/>
            </a:solidFill>
            <a:prstDash val="solid"/>
          </a:ln>
        </p:spPr>
      </p:sp>
      <p:sp>
        <p:nvSpPr>
          <p:cNvPr id="9" name="Text 7"/>
          <p:cNvSpPr/>
          <p:nvPr/>
        </p:nvSpPr>
        <p:spPr>
          <a:xfrm>
            <a:off x="393192" y="1124712"/>
            <a:ext cx="8357616" cy="3429000"/>
          </a:xfrm>
          <a:prstGeom prst="rect">
            <a:avLst/>
          </a:prstGeom>
          <a:noFill/>
          <a:ln/>
        </p:spPr>
        <p:txBody>
          <a:bodyPr wrap="square" rtlCol="0" anchor="t"/>
          <a:lstStyle/>
          <a:p>
            <a:pPr indent="0" marL="0">
              <a:buNone/>
            </a:pPr>
            <a:r>
              <a:rPr lang="en-US" sz="850" dirty="0">
                <a:solidFill>
                  <a:srgbClr val="A8D8EA"/>
                </a:solidFill>
                <a:latin typeface="Courier New" pitchFamily="34" charset="0"/>
                <a:ea typeface="Courier New" pitchFamily="34" charset="-122"/>
                <a:cs typeface="Courier New" pitchFamily="34" charset="-120"/>
              </a:rPr>
              <a:t># HPA: Scale on RPS not CPU — GC pauses create false CPU spikes</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apiVersion: autoscaling/v2</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kind: HorizontalPodAutoscaler</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metadata: { name: java-app-hpa }</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spec:</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scaleTargetRef: { kind: Deployment, name: java-app }</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minReplicas: 2     # NEVER 1 — single pod + GC stop-the-world = 100% downtime</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maxReplicas: 20</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behavior:</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scaleUp:</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stabilizationWindowSeconds: 120  # Absorb GC CPU spikes up to 2min</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policies: [{ type: Pods, value: 2, periodSeconds: 60 }]</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scaleDown:</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stabilizationWindowSeconds: 300  # Hold during post-GC load valleys</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metrics:</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 type: External   # PRIMARY: RPS via KEDA or Prometheus Adapter</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external:</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metric: { name: http_requests_per_second,</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selector: { matchLabels: { app: java-app } } }</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target: { type: AverageValue, averageValue: "50" }</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 type: External   # SECONDARY: Heap ratio recording rule (scale before OOMKill)</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external:</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metric: { name: jvm_memory_used_ratio }</a:t>
            </a:r>
            <a:endParaRPr lang="en-US" sz="850" dirty="0"/>
          </a:p>
          <a:p>
            <a:pPr indent="0" marL="0">
              <a:buNone/>
            </a:pPr>
            <a:r>
              <a:rPr lang="en-US" sz="850" dirty="0">
                <a:solidFill>
                  <a:srgbClr val="A8D8EA"/>
                </a:solidFill>
                <a:latin typeface="Courier New" pitchFamily="34" charset="0"/>
                <a:ea typeface="Courier New" pitchFamily="34" charset="-122"/>
                <a:cs typeface="Courier New" pitchFamily="34" charset="-120"/>
              </a:rPr>
              <a:t>      target: { type: AverageValue, averageValue: "0.80" }</a:t>
            </a:r>
            <a:endParaRPr lang="en-US" sz="850" dirty="0"/>
          </a:p>
        </p:txBody>
      </p:sp>
      <p:sp>
        <p:nvSpPr>
          <p:cNvPr id="10" name="Text 8"/>
          <p:cNvSpPr/>
          <p:nvPr/>
        </p:nvSpPr>
        <p:spPr>
          <a:xfrm>
            <a:off x="320040" y="4910328"/>
            <a:ext cx="8503920" cy="164592"/>
          </a:xfrm>
          <a:prstGeom prst="rect">
            <a:avLst/>
          </a:prstGeom>
          <a:noFill/>
          <a:ln/>
        </p:spPr>
        <p:txBody>
          <a:bodyPr wrap="square" lIns="0" tIns="0" rIns="0" bIns="0" rtlCol="0" anchor="ctr"/>
          <a:lstStyle/>
          <a:p>
            <a:pPr indent="0" marL="0">
              <a:buNone/>
            </a:pPr>
            <a:r>
              <a:rPr lang="en-US" sz="950" dirty="0">
                <a:solidFill>
                  <a:srgbClr val="F5A623"/>
                </a:solidFill>
              </a:rPr>
              <a:t>📖  SRE with Java Microservices: Autoscale on throughput metrics, not CPU — GC pauses create false CPU spikes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Vertical Pod Autoscaler (VPA) for Java</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06</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18/26</a:t>
            </a:r>
            <a:endParaRPr lang="en-US" sz="900" dirty="0"/>
          </a:p>
        </p:txBody>
      </p:sp>
      <p:sp>
        <p:nvSpPr>
          <p:cNvPr id="7" name="Text 5"/>
          <p:cNvSpPr/>
          <p:nvPr/>
        </p:nvSpPr>
        <p:spPr>
          <a:xfrm>
            <a:off x="365760" y="777240"/>
            <a:ext cx="4206240" cy="274320"/>
          </a:xfrm>
          <a:prstGeom prst="rect">
            <a:avLst/>
          </a:prstGeom>
          <a:noFill/>
          <a:ln/>
        </p:spPr>
        <p:txBody>
          <a:bodyPr wrap="square" lIns="0" tIns="0" rIns="0" bIns="0" rtlCol="0" anchor="ctr"/>
          <a:lstStyle/>
          <a:p>
            <a:pPr indent="0" marL="0">
              <a:buNone/>
            </a:pPr>
            <a:r>
              <a:rPr lang="en-US" sz="1300" b="1" dirty="0">
                <a:solidFill>
                  <a:srgbClr val="1E6FC8"/>
                </a:solidFill>
              </a:rPr>
              <a:t>VPA Configuration:</a:t>
            </a:r>
            <a:endParaRPr lang="en-US" sz="1300" dirty="0"/>
          </a:p>
        </p:txBody>
      </p:sp>
      <p:sp>
        <p:nvSpPr>
          <p:cNvPr id="8" name="Shape 6"/>
          <p:cNvSpPr/>
          <p:nvPr/>
        </p:nvSpPr>
        <p:spPr>
          <a:xfrm>
            <a:off x="320040" y="1097280"/>
            <a:ext cx="4160520" cy="3017520"/>
          </a:xfrm>
          <a:prstGeom prst="rect">
            <a:avLst/>
          </a:prstGeom>
          <a:solidFill>
            <a:srgbClr val="0D2137"/>
          </a:solidFill>
          <a:ln w="19050">
            <a:solidFill>
              <a:srgbClr val="00BCD4"/>
            </a:solidFill>
            <a:prstDash val="solid"/>
          </a:ln>
        </p:spPr>
      </p:sp>
      <p:sp>
        <p:nvSpPr>
          <p:cNvPr id="9" name="Text 7"/>
          <p:cNvSpPr/>
          <p:nvPr/>
        </p:nvSpPr>
        <p:spPr>
          <a:xfrm>
            <a:off x="393192" y="1143000"/>
            <a:ext cx="4014216" cy="2926080"/>
          </a:xfrm>
          <a:prstGeom prst="rect">
            <a:avLst/>
          </a:prstGeom>
          <a:noFill/>
          <a:ln/>
        </p:spPr>
        <p:txBody>
          <a:bodyPr wrap="square" rtlCol="0" anchor="t"/>
          <a:lstStyle/>
          <a:p>
            <a:pPr indent="0" marL="0">
              <a:buNone/>
            </a:pPr>
            <a:r>
              <a:rPr lang="en-US" sz="950" dirty="0">
                <a:solidFill>
                  <a:srgbClr val="A8D8EA"/>
                </a:solidFill>
                <a:latin typeface="Courier New" pitchFamily="34" charset="0"/>
                <a:ea typeface="Courier New" pitchFamily="34" charset="-122"/>
                <a:cs typeface="Courier New" pitchFamily="34" charset="-120"/>
              </a:rPr>
              <a:t>apiVersion: autoscaling.k8s.io/v1</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kind: VerticalPodAutoscaler</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metadata:</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name: java-app-vpa</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spec:</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targetRef:</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apiVersion: apps/v1</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kind: Deployment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name: java-app</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updatePolicy:</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updateMode: "Auto"   # or "Off" for recommendations-only</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resourcePolicy:</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containerPolicies: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containerName: java-app</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minAllowed:</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memory: "256Mi"</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cpu: "100m"</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maxAllowed:</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memory: "4Gi"</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cpu: "4000m"</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controlledResources: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memory</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cpu</a:t>
            </a:r>
            <a:endParaRPr lang="en-US" sz="950" dirty="0"/>
          </a:p>
        </p:txBody>
      </p:sp>
      <p:sp>
        <p:nvSpPr>
          <p:cNvPr id="10" name="Text 8"/>
          <p:cNvSpPr/>
          <p:nvPr/>
        </p:nvSpPr>
        <p:spPr>
          <a:xfrm>
            <a:off x="4663440" y="777240"/>
            <a:ext cx="4206240" cy="274320"/>
          </a:xfrm>
          <a:prstGeom prst="rect">
            <a:avLst/>
          </a:prstGeom>
          <a:noFill/>
          <a:ln/>
        </p:spPr>
        <p:txBody>
          <a:bodyPr wrap="square" lIns="0" tIns="0" rIns="0" bIns="0" rtlCol="0" anchor="ctr"/>
          <a:lstStyle/>
          <a:p>
            <a:pPr indent="0" marL="0">
              <a:buNone/>
            </a:pPr>
            <a:r>
              <a:rPr lang="en-US" sz="1300" b="1" dirty="0">
                <a:solidFill>
                  <a:srgbClr val="1E6FC8"/>
                </a:solidFill>
              </a:rPr>
              <a:t>VPA Workflow for Java:</a:t>
            </a:r>
            <a:endParaRPr lang="en-US" sz="1300" dirty="0"/>
          </a:p>
        </p:txBody>
      </p:sp>
      <p:sp>
        <p:nvSpPr>
          <p:cNvPr id="11" name="Shape 9"/>
          <p:cNvSpPr/>
          <p:nvPr/>
        </p:nvSpPr>
        <p:spPr>
          <a:xfrm>
            <a:off x="4663440" y="1097280"/>
            <a:ext cx="4160520" cy="777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4709160" y="1115568"/>
            <a:ext cx="347472" cy="347472"/>
          </a:xfrm>
          <a:prstGeom prst="ellipse">
            <a:avLst/>
          </a:prstGeom>
          <a:solidFill>
            <a:srgbClr val="1E6FC8"/>
          </a:solidFill>
          <a:ln/>
        </p:spPr>
      </p:sp>
      <p:sp>
        <p:nvSpPr>
          <p:cNvPr id="13" name="Text 11"/>
          <p:cNvSpPr/>
          <p:nvPr/>
        </p:nvSpPr>
        <p:spPr>
          <a:xfrm>
            <a:off x="4709160"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4" name="Text 12"/>
          <p:cNvSpPr/>
          <p:nvPr/>
        </p:nvSpPr>
        <p:spPr>
          <a:xfrm>
            <a:off x="5166360" y="1115568"/>
            <a:ext cx="3566160" cy="256032"/>
          </a:xfrm>
          <a:prstGeom prst="rect">
            <a:avLst/>
          </a:prstGeom>
          <a:noFill/>
          <a:ln/>
        </p:spPr>
        <p:txBody>
          <a:bodyPr wrap="square" lIns="0" tIns="0" rIns="0" bIns="0" rtlCol="0" anchor="ctr"/>
          <a:lstStyle/>
          <a:p>
            <a:pPr indent="0" marL="0">
              <a:buNone/>
            </a:pPr>
            <a:r>
              <a:rPr lang="en-US" sz="1100" b="1" dirty="0">
                <a:solidFill>
                  <a:srgbClr val="1E6FC8"/>
                </a:solidFill>
              </a:rPr>
              <a:t>Observe (Off mode)</a:t>
            </a:r>
            <a:endParaRPr lang="en-US" sz="1100" dirty="0"/>
          </a:p>
        </p:txBody>
      </p:sp>
      <p:sp>
        <p:nvSpPr>
          <p:cNvPr id="15" name="Text 13"/>
          <p:cNvSpPr/>
          <p:nvPr/>
        </p:nvSpPr>
        <p:spPr>
          <a:xfrm>
            <a:off x="5166360" y="1389888"/>
            <a:ext cx="3566160" cy="457200"/>
          </a:xfrm>
          <a:prstGeom prst="rect">
            <a:avLst/>
          </a:prstGeom>
          <a:noFill/>
          <a:ln/>
        </p:spPr>
        <p:txBody>
          <a:bodyPr wrap="square" lIns="0" tIns="0" rIns="0" bIns="0" rtlCol="0" anchor="ctr"/>
          <a:lstStyle/>
          <a:p>
            <a:pPr indent="0" marL="0">
              <a:buNone/>
            </a:pPr>
            <a:r>
              <a:rPr lang="en-US" sz="950" dirty="0">
                <a:solidFill>
                  <a:srgbClr val="1A2B3C"/>
                </a:solidFill>
              </a:rPr>
              <a:t>Run VPA in Off mode for 48-72 hrs. Collect memory/CPU recommendations without applying changes.</a:t>
            </a:r>
            <a:endParaRPr lang="en-US" sz="950" dirty="0"/>
          </a:p>
        </p:txBody>
      </p:sp>
      <p:sp>
        <p:nvSpPr>
          <p:cNvPr id="16" name="Shape 14"/>
          <p:cNvSpPr/>
          <p:nvPr/>
        </p:nvSpPr>
        <p:spPr>
          <a:xfrm>
            <a:off x="4663440" y="1993392"/>
            <a:ext cx="4160520" cy="777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709160" y="2011680"/>
            <a:ext cx="347472" cy="347472"/>
          </a:xfrm>
          <a:prstGeom prst="ellipse">
            <a:avLst/>
          </a:prstGeom>
          <a:solidFill>
            <a:srgbClr val="1E6FC8"/>
          </a:solidFill>
          <a:ln/>
        </p:spPr>
      </p:sp>
      <p:sp>
        <p:nvSpPr>
          <p:cNvPr id="18" name="Text 16"/>
          <p:cNvSpPr/>
          <p:nvPr/>
        </p:nvSpPr>
        <p:spPr>
          <a:xfrm>
            <a:off x="4709160" y="20116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9" name="Text 17"/>
          <p:cNvSpPr/>
          <p:nvPr/>
        </p:nvSpPr>
        <p:spPr>
          <a:xfrm>
            <a:off x="5166360" y="2011680"/>
            <a:ext cx="3566160" cy="256032"/>
          </a:xfrm>
          <a:prstGeom prst="rect">
            <a:avLst/>
          </a:prstGeom>
          <a:noFill/>
          <a:ln/>
        </p:spPr>
        <p:txBody>
          <a:bodyPr wrap="square" lIns="0" tIns="0" rIns="0" bIns="0" rtlCol="0" anchor="ctr"/>
          <a:lstStyle/>
          <a:p>
            <a:pPr indent="0" marL="0">
              <a:buNone/>
            </a:pPr>
            <a:r>
              <a:rPr lang="en-US" sz="1100" b="1" dirty="0">
                <a:solidFill>
                  <a:srgbClr val="1E6FC8"/>
                </a:solidFill>
              </a:rPr>
              <a:t>Validate Recommendations</a:t>
            </a:r>
            <a:endParaRPr lang="en-US" sz="1100" dirty="0"/>
          </a:p>
        </p:txBody>
      </p:sp>
      <p:sp>
        <p:nvSpPr>
          <p:cNvPr id="20" name="Text 18"/>
          <p:cNvSpPr/>
          <p:nvPr/>
        </p:nvSpPr>
        <p:spPr>
          <a:xfrm>
            <a:off x="5166360" y="2286000"/>
            <a:ext cx="3566160" cy="457200"/>
          </a:xfrm>
          <a:prstGeom prst="rect">
            <a:avLst/>
          </a:prstGeom>
          <a:noFill/>
          <a:ln/>
        </p:spPr>
        <p:txBody>
          <a:bodyPr wrap="square" lIns="0" tIns="0" rIns="0" bIns="0" rtlCol="0" anchor="ctr"/>
          <a:lstStyle/>
          <a:p>
            <a:pPr indent="0" marL="0">
              <a:buNone/>
            </a:pPr>
            <a:r>
              <a:rPr lang="en-US" sz="950" dirty="0">
                <a:solidFill>
                  <a:srgbClr val="1A2B3C"/>
                </a:solidFill>
              </a:rPr>
              <a:t>Compare VPA suggestions vs. your JVM memory budget (heap + off-heap). Ensure MaxRAMPercentage aligns.</a:t>
            </a:r>
            <a:endParaRPr lang="en-US" sz="950" dirty="0"/>
          </a:p>
        </p:txBody>
      </p:sp>
      <p:sp>
        <p:nvSpPr>
          <p:cNvPr id="21" name="Shape 19"/>
          <p:cNvSpPr/>
          <p:nvPr/>
        </p:nvSpPr>
        <p:spPr>
          <a:xfrm>
            <a:off x="4663440" y="2889504"/>
            <a:ext cx="4160520" cy="777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4709160" y="2907792"/>
            <a:ext cx="347472" cy="347472"/>
          </a:xfrm>
          <a:prstGeom prst="ellipse">
            <a:avLst/>
          </a:prstGeom>
          <a:solidFill>
            <a:srgbClr val="1E6FC8"/>
          </a:solidFill>
          <a:ln/>
        </p:spPr>
      </p:sp>
      <p:sp>
        <p:nvSpPr>
          <p:cNvPr id="23" name="Text 21"/>
          <p:cNvSpPr/>
          <p:nvPr/>
        </p:nvSpPr>
        <p:spPr>
          <a:xfrm>
            <a:off x="4709160" y="290779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4" name="Text 22"/>
          <p:cNvSpPr/>
          <p:nvPr/>
        </p:nvSpPr>
        <p:spPr>
          <a:xfrm>
            <a:off x="5166360" y="2907792"/>
            <a:ext cx="3566160" cy="256032"/>
          </a:xfrm>
          <a:prstGeom prst="rect">
            <a:avLst/>
          </a:prstGeom>
          <a:noFill/>
          <a:ln/>
        </p:spPr>
        <p:txBody>
          <a:bodyPr wrap="square" lIns="0" tIns="0" rIns="0" bIns="0" rtlCol="0" anchor="ctr"/>
          <a:lstStyle/>
          <a:p>
            <a:pPr indent="0" marL="0">
              <a:buNone/>
            </a:pPr>
            <a:r>
              <a:rPr lang="en-US" sz="1100" b="1" dirty="0">
                <a:solidFill>
                  <a:srgbClr val="1E6FC8"/>
                </a:solidFill>
              </a:rPr>
              <a:t>Apply (Auto mode)</a:t>
            </a:r>
            <a:endParaRPr lang="en-US" sz="1100" dirty="0"/>
          </a:p>
        </p:txBody>
      </p:sp>
      <p:sp>
        <p:nvSpPr>
          <p:cNvPr id="25" name="Text 23"/>
          <p:cNvSpPr/>
          <p:nvPr/>
        </p:nvSpPr>
        <p:spPr>
          <a:xfrm>
            <a:off x="5166360" y="3182112"/>
            <a:ext cx="3566160" cy="457200"/>
          </a:xfrm>
          <a:prstGeom prst="rect">
            <a:avLst/>
          </a:prstGeom>
          <a:noFill/>
          <a:ln/>
        </p:spPr>
        <p:txBody>
          <a:bodyPr wrap="square" lIns="0" tIns="0" rIns="0" bIns="0" rtlCol="0" anchor="ctr"/>
          <a:lstStyle/>
          <a:p>
            <a:pPr indent="0" marL="0">
              <a:buNone/>
            </a:pPr>
            <a:r>
              <a:rPr lang="en-US" sz="950" dirty="0">
                <a:solidFill>
                  <a:srgbClr val="1A2B3C"/>
                </a:solidFill>
              </a:rPr>
              <a:t>Enable Auto mode during low-traffic window. VPA will restart pods with new resource settings.</a:t>
            </a:r>
            <a:endParaRPr lang="en-US" sz="950" dirty="0"/>
          </a:p>
        </p:txBody>
      </p:sp>
      <p:sp>
        <p:nvSpPr>
          <p:cNvPr id="26" name="Shape 24"/>
          <p:cNvSpPr/>
          <p:nvPr/>
        </p:nvSpPr>
        <p:spPr>
          <a:xfrm>
            <a:off x="4663440" y="3785616"/>
            <a:ext cx="4160520" cy="777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4709160" y="3803904"/>
            <a:ext cx="347472" cy="347472"/>
          </a:xfrm>
          <a:prstGeom prst="ellipse">
            <a:avLst/>
          </a:prstGeom>
          <a:solidFill>
            <a:srgbClr val="1E6FC8"/>
          </a:solidFill>
          <a:ln/>
        </p:spPr>
      </p:sp>
      <p:sp>
        <p:nvSpPr>
          <p:cNvPr id="28" name="Text 26"/>
          <p:cNvSpPr/>
          <p:nvPr/>
        </p:nvSpPr>
        <p:spPr>
          <a:xfrm>
            <a:off x="4709160" y="38039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9" name="Text 27"/>
          <p:cNvSpPr/>
          <p:nvPr/>
        </p:nvSpPr>
        <p:spPr>
          <a:xfrm>
            <a:off x="5166360" y="3803904"/>
            <a:ext cx="3566160" cy="256032"/>
          </a:xfrm>
          <a:prstGeom prst="rect">
            <a:avLst/>
          </a:prstGeom>
          <a:noFill/>
          <a:ln/>
        </p:spPr>
        <p:txBody>
          <a:bodyPr wrap="square" lIns="0" tIns="0" rIns="0" bIns="0" rtlCol="0" anchor="ctr"/>
          <a:lstStyle/>
          <a:p>
            <a:pPr indent="0" marL="0">
              <a:buNone/>
            </a:pPr>
            <a:r>
              <a:rPr lang="en-US" sz="1100" b="1" dirty="0">
                <a:solidFill>
                  <a:srgbClr val="1E6FC8"/>
                </a:solidFill>
              </a:rPr>
              <a:t>Monitor &amp; Iterate</a:t>
            </a:r>
            <a:endParaRPr lang="en-US" sz="1100" dirty="0"/>
          </a:p>
        </p:txBody>
      </p:sp>
      <p:sp>
        <p:nvSpPr>
          <p:cNvPr id="30" name="Text 28"/>
          <p:cNvSpPr/>
          <p:nvPr/>
        </p:nvSpPr>
        <p:spPr>
          <a:xfrm>
            <a:off x="5166360" y="4078224"/>
            <a:ext cx="3566160" cy="457200"/>
          </a:xfrm>
          <a:prstGeom prst="rect">
            <a:avLst/>
          </a:prstGeom>
          <a:noFill/>
          <a:ln/>
        </p:spPr>
        <p:txBody>
          <a:bodyPr wrap="square" lIns="0" tIns="0" rIns="0" bIns="0" rtlCol="0" anchor="ctr"/>
          <a:lstStyle/>
          <a:p>
            <a:pPr indent="0" marL="0">
              <a:buNone/>
            </a:pPr>
            <a:r>
              <a:rPr lang="en-US" sz="950" dirty="0">
                <a:solidFill>
                  <a:srgbClr val="1A2B3C"/>
                </a:solidFill>
              </a:rPr>
              <a:t>Watch for OOMKills and GC pressure changes. Tune MaxRAMPercentage to match new limits.</a:t>
            </a:r>
            <a:endParaRPr lang="en-US" sz="950" dirty="0"/>
          </a:p>
        </p:txBody>
      </p:sp>
      <p:sp>
        <p:nvSpPr>
          <p:cNvPr id="31" name="Shape 29"/>
          <p:cNvSpPr/>
          <p:nvPr/>
        </p:nvSpPr>
        <p:spPr>
          <a:xfrm>
            <a:off x="320040" y="4233672"/>
            <a:ext cx="8503920" cy="685800"/>
          </a:xfrm>
          <a:prstGeom prst="rect">
            <a:avLst/>
          </a:prstGeom>
          <a:solidFill>
            <a:srgbClr val="0A1628"/>
          </a:solidFill>
          <a:ln/>
        </p:spPr>
      </p:sp>
      <p:sp>
        <p:nvSpPr>
          <p:cNvPr id="32" name="Text 30"/>
          <p:cNvSpPr/>
          <p:nvPr/>
        </p:nvSpPr>
        <p:spPr>
          <a:xfrm>
            <a:off x="457200" y="4233672"/>
            <a:ext cx="8321040" cy="685800"/>
          </a:xfrm>
          <a:prstGeom prst="rect">
            <a:avLst/>
          </a:prstGeom>
          <a:noFill/>
          <a:ln/>
        </p:spPr>
        <p:txBody>
          <a:bodyPr wrap="square" lIns="0" tIns="0" rIns="0" bIns="0" rtlCol="0" anchor="ctr"/>
          <a:lstStyle/>
          <a:p>
            <a:pPr indent="0" marL="0">
              <a:buNone/>
            </a:pPr>
            <a:r>
              <a:rPr lang="en-US" sz="1050" dirty="0">
                <a:solidFill>
                  <a:srgbClr val="F5A623"/>
                </a:solidFill>
              </a:rPr>
              <a:t>⚠  VPA + HPA Conflict: Don't use both on CPU/memory simultaneously. Use HPA on custom metrics (RPS) + VPA on resource right-sizing, or use KEDA for combined scaling.</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Preventing GC-Induced Autoscaling Thrash</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06</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19/26</a:t>
            </a:r>
            <a:endParaRPr lang="en-US" sz="900" dirty="0"/>
          </a:p>
        </p:txBody>
      </p:sp>
      <p:sp>
        <p:nvSpPr>
          <p:cNvPr id="7" name="Shape 5"/>
          <p:cNvSpPr/>
          <p:nvPr/>
        </p:nvSpPr>
        <p:spPr>
          <a:xfrm>
            <a:off x="320040" y="749808"/>
            <a:ext cx="4069080" cy="1261872"/>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8" name="Text 6"/>
          <p:cNvSpPr/>
          <p:nvPr/>
        </p:nvSpPr>
        <p:spPr>
          <a:xfrm>
            <a:off x="457200" y="841248"/>
            <a:ext cx="3840480" cy="320040"/>
          </a:xfrm>
          <a:prstGeom prst="rect">
            <a:avLst/>
          </a:prstGeom>
          <a:noFill/>
          <a:ln/>
        </p:spPr>
        <p:txBody>
          <a:bodyPr wrap="square" lIns="0" tIns="0" rIns="0" bIns="0" rtlCol="0" anchor="ctr"/>
          <a:lstStyle/>
          <a:p>
            <a:pPr indent="0" marL="0">
              <a:buNone/>
            </a:pPr>
            <a:r>
              <a:rPr lang="en-US" sz="1200" b="1" dirty="0">
                <a:solidFill>
                  <a:srgbClr val="00BCD4"/>
                </a:solidFill>
              </a:rPr>
              <a:t>🎯  Use Request-Rate HPA, Not CPU</a:t>
            </a:r>
            <a:endParaRPr lang="en-US" sz="1200" dirty="0"/>
          </a:p>
        </p:txBody>
      </p:sp>
      <p:sp>
        <p:nvSpPr>
          <p:cNvPr id="9" name="Text 7"/>
          <p:cNvSpPr/>
          <p:nvPr/>
        </p:nvSpPr>
        <p:spPr>
          <a:xfrm>
            <a:off x="457200" y="1207008"/>
            <a:ext cx="3840480" cy="731520"/>
          </a:xfrm>
          <a:prstGeom prst="rect">
            <a:avLst/>
          </a:prstGeom>
          <a:noFill/>
          <a:ln/>
        </p:spPr>
        <p:txBody>
          <a:bodyPr wrap="square" lIns="0" tIns="0" rIns="0" bIns="0" rtlCol="0" anchor="ctr"/>
          <a:lstStyle/>
          <a:p>
            <a:pPr indent="0" marL="0">
              <a:buNone/>
            </a:pPr>
            <a:r>
              <a:rPr lang="en-US" sz="1050" dirty="0">
                <a:solidFill>
                  <a:srgbClr val="ECF0F1"/>
                </a:solidFill>
              </a:rPr>
              <a:t>GC pauses create CPU spikes that mislead CPU-based HPA. Scale on http_requests_total or queue depth instead.</a:t>
            </a:r>
            <a:endParaRPr lang="en-US" sz="1050" dirty="0"/>
          </a:p>
        </p:txBody>
      </p:sp>
      <p:sp>
        <p:nvSpPr>
          <p:cNvPr id="10" name="Shape 8"/>
          <p:cNvSpPr/>
          <p:nvPr/>
        </p:nvSpPr>
        <p:spPr>
          <a:xfrm>
            <a:off x="4663440" y="749808"/>
            <a:ext cx="4069080" cy="1261872"/>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11" name="Text 9"/>
          <p:cNvSpPr/>
          <p:nvPr/>
        </p:nvSpPr>
        <p:spPr>
          <a:xfrm>
            <a:off x="4800600" y="841248"/>
            <a:ext cx="3840480" cy="320040"/>
          </a:xfrm>
          <a:prstGeom prst="rect">
            <a:avLst/>
          </a:prstGeom>
          <a:noFill/>
          <a:ln/>
        </p:spPr>
        <p:txBody>
          <a:bodyPr wrap="square" lIns="0" tIns="0" rIns="0" bIns="0" rtlCol="0" anchor="ctr"/>
          <a:lstStyle/>
          <a:p>
            <a:pPr indent="0" marL="0">
              <a:buNone/>
            </a:pPr>
            <a:r>
              <a:rPr lang="en-US" sz="1200" b="1" dirty="0">
                <a:solidFill>
                  <a:srgbClr val="00BCD4"/>
                </a:solidFill>
              </a:rPr>
              <a:t>⏱  Extend Stabilization Windows</a:t>
            </a:r>
            <a:endParaRPr lang="en-US" sz="1200" dirty="0"/>
          </a:p>
        </p:txBody>
      </p:sp>
      <p:sp>
        <p:nvSpPr>
          <p:cNvPr id="12" name="Text 10"/>
          <p:cNvSpPr/>
          <p:nvPr/>
        </p:nvSpPr>
        <p:spPr>
          <a:xfrm>
            <a:off x="4800600" y="1207008"/>
            <a:ext cx="3840480" cy="731520"/>
          </a:xfrm>
          <a:prstGeom prst="rect">
            <a:avLst/>
          </a:prstGeom>
          <a:noFill/>
          <a:ln/>
        </p:spPr>
        <p:txBody>
          <a:bodyPr wrap="square" lIns="0" tIns="0" rIns="0" bIns="0" rtlCol="0" anchor="ctr"/>
          <a:lstStyle/>
          <a:p>
            <a:pPr indent="0" marL="0">
              <a:buNone/>
            </a:pPr>
            <a:r>
              <a:rPr lang="en-US" sz="1050" dirty="0">
                <a:solidFill>
                  <a:srgbClr val="ECF0F1"/>
                </a:solidFill>
              </a:rPr>
              <a:t>GC pauses are transient (100-500ms). Default HPA window (0s scaleUp) creates false scale-out. Use stabilizationWindowSeconds: 120-300.</a:t>
            </a:r>
            <a:endParaRPr lang="en-US" sz="1050" dirty="0"/>
          </a:p>
        </p:txBody>
      </p:sp>
      <p:sp>
        <p:nvSpPr>
          <p:cNvPr id="13" name="Shape 11"/>
          <p:cNvSpPr/>
          <p:nvPr/>
        </p:nvSpPr>
        <p:spPr>
          <a:xfrm>
            <a:off x="320040" y="2167128"/>
            <a:ext cx="4069080" cy="1261872"/>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14" name="Text 12"/>
          <p:cNvSpPr/>
          <p:nvPr/>
        </p:nvSpPr>
        <p:spPr>
          <a:xfrm>
            <a:off x="457200" y="2258568"/>
            <a:ext cx="3840480" cy="320040"/>
          </a:xfrm>
          <a:prstGeom prst="rect">
            <a:avLst/>
          </a:prstGeom>
          <a:noFill/>
          <a:ln/>
        </p:spPr>
        <p:txBody>
          <a:bodyPr wrap="square" lIns="0" tIns="0" rIns="0" bIns="0" rtlCol="0" anchor="ctr"/>
          <a:lstStyle/>
          <a:p>
            <a:pPr indent="0" marL="0">
              <a:buNone/>
            </a:pPr>
            <a:r>
              <a:rPr lang="en-US" sz="1200" b="1" dirty="0">
                <a:solidFill>
                  <a:srgbClr val="00BCD4"/>
                </a:solidFill>
              </a:rPr>
              <a:t>📊  Add GC-Aware Alerting</a:t>
            </a:r>
            <a:endParaRPr lang="en-US" sz="1200" dirty="0"/>
          </a:p>
        </p:txBody>
      </p:sp>
      <p:sp>
        <p:nvSpPr>
          <p:cNvPr id="15" name="Text 13"/>
          <p:cNvSpPr/>
          <p:nvPr/>
        </p:nvSpPr>
        <p:spPr>
          <a:xfrm>
            <a:off x="457200" y="2624328"/>
            <a:ext cx="3840480" cy="731520"/>
          </a:xfrm>
          <a:prstGeom prst="rect">
            <a:avLst/>
          </a:prstGeom>
          <a:noFill/>
          <a:ln/>
        </p:spPr>
        <p:txBody>
          <a:bodyPr wrap="square" lIns="0" tIns="0" rIns="0" bIns="0" rtlCol="0" anchor="ctr"/>
          <a:lstStyle/>
          <a:p>
            <a:pPr indent="0" marL="0">
              <a:buNone/>
            </a:pPr>
            <a:r>
              <a:rPr lang="en-US" sz="1050" dirty="0">
                <a:solidFill>
                  <a:srgbClr val="ECF0F1"/>
                </a:solidFill>
              </a:rPr>
              <a:t>Alert on jvm_gc_pause P99 &gt; 500ms independently of scaling. Distinguish GC events from true load increases.</a:t>
            </a:r>
            <a:endParaRPr lang="en-US" sz="1050" dirty="0"/>
          </a:p>
        </p:txBody>
      </p:sp>
      <p:sp>
        <p:nvSpPr>
          <p:cNvPr id="16" name="Shape 14"/>
          <p:cNvSpPr/>
          <p:nvPr/>
        </p:nvSpPr>
        <p:spPr>
          <a:xfrm>
            <a:off x="4663440" y="2167128"/>
            <a:ext cx="4069080" cy="1261872"/>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17" name="Text 15"/>
          <p:cNvSpPr/>
          <p:nvPr/>
        </p:nvSpPr>
        <p:spPr>
          <a:xfrm>
            <a:off x="4800600" y="2258568"/>
            <a:ext cx="3840480" cy="320040"/>
          </a:xfrm>
          <a:prstGeom prst="rect">
            <a:avLst/>
          </a:prstGeom>
          <a:noFill/>
          <a:ln/>
        </p:spPr>
        <p:txBody>
          <a:bodyPr wrap="square" lIns="0" tIns="0" rIns="0" bIns="0" rtlCol="0" anchor="ctr"/>
          <a:lstStyle/>
          <a:p>
            <a:pPr indent="0" marL="0">
              <a:buNone/>
            </a:pPr>
            <a:r>
              <a:rPr lang="en-US" sz="1200" b="1" dirty="0">
                <a:solidFill>
                  <a:srgbClr val="00BCD4"/>
                </a:solidFill>
              </a:rPr>
              <a:t>🔢  Minimum Replica Count</a:t>
            </a:r>
            <a:endParaRPr lang="en-US" sz="1200" dirty="0"/>
          </a:p>
        </p:txBody>
      </p:sp>
      <p:sp>
        <p:nvSpPr>
          <p:cNvPr id="18" name="Text 16"/>
          <p:cNvSpPr/>
          <p:nvPr/>
        </p:nvSpPr>
        <p:spPr>
          <a:xfrm>
            <a:off x="4800600" y="2624328"/>
            <a:ext cx="3840480" cy="731520"/>
          </a:xfrm>
          <a:prstGeom prst="rect">
            <a:avLst/>
          </a:prstGeom>
          <a:noFill/>
          <a:ln/>
        </p:spPr>
        <p:txBody>
          <a:bodyPr wrap="square" lIns="0" tIns="0" rIns="0" bIns="0" rtlCol="0" anchor="ctr"/>
          <a:lstStyle/>
          <a:p>
            <a:pPr indent="0" marL="0">
              <a:buNone/>
            </a:pPr>
            <a:r>
              <a:rPr lang="en-US" sz="1050" dirty="0">
                <a:solidFill>
                  <a:srgbClr val="ECF0F1"/>
                </a:solidFill>
              </a:rPr>
              <a:t>Keep minReplicas ≥ 2. Single-pod deployments with GC pauses = 100% downtime during GC stop-the-world phase.</a:t>
            </a:r>
            <a:endParaRPr lang="en-US" sz="1050" dirty="0"/>
          </a:p>
        </p:txBody>
      </p:sp>
      <p:sp>
        <p:nvSpPr>
          <p:cNvPr id="19" name="Shape 17"/>
          <p:cNvSpPr/>
          <p:nvPr/>
        </p:nvSpPr>
        <p:spPr>
          <a:xfrm>
            <a:off x="320040" y="3584448"/>
            <a:ext cx="4069080" cy="1261872"/>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20" name="Text 18"/>
          <p:cNvSpPr/>
          <p:nvPr/>
        </p:nvSpPr>
        <p:spPr>
          <a:xfrm>
            <a:off x="457200" y="3675888"/>
            <a:ext cx="3840480" cy="320040"/>
          </a:xfrm>
          <a:prstGeom prst="rect">
            <a:avLst/>
          </a:prstGeom>
          <a:noFill/>
          <a:ln/>
        </p:spPr>
        <p:txBody>
          <a:bodyPr wrap="square" lIns="0" tIns="0" rIns="0" bIns="0" rtlCol="0" anchor="ctr"/>
          <a:lstStyle/>
          <a:p>
            <a:pPr indent="0" marL="0">
              <a:buNone/>
            </a:pPr>
            <a:r>
              <a:rPr lang="en-US" sz="1200" b="1" dirty="0">
                <a:solidFill>
                  <a:srgbClr val="00BCD4"/>
                </a:solidFill>
              </a:rPr>
              <a:t>🔄  Correlate GC with Business Metrics</a:t>
            </a:r>
            <a:endParaRPr lang="en-US" sz="1200" dirty="0"/>
          </a:p>
        </p:txBody>
      </p:sp>
      <p:sp>
        <p:nvSpPr>
          <p:cNvPr id="21" name="Text 19"/>
          <p:cNvSpPr/>
          <p:nvPr/>
        </p:nvSpPr>
        <p:spPr>
          <a:xfrm>
            <a:off x="457200" y="4041648"/>
            <a:ext cx="3840480" cy="731520"/>
          </a:xfrm>
          <a:prstGeom prst="rect">
            <a:avLst/>
          </a:prstGeom>
          <a:noFill/>
          <a:ln/>
        </p:spPr>
        <p:txBody>
          <a:bodyPr wrap="square" lIns="0" tIns="0" rIns="0" bIns="0" rtlCol="0" anchor="ctr"/>
          <a:lstStyle/>
          <a:p>
            <a:pPr indent="0" marL="0">
              <a:buNone/>
            </a:pPr>
            <a:r>
              <a:rPr lang="en-US" sz="1050" dirty="0">
                <a:solidFill>
                  <a:srgbClr val="ECF0F1"/>
                </a:solidFill>
              </a:rPr>
              <a:t>Join GC pause timestamps with error rate and latency. If GC causes SLO breach, tune GC first before scaling out.</a:t>
            </a:r>
            <a:endParaRPr lang="en-US" sz="1050" dirty="0"/>
          </a:p>
        </p:txBody>
      </p:sp>
      <p:sp>
        <p:nvSpPr>
          <p:cNvPr id="22" name="Shape 20"/>
          <p:cNvSpPr/>
          <p:nvPr/>
        </p:nvSpPr>
        <p:spPr>
          <a:xfrm>
            <a:off x="4663440" y="3584448"/>
            <a:ext cx="4069080" cy="1261872"/>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23" name="Text 21"/>
          <p:cNvSpPr/>
          <p:nvPr/>
        </p:nvSpPr>
        <p:spPr>
          <a:xfrm>
            <a:off x="4800600" y="3675888"/>
            <a:ext cx="3840480" cy="320040"/>
          </a:xfrm>
          <a:prstGeom prst="rect">
            <a:avLst/>
          </a:prstGeom>
          <a:noFill/>
          <a:ln/>
        </p:spPr>
        <p:txBody>
          <a:bodyPr wrap="square" lIns="0" tIns="0" rIns="0" bIns="0" rtlCol="0" anchor="ctr"/>
          <a:lstStyle/>
          <a:p>
            <a:pPr indent="0" marL="0">
              <a:buNone/>
            </a:pPr>
            <a:r>
              <a:rPr lang="en-US" sz="1200" b="1" dirty="0">
                <a:solidFill>
                  <a:srgbClr val="00BCD4"/>
                </a:solidFill>
              </a:rPr>
              <a:t>💾  Memory Limit Buffer</a:t>
            </a:r>
            <a:endParaRPr lang="en-US" sz="1200" dirty="0"/>
          </a:p>
        </p:txBody>
      </p:sp>
      <p:sp>
        <p:nvSpPr>
          <p:cNvPr id="24" name="Text 22"/>
          <p:cNvSpPr/>
          <p:nvPr/>
        </p:nvSpPr>
        <p:spPr>
          <a:xfrm>
            <a:off x="4800600" y="4041648"/>
            <a:ext cx="3840480" cy="731520"/>
          </a:xfrm>
          <a:prstGeom prst="rect">
            <a:avLst/>
          </a:prstGeom>
          <a:noFill/>
          <a:ln/>
        </p:spPr>
        <p:txBody>
          <a:bodyPr wrap="square" lIns="0" tIns="0" rIns="0" bIns="0" rtlCol="0" anchor="ctr"/>
          <a:lstStyle/>
          <a:p>
            <a:pPr indent="0" marL="0">
              <a:buNone/>
            </a:pPr>
            <a:r>
              <a:rPr lang="en-US" sz="1050" dirty="0">
                <a:solidFill>
                  <a:srgbClr val="ECF0F1"/>
                </a:solidFill>
              </a:rPr>
              <a:t>Set limit 25-30% above request. Prevents OOMKill during GC surges. Use jvm_memory_used ratio metric for early warning.</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Systematic Tuning Workflow</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07</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20/26</a:t>
            </a:r>
            <a:endParaRPr lang="en-US" sz="900" dirty="0"/>
          </a:p>
        </p:txBody>
      </p:sp>
      <p:sp>
        <p:nvSpPr>
          <p:cNvPr id="7" name="Text 5"/>
          <p:cNvSpPr/>
          <p:nvPr/>
        </p:nvSpPr>
        <p:spPr>
          <a:xfrm>
            <a:off x="365760" y="749808"/>
            <a:ext cx="8229600" cy="292608"/>
          </a:xfrm>
          <a:prstGeom prst="rect">
            <a:avLst/>
          </a:prstGeom>
          <a:noFill/>
          <a:ln/>
        </p:spPr>
        <p:txBody>
          <a:bodyPr wrap="square" lIns="0" tIns="0" rIns="0" bIns="0" rtlCol="0" anchor="ctr"/>
          <a:lstStyle/>
          <a:p>
            <a:pPr indent="0" marL="0">
              <a:buNone/>
            </a:pPr>
            <a:r>
              <a:rPr lang="en-US" sz="1400" b="1" dirty="0">
                <a:solidFill>
                  <a:srgbClr val="1A2B3C"/>
                </a:solidFill>
              </a:rPr>
              <a:t>Iterative Instrumentation → Diagnosis → Tuning Loop</a:t>
            </a:r>
            <a:endParaRPr lang="en-US" sz="1400" dirty="0"/>
          </a:p>
        </p:txBody>
      </p:sp>
      <p:sp>
        <p:nvSpPr>
          <p:cNvPr id="8" name="Shape 6"/>
          <p:cNvSpPr/>
          <p:nvPr/>
        </p:nvSpPr>
        <p:spPr>
          <a:xfrm>
            <a:off x="320040" y="1188720"/>
            <a:ext cx="2103120" cy="26060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320040" y="1188720"/>
            <a:ext cx="2103120" cy="475488"/>
          </a:xfrm>
          <a:prstGeom prst="rect">
            <a:avLst/>
          </a:prstGeom>
          <a:solidFill>
            <a:srgbClr val="1E6FC8"/>
          </a:solidFill>
          <a:ln/>
        </p:spPr>
      </p:sp>
      <p:sp>
        <p:nvSpPr>
          <p:cNvPr id="10" name="Text 8"/>
          <p:cNvSpPr/>
          <p:nvPr/>
        </p:nvSpPr>
        <p:spPr>
          <a:xfrm>
            <a:off x="320040" y="1188720"/>
            <a:ext cx="438912" cy="475488"/>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1" name="Text 9"/>
          <p:cNvSpPr/>
          <p:nvPr/>
        </p:nvSpPr>
        <p:spPr>
          <a:xfrm>
            <a:off x="777240" y="1188720"/>
            <a:ext cx="1600200" cy="475488"/>
          </a:xfrm>
          <a:prstGeom prst="rect">
            <a:avLst/>
          </a:prstGeom>
          <a:noFill/>
          <a:ln/>
        </p:spPr>
        <p:txBody>
          <a:bodyPr wrap="square" lIns="0" tIns="0" rIns="0" bIns="0" rtlCol="0" anchor="ctr"/>
          <a:lstStyle/>
          <a:p>
            <a:pPr indent="0" marL="0">
              <a:buNone/>
            </a:pPr>
            <a:r>
              <a:rPr lang="en-US" sz="1400" b="1" dirty="0">
                <a:solidFill>
                  <a:srgbClr val="FFFFFF"/>
                </a:solidFill>
              </a:rPr>
              <a:t>Instrument</a:t>
            </a:r>
            <a:endParaRPr lang="en-US" sz="1400" dirty="0"/>
          </a:p>
        </p:txBody>
      </p:sp>
      <p:sp>
        <p:nvSpPr>
          <p:cNvPr id="12" name="Text 10"/>
          <p:cNvSpPr/>
          <p:nvPr/>
        </p:nvSpPr>
        <p:spPr>
          <a:xfrm>
            <a:off x="429768" y="1737360"/>
            <a:ext cx="1920240" cy="2011680"/>
          </a:xfrm>
          <a:prstGeom prst="rect">
            <a:avLst/>
          </a:prstGeom>
          <a:noFill/>
          <a:ln/>
        </p:spPr>
        <p:txBody>
          <a:bodyPr wrap="square" lIns="0" tIns="0" rIns="0" bIns="0" rtlCol="0" anchor="t"/>
          <a:lstStyle/>
          <a:p>
            <a:pPr indent="0" marL="0">
              <a:buNone/>
            </a:pPr>
            <a:r>
              <a:rPr lang="en-US" sz="1050" dirty="0">
                <a:solidFill>
                  <a:srgbClr val="1A2B3C"/>
                </a:solidFill>
              </a:rPr>
              <a:t>Enable JFR + Prometheus</a:t>
            </a:r>
            <a:endParaRPr lang="en-US" sz="1050" dirty="0"/>
          </a:p>
          <a:p>
            <a:pPr indent="0" marL="0">
              <a:buNone/>
            </a:pPr>
            <a:r>
              <a:rPr lang="en-US" sz="1050" dirty="0">
                <a:solidFill>
                  <a:srgbClr val="1A2B3C"/>
                </a:solidFill>
              </a:rPr>
              <a:t>Add Cryostat agent</a:t>
            </a:r>
            <a:endParaRPr lang="en-US" sz="1050" dirty="0"/>
          </a:p>
          <a:p>
            <a:pPr indent="0" marL="0">
              <a:buNone/>
            </a:pPr>
            <a:r>
              <a:rPr lang="en-US" sz="1050" dirty="0">
                <a:solidFill>
                  <a:srgbClr val="1A2B3C"/>
                </a:solidFill>
              </a:rPr>
              <a:t>Deploy Grafana dashboards</a:t>
            </a:r>
            <a:endParaRPr lang="en-US" sz="1050" dirty="0"/>
          </a:p>
        </p:txBody>
      </p:sp>
      <p:sp>
        <p:nvSpPr>
          <p:cNvPr id="13" name="Text 11"/>
          <p:cNvSpPr/>
          <p:nvPr/>
        </p:nvSpPr>
        <p:spPr>
          <a:xfrm>
            <a:off x="2441448" y="2194560"/>
            <a:ext cx="502920" cy="548640"/>
          </a:xfrm>
          <a:prstGeom prst="rect">
            <a:avLst/>
          </a:prstGeom>
          <a:noFill/>
          <a:ln/>
        </p:spPr>
        <p:txBody>
          <a:bodyPr wrap="square" lIns="0" tIns="0" rIns="0" bIns="0" rtlCol="0" anchor="ctr"/>
          <a:lstStyle/>
          <a:p>
            <a:pPr algn="ctr" indent="0" marL="0">
              <a:buNone/>
            </a:pPr>
            <a:r>
              <a:rPr lang="en-US" sz="2200" b="1" dirty="0">
                <a:solidFill>
                  <a:srgbClr val="1E6FC8"/>
                </a:solidFill>
              </a:rPr>
              <a:t>→</a:t>
            </a:r>
            <a:endParaRPr lang="en-US" sz="2200" dirty="0"/>
          </a:p>
        </p:txBody>
      </p:sp>
      <p:sp>
        <p:nvSpPr>
          <p:cNvPr id="14" name="Shape 12"/>
          <p:cNvSpPr/>
          <p:nvPr/>
        </p:nvSpPr>
        <p:spPr>
          <a:xfrm>
            <a:off x="2697480" y="1188720"/>
            <a:ext cx="2103120" cy="26060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697480" y="1188720"/>
            <a:ext cx="2103120" cy="475488"/>
          </a:xfrm>
          <a:prstGeom prst="rect">
            <a:avLst/>
          </a:prstGeom>
          <a:solidFill>
            <a:srgbClr val="00BCD4"/>
          </a:solidFill>
          <a:ln/>
        </p:spPr>
      </p:sp>
      <p:sp>
        <p:nvSpPr>
          <p:cNvPr id="16" name="Text 14"/>
          <p:cNvSpPr/>
          <p:nvPr/>
        </p:nvSpPr>
        <p:spPr>
          <a:xfrm>
            <a:off x="2697480" y="1188720"/>
            <a:ext cx="438912" cy="47548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7" name="Text 15"/>
          <p:cNvSpPr/>
          <p:nvPr/>
        </p:nvSpPr>
        <p:spPr>
          <a:xfrm>
            <a:off x="3154680" y="1188720"/>
            <a:ext cx="1600200" cy="475488"/>
          </a:xfrm>
          <a:prstGeom prst="rect">
            <a:avLst/>
          </a:prstGeom>
          <a:noFill/>
          <a:ln/>
        </p:spPr>
        <p:txBody>
          <a:bodyPr wrap="square" lIns="0" tIns="0" rIns="0" bIns="0" rtlCol="0" anchor="ctr"/>
          <a:lstStyle/>
          <a:p>
            <a:pPr indent="0" marL="0">
              <a:buNone/>
            </a:pPr>
            <a:r>
              <a:rPr lang="en-US" sz="1400" b="1" dirty="0">
                <a:solidFill>
                  <a:srgbClr val="FFFFFF"/>
                </a:solidFill>
              </a:rPr>
              <a:t>Baseline</a:t>
            </a:r>
            <a:endParaRPr lang="en-US" sz="1400" dirty="0"/>
          </a:p>
        </p:txBody>
      </p:sp>
      <p:sp>
        <p:nvSpPr>
          <p:cNvPr id="18" name="Text 16"/>
          <p:cNvSpPr/>
          <p:nvPr/>
        </p:nvSpPr>
        <p:spPr>
          <a:xfrm>
            <a:off x="2807208" y="1737360"/>
            <a:ext cx="1920240" cy="2011680"/>
          </a:xfrm>
          <a:prstGeom prst="rect">
            <a:avLst/>
          </a:prstGeom>
          <a:noFill/>
          <a:ln/>
        </p:spPr>
        <p:txBody>
          <a:bodyPr wrap="square" lIns="0" tIns="0" rIns="0" bIns="0" rtlCol="0" anchor="t"/>
          <a:lstStyle/>
          <a:p>
            <a:pPr indent="0" marL="0">
              <a:buNone/>
            </a:pPr>
            <a:r>
              <a:rPr lang="en-US" sz="1050" dirty="0">
                <a:solidFill>
                  <a:srgbClr val="1A2B3C"/>
                </a:solidFill>
              </a:rPr>
              <a:t>Run load test (k6 / Gatling)</a:t>
            </a:r>
            <a:endParaRPr lang="en-US" sz="1050" dirty="0"/>
          </a:p>
          <a:p>
            <a:pPr indent="0" marL="0">
              <a:buNone/>
            </a:pPr>
            <a:r>
              <a:rPr lang="en-US" sz="1050" dirty="0">
                <a:solidFill>
                  <a:srgbClr val="1A2B3C"/>
                </a:solidFill>
              </a:rPr>
              <a:t>Capture P50/P99 latency &amp; GC</a:t>
            </a:r>
            <a:endParaRPr lang="en-US" sz="1050" dirty="0"/>
          </a:p>
          <a:p>
            <a:pPr indent="0" marL="0">
              <a:buNone/>
            </a:pPr>
            <a:r>
              <a:rPr lang="en-US" sz="1050" dirty="0">
                <a:solidFill>
                  <a:srgbClr val="1A2B3C"/>
                </a:solidFill>
              </a:rPr>
              <a:t>Record resource RSS</a:t>
            </a:r>
            <a:endParaRPr lang="en-US" sz="1050" dirty="0"/>
          </a:p>
        </p:txBody>
      </p:sp>
      <p:sp>
        <p:nvSpPr>
          <p:cNvPr id="19" name="Text 17"/>
          <p:cNvSpPr/>
          <p:nvPr/>
        </p:nvSpPr>
        <p:spPr>
          <a:xfrm>
            <a:off x="4818888" y="2194560"/>
            <a:ext cx="502920" cy="548640"/>
          </a:xfrm>
          <a:prstGeom prst="rect">
            <a:avLst/>
          </a:prstGeom>
          <a:noFill/>
          <a:ln/>
        </p:spPr>
        <p:txBody>
          <a:bodyPr wrap="square" lIns="0" tIns="0" rIns="0" bIns="0" rtlCol="0" anchor="ctr"/>
          <a:lstStyle/>
          <a:p>
            <a:pPr algn="ctr" indent="0" marL="0">
              <a:buNone/>
            </a:pPr>
            <a:r>
              <a:rPr lang="en-US" sz="2200" b="1" dirty="0">
                <a:solidFill>
                  <a:srgbClr val="00BCD4"/>
                </a:solidFill>
              </a:rPr>
              <a:t>→</a:t>
            </a:r>
            <a:endParaRPr lang="en-US" sz="2200" dirty="0"/>
          </a:p>
        </p:txBody>
      </p:sp>
      <p:sp>
        <p:nvSpPr>
          <p:cNvPr id="20" name="Shape 18"/>
          <p:cNvSpPr/>
          <p:nvPr/>
        </p:nvSpPr>
        <p:spPr>
          <a:xfrm>
            <a:off x="4892040" y="1188720"/>
            <a:ext cx="2103120" cy="26060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4892040" y="1188720"/>
            <a:ext cx="2103120" cy="475488"/>
          </a:xfrm>
          <a:prstGeom prst="rect">
            <a:avLst/>
          </a:prstGeom>
          <a:solidFill>
            <a:srgbClr val="F5A623"/>
          </a:solidFill>
          <a:ln/>
        </p:spPr>
      </p:sp>
      <p:sp>
        <p:nvSpPr>
          <p:cNvPr id="22" name="Text 20"/>
          <p:cNvSpPr/>
          <p:nvPr/>
        </p:nvSpPr>
        <p:spPr>
          <a:xfrm>
            <a:off x="4892040" y="1188720"/>
            <a:ext cx="438912" cy="475488"/>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1"/>
          <p:cNvSpPr/>
          <p:nvPr/>
        </p:nvSpPr>
        <p:spPr>
          <a:xfrm>
            <a:off x="5349240" y="1188720"/>
            <a:ext cx="1600200" cy="475488"/>
          </a:xfrm>
          <a:prstGeom prst="rect">
            <a:avLst/>
          </a:prstGeom>
          <a:noFill/>
          <a:ln/>
        </p:spPr>
        <p:txBody>
          <a:bodyPr wrap="square" lIns="0" tIns="0" rIns="0" bIns="0" rtlCol="0" anchor="ctr"/>
          <a:lstStyle/>
          <a:p>
            <a:pPr indent="0" marL="0">
              <a:buNone/>
            </a:pPr>
            <a:r>
              <a:rPr lang="en-US" sz="1400" b="1" dirty="0">
                <a:solidFill>
                  <a:srgbClr val="FFFFFF"/>
                </a:solidFill>
              </a:rPr>
              <a:t>Diagnose</a:t>
            </a:r>
            <a:endParaRPr lang="en-US" sz="1400" dirty="0"/>
          </a:p>
        </p:txBody>
      </p:sp>
      <p:sp>
        <p:nvSpPr>
          <p:cNvPr id="24" name="Text 22"/>
          <p:cNvSpPr/>
          <p:nvPr/>
        </p:nvSpPr>
        <p:spPr>
          <a:xfrm>
            <a:off x="5001768" y="1737360"/>
            <a:ext cx="1920240" cy="2011680"/>
          </a:xfrm>
          <a:prstGeom prst="rect">
            <a:avLst/>
          </a:prstGeom>
          <a:noFill/>
          <a:ln/>
        </p:spPr>
        <p:txBody>
          <a:bodyPr wrap="square" lIns="0" tIns="0" rIns="0" bIns="0" rtlCol="0" anchor="t"/>
          <a:lstStyle/>
          <a:p>
            <a:pPr indent="0" marL="0">
              <a:buNone/>
            </a:pPr>
            <a:r>
              <a:rPr lang="en-US" sz="1050" dirty="0">
                <a:solidFill>
                  <a:srgbClr val="1A2B3C"/>
                </a:solidFill>
              </a:rPr>
              <a:t>Analyze JFR in JMC</a:t>
            </a:r>
            <a:endParaRPr lang="en-US" sz="1050" dirty="0"/>
          </a:p>
          <a:p>
            <a:pPr indent="0" marL="0">
              <a:buNone/>
            </a:pPr>
            <a:r>
              <a:rPr lang="en-US" sz="1050" dirty="0">
                <a:solidFill>
                  <a:srgbClr val="1A2B3C"/>
                </a:solidFill>
              </a:rPr>
              <a:t>Identify top allocation sites</a:t>
            </a:r>
            <a:endParaRPr lang="en-US" sz="1050" dirty="0"/>
          </a:p>
          <a:p>
            <a:pPr indent="0" marL="0">
              <a:buNone/>
            </a:pPr>
            <a:r>
              <a:rPr lang="en-US" sz="1050" dirty="0">
                <a:solidFill>
                  <a:srgbClr val="1A2B3C"/>
                </a:solidFill>
              </a:rPr>
              <a:t>Correlate GC with latency spikes</a:t>
            </a:r>
            <a:endParaRPr lang="en-US" sz="1050" dirty="0"/>
          </a:p>
        </p:txBody>
      </p:sp>
      <p:sp>
        <p:nvSpPr>
          <p:cNvPr id="25" name="Text 23"/>
          <p:cNvSpPr/>
          <p:nvPr/>
        </p:nvSpPr>
        <p:spPr>
          <a:xfrm>
            <a:off x="7013448" y="2194560"/>
            <a:ext cx="502920" cy="548640"/>
          </a:xfrm>
          <a:prstGeom prst="rect">
            <a:avLst/>
          </a:prstGeom>
          <a:noFill/>
          <a:ln/>
        </p:spPr>
        <p:txBody>
          <a:bodyPr wrap="square" lIns="0" tIns="0" rIns="0" bIns="0" rtlCol="0" anchor="ctr"/>
          <a:lstStyle/>
          <a:p>
            <a:pPr algn="ctr" indent="0" marL="0">
              <a:buNone/>
            </a:pPr>
            <a:r>
              <a:rPr lang="en-US" sz="2200" b="1" dirty="0">
                <a:solidFill>
                  <a:srgbClr val="F5A623"/>
                </a:solidFill>
              </a:rPr>
              <a:t>→</a:t>
            </a:r>
            <a:endParaRPr lang="en-US" sz="2200" dirty="0"/>
          </a:p>
        </p:txBody>
      </p:sp>
      <p:sp>
        <p:nvSpPr>
          <p:cNvPr id="26" name="Shape 24"/>
          <p:cNvSpPr/>
          <p:nvPr/>
        </p:nvSpPr>
        <p:spPr>
          <a:xfrm>
            <a:off x="7086600" y="1188720"/>
            <a:ext cx="2103120" cy="26060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7086600" y="1188720"/>
            <a:ext cx="2103120" cy="475488"/>
          </a:xfrm>
          <a:prstGeom prst="rect">
            <a:avLst/>
          </a:prstGeom>
          <a:solidFill>
            <a:srgbClr val="27AE60"/>
          </a:solidFill>
          <a:ln/>
        </p:spPr>
      </p:sp>
      <p:sp>
        <p:nvSpPr>
          <p:cNvPr id="28" name="Text 26"/>
          <p:cNvSpPr/>
          <p:nvPr/>
        </p:nvSpPr>
        <p:spPr>
          <a:xfrm>
            <a:off x="7086600" y="1188720"/>
            <a:ext cx="438912" cy="475488"/>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9" name="Text 27"/>
          <p:cNvSpPr/>
          <p:nvPr/>
        </p:nvSpPr>
        <p:spPr>
          <a:xfrm>
            <a:off x="7543800" y="1188720"/>
            <a:ext cx="1600200" cy="475488"/>
          </a:xfrm>
          <a:prstGeom prst="rect">
            <a:avLst/>
          </a:prstGeom>
          <a:noFill/>
          <a:ln/>
        </p:spPr>
        <p:txBody>
          <a:bodyPr wrap="square" lIns="0" tIns="0" rIns="0" bIns="0" rtlCol="0" anchor="ctr"/>
          <a:lstStyle/>
          <a:p>
            <a:pPr indent="0" marL="0">
              <a:buNone/>
            </a:pPr>
            <a:r>
              <a:rPr lang="en-US" sz="1400" b="1" dirty="0">
                <a:solidFill>
                  <a:srgbClr val="FFFFFF"/>
                </a:solidFill>
              </a:rPr>
              <a:t>Tune</a:t>
            </a:r>
            <a:endParaRPr lang="en-US" sz="1400" dirty="0"/>
          </a:p>
        </p:txBody>
      </p:sp>
      <p:sp>
        <p:nvSpPr>
          <p:cNvPr id="30" name="Text 28"/>
          <p:cNvSpPr/>
          <p:nvPr/>
        </p:nvSpPr>
        <p:spPr>
          <a:xfrm>
            <a:off x="7196328" y="1737360"/>
            <a:ext cx="1920240" cy="2011680"/>
          </a:xfrm>
          <a:prstGeom prst="rect">
            <a:avLst/>
          </a:prstGeom>
          <a:noFill/>
          <a:ln/>
        </p:spPr>
        <p:txBody>
          <a:bodyPr wrap="square" lIns="0" tIns="0" rIns="0" bIns="0" rtlCol="0" anchor="t"/>
          <a:lstStyle/>
          <a:p>
            <a:pPr indent="0" marL="0">
              <a:buNone/>
            </a:pPr>
            <a:r>
              <a:rPr lang="en-US" sz="1050" dirty="0">
                <a:solidFill>
                  <a:srgbClr val="1A2B3C"/>
                </a:solidFill>
              </a:rPr>
              <a:t>Apply one change at a time</a:t>
            </a:r>
            <a:endParaRPr lang="en-US" sz="1050" dirty="0"/>
          </a:p>
          <a:p>
            <a:pPr indent="0" marL="0">
              <a:buNone/>
            </a:pPr>
            <a:r>
              <a:rPr lang="en-US" sz="1050" dirty="0">
                <a:solidFill>
                  <a:srgbClr val="1A2B3C"/>
                </a:solidFill>
              </a:rPr>
              <a:t>GC flags, heap size, thread count</a:t>
            </a:r>
            <a:endParaRPr lang="en-US" sz="1050" dirty="0"/>
          </a:p>
          <a:p>
            <a:pPr indent="0" marL="0">
              <a:buNone/>
            </a:pPr>
            <a:r>
              <a:rPr lang="en-US" sz="1050" dirty="0">
                <a:solidFill>
                  <a:srgbClr val="1A2B3C"/>
                </a:solidFill>
              </a:rPr>
              <a:t>Document hypothesis</a:t>
            </a:r>
            <a:endParaRPr lang="en-US" sz="1050" dirty="0"/>
          </a:p>
        </p:txBody>
      </p:sp>
      <p:sp>
        <p:nvSpPr>
          <p:cNvPr id="31" name="Shape 29"/>
          <p:cNvSpPr/>
          <p:nvPr/>
        </p:nvSpPr>
        <p:spPr>
          <a:xfrm>
            <a:off x="320040" y="3886200"/>
            <a:ext cx="8503920" cy="868680"/>
          </a:xfrm>
          <a:prstGeom prst="rect">
            <a:avLst/>
          </a:prstGeom>
          <a:solidFill>
            <a:srgbClr val="0A1628"/>
          </a:solidFill>
          <a:ln/>
          <a:effectLst>
            <a:outerShdw sx="100000" sy="100000" kx="0" ky="0" algn="bl" rotWithShape="0" blurRad="101600" dist="38100" dir="8100000">
              <a:srgbClr val="000000">
                <a:alpha val="18000"/>
              </a:srgbClr>
            </a:outerShdw>
          </a:effectLst>
        </p:spPr>
      </p:sp>
      <p:sp>
        <p:nvSpPr>
          <p:cNvPr id="32" name="Text 30"/>
          <p:cNvSpPr/>
          <p:nvPr/>
        </p:nvSpPr>
        <p:spPr>
          <a:xfrm>
            <a:off x="457200" y="3931920"/>
            <a:ext cx="2743200" cy="320040"/>
          </a:xfrm>
          <a:prstGeom prst="rect">
            <a:avLst/>
          </a:prstGeom>
          <a:noFill/>
          <a:ln/>
        </p:spPr>
        <p:txBody>
          <a:bodyPr wrap="square" lIns="0" tIns="0" rIns="0" bIns="0" rtlCol="0" anchor="ctr"/>
          <a:lstStyle/>
          <a:p>
            <a:pPr indent="0" marL="0">
              <a:buNone/>
            </a:pPr>
            <a:r>
              <a:rPr lang="en-US" sz="1300" b="1" dirty="0">
                <a:solidFill>
                  <a:srgbClr val="00E5C3"/>
                </a:solidFill>
              </a:rPr>
              <a:t>5  Validate &amp; Repeat</a:t>
            </a:r>
            <a:endParaRPr lang="en-US" sz="1300" dirty="0"/>
          </a:p>
        </p:txBody>
      </p:sp>
      <p:sp>
        <p:nvSpPr>
          <p:cNvPr id="33" name="Text 31"/>
          <p:cNvSpPr/>
          <p:nvPr/>
        </p:nvSpPr>
        <p:spPr>
          <a:xfrm>
            <a:off x="457200" y="4224528"/>
            <a:ext cx="8229600" cy="475488"/>
          </a:xfrm>
          <a:prstGeom prst="rect">
            <a:avLst/>
          </a:prstGeom>
          <a:noFill/>
          <a:ln/>
        </p:spPr>
        <p:txBody>
          <a:bodyPr wrap="square" lIns="0" tIns="0" rIns="0" bIns="0" rtlCol="0" anchor="ctr"/>
          <a:lstStyle/>
          <a:p>
            <a:pPr indent="0" marL="0">
              <a:buNone/>
            </a:pPr>
            <a:r>
              <a:rPr lang="en-US" sz="1050" dirty="0">
                <a:solidFill>
                  <a:srgbClr val="ECF0F1"/>
                </a:solidFill>
              </a:rPr>
              <a:t>Re-run load test → compare against baseline → did P99 latency improve? Did cost decrease?</a:t>
            </a:r>
            <a:endParaRPr lang="en-US" sz="1050" dirty="0"/>
          </a:p>
          <a:p>
            <a:pPr indent="0" marL="0">
              <a:buNone/>
            </a:pPr>
            <a:r>
              <a:rPr lang="en-US" sz="1050" dirty="0">
                <a:solidFill>
                  <a:srgbClr val="ECF0F1"/>
                </a:solidFill>
              </a:rPr>
              <a:t>If yes: commit config. If no: revert + try next hypothesis. Document every change.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Cost Optimization &amp; Business Value</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Section 07</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21/26</a:t>
            </a:r>
            <a:endParaRPr lang="en-US" sz="900" dirty="0"/>
          </a:p>
        </p:txBody>
      </p:sp>
      <p:sp>
        <p:nvSpPr>
          <p:cNvPr id="7" name="Shape 5"/>
          <p:cNvSpPr/>
          <p:nvPr/>
        </p:nvSpPr>
        <p:spPr>
          <a:xfrm>
            <a:off x="274320" y="777240"/>
            <a:ext cx="2011680" cy="1188720"/>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8" name="Text 6"/>
          <p:cNvSpPr/>
          <p:nvPr/>
        </p:nvSpPr>
        <p:spPr>
          <a:xfrm>
            <a:off x="274320" y="868680"/>
            <a:ext cx="2011680" cy="653796"/>
          </a:xfrm>
          <a:prstGeom prst="rect">
            <a:avLst/>
          </a:prstGeom>
          <a:noFill/>
          <a:ln/>
        </p:spPr>
        <p:txBody>
          <a:bodyPr wrap="square" lIns="0" tIns="0" rIns="0" bIns="0" rtlCol="0" anchor="b"/>
          <a:lstStyle/>
          <a:p>
            <a:pPr algn="ctr" indent="0" marL="0">
              <a:buNone/>
            </a:pPr>
            <a:r>
              <a:rPr lang="en-US" sz="3600" b="1" dirty="0">
                <a:solidFill>
                  <a:srgbClr val="27AE60"/>
                </a:solidFill>
              </a:rPr>
              <a:t>40-60%</a:t>
            </a:r>
            <a:endParaRPr lang="en-US" sz="3600" dirty="0"/>
          </a:p>
        </p:txBody>
      </p:sp>
      <p:sp>
        <p:nvSpPr>
          <p:cNvPr id="9" name="Text 7"/>
          <p:cNvSpPr/>
          <p:nvPr/>
        </p:nvSpPr>
        <p:spPr>
          <a:xfrm>
            <a:off x="274320" y="1431036"/>
            <a:ext cx="2011680" cy="475488"/>
          </a:xfrm>
          <a:prstGeom prst="rect">
            <a:avLst/>
          </a:prstGeom>
          <a:noFill/>
          <a:ln/>
        </p:spPr>
        <p:txBody>
          <a:bodyPr wrap="square" lIns="0" tIns="0" rIns="0" bIns="0" rtlCol="0" anchor="t"/>
          <a:lstStyle/>
          <a:p>
            <a:pPr algn="ctr" indent="0" marL="0">
              <a:buNone/>
            </a:pPr>
            <a:r>
              <a:rPr lang="en-US" sz="1100" dirty="0">
                <a:solidFill>
                  <a:srgbClr val="90A4AE"/>
                </a:solidFill>
              </a:rPr>
              <a:t>Memory reduction</a:t>
            </a:r>
            <a:endParaRPr lang="en-US" sz="1100" dirty="0"/>
          </a:p>
          <a:p>
            <a:pPr algn="ctr" indent="0" marL="0">
              <a:buNone/>
            </a:pPr>
            <a:r>
              <a:rPr lang="en-US" sz="1100" dirty="0">
                <a:solidFill>
                  <a:srgbClr val="90A4AE"/>
                </a:solidFill>
              </a:rPr>
              <a:t>after right-sizing</a:t>
            </a:r>
            <a:endParaRPr lang="en-US" sz="1100" dirty="0"/>
          </a:p>
        </p:txBody>
      </p:sp>
      <p:sp>
        <p:nvSpPr>
          <p:cNvPr id="10" name="Shape 8"/>
          <p:cNvSpPr/>
          <p:nvPr/>
        </p:nvSpPr>
        <p:spPr>
          <a:xfrm>
            <a:off x="2441448" y="777240"/>
            <a:ext cx="2011680" cy="1188720"/>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11" name="Text 9"/>
          <p:cNvSpPr/>
          <p:nvPr/>
        </p:nvSpPr>
        <p:spPr>
          <a:xfrm>
            <a:off x="2441448" y="868680"/>
            <a:ext cx="2011680" cy="653796"/>
          </a:xfrm>
          <a:prstGeom prst="rect">
            <a:avLst/>
          </a:prstGeom>
          <a:noFill/>
          <a:ln/>
        </p:spPr>
        <p:txBody>
          <a:bodyPr wrap="square" lIns="0" tIns="0" rIns="0" bIns="0" rtlCol="0" anchor="b"/>
          <a:lstStyle/>
          <a:p>
            <a:pPr algn="ctr" indent="0" marL="0">
              <a:buNone/>
            </a:pPr>
            <a:r>
              <a:rPr lang="en-US" sz="3600" b="1" dirty="0">
                <a:solidFill>
                  <a:srgbClr val="00BCD4"/>
                </a:solidFill>
              </a:rPr>
              <a:t>2-3×</a:t>
            </a:r>
            <a:endParaRPr lang="en-US" sz="3600" dirty="0"/>
          </a:p>
        </p:txBody>
      </p:sp>
      <p:sp>
        <p:nvSpPr>
          <p:cNvPr id="12" name="Text 10"/>
          <p:cNvSpPr/>
          <p:nvPr/>
        </p:nvSpPr>
        <p:spPr>
          <a:xfrm>
            <a:off x="2441448" y="1431036"/>
            <a:ext cx="2011680" cy="475488"/>
          </a:xfrm>
          <a:prstGeom prst="rect">
            <a:avLst/>
          </a:prstGeom>
          <a:noFill/>
          <a:ln/>
        </p:spPr>
        <p:txBody>
          <a:bodyPr wrap="square" lIns="0" tIns="0" rIns="0" bIns="0" rtlCol="0" anchor="t"/>
          <a:lstStyle/>
          <a:p>
            <a:pPr algn="ctr" indent="0" marL="0">
              <a:buNone/>
            </a:pPr>
            <a:r>
              <a:rPr lang="en-US" sz="1100" dirty="0">
                <a:solidFill>
                  <a:srgbClr val="90A4AE"/>
                </a:solidFill>
              </a:rPr>
              <a:t>Pod density increase</a:t>
            </a:r>
            <a:endParaRPr lang="en-US" sz="1100" dirty="0"/>
          </a:p>
          <a:p>
            <a:pPr algn="ctr" indent="0" marL="0">
              <a:buNone/>
            </a:pPr>
            <a:r>
              <a:rPr lang="en-US" sz="1100" dirty="0">
                <a:solidFill>
                  <a:srgbClr val="90A4AE"/>
                </a:solidFill>
              </a:rPr>
              <a:t>per node</a:t>
            </a:r>
            <a:endParaRPr lang="en-US" sz="1100" dirty="0"/>
          </a:p>
        </p:txBody>
      </p:sp>
      <p:sp>
        <p:nvSpPr>
          <p:cNvPr id="13" name="Shape 11"/>
          <p:cNvSpPr/>
          <p:nvPr/>
        </p:nvSpPr>
        <p:spPr>
          <a:xfrm>
            <a:off x="4608576" y="777240"/>
            <a:ext cx="2011680" cy="1188720"/>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14" name="Text 12"/>
          <p:cNvSpPr/>
          <p:nvPr/>
        </p:nvSpPr>
        <p:spPr>
          <a:xfrm>
            <a:off x="4608576" y="868680"/>
            <a:ext cx="2011680" cy="653796"/>
          </a:xfrm>
          <a:prstGeom prst="rect">
            <a:avLst/>
          </a:prstGeom>
          <a:noFill/>
          <a:ln/>
        </p:spPr>
        <p:txBody>
          <a:bodyPr wrap="square" lIns="0" tIns="0" rIns="0" bIns="0" rtlCol="0" anchor="b"/>
          <a:lstStyle/>
          <a:p>
            <a:pPr algn="ctr" indent="0" marL="0">
              <a:buNone/>
            </a:pPr>
            <a:r>
              <a:rPr lang="en-US" sz="3600" b="1" dirty="0">
                <a:solidFill>
                  <a:srgbClr val="1E6FC8"/>
                </a:solidFill>
              </a:rPr>
              <a:t>55%</a:t>
            </a:r>
            <a:endParaRPr lang="en-US" sz="3600" dirty="0"/>
          </a:p>
        </p:txBody>
      </p:sp>
      <p:sp>
        <p:nvSpPr>
          <p:cNvPr id="15" name="Text 13"/>
          <p:cNvSpPr/>
          <p:nvPr/>
        </p:nvSpPr>
        <p:spPr>
          <a:xfrm>
            <a:off x="4608576" y="1431036"/>
            <a:ext cx="2011680" cy="475488"/>
          </a:xfrm>
          <a:prstGeom prst="rect">
            <a:avLst/>
          </a:prstGeom>
          <a:noFill/>
          <a:ln/>
        </p:spPr>
        <p:txBody>
          <a:bodyPr wrap="square" lIns="0" tIns="0" rIns="0" bIns="0" rtlCol="0" anchor="t"/>
          <a:lstStyle/>
          <a:p>
            <a:pPr algn="ctr" indent="0" marL="0">
              <a:buNone/>
            </a:pPr>
            <a:r>
              <a:rPr lang="en-US" sz="1100" dirty="0">
                <a:solidFill>
                  <a:srgbClr val="90A4AE"/>
                </a:solidFill>
              </a:rPr>
              <a:t>Startup time reduction</a:t>
            </a:r>
            <a:endParaRPr lang="en-US" sz="1100" dirty="0"/>
          </a:p>
          <a:p>
            <a:pPr algn="ctr" indent="0" marL="0">
              <a:buNone/>
            </a:pPr>
            <a:r>
              <a:rPr lang="en-US" sz="1100" dirty="0">
                <a:solidFill>
                  <a:srgbClr val="90A4AE"/>
                </a:solidFill>
              </a:rPr>
              <a:t>with AppCDS</a:t>
            </a:r>
            <a:endParaRPr lang="en-US" sz="1100" dirty="0"/>
          </a:p>
        </p:txBody>
      </p:sp>
      <p:sp>
        <p:nvSpPr>
          <p:cNvPr id="16" name="Shape 14"/>
          <p:cNvSpPr/>
          <p:nvPr/>
        </p:nvSpPr>
        <p:spPr>
          <a:xfrm>
            <a:off x="6775704" y="777240"/>
            <a:ext cx="2011680" cy="1188720"/>
          </a:xfrm>
          <a:prstGeom prst="rect">
            <a:avLst/>
          </a:prstGeom>
          <a:solidFill>
            <a:srgbClr val="122040"/>
          </a:solidFill>
          <a:ln/>
          <a:effectLst>
            <a:outerShdw sx="100000" sy="100000" kx="0" ky="0" algn="bl" rotWithShape="0" blurRad="101600" dist="38100" dir="8100000">
              <a:srgbClr val="000000">
                <a:alpha val="18000"/>
              </a:srgbClr>
            </a:outerShdw>
          </a:effectLst>
        </p:spPr>
      </p:sp>
      <p:sp>
        <p:nvSpPr>
          <p:cNvPr id="17" name="Text 15"/>
          <p:cNvSpPr/>
          <p:nvPr/>
        </p:nvSpPr>
        <p:spPr>
          <a:xfrm>
            <a:off x="6775704" y="868680"/>
            <a:ext cx="2011680" cy="653796"/>
          </a:xfrm>
          <a:prstGeom prst="rect">
            <a:avLst/>
          </a:prstGeom>
          <a:noFill/>
          <a:ln/>
        </p:spPr>
        <p:txBody>
          <a:bodyPr wrap="square" lIns="0" tIns="0" rIns="0" bIns="0" rtlCol="0" anchor="b"/>
          <a:lstStyle/>
          <a:p>
            <a:pPr algn="ctr" indent="0" marL="0">
              <a:buNone/>
            </a:pPr>
            <a:r>
              <a:rPr lang="en-US" sz="3600" b="1" dirty="0">
                <a:solidFill>
                  <a:srgbClr val="F5A623"/>
                </a:solidFill>
              </a:rPr>
              <a:t>$$$</a:t>
            </a:r>
            <a:endParaRPr lang="en-US" sz="3600" dirty="0"/>
          </a:p>
        </p:txBody>
      </p:sp>
      <p:sp>
        <p:nvSpPr>
          <p:cNvPr id="18" name="Text 16"/>
          <p:cNvSpPr/>
          <p:nvPr/>
        </p:nvSpPr>
        <p:spPr>
          <a:xfrm>
            <a:off x="6775704" y="1431036"/>
            <a:ext cx="2011680" cy="475488"/>
          </a:xfrm>
          <a:prstGeom prst="rect">
            <a:avLst/>
          </a:prstGeom>
          <a:noFill/>
          <a:ln/>
        </p:spPr>
        <p:txBody>
          <a:bodyPr wrap="square" lIns="0" tIns="0" rIns="0" bIns="0" rtlCol="0" anchor="t"/>
          <a:lstStyle/>
          <a:p>
            <a:pPr algn="ctr" indent="0" marL="0">
              <a:buNone/>
            </a:pPr>
            <a:r>
              <a:rPr lang="en-US" sz="1100" dirty="0">
                <a:solidFill>
                  <a:srgbClr val="90A4AE"/>
                </a:solidFill>
              </a:rPr>
              <a:t>Node cost savings</a:t>
            </a:r>
            <a:endParaRPr lang="en-US" sz="1100" dirty="0"/>
          </a:p>
          <a:p>
            <a:pPr algn="ctr" indent="0" marL="0">
              <a:buNone/>
            </a:pPr>
            <a:r>
              <a:rPr lang="en-US" sz="1100" dirty="0">
                <a:solidFill>
                  <a:srgbClr val="90A4AE"/>
                </a:solidFill>
              </a:rPr>
              <a:t>from bin-packing</a:t>
            </a:r>
            <a:endParaRPr lang="en-US" sz="1100" dirty="0"/>
          </a:p>
        </p:txBody>
      </p:sp>
      <p:sp>
        <p:nvSpPr>
          <p:cNvPr id="19" name="Text 17"/>
          <p:cNvSpPr/>
          <p:nvPr/>
        </p:nvSpPr>
        <p:spPr>
          <a:xfrm>
            <a:off x="365760" y="2084832"/>
            <a:ext cx="8229600" cy="292608"/>
          </a:xfrm>
          <a:prstGeom prst="rect">
            <a:avLst/>
          </a:prstGeom>
          <a:noFill/>
          <a:ln/>
        </p:spPr>
        <p:txBody>
          <a:bodyPr wrap="square" lIns="0" tIns="0" rIns="0" bIns="0" rtlCol="0" anchor="ctr"/>
          <a:lstStyle/>
          <a:p>
            <a:pPr indent="0" marL="0">
              <a:buNone/>
            </a:pPr>
            <a:r>
              <a:rPr lang="en-US" sz="1400" b="1" dirty="0">
                <a:solidFill>
                  <a:srgbClr val="ECF0F1"/>
                </a:solidFill>
              </a:rPr>
              <a:t>Measuring ROI:</a:t>
            </a:r>
            <a:endParaRPr lang="en-US" sz="1400" dirty="0"/>
          </a:p>
        </p:txBody>
      </p:sp>
      <p:sp>
        <p:nvSpPr>
          <p:cNvPr id="20" name="Shape 18"/>
          <p:cNvSpPr/>
          <p:nvPr/>
        </p:nvSpPr>
        <p:spPr>
          <a:xfrm>
            <a:off x="320040" y="2468880"/>
            <a:ext cx="8503920" cy="512064"/>
          </a:xfrm>
          <a:prstGeom prst="rect">
            <a:avLst/>
          </a:prstGeom>
          <a:solidFill>
            <a:srgbClr val="122040"/>
          </a:solidFill>
          <a:ln/>
        </p:spPr>
      </p:sp>
      <p:sp>
        <p:nvSpPr>
          <p:cNvPr id="21" name="Shape 19"/>
          <p:cNvSpPr/>
          <p:nvPr/>
        </p:nvSpPr>
        <p:spPr>
          <a:xfrm>
            <a:off x="320040" y="2468880"/>
            <a:ext cx="54864" cy="512064"/>
          </a:xfrm>
          <a:prstGeom prst="rect">
            <a:avLst/>
          </a:prstGeom>
          <a:solidFill>
            <a:srgbClr val="27AE60"/>
          </a:solidFill>
          <a:ln/>
        </p:spPr>
      </p:sp>
      <p:sp>
        <p:nvSpPr>
          <p:cNvPr id="22" name="Text 20"/>
          <p:cNvSpPr/>
          <p:nvPr/>
        </p:nvSpPr>
        <p:spPr>
          <a:xfrm>
            <a:off x="502920" y="2505456"/>
            <a:ext cx="2560320" cy="438912"/>
          </a:xfrm>
          <a:prstGeom prst="rect">
            <a:avLst/>
          </a:prstGeom>
          <a:noFill/>
          <a:ln/>
        </p:spPr>
        <p:txBody>
          <a:bodyPr wrap="square" lIns="0" tIns="0" rIns="0" bIns="0" rtlCol="0" anchor="ctr"/>
          <a:lstStyle/>
          <a:p>
            <a:pPr indent="0" marL="0">
              <a:buNone/>
            </a:pPr>
            <a:r>
              <a:rPr lang="en-US" sz="1100" b="1" dirty="0">
                <a:solidFill>
                  <a:srgbClr val="27AE60"/>
                </a:solidFill>
              </a:rPr>
              <a:t>OpenShift Cost Management</a:t>
            </a:r>
            <a:endParaRPr lang="en-US" sz="1100" dirty="0"/>
          </a:p>
        </p:txBody>
      </p:sp>
      <p:sp>
        <p:nvSpPr>
          <p:cNvPr id="23" name="Text 21"/>
          <p:cNvSpPr/>
          <p:nvPr/>
        </p:nvSpPr>
        <p:spPr>
          <a:xfrm>
            <a:off x="3154680" y="2505456"/>
            <a:ext cx="5577840" cy="438912"/>
          </a:xfrm>
          <a:prstGeom prst="rect">
            <a:avLst/>
          </a:prstGeom>
          <a:noFill/>
          <a:ln/>
        </p:spPr>
        <p:txBody>
          <a:bodyPr wrap="square" lIns="0" tIns="0" rIns="0" bIns="0" rtlCol="0" anchor="ctr"/>
          <a:lstStyle/>
          <a:p>
            <a:pPr indent="0" marL="0">
              <a:buNone/>
            </a:pPr>
            <a:r>
              <a:rPr lang="en-US" sz="1050" dirty="0">
                <a:solidFill>
                  <a:srgbClr val="ECF0F1"/>
                </a:solidFill>
              </a:rPr>
              <a:t>Track pod/namespace resource usage vs. allocated. Compare cost before/after optimization sprint.</a:t>
            </a:r>
            <a:endParaRPr lang="en-US" sz="1050" dirty="0"/>
          </a:p>
        </p:txBody>
      </p:sp>
      <p:sp>
        <p:nvSpPr>
          <p:cNvPr id="24" name="Shape 22"/>
          <p:cNvSpPr/>
          <p:nvPr/>
        </p:nvSpPr>
        <p:spPr>
          <a:xfrm>
            <a:off x="320040" y="3054096"/>
            <a:ext cx="8503920" cy="512064"/>
          </a:xfrm>
          <a:prstGeom prst="rect">
            <a:avLst/>
          </a:prstGeom>
          <a:solidFill>
            <a:srgbClr val="122040"/>
          </a:solidFill>
          <a:ln/>
        </p:spPr>
      </p:sp>
      <p:sp>
        <p:nvSpPr>
          <p:cNvPr id="25" name="Shape 23"/>
          <p:cNvSpPr/>
          <p:nvPr/>
        </p:nvSpPr>
        <p:spPr>
          <a:xfrm>
            <a:off x="320040" y="3054096"/>
            <a:ext cx="54864" cy="512064"/>
          </a:xfrm>
          <a:prstGeom prst="rect">
            <a:avLst/>
          </a:prstGeom>
          <a:solidFill>
            <a:srgbClr val="27AE60"/>
          </a:solidFill>
          <a:ln/>
        </p:spPr>
      </p:sp>
      <p:sp>
        <p:nvSpPr>
          <p:cNvPr id="26" name="Text 24"/>
          <p:cNvSpPr/>
          <p:nvPr/>
        </p:nvSpPr>
        <p:spPr>
          <a:xfrm>
            <a:off x="502920" y="3090672"/>
            <a:ext cx="2560320" cy="438912"/>
          </a:xfrm>
          <a:prstGeom prst="rect">
            <a:avLst/>
          </a:prstGeom>
          <a:noFill/>
          <a:ln/>
        </p:spPr>
        <p:txBody>
          <a:bodyPr wrap="square" lIns="0" tIns="0" rIns="0" bIns="0" rtlCol="0" anchor="ctr"/>
          <a:lstStyle/>
          <a:p>
            <a:pPr indent="0" marL="0">
              <a:buNone/>
            </a:pPr>
            <a:r>
              <a:rPr lang="en-US" sz="1100" b="1" dirty="0">
                <a:solidFill>
                  <a:srgbClr val="27AE60"/>
                </a:solidFill>
              </a:rPr>
              <a:t>Node Reduction Formula</a:t>
            </a:r>
            <a:endParaRPr lang="en-US" sz="1100" dirty="0"/>
          </a:p>
        </p:txBody>
      </p:sp>
      <p:sp>
        <p:nvSpPr>
          <p:cNvPr id="27" name="Text 25"/>
          <p:cNvSpPr/>
          <p:nvPr/>
        </p:nvSpPr>
        <p:spPr>
          <a:xfrm>
            <a:off x="3154680" y="3090672"/>
            <a:ext cx="5577840" cy="438912"/>
          </a:xfrm>
          <a:prstGeom prst="rect">
            <a:avLst/>
          </a:prstGeom>
          <a:noFill/>
          <a:ln/>
        </p:spPr>
        <p:txBody>
          <a:bodyPr wrap="square" lIns="0" tIns="0" rIns="0" bIns="0" rtlCol="0" anchor="ctr"/>
          <a:lstStyle/>
          <a:p>
            <a:pPr indent="0" marL="0">
              <a:buNone/>
            </a:pPr>
            <a:r>
              <a:rPr lang="en-US" sz="1050" dirty="0">
                <a:solidFill>
                  <a:srgbClr val="ECF0F1"/>
                </a:solidFill>
              </a:rPr>
              <a:t>Nodes saved = (total pods) / (old density) − (total pods) / (new density). Multiply by node hourly rate.</a:t>
            </a:r>
            <a:endParaRPr lang="en-US" sz="1050" dirty="0"/>
          </a:p>
        </p:txBody>
      </p:sp>
      <p:sp>
        <p:nvSpPr>
          <p:cNvPr id="28" name="Shape 26"/>
          <p:cNvSpPr/>
          <p:nvPr/>
        </p:nvSpPr>
        <p:spPr>
          <a:xfrm>
            <a:off x="320040" y="3639312"/>
            <a:ext cx="8503920" cy="512064"/>
          </a:xfrm>
          <a:prstGeom prst="rect">
            <a:avLst/>
          </a:prstGeom>
          <a:solidFill>
            <a:srgbClr val="122040"/>
          </a:solidFill>
          <a:ln/>
        </p:spPr>
      </p:sp>
      <p:sp>
        <p:nvSpPr>
          <p:cNvPr id="29" name="Shape 27"/>
          <p:cNvSpPr/>
          <p:nvPr/>
        </p:nvSpPr>
        <p:spPr>
          <a:xfrm>
            <a:off x="320040" y="3639312"/>
            <a:ext cx="54864" cy="512064"/>
          </a:xfrm>
          <a:prstGeom prst="rect">
            <a:avLst/>
          </a:prstGeom>
          <a:solidFill>
            <a:srgbClr val="27AE60"/>
          </a:solidFill>
          <a:ln/>
        </p:spPr>
      </p:sp>
      <p:sp>
        <p:nvSpPr>
          <p:cNvPr id="30" name="Text 28"/>
          <p:cNvSpPr/>
          <p:nvPr/>
        </p:nvSpPr>
        <p:spPr>
          <a:xfrm>
            <a:off x="502920" y="3675888"/>
            <a:ext cx="2560320" cy="438912"/>
          </a:xfrm>
          <a:prstGeom prst="rect">
            <a:avLst/>
          </a:prstGeom>
          <a:noFill/>
          <a:ln/>
        </p:spPr>
        <p:txBody>
          <a:bodyPr wrap="square" lIns="0" tIns="0" rIns="0" bIns="0" rtlCol="0" anchor="ctr"/>
          <a:lstStyle/>
          <a:p>
            <a:pPr indent="0" marL="0">
              <a:buNone/>
            </a:pPr>
            <a:r>
              <a:rPr lang="en-US" sz="1100" b="1" dirty="0">
                <a:solidFill>
                  <a:srgbClr val="27AE60"/>
                </a:solidFill>
              </a:rPr>
              <a:t>SLO Improvement Value</a:t>
            </a:r>
            <a:endParaRPr lang="en-US" sz="1100" dirty="0"/>
          </a:p>
        </p:txBody>
      </p:sp>
      <p:sp>
        <p:nvSpPr>
          <p:cNvPr id="31" name="Text 29"/>
          <p:cNvSpPr/>
          <p:nvPr/>
        </p:nvSpPr>
        <p:spPr>
          <a:xfrm>
            <a:off x="3154680" y="3675888"/>
            <a:ext cx="5577840" cy="438912"/>
          </a:xfrm>
          <a:prstGeom prst="rect">
            <a:avLst/>
          </a:prstGeom>
          <a:noFill/>
          <a:ln/>
        </p:spPr>
        <p:txBody>
          <a:bodyPr wrap="square" lIns="0" tIns="0" rIns="0" bIns="0" rtlCol="0" anchor="ctr"/>
          <a:lstStyle/>
          <a:p>
            <a:pPr indent="0" marL="0">
              <a:buNone/>
            </a:pPr>
            <a:r>
              <a:rPr lang="en-US" sz="1050" dirty="0">
                <a:solidFill>
                  <a:srgbClr val="ECF0F1"/>
                </a:solidFill>
              </a:rPr>
              <a:t>Fewer OOMKills and GC pauses → fewer on-call incidents → quantify engineer time saved per quarter.</a:t>
            </a:r>
            <a:endParaRPr lang="en-US" sz="1050" dirty="0"/>
          </a:p>
        </p:txBody>
      </p:sp>
      <p:sp>
        <p:nvSpPr>
          <p:cNvPr id="32" name="Shape 30"/>
          <p:cNvSpPr/>
          <p:nvPr/>
        </p:nvSpPr>
        <p:spPr>
          <a:xfrm>
            <a:off x="320040" y="4224528"/>
            <a:ext cx="8503920" cy="512064"/>
          </a:xfrm>
          <a:prstGeom prst="rect">
            <a:avLst/>
          </a:prstGeom>
          <a:solidFill>
            <a:srgbClr val="122040"/>
          </a:solidFill>
          <a:ln/>
        </p:spPr>
      </p:sp>
      <p:sp>
        <p:nvSpPr>
          <p:cNvPr id="33" name="Shape 31"/>
          <p:cNvSpPr/>
          <p:nvPr/>
        </p:nvSpPr>
        <p:spPr>
          <a:xfrm>
            <a:off x="320040" y="4224528"/>
            <a:ext cx="54864" cy="512064"/>
          </a:xfrm>
          <a:prstGeom prst="rect">
            <a:avLst/>
          </a:prstGeom>
          <a:solidFill>
            <a:srgbClr val="27AE60"/>
          </a:solidFill>
          <a:ln/>
        </p:spPr>
      </p:sp>
      <p:sp>
        <p:nvSpPr>
          <p:cNvPr id="34" name="Text 32"/>
          <p:cNvSpPr/>
          <p:nvPr/>
        </p:nvSpPr>
        <p:spPr>
          <a:xfrm>
            <a:off x="502920" y="4261104"/>
            <a:ext cx="2560320" cy="438912"/>
          </a:xfrm>
          <a:prstGeom prst="rect">
            <a:avLst/>
          </a:prstGeom>
          <a:noFill/>
          <a:ln/>
        </p:spPr>
        <p:txBody>
          <a:bodyPr wrap="square" lIns="0" tIns="0" rIns="0" bIns="0" rtlCol="0" anchor="ctr"/>
          <a:lstStyle/>
          <a:p>
            <a:pPr indent="0" marL="0">
              <a:buNone/>
            </a:pPr>
            <a:r>
              <a:rPr lang="en-US" sz="1100" b="1" dirty="0">
                <a:solidFill>
                  <a:srgbClr val="27AE60"/>
                </a:solidFill>
              </a:rPr>
              <a:t>Cloud Spend Dashboard</a:t>
            </a:r>
            <a:endParaRPr lang="en-US" sz="1100" dirty="0"/>
          </a:p>
        </p:txBody>
      </p:sp>
      <p:sp>
        <p:nvSpPr>
          <p:cNvPr id="35" name="Text 33"/>
          <p:cNvSpPr/>
          <p:nvPr/>
        </p:nvSpPr>
        <p:spPr>
          <a:xfrm>
            <a:off x="3154680" y="4261104"/>
            <a:ext cx="5577840" cy="438912"/>
          </a:xfrm>
          <a:prstGeom prst="rect">
            <a:avLst/>
          </a:prstGeom>
          <a:noFill/>
          <a:ln/>
        </p:spPr>
        <p:txBody>
          <a:bodyPr wrap="square" lIns="0" tIns="0" rIns="0" bIns="0" rtlCol="0" anchor="ctr"/>
          <a:lstStyle/>
          <a:p>
            <a:pPr indent="0" marL="0">
              <a:buNone/>
            </a:pPr>
            <a:r>
              <a:rPr lang="en-US" sz="1050" dirty="0">
                <a:solidFill>
                  <a:srgbClr val="ECF0F1"/>
                </a:solidFill>
              </a:rPr>
              <a:t>Use cost.openshift.io + Grafana to create executive-visible cost-per-service trend dashboards.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8111F"/>
          </a:solidFill>
          <a:ln/>
        </p:spPr>
      </p:sp>
      <p:sp>
        <p:nvSpPr>
          <p:cNvPr id="3" name="Shape 1"/>
          <p:cNvSpPr/>
          <p:nvPr/>
        </p:nvSpPr>
        <p:spPr>
          <a:xfrm>
            <a:off x="0" y="0"/>
            <a:ext cx="228600" cy="5143500"/>
          </a:xfrm>
          <a:prstGeom prst="rect">
            <a:avLst/>
          </a:prstGeom>
          <a:solidFill>
            <a:srgbClr val="E84855"/>
          </a:solidFill>
          <a:ln/>
        </p:spPr>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1400" b="1" spc="600" kern="0" dirty="0">
                <a:solidFill>
                  <a:srgbClr val="E84855"/>
                </a:solidFill>
              </a:rPr>
              <a:t>DEMO 01</a:t>
            </a:r>
            <a:endParaRPr lang="en-US" sz="1400" dirty="0"/>
          </a:p>
        </p:txBody>
      </p:sp>
      <p:sp>
        <p:nvSpPr>
          <p:cNvPr id="5" name="Text 3"/>
          <p:cNvSpPr/>
          <p:nvPr/>
        </p:nvSpPr>
        <p:spPr>
          <a:xfrm>
            <a:off x="457200" y="1005840"/>
            <a:ext cx="5029200" cy="1463040"/>
          </a:xfrm>
          <a:prstGeom prst="rect">
            <a:avLst/>
          </a:prstGeom>
          <a:noFill/>
          <a:ln/>
        </p:spPr>
        <p:txBody>
          <a:bodyPr wrap="square" lIns="0" tIns="0" rIns="0" bIns="0" rtlCol="0" anchor="ctr"/>
          <a:lstStyle/>
          <a:p>
            <a:pPr indent="0" marL="0">
              <a:buNone/>
            </a:pPr>
            <a:r>
              <a:rPr lang="en-US" sz="4000" b="1" dirty="0">
                <a:solidFill>
                  <a:srgbClr val="ECF0F1"/>
                </a:solidFill>
              </a:rPr>
              <a:t>Container-Aware</a:t>
            </a:r>
            <a:endParaRPr lang="en-US" sz="4000" dirty="0"/>
          </a:p>
          <a:p>
            <a:pPr indent="0" marL="0">
              <a:buNone/>
            </a:pPr>
            <a:r>
              <a:rPr lang="en-US" sz="4000" b="1" dirty="0">
                <a:solidFill>
                  <a:srgbClr val="ECF0F1"/>
                </a:solidFill>
              </a:rPr>
              <a:t>Heap Sizing</a:t>
            </a:r>
            <a:endParaRPr lang="en-US" sz="4000" dirty="0"/>
          </a:p>
        </p:txBody>
      </p:sp>
      <p:sp>
        <p:nvSpPr>
          <p:cNvPr id="6" name="Text 4"/>
          <p:cNvSpPr/>
          <p:nvPr/>
        </p:nvSpPr>
        <p:spPr>
          <a:xfrm>
            <a:off x="457200" y="2606040"/>
            <a:ext cx="8229600" cy="292608"/>
          </a:xfrm>
          <a:prstGeom prst="rect">
            <a:avLst/>
          </a:prstGeom>
          <a:noFill/>
          <a:ln/>
        </p:spPr>
        <p:txBody>
          <a:bodyPr wrap="square" lIns="0" tIns="0" rIns="0" bIns="0" rtlCol="0" anchor="ctr"/>
          <a:lstStyle/>
          <a:p>
            <a:pPr indent="0" marL="0">
              <a:buNone/>
            </a:pPr>
            <a:r>
              <a:rPr lang="en-US" sz="1400" b="1" dirty="0">
                <a:solidFill>
                  <a:srgbClr val="E84855"/>
                </a:solidFill>
              </a:rPr>
              <a:t>What you'll see:</a:t>
            </a:r>
            <a:endParaRPr lang="en-US" sz="1400" dirty="0"/>
          </a:p>
        </p:txBody>
      </p:sp>
      <p:sp>
        <p:nvSpPr>
          <p:cNvPr id="7" name="Text 5"/>
          <p:cNvSpPr/>
          <p:nvPr/>
        </p:nvSpPr>
        <p:spPr>
          <a:xfrm>
            <a:off x="457200" y="2971800"/>
            <a:ext cx="5212080" cy="1920240"/>
          </a:xfrm>
          <a:prstGeom prst="rect">
            <a:avLst/>
          </a:prstGeom>
          <a:noFill/>
          <a:ln/>
        </p:spPr>
        <p:txBody>
          <a:bodyPr wrap="square" rtlCol="0" anchor="t"/>
          <a:lstStyle/>
          <a:p>
            <a:pPr marL="342900" indent="-342900">
              <a:spcAft>
                <a:spcPts val="600"/>
              </a:spcAft>
              <a:buSzPct val="100000"/>
              <a:buChar char="•"/>
            </a:pPr>
            <a:r>
              <a:rPr lang="en-US" sz="1300" dirty="0">
                <a:solidFill>
                  <a:srgbClr val="ECF0F1"/>
                </a:solidFill>
              </a:rPr>
              <a:t>Run Java app WITHOUT UseContainerSupport → observe JVM claiming host RAM</a:t>
            </a:r>
            <a:endParaRPr lang="en-US" sz="1300" dirty="0"/>
          </a:p>
          <a:p>
            <a:pPr marL="342900" indent="-342900">
              <a:spcAft>
                <a:spcPts val="600"/>
              </a:spcAft>
              <a:buSzPct val="100000"/>
              <a:buChar char="•"/>
            </a:pPr>
            <a:r>
              <a:rPr lang="en-US" sz="1300" dirty="0">
                <a:solidFill>
                  <a:srgbClr val="ECF0F1"/>
                </a:solidFill>
              </a:rPr>
              <a:t>Run same app WITH UseContainerSupport + MaxRAMPercentage=75.0 → JVM respects 512m limit</a:t>
            </a:r>
            <a:endParaRPr lang="en-US" sz="1300" dirty="0"/>
          </a:p>
          <a:p>
            <a:pPr marL="342900" indent="-342900">
              <a:spcAft>
                <a:spcPts val="600"/>
              </a:spcAft>
              <a:buSzPct val="100000"/>
              <a:buChar char="•"/>
            </a:pPr>
            <a:r>
              <a:rPr lang="en-US" sz="1300" dirty="0">
                <a:solidFill>
                  <a:srgbClr val="ECF0F1"/>
                </a:solidFill>
              </a:rPr>
              <a:t>Live: jcmd output showing heap sizes before and after</a:t>
            </a:r>
            <a:endParaRPr lang="en-US" sz="1300" dirty="0"/>
          </a:p>
          <a:p>
            <a:pPr marL="342900" indent="-342900">
              <a:spcAft>
                <a:spcPts val="600"/>
              </a:spcAft>
              <a:buSzPct val="100000"/>
              <a:buChar char="•"/>
            </a:pPr>
            <a:r>
              <a:rPr lang="en-US" sz="1300" dirty="0">
                <a:solidFill>
                  <a:srgbClr val="ECF0F1"/>
                </a:solidFill>
              </a:rPr>
              <a:t>Show OOMKill simulation when JVM ignores container limits</a:t>
            </a:r>
            <a:endParaRPr lang="en-US" sz="1300" dirty="0"/>
          </a:p>
        </p:txBody>
      </p:sp>
      <p:sp>
        <p:nvSpPr>
          <p:cNvPr id="8" name="Text 6"/>
          <p:cNvSpPr/>
          <p:nvPr/>
        </p:nvSpPr>
        <p:spPr>
          <a:xfrm>
            <a:off x="5943600" y="3017520"/>
            <a:ext cx="2926080" cy="731520"/>
          </a:xfrm>
          <a:prstGeom prst="rect">
            <a:avLst/>
          </a:prstGeom>
          <a:solidFill>
            <a:srgbClr val="122040"/>
          </a:solidFill>
          <a:ln/>
        </p:spPr>
        <p:txBody>
          <a:bodyPr wrap="square" lIns="127000" tIns="127000" rIns="127000" bIns="127000" rtlCol="0" anchor="ctr"/>
          <a:lstStyle/>
          <a:p>
            <a:pPr algn="ctr" indent="0" marL="0">
              <a:buNone/>
            </a:pPr>
            <a:r>
              <a:rPr lang="en-US" sz="1300" dirty="0">
                <a:solidFill>
                  <a:srgbClr val="E84855"/>
                </a:solidFill>
                <a:latin typeface="Courier New" pitchFamily="34" charset="0"/>
                <a:ea typeface="Courier New" pitchFamily="34" charset="-122"/>
                <a:cs typeface="Courier New" pitchFamily="34" charset="-120"/>
              </a:rPr>
              <a:t>docker run  →  kubectl apply  →  jcmd</a:t>
            </a:r>
            <a:endParaRPr lang="en-US" sz="1300" dirty="0"/>
          </a:p>
        </p:txBody>
      </p:sp>
      <p:sp>
        <p:nvSpPr>
          <p:cNvPr id="9" name="Shape 7"/>
          <p:cNvSpPr/>
          <p:nvPr/>
        </p:nvSpPr>
        <p:spPr>
          <a:xfrm>
            <a:off x="0" y="4960620"/>
            <a:ext cx="9144000" cy="182880"/>
          </a:xfrm>
          <a:prstGeom prst="rect">
            <a:avLst/>
          </a:prstGeom>
          <a:solidFill>
            <a:srgbClr val="1E6FC8"/>
          </a:solidFill>
          <a:ln/>
        </p:spPr>
      </p:sp>
      <p:sp>
        <p:nvSpPr>
          <p:cNvPr id="10" name="Text 8"/>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22/26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F5A623"/>
          </a:solidFill>
          <a:ln/>
        </p:spPr>
      </p:sp>
      <p:sp>
        <p:nvSpPr>
          <p:cNvPr id="3" name="Text 1"/>
          <p:cNvSpPr/>
          <p:nvPr/>
        </p:nvSpPr>
        <p:spPr>
          <a:xfrm>
            <a:off x="457200" y="457200"/>
            <a:ext cx="8229600" cy="457200"/>
          </a:xfrm>
          <a:prstGeom prst="rect">
            <a:avLst/>
          </a:prstGeom>
          <a:noFill/>
          <a:ln/>
        </p:spPr>
        <p:txBody>
          <a:bodyPr wrap="square" lIns="0" tIns="0" rIns="0" bIns="0" rtlCol="0" anchor="ctr"/>
          <a:lstStyle/>
          <a:p>
            <a:pPr indent="0" marL="0">
              <a:buNone/>
            </a:pPr>
            <a:r>
              <a:rPr lang="en-US" sz="1400" b="1" spc="600" kern="0" dirty="0">
                <a:solidFill>
                  <a:srgbClr val="F5A623"/>
                </a:solidFill>
              </a:rPr>
              <a:t>DEMO 02</a:t>
            </a:r>
            <a:endParaRPr lang="en-US" sz="1400" dirty="0"/>
          </a:p>
        </p:txBody>
      </p:sp>
      <p:sp>
        <p:nvSpPr>
          <p:cNvPr id="4" name="Text 2"/>
          <p:cNvSpPr/>
          <p:nvPr/>
        </p:nvSpPr>
        <p:spPr>
          <a:xfrm>
            <a:off x="457200" y="1005840"/>
            <a:ext cx="5029200" cy="1463040"/>
          </a:xfrm>
          <a:prstGeom prst="rect">
            <a:avLst/>
          </a:prstGeom>
          <a:noFill/>
          <a:ln/>
        </p:spPr>
        <p:txBody>
          <a:bodyPr wrap="square" lIns="0" tIns="0" rIns="0" bIns="0" rtlCol="0" anchor="ctr"/>
          <a:lstStyle/>
          <a:p>
            <a:pPr indent="0" marL="0">
              <a:buNone/>
            </a:pPr>
            <a:r>
              <a:rPr lang="en-US" sz="4000" b="1" dirty="0">
                <a:solidFill>
                  <a:srgbClr val="ECF0F1"/>
                </a:solidFill>
              </a:rPr>
              <a:t>GC Monitoring</a:t>
            </a:r>
            <a:endParaRPr lang="en-US" sz="4000" dirty="0"/>
          </a:p>
          <a:p>
            <a:pPr indent="0" marL="0">
              <a:buNone/>
            </a:pPr>
            <a:r>
              <a:rPr lang="en-US" sz="4000" b="1" dirty="0">
                <a:solidFill>
                  <a:srgbClr val="ECF0F1"/>
                </a:solidFill>
              </a:rPr>
              <a:t>with Prometheus</a:t>
            </a:r>
            <a:endParaRPr lang="en-US" sz="4000" dirty="0"/>
          </a:p>
        </p:txBody>
      </p:sp>
      <p:sp>
        <p:nvSpPr>
          <p:cNvPr id="5" name="Text 3"/>
          <p:cNvSpPr/>
          <p:nvPr/>
        </p:nvSpPr>
        <p:spPr>
          <a:xfrm>
            <a:off x="457200" y="2606040"/>
            <a:ext cx="8229600" cy="292608"/>
          </a:xfrm>
          <a:prstGeom prst="rect">
            <a:avLst/>
          </a:prstGeom>
          <a:noFill/>
          <a:ln/>
        </p:spPr>
        <p:txBody>
          <a:bodyPr wrap="square" lIns="0" tIns="0" rIns="0" bIns="0" rtlCol="0" anchor="ctr"/>
          <a:lstStyle/>
          <a:p>
            <a:pPr indent="0" marL="0">
              <a:buNone/>
            </a:pPr>
            <a:r>
              <a:rPr lang="en-US" sz="1400" b="1" dirty="0">
                <a:solidFill>
                  <a:srgbClr val="F5A623"/>
                </a:solidFill>
              </a:rPr>
              <a:t>What you'll see:</a:t>
            </a:r>
            <a:endParaRPr lang="en-US" sz="1400" dirty="0"/>
          </a:p>
        </p:txBody>
      </p:sp>
      <p:sp>
        <p:nvSpPr>
          <p:cNvPr id="6" name="Text 4"/>
          <p:cNvSpPr/>
          <p:nvPr/>
        </p:nvSpPr>
        <p:spPr>
          <a:xfrm>
            <a:off x="457200" y="2971800"/>
            <a:ext cx="5212080" cy="1920240"/>
          </a:xfrm>
          <a:prstGeom prst="rect">
            <a:avLst/>
          </a:prstGeom>
          <a:noFill/>
          <a:ln/>
        </p:spPr>
        <p:txBody>
          <a:bodyPr wrap="square" rtlCol="0" anchor="t"/>
          <a:lstStyle/>
          <a:p>
            <a:pPr marL="342900" indent="-342900">
              <a:spcAft>
                <a:spcPts val="600"/>
              </a:spcAft>
              <a:buSzPct val="100000"/>
              <a:buChar char="•"/>
            </a:pPr>
            <a:r>
              <a:rPr lang="en-US" sz="1300" dirty="0">
                <a:solidFill>
                  <a:srgbClr val="ECF0F1"/>
                </a:solidFill>
              </a:rPr>
              <a:t>Stack: Quarkus 3.33.1 LTS + quarkus-micrometer-opentelemetry + Grafana LGTM (Tempo + Prometheus)</a:t>
            </a:r>
            <a:endParaRPr lang="en-US" sz="1300" dirty="0"/>
          </a:p>
          <a:p>
            <a:pPr marL="342900" indent="-342900">
              <a:spcAft>
                <a:spcPts val="600"/>
              </a:spcAft>
              <a:buSzPct val="100000"/>
              <a:buChar char="•"/>
            </a:pPr>
            <a:r>
              <a:rPr lang="en-US" sz="1300" dirty="0">
                <a:solidFill>
                  <a:srgbClr val="ECF0F1"/>
                </a:solidFill>
              </a:rPr>
              <a:t>Live GC pause histograms at /q/metrics: jvm_gc_pause_seconds</a:t>
            </a:r>
            <a:endParaRPr lang="en-US" sz="1300" dirty="0"/>
          </a:p>
          <a:p>
            <a:pPr marL="342900" indent="-342900">
              <a:spcAft>
                <a:spcPts val="600"/>
              </a:spcAft>
              <a:buSzPct val="100000"/>
              <a:buChar char="•"/>
            </a:pPr>
            <a:r>
              <a:rPr lang="en-US" sz="1300" dirty="0">
                <a:solidFill>
                  <a:srgbClr val="ECF0F1"/>
                </a:solidFill>
              </a:rPr>
              <a:t>Generate GC pressure — watch Grafana (metrics) and Grafana Tempo (traces) simultaneously</a:t>
            </a:r>
            <a:endParaRPr lang="en-US" sz="1300" dirty="0"/>
          </a:p>
          <a:p>
            <a:pPr marL="342900" indent="-342900">
              <a:spcAft>
                <a:spcPts val="600"/>
              </a:spcAft>
              <a:buSzPct val="100000"/>
              <a:buChar char="•"/>
            </a:pPr>
            <a:r>
              <a:rPr lang="en-US" sz="1300" dirty="0">
                <a:solidFill>
                  <a:srgbClr val="ECF0F1"/>
                </a:solidFill>
              </a:rPr>
              <a:t>G1GC vs Generational ZGC side-by-side pause comparison</a:t>
            </a:r>
            <a:endParaRPr lang="en-US" sz="1300" dirty="0"/>
          </a:p>
          <a:p>
            <a:pPr marL="342900" indent="-342900">
              <a:spcAft>
                <a:spcPts val="600"/>
              </a:spcAft>
              <a:buSzPct val="100000"/>
              <a:buChar char="•"/>
            </a:pPr>
            <a:r>
              <a:rPr lang="en-US" sz="1300" dirty="0">
                <a:solidFill>
                  <a:srgbClr val="ECF0F1"/>
                </a:solidFill>
              </a:rPr>
              <a:t>Virtual threads demo: 500 concurrent tasks, minimal platform thread count</a:t>
            </a:r>
            <a:endParaRPr lang="en-US" sz="1300" dirty="0"/>
          </a:p>
        </p:txBody>
      </p:sp>
      <p:sp>
        <p:nvSpPr>
          <p:cNvPr id="7" name="Text 5"/>
          <p:cNvSpPr/>
          <p:nvPr/>
        </p:nvSpPr>
        <p:spPr>
          <a:xfrm>
            <a:off x="5943600" y="3017520"/>
            <a:ext cx="2926080" cy="731520"/>
          </a:xfrm>
          <a:prstGeom prst="rect">
            <a:avLst/>
          </a:prstGeom>
          <a:solidFill>
            <a:srgbClr val="122040"/>
          </a:solidFill>
          <a:ln/>
        </p:spPr>
        <p:txBody>
          <a:bodyPr wrap="square" lIns="127000" tIns="127000" rIns="127000" bIns="127000" rtlCol="0" anchor="ctr"/>
          <a:lstStyle/>
          <a:p>
            <a:pPr algn="ctr" indent="0" marL="0">
              <a:buNone/>
            </a:pPr>
            <a:r>
              <a:rPr lang="en-US" sz="1300" dirty="0">
                <a:solidFill>
                  <a:srgbClr val="F5A623"/>
                </a:solidFill>
                <a:latin typeface="Courier New" pitchFamily="34" charset="0"/>
                <a:ea typeface="Courier New" pitchFamily="34" charset="-122"/>
                <a:cs typeface="Courier New" pitchFamily="34" charset="-120"/>
              </a:rPr>
              <a:t>docker compose up  (quarkus-demo-02-gc-monitoring/) — Grafana LGTM stack</a:t>
            </a:r>
            <a:endParaRPr lang="en-US" sz="1300" dirty="0"/>
          </a:p>
        </p:txBody>
      </p:sp>
      <p:sp>
        <p:nvSpPr>
          <p:cNvPr id="8" name="Shape 6"/>
          <p:cNvSpPr/>
          <p:nvPr/>
        </p:nvSpPr>
        <p:spPr>
          <a:xfrm>
            <a:off x="0" y="4960620"/>
            <a:ext cx="9144000" cy="182880"/>
          </a:xfrm>
          <a:prstGeom prst="rect">
            <a:avLst/>
          </a:prstGeom>
          <a:solidFill>
            <a:srgbClr val="1E6FC8"/>
          </a:solidFill>
          <a:ln/>
        </p:spPr>
      </p:sp>
      <p:sp>
        <p:nvSpPr>
          <p:cNvPr id="9" name="Text 7"/>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23/26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27AE60"/>
          </a:solidFill>
          <a:ln/>
        </p:spPr>
      </p:sp>
      <p:sp>
        <p:nvSpPr>
          <p:cNvPr id="3" name="Text 1"/>
          <p:cNvSpPr/>
          <p:nvPr/>
        </p:nvSpPr>
        <p:spPr>
          <a:xfrm>
            <a:off x="457200" y="457200"/>
            <a:ext cx="8229600" cy="457200"/>
          </a:xfrm>
          <a:prstGeom prst="rect">
            <a:avLst/>
          </a:prstGeom>
          <a:noFill/>
          <a:ln/>
        </p:spPr>
        <p:txBody>
          <a:bodyPr wrap="square" lIns="0" tIns="0" rIns="0" bIns="0" rtlCol="0" anchor="ctr"/>
          <a:lstStyle/>
          <a:p>
            <a:pPr indent="0" marL="0">
              <a:buNone/>
            </a:pPr>
            <a:r>
              <a:rPr lang="en-US" sz="1400" b="1" spc="600" kern="0" dirty="0">
                <a:solidFill>
                  <a:srgbClr val="27AE60"/>
                </a:solidFill>
              </a:rPr>
              <a:t>DEMO 03</a:t>
            </a:r>
            <a:endParaRPr lang="en-US" sz="1400" dirty="0"/>
          </a:p>
        </p:txBody>
      </p:sp>
      <p:sp>
        <p:nvSpPr>
          <p:cNvPr id="4" name="Text 2"/>
          <p:cNvSpPr/>
          <p:nvPr/>
        </p:nvSpPr>
        <p:spPr>
          <a:xfrm>
            <a:off x="457200" y="1005840"/>
            <a:ext cx="5029200" cy="1463040"/>
          </a:xfrm>
          <a:prstGeom prst="rect">
            <a:avLst/>
          </a:prstGeom>
          <a:noFill/>
          <a:ln/>
        </p:spPr>
        <p:txBody>
          <a:bodyPr wrap="square" lIns="0" tIns="0" rIns="0" bIns="0" rtlCol="0" anchor="ctr"/>
          <a:lstStyle/>
          <a:p>
            <a:pPr indent="0" marL="0">
              <a:buNone/>
            </a:pPr>
            <a:r>
              <a:rPr lang="en-US" sz="4000" b="1" dirty="0">
                <a:solidFill>
                  <a:srgbClr val="ECF0F1"/>
                </a:solidFill>
              </a:rPr>
              <a:t>AppCDS Startup</a:t>
            </a:r>
            <a:endParaRPr lang="en-US" sz="4000" dirty="0"/>
          </a:p>
          <a:p>
            <a:pPr indent="0" marL="0">
              <a:buNone/>
            </a:pPr>
            <a:r>
              <a:rPr lang="en-US" sz="4000" b="1" dirty="0">
                <a:solidFill>
                  <a:srgbClr val="ECF0F1"/>
                </a:solidFill>
              </a:rPr>
              <a:t>Acceleration</a:t>
            </a:r>
            <a:endParaRPr lang="en-US" sz="4000" dirty="0"/>
          </a:p>
        </p:txBody>
      </p:sp>
      <p:sp>
        <p:nvSpPr>
          <p:cNvPr id="5" name="Text 3"/>
          <p:cNvSpPr/>
          <p:nvPr/>
        </p:nvSpPr>
        <p:spPr>
          <a:xfrm>
            <a:off x="457200" y="2606040"/>
            <a:ext cx="8229600" cy="292608"/>
          </a:xfrm>
          <a:prstGeom prst="rect">
            <a:avLst/>
          </a:prstGeom>
          <a:noFill/>
          <a:ln/>
        </p:spPr>
        <p:txBody>
          <a:bodyPr wrap="square" lIns="0" tIns="0" rIns="0" bIns="0" rtlCol="0" anchor="ctr"/>
          <a:lstStyle/>
          <a:p>
            <a:pPr indent="0" marL="0">
              <a:buNone/>
            </a:pPr>
            <a:r>
              <a:rPr lang="en-US" sz="1400" b="1" dirty="0">
                <a:solidFill>
                  <a:srgbClr val="27AE60"/>
                </a:solidFill>
              </a:rPr>
              <a:t>What you'll see:</a:t>
            </a:r>
            <a:endParaRPr lang="en-US" sz="1400" dirty="0"/>
          </a:p>
        </p:txBody>
      </p:sp>
      <p:sp>
        <p:nvSpPr>
          <p:cNvPr id="6" name="Text 4"/>
          <p:cNvSpPr/>
          <p:nvPr/>
        </p:nvSpPr>
        <p:spPr>
          <a:xfrm>
            <a:off x="457200" y="2971800"/>
            <a:ext cx="5212080" cy="1828800"/>
          </a:xfrm>
          <a:prstGeom prst="rect">
            <a:avLst/>
          </a:prstGeom>
          <a:noFill/>
          <a:ln/>
        </p:spPr>
        <p:txBody>
          <a:bodyPr wrap="square" rtlCol="0" anchor="t"/>
          <a:lstStyle/>
          <a:p>
            <a:pPr marL="342900" indent="-342900">
              <a:spcAft>
                <a:spcPts val="600"/>
              </a:spcAft>
              <a:buSzPct val="100000"/>
              <a:buChar char="•"/>
            </a:pPr>
            <a:r>
              <a:rPr lang="en-US" sz="1300" dirty="0">
                <a:solidFill>
                  <a:srgbClr val="ECF0F1"/>
                </a:solidFill>
              </a:rPr>
              <a:t>Quarkus JVM baseline: ~0.3-0.8s (vs Spring Boot ~4-8s — already 10x faster!)</a:t>
            </a:r>
            <a:endParaRPr lang="en-US" sz="1300" dirty="0"/>
          </a:p>
          <a:p>
            <a:pPr marL="342900" indent="-342900">
              <a:spcAft>
                <a:spcPts val="600"/>
              </a:spcAft>
              <a:buSzPct val="100000"/>
              <a:buChar char="•"/>
            </a:pPr>
            <a:r>
              <a:rPr lang="en-US" sz="1300" dirty="0">
                <a:solidFill>
                  <a:srgbClr val="ECF0F1"/>
                </a:solidFill>
              </a:rPr>
              <a:t>Quarkus AOT Cache: quarkus.package.jar.aot.enabled=true — trains on @QuarkusIntegrationTest suite</a:t>
            </a:r>
            <a:endParaRPr lang="en-US" sz="1300" dirty="0"/>
          </a:p>
          <a:p>
            <a:pPr marL="342900" indent="-342900">
              <a:spcAft>
                <a:spcPts val="600"/>
              </a:spcAft>
              <a:buSzPct val="100000"/>
              <a:buChar char="•"/>
            </a:pPr>
            <a:r>
              <a:rPr lang="en-US" sz="1300" dirty="0">
                <a:solidFill>
                  <a:srgbClr val="ECF0F1"/>
                </a:solidFill>
              </a:rPr>
              <a:t>Maven plugin handles training automatically — no manual -Xshare:dump steps</a:t>
            </a:r>
            <a:endParaRPr lang="en-US" sz="1300" dirty="0"/>
          </a:p>
          <a:p>
            <a:pPr marL="342900" indent="-342900">
              <a:spcAft>
                <a:spcPts val="600"/>
              </a:spcAft>
              <a:buSzPct val="100000"/>
              <a:buChar char="•"/>
            </a:pPr>
            <a:r>
              <a:rPr lang="en-US" sz="1300" dirty="0">
                <a:solidFill>
                  <a:srgbClr val="ECF0F1"/>
                </a:solidFill>
              </a:rPr>
              <a:t>Quarkus + AOT Cache: ~0.15-0.4s (30-50% gain) — AppCDS on JDK ≤21, Leyden -XX:AOTCache on JDK 25</a:t>
            </a:r>
            <a:endParaRPr lang="en-US" sz="1300" dirty="0"/>
          </a:p>
        </p:txBody>
      </p:sp>
      <p:sp>
        <p:nvSpPr>
          <p:cNvPr id="7" name="Text 5"/>
          <p:cNvSpPr/>
          <p:nvPr/>
        </p:nvSpPr>
        <p:spPr>
          <a:xfrm>
            <a:off x="5943600" y="3017520"/>
            <a:ext cx="2926080" cy="731520"/>
          </a:xfrm>
          <a:prstGeom prst="rect">
            <a:avLst/>
          </a:prstGeom>
          <a:solidFill>
            <a:srgbClr val="122040"/>
          </a:solidFill>
          <a:ln/>
        </p:spPr>
        <p:txBody>
          <a:bodyPr wrap="square" lIns="127000" tIns="127000" rIns="127000" bIns="127000" rtlCol="0" anchor="ctr"/>
          <a:lstStyle/>
          <a:p>
            <a:pPr algn="ctr" indent="0" marL="0">
              <a:buNone/>
            </a:pPr>
            <a:r>
              <a:rPr lang="en-US" sz="1600" dirty="0">
                <a:solidFill>
                  <a:srgbClr val="27AE60"/>
                </a:solidFill>
                <a:latin typeface="Courier New" pitchFamily="34" charset="0"/>
                <a:ea typeface="Courier New" pitchFamily="34" charset="-122"/>
                <a:cs typeface="Courier New" pitchFamily="34" charset="-120"/>
              </a:rPr>
              <a:t>./demo.sh  (quarkus-demo-03-appcds/)</a:t>
            </a:r>
            <a:endParaRPr lang="en-US" sz="1600" dirty="0"/>
          </a:p>
        </p:txBody>
      </p:sp>
      <p:sp>
        <p:nvSpPr>
          <p:cNvPr id="8" name="Shape 6"/>
          <p:cNvSpPr/>
          <p:nvPr/>
        </p:nvSpPr>
        <p:spPr>
          <a:xfrm>
            <a:off x="0" y="4960620"/>
            <a:ext cx="9144000" cy="182880"/>
          </a:xfrm>
          <a:prstGeom prst="rect">
            <a:avLst/>
          </a:prstGeom>
          <a:solidFill>
            <a:srgbClr val="1E6FC8"/>
          </a:solidFill>
          <a:ln/>
        </p:spPr>
      </p:sp>
      <p:sp>
        <p:nvSpPr>
          <p:cNvPr id="9" name="Text 7"/>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24/26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BF0F7"/>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Key Takeaways</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Summary</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25/26</a:t>
            </a:r>
            <a:endParaRPr lang="en-US" sz="900" dirty="0"/>
          </a:p>
        </p:txBody>
      </p:sp>
      <p:sp>
        <p:nvSpPr>
          <p:cNvPr id="7" name="Shape 5"/>
          <p:cNvSpPr/>
          <p:nvPr/>
        </p:nvSpPr>
        <p:spPr>
          <a:xfrm>
            <a:off x="320040" y="822960"/>
            <a:ext cx="8503920" cy="52120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347472" y="909828"/>
            <a:ext cx="347472" cy="347472"/>
          </a:xfrm>
          <a:prstGeom prst="ellipse">
            <a:avLst/>
          </a:prstGeom>
          <a:solidFill>
            <a:srgbClr val="1E6FC8"/>
          </a:solidFill>
          <a:ln/>
        </p:spPr>
      </p:sp>
      <p:sp>
        <p:nvSpPr>
          <p:cNvPr id="9" name="Text 7"/>
          <p:cNvSpPr/>
          <p:nvPr/>
        </p:nvSpPr>
        <p:spPr>
          <a:xfrm>
            <a:off x="347472" y="9098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8"/>
          <p:cNvSpPr/>
          <p:nvPr/>
        </p:nvSpPr>
        <p:spPr>
          <a:xfrm>
            <a:off x="822960" y="859536"/>
            <a:ext cx="7909560" cy="457200"/>
          </a:xfrm>
          <a:prstGeom prst="rect">
            <a:avLst/>
          </a:prstGeom>
          <a:noFill/>
          <a:ln/>
        </p:spPr>
        <p:txBody>
          <a:bodyPr wrap="square" lIns="0" tIns="0" rIns="0" bIns="0" rtlCol="0" anchor="ctr"/>
          <a:lstStyle/>
          <a:p>
            <a:pPr indent="0" marL="0">
              <a:buNone/>
            </a:pPr>
            <a:r>
              <a:rPr lang="en-US" sz="1150" dirty="0">
                <a:solidFill>
                  <a:srgbClr val="1A2B3C"/>
                </a:solidFill>
              </a:rPr>
              <a:t>Always enable UseContainerSupport + MaxRAMPercentage — hardcoded -Xmx is a container anti-pattern</a:t>
            </a:r>
            <a:endParaRPr lang="en-US" sz="1150" dirty="0"/>
          </a:p>
        </p:txBody>
      </p:sp>
      <p:sp>
        <p:nvSpPr>
          <p:cNvPr id="11" name="Shape 9"/>
          <p:cNvSpPr/>
          <p:nvPr/>
        </p:nvSpPr>
        <p:spPr>
          <a:xfrm>
            <a:off x="320040" y="1417320"/>
            <a:ext cx="8503920" cy="52120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347472" y="1504188"/>
            <a:ext cx="347472" cy="347472"/>
          </a:xfrm>
          <a:prstGeom prst="ellipse">
            <a:avLst/>
          </a:prstGeom>
          <a:solidFill>
            <a:srgbClr val="00BCD4"/>
          </a:solidFill>
          <a:ln/>
        </p:spPr>
      </p:sp>
      <p:sp>
        <p:nvSpPr>
          <p:cNvPr id="13" name="Text 11"/>
          <p:cNvSpPr/>
          <p:nvPr/>
        </p:nvSpPr>
        <p:spPr>
          <a:xfrm>
            <a:off x="347472" y="15041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822960" y="1453896"/>
            <a:ext cx="7909560" cy="457200"/>
          </a:xfrm>
          <a:prstGeom prst="rect">
            <a:avLst/>
          </a:prstGeom>
          <a:noFill/>
          <a:ln/>
        </p:spPr>
        <p:txBody>
          <a:bodyPr wrap="square" lIns="0" tIns="0" rIns="0" bIns="0" rtlCol="0" anchor="ctr"/>
          <a:lstStyle/>
          <a:p>
            <a:pPr indent="0" marL="0">
              <a:buNone/>
            </a:pPr>
            <a:r>
              <a:rPr lang="en-US" sz="1150" dirty="0">
                <a:solidFill>
                  <a:srgbClr val="1A2B3C"/>
                </a:solidFill>
              </a:rPr>
              <a:t>Right-size first, then tune — measure RSS + off-heap before setting resource requests and limits</a:t>
            </a:r>
            <a:endParaRPr lang="en-US" sz="1150" dirty="0"/>
          </a:p>
        </p:txBody>
      </p:sp>
      <p:sp>
        <p:nvSpPr>
          <p:cNvPr id="15" name="Shape 13"/>
          <p:cNvSpPr/>
          <p:nvPr/>
        </p:nvSpPr>
        <p:spPr>
          <a:xfrm>
            <a:off x="320040" y="2011680"/>
            <a:ext cx="8503920" cy="52120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347472" y="2098548"/>
            <a:ext cx="347472" cy="347472"/>
          </a:xfrm>
          <a:prstGeom prst="ellipse">
            <a:avLst/>
          </a:prstGeom>
          <a:solidFill>
            <a:srgbClr val="F5A623"/>
          </a:solidFill>
          <a:ln/>
        </p:spPr>
      </p:sp>
      <p:sp>
        <p:nvSpPr>
          <p:cNvPr id="17" name="Text 15"/>
          <p:cNvSpPr/>
          <p:nvPr/>
        </p:nvSpPr>
        <p:spPr>
          <a:xfrm>
            <a:off x="347472" y="20985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6"/>
          <p:cNvSpPr/>
          <p:nvPr/>
        </p:nvSpPr>
        <p:spPr>
          <a:xfrm>
            <a:off x="822960" y="2048256"/>
            <a:ext cx="7909560" cy="457200"/>
          </a:xfrm>
          <a:prstGeom prst="rect">
            <a:avLst/>
          </a:prstGeom>
          <a:noFill/>
          <a:ln/>
        </p:spPr>
        <p:txBody>
          <a:bodyPr wrap="square" lIns="0" tIns="0" rIns="0" bIns="0" rtlCol="0" anchor="ctr"/>
          <a:lstStyle/>
          <a:p>
            <a:pPr indent="0" marL="0">
              <a:buNone/>
            </a:pPr>
            <a:r>
              <a:rPr lang="en-US" sz="1150" dirty="0">
                <a:solidFill>
                  <a:srgbClr val="1A2B3C"/>
                </a:solidFill>
              </a:rPr>
              <a:t>Match GC to workload — G1GC for general use, ZGC/Shenandoah for latency-sensitive APIs</a:t>
            </a:r>
            <a:endParaRPr lang="en-US" sz="1150" dirty="0"/>
          </a:p>
        </p:txBody>
      </p:sp>
      <p:sp>
        <p:nvSpPr>
          <p:cNvPr id="19" name="Shape 17"/>
          <p:cNvSpPr/>
          <p:nvPr/>
        </p:nvSpPr>
        <p:spPr>
          <a:xfrm>
            <a:off x="320040" y="2606040"/>
            <a:ext cx="8503920" cy="52120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347472" y="2692908"/>
            <a:ext cx="347472" cy="347472"/>
          </a:xfrm>
          <a:prstGeom prst="ellipse">
            <a:avLst/>
          </a:prstGeom>
          <a:solidFill>
            <a:srgbClr val="27AE60"/>
          </a:solidFill>
          <a:ln/>
        </p:spPr>
      </p:sp>
      <p:sp>
        <p:nvSpPr>
          <p:cNvPr id="21" name="Text 19"/>
          <p:cNvSpPr/>
          <p:nvPr/>
        </p:nvSpPr>
        <p:spPr>
          <a:xfrm>
            <a:off x="347472" y="26929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20"/>
          <p:cNvSpPr/>
          <p:nvPr/>
        </p:nvSpPr>
        <p:spPr>
          <a:xfrm>
            <a:off x="822960" y="2642616"/>
            <a:ext cx="7909560" cy="457200"/>
          </a:xfrm>
          <a:prstGeom prst="rect">
            <a:avLst/>
          </a:prstGeom>
          <a:noFill/>
          <a:ln/>
        </p:spPr>
        <p:txBody>
          <a:bodyPr wrap="square" lIns="0" tIns="0" rIns="0" bIns="0" rtlCol="0" anchor="ctr"/>
          <a:lstStyle/>
          <a:p>
            <a:pPr indent="0" marL="0">
              <a:buNone/>
            </a:pPr>
            <a:r>
              <a:rPr lang="en-US" sz="1150" dirty="0">
                <a:solidFill>
                  <a:srgbClr val="1A2B3C"/>
                </a:solidFill>
              </a:rPr>
              <a:t>Quarkus AppCDS: one property — quarkus.package.jar.aot.enabled=true. Quarkus baseline is already 5-10x faster than Spring Boot</a:t>
            </a:r>
            <a:endParaRPr lang="en-US" sz="1150" dirty="0"/>
          </a:p>
        </p:txBody>
      </p:sp>
      <p:sp>
        <p:nvSpPr>
          <p:cNvPr id="23" name="Shape 21"/>
          <p:cNvSpPr/>
          <p:nvPr/>
        </p:nvSpPr>
        <p:spPr>
          <a:xfrm>
            <a:off x="320040" y="3200400"/>
            <a:ext cx="8503920" cy="52120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347472" y="3287268"/>
            <a:ext cx="347472" cy="347472"/>
          </a:xfrm>
          <a:prstGeom prst="ellipse">
            <a:avLst/>
          </a:prstGeom>
          <a:solidFill>
            <a:srgbClr val="E84855"/>
          </a:solidFill>
          <a:ln/>
        </p:spPr>
      </p:sp>
      <p:sp>
        <p:nvSpPr>
          <p:cNvPr id="25" name="Text 23"/>
          <p:cNvSpPr/>
          <p:nvPr/>
        </p:nvSpPr>
        <p:spPr>
          <a:xfrm>
            <a:off x="347472" y="32872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Text 24"/>
          <p:cNvSpPr/>
          <p:nvPr/>
        </p:nvSpPr>
        <p:spPr>
          <a:xfrm>
            <a:off x="822960" y="3236976"/>
            <a:ext cx="7909560" cy="457200"/>
          </a:xfrm>
          <a:prstGeom prst="rect">
            <a:avLst/>
          </a:prstGeom>
          <a:noFill/>
          <a:ln/>
        </p:spPr>
        <p:txBody>
          <a:bodyPr wrap="square" lIns="0" tIns="0" rIns="0" bIns="0" rtlCol="0" anchor="ctr"/>
          <a:lstStyle/>
          <a:p>
            <a:pPr indent="0" marL="0">
              <a:buNone/>
            </a:pPr>
            <a:r>
              <a:rPr lang="en-US" sz="1150" dirty="0">
                <a:solidFill>
                  <a:srgbClr val="1A2B3C"/>
                </a:solidFill>
              </a:rPr>
              <a:t>Observe before you tune — JFR + Cryostat + Prometheus gives you data to validate every change</a:t>
            </a:r>
            <a:endParaRPr lang="en-US" sz="1150" dirty="0"/>
          </a:p>
        </p:txBody>
      </p:sp>
      <p:sp>
        <p:nvSpPr>
          <p:cNvPr id="27" name="Shape 25"/>
          <p:cNvSpPr/>
          <p:nvPr/>
        </p:nvSpPr>
        <p:spPr>
          <a:xfrm>
            <a:off x="320040" y="3794760"/>
            <a:ext cx="8503920" cy="52120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347472" y="3881628"/>
            <a:ext cx="347472" cy="347472"/>
          </a:xfrm>
          <a:prstGeom prst="ellipse">
            <a:avLst/>
          </a:prstGeom>
          <a:solidFill>
            <a:srgbClr val="7C3AED"/>
          </a:solidFill>
          <a:ln/>
        </p:spPr>
      </p:sp>
      <p:sp>
        <p:nvSpPr>
          <p:cNvPr id="29" name="Text 27"/>
          <p:cNvSpPr/>
          <p:nvPr/>
        </p:nvSpPr>
        <p:spPr>
          <a:xfrm>
            <a:off x="347472" y="38816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0" name="Text 28"/>
          <p:cNvSpPr/>
          <p:nvPr/>
        </p:nvSpPr>
        <p:spPr>
          <a:xfrm>
            <a:off x="822960" y="3831336"/>
            <a:ext cx="7909560" cy="457200"/>
          </a:xfrm>
          <a:prstGeom prst="rect">
            <a:avLst/>
          </a:prstGeom>
          <a:noFill/>
          <a:ln/>
        </p:spPr>
        <p:txBody>
          <a:bodyPr wrap="square" lIns="0" tIns="0" rIns="0" bIns="0" rtlCol="0" anchor="ctr"/>
          <a:lstStyle/>
          <a:p>
            <a:pPr indent="0" marL="0">
              <a:buNone/>
            </a:pPr>
            <a:r>
              <a:rPr lang="en-US" sz="1150" dirty="0">
                <a:solidFill>
                  <a:srgbClr val="1A2B3C"/>
                </a:solidFill>
              </a:rPr>
              <a:t>Autoscale on RPS not CPU — GC pauses lie to HPA. Quarkus: @RunOnVirtualThread on resource methods</a:t>
            </a:r>
            <a:endParaRPr lang="en-US" sz="1150" dirty="0"/>
          </a:p>
        </p:txBody>
      </p:sp>
      <p:sp>
        <p:nvSpPr>
          <p:cNvPr id="31" name="Shape 29"/>
          <p:cNvSpPr/>
          <p:nvPr/>
        </p:nvSpPr>
        <p:spPr>
          <a:xfrm>
            <a:off x="320040" y="4389120"/>
            <a:ext cx="8503920" cy="52120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347472" y="4475988"/>
            <a:ext cx="347472" cy="347472"/>
          </a:xfrm>
          <a:prstGeom prst="ellipse">
            <a:avLst/>
          </a:prstGeom>
          <a:solidFill>
            <a:srgbClr val="1E6FC8"/>
          </a:solidFill>
          <a:ln/>
        </p:spPr>
      </p:sp>
      <p:sp>
        <p:nvSpPr>
          <p:cNvPr id="33" name="Text 31"/>
          <p:cNvSpPr/>
          <p:nvPr/>
        </p:nvSpPr>
        <p:spPr>
          <a:xfrm>
            <a:off x="347472" y="44759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34" name="Text 32"/>
          <p:cNvSpPr/>
          <p:nvPr/>
        </p:nvSpPr>
        <p:spPr>
          <a:xfrm>
            <a:off x="822960" y="4425696"/>
            <a:ext cx="7909560" cy="457200"/>
          </a:xfrm>
          <a:prstGeom prst="rect">
            <a:avLst/>
          </a:prstGeom>
          <a:noFill/>
          <a:ln/>
        </p:spPr>
        <p:txBody>
          <a:bodyPr wrap="square" lIns="0" tIns="0" rIns="0" bIns="0" rtlCol="0" anchor="ctr"/>
          <a:lstStyle/>
          <a:p>
            <a:pPr indent="0" marL="0">
              <a:buNone/>
            </a:pPr>
            <a:r>
              <a:rPr lang="en-US" sz="1150" dirty="0">
                <a:solidFill>
                  <a:srgbClr val="1A2B3C"/>
                </a:solidFill>
              </a:rPr>
              <a:t>Quantify savings — track cost per namespace before/after to show business value from engineering work</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BCD4"/>
          </a:solidFill>
          <a:ln/>
        </p:spPr>
      </p:sp>
      <p:sp>
        <p:nvSpPr>
          <p:cNvPr id="3" name="Shape 1"/>
          <p:cNvSpPr/>
          <p:nvPr/>
        </p:nvSpPr>
        <p:spPr>
          <a:xfrm>
            <a:off x="0" y="5033772"/>
            <a:ext cx="9144000" cy="109728"/>
          </a:xfrm>
          <a:prstGeom prst="rect">
            <a:avLst/>
          </a:prstGeom>
          <a:solidFill>
            <a:srgbClr val="00BCD4"/>
          </a:solidFill>
          <a:ln/>
        </p:spPr>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ECF0F1"/>
                </a:solidFill>
              </a:rPr>
              <a:t>Resources &amp; Q&amp;A</a:t>
            </a:r>
            <a:endParaRPr lang="en-US" sz="3000" dirty="0"/>
          </a:p>
        </p:txBody>
      </p:sp>
      <p:sp>
        <p:nvSpPr>
          <p:cNvPr id="5" name="Shape 3"/>
          <p:cNvSpPr/>
          <p:nvPr/>
        </p:nvSpPr>
        <p:spPr>
          <a:xfrm>
            <a:off x="320040" y="914400"/>
            <a:ext cx="4069080" cy="1005840"/>
          </a:xfrm>
          <a:prstGeom prst="rect">
            <a:avLst/>
          </a:prstGeom>
          <a:solidFill>
            <a:srgbClr val="1E6FC8">
              <a:alpha val="80000"/>
            </a:srgbClr>
          </a:solidFill>
          <a:ln w="19050">
            <a:solidFill>
              <a:srgbClr val="1E6FC8"/>
            </a:solidFill>
            <a:prstDash val="solid"/>
          </a:ln>
        </p:spPr>
      </p:sp>
      <p:sp>
        <p:nvSpPr>
          <p:cNvPr id="6" name="Text 4"/>
          <p:cNvSpPr/>
          <p:nvPr/>
        </p:nvSpPr>
        <p:spPr>
          <a:xfrm>
            <a:off x="457200" y="960120"/>
            <a:ext cx="3840480" cy="411480"/>
          </a:xfrm>
          <a:prstGeom prst="rect">
            <a:avLst/>
          </a:prstGeom>
          <a:noFill/>
          <a:ln/>
        </p:spPr>
        <p:txBody>
          <a:bodyPr wrap="square" lIns="0" tIns="0" rIns="0" bIns="0" rtlCol="0" anchor="ctr"/>
          <a:lstStyle/>
          <a:p>
            <a:pPr indent="0" marL="0">
              <a:buNone/>
            </a:pPr>
            <a:r>
              <a:rPr lang="en-US" sz="1200" b="1" dirty="0">
                <a:solidFill>
                  <a:srgbClr val="FFFFFF"/>
                </a:solidFill>
              </a:rPr>
              <a:t>📗  Optimizing Cloud Native Java</a:t>
            </a:r>
            <a:endParaRPr lang="en-US" sz="1200" dirty="0"/>
          </a:p>
        </p:txBody>
      </p:sp>
      <p:sp>
        <p:nvSpPr>
          <p:cNvPr id="7" name="Text 5"/>
          <p:cNvSpPr/>
          <p:nvPr/>
        </p:nvSpPr>
        <p:spPr>
          <a:xfrm>
            <a:off x="457200" y="1389888"/>
            <a:ext cx="3840480" cy="411480"/>
          </a:xfrm>
          <a:prstGeom prst="rect">
            <a:avLst/>
          </a:prstGeom>
          <a:noFill/>
          <a:ln/>
        </p:spPr>
        <p:txBody>
          <a:bodyPr wrap="square" lIns="0" tIns="0" rIns="0" bIns="0" rtlCol="0" anchor="ctr"/>
          <a:lstStyle/>
          <a:p>
            <a:pPr indent="0" marL="0">
              <a:buNone/>
            </a:pPr>
            <a:r>
              <a:rPr lang="en-US" sz="1000" dirty="0">
                <a:solidFill>
                  <a:srgbClr val="90A4AE"/>
                </a:solidFill>
              </a:rPr>
              <a:t>Benjamin Evans, Jason Gauci et al.  |  O'Reilly — basis of this talk</a:t>
            </a:r>
            <a:endParaRPr lang="en-US" sz="1000" dirty="0"/>
          </a:p>
        </p:txBody>
      </p:sp>
      <p:sp>
        <p:nvSpPr>
          <p:cNvPr id="8" name="Shape 6"/>
          <p:cNvSpPr/>
          <p:nvPr/>
        </p:nvSpPr>
        <p:spPr>
          <a:xfrm>
            <a:off x="4663440" y="914400"/>
            <a:ext cx="4069080" cy="1005840"/>
          </a:xfrm>
          <a:prstGeom prst="rect">
            <a:avLst/>
          </a:prstGeom>
          <a:solidFill>
            <a:srgbClr val="00BCD4">
              <a:alpha val="80000"/>
            </a:srgbClr>
          </a:solidFill>
          <a:ln w="19050">
            <a:solidFill>
              <a:srgbClr val="00BCD4"/>
            </a:solidFill>
            <a:prstDash val="solid"/>
          </a:ln>
        </p:spPr>
      </p:sp>
      <p:sp>
        <p:nvSpPr>
          <p:cNvPr id="9" name="Text 7"/>
          <p:cNvSpPr/>
          <p:nvPr/>
        </p:nvSpPr>
        <p:spPr>
          <a:xfrm>
            <a:off x="4800600" y="960120"/>
            <a:ext cx="3840480" cy="411480"/>
          </a:xfrm>
          <a:prstGeom prst="rect">
            <a:avLst/>
          </a:prstGeom>
          <a:noFill/>
          <a:ln/>
        </p:spPr>
        <p:txBody>
          <a:bodyPr wrap="square" lIns="0" tIns="0" rIns="0" bIns="0" rtlCol="0" anchor="ctr"/>
          <a:lstStyle/>
          <a:p>
            <a:pPr indent="0" marL="0">
              <a:buNone/>
            </a:pPr>
            <a:r>
              <a:rPr lang="en-US" sz="1200" b="1" dirty="0">
                <a:solidFill>
                  <a:srgbClr val="FFFFFF"/>
                </a:solidFill>
              </a:rPr>
              <a:t>📗  SRE with Java Microservices</a:t>
            </a:r>
            <a:endParaRPr lang="en-US" sz="1200" dirty="0"/>
          </a:p>
        </p:txBody>
      </p:sp>
      <p:sp>
        <p:nvSpPr>
          <p:cNvPr id="10" name="Text 8"/>
          <p:cNvSpPr/>
          <p:nvPr/>
        </p:nvSpPr>
        <p:spPr>
          <a:xfrm>
            <a:off x="4800600" y="1389888"/>
            <a:ext cx="3840480" cy="411480"/>
          </a:xfrm>
          <a:prstGeom prst="rect">
            <a:avLst/>
          </a:prstGeom>
          <a:noFill/>
          <a:ln/>
        </p:spPr>
        <p:txBody>
          <a:bodyPr wrap="square" lIns="0" tIns="0" rIns="0" bIns="0" rtlCol="0" anchor="ctr"/>
          <a:lstStyle/>
          <a:p>
            <a:pPr indent="0" marL="0">
              <a:buNone/>
            </a:pPr>
            <a:r>
              <a:rPr lang="en-US" sz="1000" dirty="0">
                <a:solidFill>
                  <a:srgbClr val="90A4AE"/>
                </a:solidFill>
              </a:rPr>
              <a:t>Jonathan Schneider  |  O'Reilly</a:t>
            </a:r>
            <a:endParaRPr lang="en-US" sz="1000" dirty="0"/>
          </a:p>
        </p:txBody>
      </p:sp>
      <p:sp>
        <p:nvSpPr>
          <p:cNvPr id="11" name="Shape 9"/>
          <p:cNvSpPr/>
          <p:nvPr/>
        </p:nvSpPr>
        <p:spPr>
          <a:xfrm>
            <a:off x="320040" y="2103120"/>
            <a:ext cx="4069080" cy="402336"/>
          </a:xfrm>
          <a:prstGeom prst="rect">
            <a:avLst/>
          </a:prstGeom>
          <a:solidFill>
            <a:srgbClr val="122040"/>
          </a:solidFill>
          <a:ln/>
        </p:spPr>
      </p:sp>
      <p:sp>
        <p:nvSpPr>
          <p:cNvPr id="12" name="Text 10"/>
          <p:cNvSpPr/>
          <p:nvPr/>
        </p:nvSpPr>
        <p:spPr>
          <a:xfrm>
            <a:off x="429768" y="2103120"/>
            <a:ext cx="3931920" cy="402336"/>
          </a:xfrm>
          <a:prstGeom prst="rect">
            <a:avLst/>
          </a:prstGeom>
          <a:noFill/>
          <a:ln/>
        </p:spPr>
        <p:txBody>
          <a:bodyPr wrap="square" lIns="0" tIns="0" rIns="0" bIns="0" rtlCol="0" anchor="ctr"/>
          <a:lstStyle/>
          <a:p>
            <a:pPr indent="0" marL="0">
              <a:buNone/>
            </a:pPr>
            <a:r>
              <a:rPr lang="en-US" sz="1000" dirty="0">
                <a:solidFill>
                  <a:srgbClr val="00BCD4"/>
                </a:solidFill>
                <a:latin typeface="Courier New" pitchFamily="34" charset="0"/>
                <a:ea typeface="Courier New" pitchFamily="34" charset="-122"/>
                <a:cs typeface="Courier New" pitchFamily="34" charset="-120"/>
              </a:rPr>
              <a:t>Demo Repo:  github.com/[your-repo]/java-openshift-optimization-demos  (Spring Boot + Quarkus)</a:t>
            </a:r>
            <a:endParaRPr lang="en-US" sz="1000" dirty="0"/>
          </a:p>
        </p:txBody>
      </p:sp>
      <p:sp>
        <p:nvSpPr>
          <p:cNvPr id="13" name="Shape 11"/>
          <p:cNvSpPr/>
          <p:nvPr/>
        </p:nvSpPr>
        <p:spPr>
          <a:xfrm>
            <a:off x="4663440" y="2103120"/>
            <a:ext cx="4069080" cy="402336"/>
          </a:xfrm>
          <a:prstGeom prst="rect">
            <a:avLst/>
          </a:prstGeom>
          <a:solidFill>
            <a:srgbClr val="122040"/>
          </a:solidFill>
          <a:ln/>
        </p:spPr>
      </p:sp>
      <p:sp>
        <p:nvSpPr>
          <p:cNvPr id="14" name="Text 12"/>
          <p:cNvSpPr/>
          <p:nvPr/>
        </p:nvSpPr>
        <p:spPr>
          <a:xfrm>
            <a:off x="4773168" y="2103120"/>
            <a:ext cx="3931920" cy="402336"/>
          </a:xfrm>
          <a:prstGeom prst="rect">
            <a:avLst/>
          </a:prstGeom>
          <a:noFill/>
          <a:ln/>
        </p:spPr>
        <p:txBody>
          <a:bodyPr wrap="square" lIns="0" tIns="0" rIns="0" bIns="0" rtlCol="0" anchor="ctr"/>
          <a:lstStyle/>
          <a:p>
            <a:pPr indent="0" marL="0">
              <a:buNone/>
            </a:pPr>
            <a:r>
              <a:rPr lang="en-US" sz="1000" dirty="0">
                <a:solidFill>
                  <a:srgbClr val="00BCD4"/>
                </a:solidFill>
                <a:latin typeface="Courier New" pitchFamily="34" charset="0"/>
                <a:ea typeface="Courier New" pitchFamily="34" charset="-122"/>
                <a:cs typeface="Courier New" pitchFamily="34" charset="-120"/>
              </a:rPr>
              <a:t>Quarkus 3.33 LTS:  quarkus.io/blog/quarkus-3-33-released/  |  quarkus.io/guides/appcds</a:t>
            </a:r>
            <a:endParaRPr lang="en-US" sz="1000" dirty="0"/>
          </a:p>
        </p:txBody>
      </p:sp>
      <p:sp>
        <p:nvSpPr>
          <p:cNvPr id="15" name="Shape 13"/>
          <p:cNvSpPr/>
          <p:nvPr/>
        </p:nvSpPr>
        <p:spPr>
          <a:xfrm>
            <a:off x="320040" y="2578608"/>
            <a:ext cx="4069080" cy="402336"/>
          </a:xfrm>
          <a:prstGeom prst="rect">
            <a:avLst/>
          </a:prstGeom>
          <a:solidFill>
            <a:srgbClr val="122040"/>
          </a:solidFill>
          <a:ln/>
        </p:spPr>
      </p:sp>
      <p:sp>
        <p:nvSpPr>
          <p:cNvPr id="16" name="Text 14"/>
          <p:cNvSpPr/>
          <p:nvPr/>
        </p:nvSpPr>
        <p:spPr>
          <a:xfrm>
            <a:off x="429768" y="2578608"/>
            <a:ext cx="3931920" cy="402336"/>
          </a:xfrm>
          <a:prstGeom prst="rect">
            <a:avLst/>
          </a:prstGeom>
          <a:noFill/>
          <a:ln/>
        </p:spPr>
        <p:txBody>
          <a:bodyPr wrap="square" lIns="0" tIns="0" rIns="0" bIns="0" rtlCol="0" anchor="ctr"/>
          <a:lstStyle/>
          <a:p>
            <a:pPr indent="0" marL="0">
              <a:buNone/>
            </a:pPr>
            <a:r>
              <a:rPr lang="en-US" sz="1000" dirty="0">
                <a:solidFill>
                  <a:srgbClr val="00BCD4"/>
                </a:solidFill>
                <a:latin typeface="Courier New" pitchFamily="34" charset="0"/>
                <a:ea typeface="Courier New" pitchFamily="34" charset="-122"/>
                <a:cs typeface="Courier New" pitchFamily="34" charset="-120"/>
              </a:rPr>
              <a:t>JVM Tuning Guide:  access.redhat.com/articles/2988411</a:t>
            </a:r>
            <a:endParaRPr lang="en-US" sz="1000" dirty="0"/>
          </a:p>
        </p:txBody>
      </p:sp>
      <p:sp>
        <p:nvSpPr>
          <p:cNvPr id="17" name="Shape 15"/>
          <p:cNvSpPr/>
          <p:nvPr/>
        </p:nvSpPr>
        <p:spPr>
          <a:xfrm>
            <a:off x="4663440" y="2578608"/>
            <a:ext cx="4069080" cy="402336"/>
          </a:xfrm>
          <a:prstGeom prst="rect">
            <a:avLst/>
          </a:prstGeom>
          <a:solidFill>
            <a:srgbClr val="122040"/>
          </a:solidFill>
          <a:ln/>
        </p:spPr>
      </p:sp>
      <p:sp>
        <p:nvSpPr>
          <p:cNvPr id="18" name="Text 16"/>
          <p:cNvSpPr/>
          <p:nvPr/>
        </p:nvSpPr>
        <p:spPr>
          <a:xfrm>
            <a:off x="4773168" y="2578608"/>
            <a:ext cx="3931920" cy="402336"/>
          </a:xfrm>
          <a:prstGeom prst="rect">
            <a:avLst/>
          </a:prstGeom>
          <a:noFill/>
          <a:ln/>
        </p:spPr>
        <p:txBody>
          <a:bodyPr wrap="square" lIns="0" tIns="0" rIns="0" bIns="0" rtlCol="0" anchor="ctr"/>
          <a:lstStyle/>
          <a:p>
            <a:pPr indent="0" marL="0">
              <a:buNone/>
            </a:pPr>
            <a:r>
              <a:rPr lang="en-US" sz="1000" dirty="0">
                <a:solidFill>
                  <a:srgbClr val="00BCD4"/>
                </a:solidFill>
                <a:latin typeface="Courier New" pitchFamily="34" charset="0"/>
                <a:ea typeface="Courier New" pitchFamily="34" charset="-122"/>
                <a:cs typeface="Courier New" pitchFamily="34" charset="-120"/>
              </a:rPr>
              <a:t>Grafana JVM:  grafana.com/grafana/dashboards/4701  (Quarkus Micrometer: /q/metrics)</a:t>
            </a:r>
            <a:endParaRPr lang="en-US" sz="1000" dirty="0"/>
          </a:p>
        </p:txBody>
      </p:sp>
      <p:sp>
        <p:nvSpPr>
          <p:cNvPr id="19" name="Shape 17"/>
          <p:cNvSpPr/>
          <p:nvPr/>
        </p:nvSpPr>
        <p:spPr>
          <a:xfrm>
            <a:off x="320040" y="3054096"/>
            <a:ext cx="4069080" cy="402336"/>
          </a:xfrm>
          <a:prstGeom prst="rect">
            <a:avLst/>
          </a:prstGeom>
          <a:solidFill>
            <a:srgbClr val="122040"/>
          </a:solidFill>
          <a:ln/>
        </p:spPr>
      </p:sp>
      <p:sp>
        <p:nvSpPr>
          <p:cNvPr id="20" name="Text 18"/>
          <p:cNvSpPr/>
          <p:nvPr/>
        </p:nvSpPr>
        <p:spPr>
          <a:xfrm>
            <a:off x="429768" y="3054096"/>
            <a:ext cx="3931920" cy="402336"/>
          </a:xfrm>
          <a:prstGeom prst="rect">
            <a:avLst/>
          </a:prstGeom>
          <a:noFill/>
          <a:ln/>
        </p:spPr>
        <p:txBody>
          <a:bodyPr wrap="square" lIns="0" tIns="0" rIns="0" bIns="0" rtlCol="0" anchor="ctr"/>
          <a:lstStyle/>
          <a:p>
            <a:pPr indent="0" marL="0">
              <a:buNone/>
            </a:pPr>
            <a:r>
              <a:rPr lang="en-US" sz="1000" dirty="0">
                <a:solidFill>
                  <a:srgbClr val="00BCD4"/>
                </a:solidFill>
                <a:latin typeface="Courier New" pitchFamily="34" charset="0"/>
                <a:ea typeface="Courier New" pitchFamily="34" charset="-122"/>
                <a:cs typeface="Courier New" pitchFamily="34" charset="-120"/>
              </a:rPr>
              <a:t>Quarkus VT:  quarkus.io/guides/virtual-threads  (@RunOnVirtualThread — JEP 444)</a:t>
            </a:r>
            <a:endParaRPr lang="en-US" sz="1000" dirty="0"/>
          </a:p>
        </p:txBody>
      </p:sp>
      <p:sp>
        <p:nvSpPr>
          <p:cNvPr id="21" name="Shape 19"/>
          <p:cNvSpPr/>
          <p:nvPr/>
        </p:nvSpPr>
        <p:spPr>
          <a:xfrm>
            <a:off x="4663440" y="3054096"/>
            <a:ext cx="4069080" cy="402336"/>
          </a:xfrm>
          <a:prstGeom prst="rect">
            <a:avLst/>
          </a:prstGeom>
          <a:solidFill>
            <a:srgbClr val="122040"/>
          </a:solidFill>
          <a:ln/>
        </p:spPr>
      </p:sp>
      <p:sp>
        <p:nvSpPr>
          <p:cNvPr id="22" name="Text 20"/>
          <p:cNvSpPr/>
          <p:nvPr/>
        </p:nvSpPr>
        <p:spPr>
          <a:xfrm>
            <a:off x="4773168" y="3054096"/>
            <a:ext cx="3931920" cy="402336"/>
          </a:xfrm>
          <a:prstGeom prst="rect">
            <a:avLst/>
          </a:prstGeom>
          <a:noFill/>
          <a:ln/>
        </p:spPr>
        <p:txBody>
          <a:bodyPr wrap="square" lIns="0" tIns="0" rIns="0" bIns="0" rtlCol="0" anchor="ctr"/>
          <a:lstStyle/>
          <a:p>
            <a:pPr indent="0" marL="0">
              <a:buNone/>
            </a:pPr>
            <a:r>
              <a:rPr lang="en-US" sz="1000" dirty="0">
                <a:solidFill>
                  <a:srgbClr val="00BCD4"/>
                </a:solidFill>
                <a:latin typeface="Courier New" pitchFamily="34" charset="0"/>
                <a:ea typeface="Courier New" pitchFamily="34" charset="-122"/>
                <a:cs typeface="Courier New" pitchFamily="34" charset="-120"/>
              </a:rPr>
              <a:t>Quarkus OTel:  quarkus.io/guides/telemetry-micrometer-to-opentelemetry  (Grafana LGTM stack)</a:t>
            </a:r>
            <a:endParaRPr lang="en-US" sz="1000" dirty="0"/>
          </a:p>
        </p:txBody>
      </p:sp>
      <p:sp>
        <p:nvSpPr>
          <p:cNvPr id="23" name="Text 21"/>
          <p:cNvSpPr/>
          <p:nvPr/>
        </p:nvSpPr>
        <p:spPr>
          <a:xfrm>
            <a:off x="457200" y="3794760"/>
            <a:ext cx="3657600" cy="640080"/>
          </a:xfrm>
          <a:prstGeom prst="rect">
            <a:avLst/>
          </a:prstGeom>
          <a:noFill/>
          <a:ln/>
        </p:spPr>
        <p:txBody>
          <a:bodyPr wrap="square" lIns="0" tIns="0" rIns="0" bIns="0" rtlCol="0" anchor="ctr"/>
          <a:lstStyle/>
          <a:p>
            <a:pPr indent="0" marL="0">
              <a:buNone/>
            </a:pPr>
            <a:r>
              <a:rPr lang="en-US" sz="3800" b="1" dirty="0">
                <a:solidFill>
                  <a:srgbClr val="00BCD4"/>
                </a:solidFill>
              </a:rPr>
              <a:t>Questions?</a:t>
            </a:r>
            <a:endParaRPr lang="en-US" sz="3800" dirty="0"/>
          </a:p>
        </p:txBody>
      </p:sp>
      <p:sp>
        <p:nvSpPr>
          <p:cNvPr id="24" name="Text 22"/>
          <p:cNvSpPr/>
          <p:nvPr/>
        </p:nvSpPr>
        <p:spPr>
          <a:xfrm>
            <a:off x="457200" y="4462272"/>
            <a:ext cx="8229600" cy="457200"/>
          </a:xfrm>
          <a:prstGeom prst="rect">
            <a:avLst/>
          </a:prstGeom>
          <a:noFill/>
          <a:ln/>
        </p:spPr>
        <p:txBody>
          <a:bodyPr wrap="square" lIns="0" tIns="0" rIns="0" bIns="0" rtlCol="0" anchor="ctr"/>
          <a:lstStyle/>
          <a:p>
            <a:pPr indent="0" marL="0">
              <a:buNone/>
            </a:pPr>
            <a:r>
              <a:rPr lang="en-US" sz="1200" dirty="0">
                <a:solidFill>
                  <a:srgbClr val="90A4AE"/>
                </a:solidFill>
              </a:rPr>
              <a:t>Slides + demos available at the GitHub repo above.</a:t>
            </a:r>
            <a:endParaRPr lang="en-US" sz="1200" dirty="0"/>
          </a:p>
          <a:p>
            <a:pPr indent="0" marL="0">
              <a:buNone/>
            </a:pPr>
            <a:r>
              <a:rPr lang="en-US" sz="1200" dirty="0">
                <a:solidFill>
                  <a:srgbClr val="90A4AE"/>
                </a:solidFill>
              </a:rPr>
              <a:t>Feedback &amp; PRs welcome!</a:t>
            </a:r>
            <a:endParaRPr lang="en-US" sz="1200" dirty="0"/>
          </a:p>
        </p:txBody>
      </p:sp>
      <p:sp>
        <p:nvSpPr>
          <p:cNvPr id="25" name="Shape 23"/>
          <p:cNvSpPr/>
          <p:nvPr/>
        </p:nvSpPr>
        <p:spPr>
          <a:xfrm>
            <a:off x="6583680" y="3200400"/>
            <a:ext cx="2926080" cy="2926080"/>
          </a:xfrm>
          <a:prstGeom prst="ellipse">
            <a:avLst/>
          </a:prstGeom>
          <a:solidFill>
            <a:srgbClr val="00BCD4">
              <a:alpha val="10000"/>
            </a:srgbClr>
          </a:solidFill>
          <a:ln w="12700">
            <a:solidFill>
              <a:srgbClr val="00BCD4"/>
            </a:solidFill>
            <a:prstDash val="solid"/>
          </a:ln>
        </p:spPr>
      </p:sp>
      <p:sp>
        <p:nvSpPr>
          <p:cNvPr id="26" name="Text 24"/>
          <p:cNvSpPr/>
          <p:nvPr/>
        </p:nvSpPr>
        <p:spPr>
          <a:xfrm>
            <a:off x="5943600" y="3657600"/>
            <a:ext cx="3017520" cy="731520"/>
          </a:xfrm>
          <a:prstGeom prst="rect">
            <a:avLst/>
          </a:prstGeom>
          <a:noFill/>
          <a:ln/>
        </p:spPr>
        <p:txBody>
          <a:bodyPr wrap="square" lIns="0" tIns="0" rIns="0" bIns="0" rtlCol="0" anchor="ctr"/>
          <a:lstStyle/>
          <a:p>
            <a:pPr algn="ctr" indent="0" marL="0">
              <a:buNone/>
            </a:pPr>
            <a:r>
              <a:rPr lang="en-US" sz="2600" b="1" dirty="0">
                <a:solidFill>
                  <a:srgbClr val="00BCD4"/>
                </a:solidFill>
              </a:rPr>
              <a:t>Thank You!</a:t>
            </a:r>
            <a:endParaRPr lang="en-US"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Project Leyden — JVM AOT Cache</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Bonus</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27/26</a:t>
            </a:r>
            <a:endParaRPr lang="en-US" sz="900" dirty="0"/>
          </a:p>
        </p:txBody>
      </p:sp>
      <p:sp>
        <p:nvSpPr>
          <p:cNvPr id="7" name="Text 5"/>
          <p:cNvSpPr/>
          <p:nvPr/>
        </p:nvSpPr>
        <p:spPr>
          <a:xfrm>
            <a:off x="365760" y="749808"/>
            <a:ext cx="8412480" cy="256032"/>
          </a:xfrm>
          <a:prstGeom prst="rect">
            <a:avLst/>
          </a:prstGeom>
          <a:noFill/>
          <a:ln/>
        </p:spPr>
        <p:txBody>
          <a:bodyPr wrap="square" lIns="0" tIns="0" rIns="0" bIns="0" rtlCol="0" anchor="ctr"/>
          <a:lstStyle/>
          <a:p>
            <a:pPr indent="0" marL="0">
              <a:buNone/>
            </a:pPr>
            <a:r>
              <a:rPr lang="en-US" sz="1200" i="1" dirty="0">
                <a:solidFill>
                  <a:srgbClr val="90A4AE"/>
                </a:solidFill>
              </a:rPr>
              <a:t>Shift class loading, linking and JIT profiling from every startup to a one-time training run</a:t>
            </a:r>
            <a:endParaRPr lang="en-US" sz="1200" dirty="0"/>
          </a:p>
        </p:txBody>
      </p:sp>
      <p:sp>
        <p:nvSpPr>
          <p:cNvPr id="8" name="Shape 6"/>
          <p:cNvSpPr/>
          <p:nvPr/>
        </p:nvSpPr>
        <p:spPr>
          <a:xfrm>
            <a:off x="320040" y="1115568"/>
            <a:ext cx="2057400" cy="384048"/>
          </a:xfrm>
          <a:prstGeom prst="rect">
            <a:avLst/>
          </a:prstGeom>
          <a:solidFill>
            <a:srgbClr val="1E6FC8"/>
          </a:solidFill>
          <a:ln w="19050">
            <a:solidFill>
              <a:srgbClr val="1E6FC8"/>
            </a:solidFill>
            <a:prstDash val="solid"/>
          </a:ln>
        </p:spPr>
      </p:sp>
      <p:sp>
        <p:nvSpPr>
          <p:cNvPr id="9" name="Text 7"/>
          <p:cNvSpPr/>
          <p:nvPr/>
        </p:nvSpPr>
        <p:spPr>
          <a:xfrm>
            <a:off x="320040" y="1115568"/>
            <a:ext cx="2057400" cy="384048"/>
          </a:xfrm>
          <a:prstGeom prst="rect">
            <a:avLst/>
          </a:prstGeom>
          <a:noFill/>
          <a:ln/>
        </p:spPr>
        <p:txBody>
          <a:bodyPr wrap="square" lIns="0" tIns="0" rIns="0" bIns="0" rtlCol="0" anchor="ctr"/>
          <a:lstStyle/>
          <a:p>
            <a:pPr algn="ctr" indent="0" marL="0">
              <a:buNone/>
            </a:pPr>
            <a:r>
              <a:rPr lang="en-US" sz="900" b="1" dirty="0">
                <a:solidFill>
                  <a:srgbClr val="FFFFFF"/>
                </a:solidFill>
              </a:rPr>
              <a:t>JDK 24  •  JEP 483</a:t>
            </a:r>
            <a:endParaRPr lang="en-US" sz="900" dirty="0"/>
          </a:p>
        </p:txBody>
      </p:sp>
      <p:sp>
        <p:nvSpPr>
          <p:cNvPr id="10" name="Text 8"/>
          <p:cNvSpPr/>
          <p:nvPr/>
        </p:nvSpPr>
        <p:spPr>
          <a:xfrm>
            <a:off x="2395728" y="1170432"/>
            <a:ext cx="109728" cy="274320"/>
          </a:xfrm>
          <a:prstGeom prst="rect">
            <a:avLst/>
          </a:prstGeom>
          <a:noFill/>
          <a:ln/>
        </p:spPr>
        <p:txBody>
          <a:bodyPr wrap="square" lIns="0" tIns="0" rIns="0" bIns="0" rtlCol="0" anchor="ctr"/>
          <a:lstStyle/>
          <a:p>
            <a:pPr indent="0" marL="0">
              <a:buNone/>
            </a:pPr>
            <a:r>
              <a:rPr lang="en-US" sz="1100" b="1" dirty="0">
                <a:solidFill>
                  <a:srgbClr val="00BCD4"/>
                </a:solidFill>
              </a:rPr>
              <a:t>→</a:t>
            </a:r>
            <a:endParaRPr lang="en-US" sz="1100" dirty="0"/>
          </a:p>
        </p:txBody>
      </p:sp>
      <p:sp>
        <p:nvSpPr>
          <p:cNvPr id="11" name="Text 9"/>
          <p:cNvSpPr/>
          <p:nvPr/>
        </p:nvSpPr>
        <p:spPr>
          <a:xfrm>
            <a:off x="356616" y="1554480"/>
            <a:ext cx="1993392" cy="201168"/>
          </a:xfrm>
          <a:prstGeom prst="rect">
            <a:avLst/>
          </a:prstGeom>
          <a:noFill/>
          <a:ln/>
        </p:spPr>
        <p:txBody>
          <a:bodyPr wrap="square" lIns="0" tIns="0" rIns="0" bIns="0" rtlCol="0" anchor="ctr"/>
          <a:lstStyle/>
          <a:p>
            <a:pPr indent="0" marL="0">
              <a:buNone/>
            </a:pPr>
            <a:r>
              <a:rPr lang="en-US" sz="950" b="1" dirty="0">
                <a:solidFill>
                  <a:srgbClr val="1E6FC8"/>
                </a:solidFill>
              </a:rPr>
              <a:t>AOT Class Loading &amp; Linking</a:t>
            </a:r>
            <a:endParaRPr lang="en-US" sz="950" dirty="0"/>
          </a:p>
        </p:txBody>
      </p:sp>
      <p:sp>
        <p:nvSpPr>
          <p:cNvPr id="12" name="Text 10"/>
          <p:cNvSpPr/>
          <p:nvPr/>
        </p:nvSpPr>
        <p:spPr>
          <a:xfrm>
            <a:off x="356616" y="1792224"/>
            <a:ext cx="1993392" cy="566928"/>
          </a:xfrm>
          <a:prstGeom prst="rect">
            <a:avLst/>
          </a:prstGeom>
          <a:noFill/>
          <a:ln/>
        </p:spPr>
        <p:txBody>
          <a:bodyPr wrap="square" lIns="0" tIns="0" rIns="0" bIns="0" rtlCol="0" anchor="ctr"/>
          <a:lstStyle/>
          <a:p>
            <a:pPr indent="0" marL="0">
              <a:buNone/>
            </a:pPr>
            <a:r>
              <a:rPr lang="en-US" sz="850" dirty="0">
                <a:solidFill>
                  <a:srgbClr val="ECF0F1"/>
                </a:solidFill>
              </a:rPr>
              <a:t>Pre-loads &amp; links classes into .aot cache</a:t>
            </a:r>
            <a:endParaRPr lang="en-US" sz="850" dirty="0"/>
          </a:p>
          <a:p>
            <a:pPr indent="0" marL="0">
              <a:buNone/>
            </a:pPr>
            <a:r>
              <a:rPr lang="en-US" sz="850" dirty="0">
                <a:solidFill>
                  <a:srgbClr val="ECF0F1"/>
                </a:solidFill>
              </a:rPr>
              <a:t>~40% faster startup — Spring PetClinic 2s→1s</a:t>
            </a:r>
            <a:endParaRPr lang="en-US" sz="850" dirty="0"/>
          </a:p>
        </p:txBody>
      </p:sp>
      <p:sp>
        <p:nvSpPr>
          <p:cNvPr id="13" name="Shape 11"/>
          <p:cNvSpPr/>
          <p:nvPr/>
        </p:nvSpPr>
        <p:spPr>
          <a:xfrm>
            <a:off x="2514600" y="1115568"/>
            <a:ext cx="2057400" cy="384048"/>
          </a:xfrm>
          <a:prstGeom prst="rect">
            <a:avLst/>
          </a:prstGeom>
          <a:solidFill>
            <a:srgbClr val="00BCD4"/>
          </a:solidFill>
          <a:ln w="19050">
            <a:solidFill>
              <a:srgbClr val="00BCD4"/>
            </a:solidFill>
            <a:prstDash val="solid"/>
          </a:ln>
        </p:spPr>
      </p:sp>
      <p:sp>
        <p:nvSpPr>
          <p:cNvPr id="14" name="Text 12"/>
          <p:cNvSpPr/>
          <p:nvPr/>
        </p:nvSpPr>
        <p:spPr>
          <a:xfrm>
            <a:off x="2514600" y="1115568"/>
            <a:ext cx="2057400" cy="384048"/>
          </a:xfrm>
          <a:prstGeom prst="rect">
            <a:avLst/>
          </a:prstGeom>
          <a:noFill/>
          <a:ln/>
        </p:spPr>
        <p:txBody>
          <a:bodyPr wrap="square" lIns="0" tIns="0" rIns="0" bIns="0" rtlCol="0" anchor="ctr"/>
          <a:lstStyle/>
          <a:p>
            <a:pPr algn="ctr" indent="0" marL="0">
              <a:buNone/>
            </a:pPr>
            <a:r>
              <a:rPr lang="en-US" sz="900" b="1" dirty="0">
                <a:solidFill>
                  <a:srgbClr val="FFFFFF"/>
                </a:solidFill>
              </a:rPr>
              <a:t>JDK 25 LTS  •  JEP 514+515</a:t>
            </a:r>
            <a:endParaRPr lang="en-US" sz="900" dirty="0"/>
          </a:p>
        </p:txBody>
      </p:sp>
      <p:sp>
        <p:nvSpPr>
          <p:cNvPr id="15" name="Text 13"/>
          <p:cNvSpPr/>
          <p:nvPr/>
        </p:nvSpPr>
        <p:spPr>
          <a:xfrm>
            <a:off x="4590288" y="1170432"/>
            <a:ext cx="109728" cy="274320"/>
          </a:xfrm>
          <a:prstGeom prst="rect">
            <a:avLst/>
          </a:prstGeom>
          <a:noFill/>
          <a:ln/>
        </p:spPr>
        <p:txBody>
          <a:bodyPr wrap="square" lIns="0" tIns="0" rIns="0" bIns="0" rtlCol="0" anchor="ctr"/>
          <a:lstStyle/>
          <a:p>
            <a:pPr indent="0" marL="0">
              <a:buNone/>
            </a:pPr>
            <a:r>
              <a:rPr lang="en-US" sz="1100" b="1" dirty="0">
                <a:solidFill>
                  <a:srgbClr val="00BCD4"/>
                </a:solidFill>
              </a:rPr>
              <a:t>→</a:t>
            </a:r>
            <a:endParaRPr lang="en-US" sz="1100" dirty="0"/>
          </a:p>
        </p:txBody>
      </p:sp>
      <p:sp>
        <p:nvSpPr>
          <p:cNvPr id="16" name="Text 14"/>
          <p:cNvSpPr/>
          <p:nvPr/>
        </p:nvSpPr>
        <p:spPr>
          <a:xfrm>
            <a:off x="2551176" y="1554480"/>
            <a:ext cx="1993392" cy="201168"/>
          </a:xfrm>
          <a:prstGeom prst="rect">
            <a:avLst/>
          </a:prstGeom>
          <a:noFill/>
          <a:ln/>
        </p:spPr>
        <p:txBody>
          <a:bodyPr wrap="square" lIns="0" tIns="0" rIns="0" bIns="0" rtlCol="0" anchor="ctr"/>
          <a:lstStyle/>
          <a:p>
            <a:pPr indent="0" marL="0">
              <a:buNone/>
            </a:pPr>
            <a:r>
              <a:rPr lang="en-US" sz="950" b="1" dirty="0">
                <a:solidFill>
                  <a:srgbClr val="00BCD4"/>
                </a:solidFill>
              </a:rPr>
              <a:t>Ergonomics + Method Profiling</a:t>
            </a:r>
            <a:endParaRPr lang="en-US" sz="950" dirty="0"/>
          </a:p>
        </p:txBody>
      </p:sp>
      <p:sp>
        <p:nvSpPr>
          <p:cNvPr id="17" name="Text 15"/>
          <p:cNvSpPr/>
          <p:nvPr/>
        </p:nvSpPr>
        <p:spPr>
          <a:xfrm>
            <a:off x="2551176" y="1792224"/>
            <a:ext cx="1993392" cy="566928"/>
          </a:xfrm>
          <a:prstGeom prst="rect">
            <a:avLst/>
          </a:prstGeom>
          <a:noFill/>
          <a:ln/>
        </p:spPr>
        <p:txBody>
          <a:bodyPr wrap="square" lIns="0" tIns="0" rIns="0" bIns="0" rtlCol="0" anchor="ctr"/>
          <a:lstStyle/>
          <a:p>
            <a:pPr indent="0" marL="0">
              <a:buNone/>
            </a:pPr>
            <a:r>
              <a:rPr lang="en-US" sz="850" dirty="0">
                <a:solidFill>
                  <a:srgbClr val="ECF0F1"/>
                </a:solidFill>
              </a:rPr>
              <a:t>2-step raw JVM workflow (train once, deploy with cache)</a:t>
            </a:r>
            <a:endParaRPr lang="en-US" sz="850" dirty="0"/>
          </a:p>
          <a:p>
            <a:pPr indent="0" marL="0">
              <a:buNone/>
            </a:pPr>
            <a:r>
              <a:rPr lang="en-US" sz="850" dirty="0">
                <a:solidFill>
                  <a:srgbClr val="ECF0F1"/>
                </a:solidFill>
              </a:rPr>
              <a:t>Stores JIT hot-method profiles: +15-25% warmup</a:t>
            </a:r>
            <a:endParaRPr lang="en-US" sz="850" dirty="0"/>
          </a:p>
        </p:txBody>
      </p:sp>
      <p:sp>
        <p:nvSpPr>
          <p:cNvPr id="18" name="Shape 16"/>
          <p:cNvSpPr/>
          <p:nvPr/>
        </p:nvSpPr>
        <p:spPr>
          <a:xfrm>
            <a:off x="4709160" y="1115568"/>
            <a:ext cx="2057400" cy="384048"/>
          </a:xfrm>
          <a:prstGeom prst="rect">
            <a:avLst/>
          </a:prstGeom>
          <a:solidFill>
            <a:srgbClr val="27AE60"/>
          </a:solidFill>
          <a:ln w="19050">
            <a:solidFill>
              <a:srgbClr val="27AE60"/>
            </a:solidFill>
            <a:prstDash val="solid"/>
          </a:ln>
        </p:spPr>
      </p:sp>
      <p:sp>
        <p:nvSpPr>
          <p:cNvPr id="19" name="Text 17"/>
          <p:cNvSpPr/>
          <p:nvPr/>
        </p:nvSpPr>
        <p:spPr>
          <a:xfrm>
            <a:off x="4709160" y="1115568"/>
            <a:ext cx="2057400" cy="384048"/>
          </a:xfrm>
          <a:prstGeom prst="rect">
            <a:avLst/>
          </a:prstGeom>
          <a:noFill/>
          <a:ln/>
        </p:spPr>
        <p:txBody>
          <a:bodyPr wrap="square" lIns="0" tIns="0" rIns="0" bIns="0" rtlCol="0" anchor="ctr"/>
          <a:lstStyle/>
          <a:p>
            <a:pPr algn="ctr" indent="0" marL="0">
              <a:buNone/>
            </a:pPr>
            <a:r>
              <a:rPr lang="en-US" sz="900" b="1" dirty="0">
                <a:solidFill>
                  <a:srgbClr val="FFFFFF"/>
                </a:solidFill>
              </a:rPr>
              <a:t>JDK 26  •  JEP 516</a:t>
            </a:r>
            <a:endParaRPr lang="en-US" sz="900" dirty="0"/>
          </a:p>
        </p:txBody>
      </p:sp>
      <p:sp>
        <p:nvSpPr>
          <p:cNvPr id="20" name="Text 18"/>
          <p:cNvSpPr/>
          <p:nvPr/>
        </p:nvSpPr>
        <p:spPr>
          <a:xfrm>
            <a:off x="6784848" y="1170432"/>
            <a:ext cx="109728" cy="274320"/>
          </a:xfrm>
          <a:prstGeom prst="rect">
            <a:avLst/>
          </a:prstGeom>
          <a:noFill/>
          <a:ln/>
        </p:spPr>
        <p:txBody>
          <a:bodyPr wrap="square" lIns="0" tIns="0" rIns="0" bIns="0" rtlCol="0" anchor="ctr"/>
          <a:lstStyle/>
          <a:p>
            <a:pPr indent="0" marL="0">
              <a:buNone/>
            </a:pPr>
            <a:r>
              <a:rPr lang="en-US" sz="1100" b="1" dirty="0">
                <a:solidFill>
                  <a:srgbClr val="00BCD4"/>
                </a:solidFill>
              </a:rPr>
              <a:t>→</a:t>
            </a:r>
            <a:endParaRPr lang="en-US" sz="1100" dirty="0"/>
          </a:p>
        </p:txBody>
      </p:sp>
      <p:sp>
        <p:nvSpPr>
          <p:cNvPr id="21" name="Text 19"/>
          <p:cNvSpPr/>
          <p:nvPr/>
        </p:nvSpPr>
        <p:spPr>
          <a:xfrm>
            <a:off x="4745736" y="1554480"/>
            <a:ext cx="1993392" cy="201168"/>
          </a:xfrm>
          <a:prstGeom prst="rect">
            <a:avLst/>
          </a:prstGeom>
          <a:noFill/>
          <a:ln/>
        </p:spPr>
        <p:txBody>
          <a:bodyPr wrap="square" lIns="0" tIns="0" rIns="0" bIns="0" rtlCol="0" anchor="ctr"/>
          <a:lstStyle/>
          <a:p>
            <a:pPr indent="0" marL="0">
              <a:buNone/>
            </a:pPr>
            <a:r>
              <a:rPr lang="en-US" sz="950" b="1" dirty="0">
                <a:solidFill>
                  <a:srgbClr val="27AE60"/>
                </a:solidFill>
              </a:rPr>
              <a:t>Any GC — ZGC now supported</a:t>
            </a:r>
            <a:endParaRPr lang="en-US" sz="950" dirty="0"/>
          </a:p>
        </p:txBody>
      </p:sp>
      <p:sp>
        <p:nvSpPr>
          <p:cNvPr id="22" name="Text 20"/>
          <p:cNvSpPr/>
          <p:nvPr/>
        </p:nvSpPr>
        <p:spPr>
          <a:xfrm>
            <a:off x="4745736" y="1792224"/>
            <a:ext cx="1993392" cy="566928"/>
          </a:xfrm>
          <a:prstGeom prst="rect">
            <a:avLst/>
          </a:prstGeom>
          <a:noFill/>
          <a:ln/>
        </p:spPr>
        <p:txBody>
          <a:bodyPr wrap="square" lIns="0" tIns="0" rIns="0" bIns="0" rtlCol="0" anchor="ctr"/>
          <a:lstStyle/>
          <a:p>
            <a:pPr indent="0" marL="0">
              <a:buNone/>
            </a:pPr>
            <a:r>
              <a:rPr lang="en-US" sz="850" dirty="0">
                <a:solidFill>
                  <a:srgbClr val="ECF0F1"/>
                </a:solidFill>
              </a:rPr>
              <a:t>Previously G1GC only — now works with ZGC</a:t>
            </a:r>
            <a:endParaRPr lang="en-US" sz="850" dirty="0"/>
          </a:p>
          <a:p>
            <a:pPr indent="0" marL="0">
              <a:buNone/>
            </a:pPr>
            <a:r>
              <a:rPr lang="en-US" sz="850" dirty="0">
                <a:solidFill>
                  <a:srgbClr val="ECF0F1"/>
                </a:solidFill>
              </a:rPr>
              <a:t>Baseline cache ships with the JDK itself</a:t>
            </a:r>
            <a:endParaRPr lang="en-US" sz="850" dirty="0"/>
          </a:p>
        </p:txBody>
      </p:sp>
      <p:sp>
        <p:nvSpPr>
          <p:cNvPr id="23" name="Shape 21"/>
          <p:cNvSpPr/>
          <p:nvPr/>
        </p:nvSpPr>
        <p:spPr>
          <a:xfrm>
            <a:off x="6903720" y="1115568"/>
            <a:ext cx="2057400" cy="384048"/>
          </a:xfrm>
          <a:prstGeom prst="rect">
            <a:avLst/>
          </a:prstGeom>
          <a:solidFill>
            <a:srgbClr val="1A2640"/>
          </a:solidFill>
          <a:ln w="19050">
            <a:solidFill>
              <a:srgbClr val="2A3A54"/>
            </a:solidFill>
            <a:prstDash val="solid"/>
          </a:ln>
        </p:spPr>
      </p:sp>
      <p:sp>
        <p:nvSpPr>
          <p:cNvPr id="24" name="Text 22"/>
          <p:cNvSpPr/>
          <p:nvPr/>
        </p:nvSpPr>
        <p:spPr>
          <a:xfrm>
            <a:off x="6903720" y="1115568"/>
            <a:ext cx="2057400" cy="384048"/>
          </a:xfrm>
          <a:prstGeom prst="rect">
            <a:avLst/>
          </a:prstGeom>
          <a:noFill/>
          <a:ln/>
        </p:spPr>
        <p:txBody>
          <a:bodyPr wrap="square" lIns="0" tIns="0" rIns="0" bIns="0" rtlCol="0" anchor="ctr"/>
          <a:lstStyle/>
          <a:p>
            <a:pPr algn="ctr" indent="0" marL="0">
              <a:buNone/>
            </a:pPr>
            <a:r>
              <a:rPr lang="en-US" sz="900" b="1" dirty="0">
                <a:solidFill>
                  <a:srgbClr val="90A4AE"/>
                </a:solidFill>
              </a:rPr>
              <a:t>Future  •  Draft</a:t>
            </a:r>
            <a:endParaRPr lang="en-US" sz="900" dirty="0"/>
          </a:p>
        </p:txBody>
      </p:sp>
      <p:sp>
        <p:nvSpPr>
          <p:cNvPr id="25" name="Text 23"/>
          <p:cNvSpPr/>
          <p:nvPr/>
        </p:nvSpPr>
        <p:spPr>
          <a:xfrm>
            <a:off x="6940296" y="1554480"/>
            <a:ext cx="1993392" cy="201168"/>
          </a:xfrm>
          <a:prstGeom prst="rect">
            <a:avLst/>
          </a:prstGeom>
          <a:noFill/>
          <a:ln/>
        </p:spPr>
        <p:txBody>
          <a:bodyPr wrap="square" lIns="0" tIns="0" rIns="0" bIns="0" rtlCol="0" anchor="ctr"/>
          <a:lstStyle/>
          <a:p>
            <a:pPr indent="0" marL="0">
              <a:buNone/>
            </a:pPr>
            <a:r>
              <a:rPr lang="en-US" sz="950" b="1" dirty="0">
                <a:solidFill>
                  <a:srgbClr val="90A4AE"/>
                </a:solidFill>
              </a:rPr>
              <a:t>AOT Code Compilation</a:t>
            </a:r>
            <a:endParaRPr lang="en-US" sz="950" dirty="0"/>
          </a:p>
        </p:txBody>
      </p:sp>
      <p:sp>
        <p:nvSpPr>
          <p:cNvPr id="26" name="Text 24"/>
          <p:cNvSpPr/>
          <p:nvPr/>
        </p:nvSpPr>
        <p:spPr>
          <a:xfrm>
            <a:off x="6940296" y="1792224"/>
            <a:ext cx="1993392" cy="566928"/>
          </a:xfrm>
          <a:prstGeom prst="rect">
            <a:avLst/>
          </a:prstGeom>
          <a:noFill/>
          <a:ln/>
        </p:spPr>
        <p:txBody>
          <a:bodyPr wrap="square" lIns="0" tIns="0" rIns="0" bIns="0" rtlCol="0" anchor="ctr"/>
          <a:lstStyle/>
          <a:p>
            <a:pPr indent="0" marL="0">
              <a:buNone/>
            </a:pPr>
            <a:r>
              <a:rPr lang="en-US" sz="850" dirty="0">
                <a:solidFill>
                  <a:srgbClr val="ECF0F1"/>
                </a:solidFill>
              </a:rPr>
              <a:t>Pre-compiled native code in the cache</a:t>
            </a:r>
            <a:endParaRPr lang="en-US" sz="850" dirty="0"/>
          </a:p>
          <a:p>
            <a:pPr indent="0" marL="0">
              <a:buNone/>
            </a:pPr>
            <a:r>
              <a:rPr lang="en-US" sz="850" dirty="0">
                <a:solidFill>
                  <a:srgbClr val="ECF0F1"/>
                </a:solidFill>
              </a:rPr>
              <a:t>Instant peak performance from first request</a:t>
            </a:r>
            <a:endParaRPr lang="en-US" sz="850" dirty="0"/>
          </a:p>
        </p:txBody>
      </p:sp>
      <p:sp>
        <p:nvSpPr>
          <p:cNvPr id="27" name="Shape 25"/>
          <p:cNvSpPr/>
          <p:nvPr/>
        </p:nvSpPr>
        <p:spPr>
          <a:xfrm>
            <a:off x="320040" y="2542032"/>
            <a:ext cx="2816352" cy="230428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320040" y="2542032"/>
            <a:ext cx="2816352" cy="310896"/>
          </a:xfrm>
          <a:prstGeom prst="rect">
            <a:avLst/>
          </a:prstGeom>
          <a:solidFill>
            <a:srgbClr val="1E6FC8"/>
          </a:solidFill>
          <a:ln w="12700">
            <a:solidFill>
              <a:srgbClr val="1E6FC8"/>
            </a:solidFill>
            <a:prstDash val="solid"/>
          </a:ln>
        </p:spPr>
      </p:sp>
      <p:sp>
        <p:nvSpPr>
          <p:cNvPr id="29" name="Text 27"/>
          <p:cNvSpPr/>
          <p:nvPr/>
        </p:nvSpPr>
        <p:spPr>
          <a:xfrm>
            <a:off x="393192" y="2542032"/>
            <a:ext cx="2670048" cy="310896"/>
          </a:xfrm>
          <a:prstGeom prst="rect">
            <a:avLst/>
          </a:prstGeom>
          <a:noFill/>
          <a:ln/>
        </p:spPr>
        <p:txBody>
          <a:bodyPr wrap="square" lIns="0" tIns="0" rIns="0" bIns="0" rtlCol="0" anchor="ctr"/>
          <a:lstStyle/>
          <a:p>
            <a:pPr indent="0" marL="0">
              <a:buNone/>
            </a:pPr>
            <a:r>
              <a:rPr lang="en-US" sz="1000" b="1" dirty="0">
                <a:solidFill>
                  <a:srgbClr val="FFFFFF"/>
                </a:solidFill>
              </a:rPr>
              <a:t>What the AOT Cache Stores</a:t>
            </a:r>
            <a:endParaRPr lang="en-US" sz="1000" dirty="0"/>
          </a:p>
        </p:txBody>
      </p:sp>
      <p:sp>
        <p:nvSpPr>
          <p:cNvPr id="30" name="Text 28"/>
          <p:cNvSpPr/>
          <p:nvPr/>
        </p:nvSpPr>
        <p:spPr>
          <a:xfrm>
            <a:off x="411480" y="2916936"/>
            <a:ext cx="2633472" cy="420624"/>
          </a:xfrm>
          <a:prstGeom prst="rect">
            <a:avLst/>
          </a:prstGeom>
          <a:noFill/>
          <a:ln/>
        </p:spPr>
        <p:txBody>
          <a:bodyPr wrap="square" lIns="0" tIns="0" rIns="0" bIns="0" rtlCol="0" anchor="t"/>
          <a:lstStyle/>
          <a:p>
            <a:pPr indent="0" marL="0">
              <a:buNone/>
            </a:pPr>
            <a:r>
              <a:rPr lang="en-US" sz="880" dirty="0">
                <a:solidFill>
                  <a:srgbClr val="ECF0F1"/>
                </a:solidFill>
              </a:rPr>
              <a:t>•  Extends AppCDS: not just parsed bytes but fully LOADED and LINKED class state</a:t>
            </a:r>
            <a:endParaRPr lang="en-US" sz="880" dirty="0"/>
          </a:p>
        </p:txBody>
      </p:sp>
      <p:sp>
        <p:nvSpPr>
          <p:cNvPr id="31" name="Text 29"/>
          <p:cNvSpPr/>
          <p:nvPr/>
        </p:nvSpPr>
        <p:spPr>
          <a:xfrm>
            <a:off x="411480" y="3364992"/>
            <a:ext cx="2633472" cy="420624"/>
          </a:xfrm>
          <a:prstGeom prst="rect">
            <a:avLst/>
          </a:prstGeom>
          <a:noFill/>
          <a:ln/>
        </p:spPr>
        <p:txBody>
          <a:bodyPr wrap="square" lIns="0" tIns="0" rIns="0" bIns="0" rtlCol="0" anchor="t"/>
          <a:lstStyle/>
          <a:p>
            <a:pPr indent="0" marL="0">
              <a:buNone/>
            </a:pPr>
            <a:r>
              <a:rPr lang="en-US" sz="880" dirty="0">
                <a:solidFill>
                  <a:srgbClr val="ECF0F1"/>
                </a:solidFill>
              </a:rPr>
              <a:t>•  JIT method profiles (JEP 515): hot paths pre-identified so JIT compiles immediately at startup</a:t>
            </a:r>
            <a:endParaRPr lang="en-US" sz="880" dirty="0"/>
          </a:p>
        </p:txBody>
      </p:sp>
      <p:sp>
        <p:nvSpPr>
          <p:cNvPr id="32" name="Text 30"/>
          <p:cNvSpPr/>
          <p:nvPr/>
        </p:nvSpPr>
        <p:spPr>
          <a:xfrm>
            <a:off x="411480" y="3813048"/>
            <a:ext cx="2633472" cy="420624"/>
          </a:xfrm>
          <a:prstGeom prst="rect">
            <a:avLst/>
          </a:prstGeom>
          <a:noFill/>
          <a:ln/>
        </p:spPr>
        <p:txBody>
          <a:bodyPr wrap="square" lIns="0" tIns="0" rIns="0" bIns="0" rtlCol="0" anchor="t"/>
          <a:lstStyle/>
          <a:p>
            <a:pPr indent="0" marL="0">
              <a:buNone/>
            </a:pPr>
            <a:r>
              <a:rPr lang="en-US" sz="880" dirty="0">
                <a:solidFill>
                  <a:srgbClr val="ECF0F1"/>
                </a:solidFill>
              </a:rPr>
              <a:t>•  Cache is self-invalidating — JVM detects changed JARs and rebuilds automatically</a:t>
            </a:r>
            <a:endParaRPr lang="en-US" sz="880" dirty="0"/>
          </a:p>
        </p:txBody>
      </p:sp>
      <p:sp>
        <p:nvSpPr>
          <p:cNvPr id="33" name="Text 31"/>
          <p:cNvSpPr/>
          <p:nvPr/>
        </p:nvSpPr>
        <p:spPr>
          <a:xfrm>
            <a:off x="411480" y="4261104"/>
            <a:ext cx="2633472" cy="420624"/>
          </a:xfrm>
          <a:prstGeom prst="rect">
            <a:avLst/>
          </a:prstGeom>
          <a:noFill/>
          <a:ln/>
        </p:spPr>
        <p:txBody>
          <a:bodyPr wrap="square" lIns="0" tIns="0" rIns="0" bIns="0" rtlCol="0" anchor="t"/>
          <a:lstStyle/>
          <a:p>
            <a:pPr indent="0" marL="0">
              <a:buNone/>
            </a:pPr>
            <a:r>
              <a:rPr lang="en-US" sz="880" dirty="0">
                <a:solidFill>
                  <a:srgbClr val="ECF0F1"/>
                </a:solidFill>
              </a:rPr>
              <a:t>•  Full JVM dynamics preserved: reflection, dynamic class loading and JIT still work</a:t>
            </a:r>
            <a:endParaRPr lang="en-US" sz="880" dirty="0"/>
          </a:p>
        </p:txBody>
      </p:sp>
      <p:sp>
        <p:nvSpPr>
          <p:cNvPr id="34" name="Shape 32"/>
          <p:cNvSpPr/>
          <p:nvPr/>
        </p:nvSpPr>
        <p:spPr>
          <a:xfrm>
            <a:off x="3264408" y="2542032"/>
            <a:ext cx="2816352" cy="230428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35" name="Shape 33"/>
          <p:cNvSpPr/>
          <p:nvPr/>
        </p:nvSpPr>
        <p:spPr>
          <a:xfrm>
            <a:off x="3264408" y="2542032"/>
            <a:ext cx="2816352" cy="310896"/>
          </a:xfrm>
          <a:prstGeom prst="rect">
            <a:avLst/>
          </a:prstGeom>
          <a:solidFill>
            <a:srgbClr val="00BCD4"/>
          </a:solidFill>
          <a:ln w="12700">
            <a:solidFill>
              <a:srgbClr val="00BCD4"/>
            </a:solidFill>
            <a:prstDash val="solid"/>
          </a:ln>
        </p:spPr>
      </p:sp>
      <p:sp>
        <p:nvSpPr>
          <p:cNvPr id="36" name="Text 34"/>
          <p:cNvSpPr/>
          <p:nvPr/>
        </p:nvSpPr>
        <p:spPr>
          <a:xfrm>
            <a:off x="3337560" y="2542032"/>
            <a:ext cx="2670048" cy="310896"/>
          </a:xfrm>
          <a:prstGeom prst="rect">
            <a:avLst/>
          </a:prstGeom>
          <a:noFill/>
          <a:ln/>
        </p:spPr>
        <p:txBody>
          <a:bodyPr wrap="square" lIns="0" tIns="0" rIns="0" bIns="0" rtlCol="0" anchor="ctr"/>
          <a:lstStyle/>
          <a:p>
            <a:pPr indent="0" marL="0">
              <a:buNone/>
            </a:pPr>
            <a:r>
              <a:rPr lang="en-US" sz="1000" b="1" dirty="0">
                <a:solidFill>
                  <a:srgbClr val="FFFFFF"/>
                </a:solidFill>
              </a:rPr>
              <a:t>Quarkus 3.33.1 — One Property</a:t>
            </a:r>
            <a:endParaRPr lang="en-US" sz="1000" dirty="0"/>
          </a:p>
        </p:txBody>
      </p:sp>
      <p:sp>
        <p:nvSpPr>
          <p:cNvPr id="37" name="Text 35"/>
          <p:cNvSpPr/>
          <p:nvPr/>
        </p:nvSpPr>
        <p:spPr>
          <a:xfrm>
            <a:off x="3355848" y="2916936"/>
            <a:ext cx="2633472" cy="420624"/>
          </a:xfrm>
          <a:prstGeom prst="rect">
            <a:avLst/>
          </a:prstGeom>
          <a:noFill/>
          <a:ln/>
        </p:spPr>
        <p:txBody>
          <a:bodyPr wrap="square" lIns="0" tIns="0" rIns="0" bIns="0" rtlCol="0" anchor="t"/>
          <a:lstStyle/>
          <a:p>
            <a:pPr indent="0" marL="0">
              <a:buNone/>
            </a:pPr>
            <a:r>
              <a:rPr lang="en-US" sz="880" dirty="0">
                <a:solidFill>
                  <a:srgbClr val="ECF0F1"/>
                </a:solidFill>
              </a:rPr>
              <a:t>•  quarkus.package.jar.aot.enabled=true in application.properties</a:t>
            </a:r>
            <a:endParaRPr lang="en-US" sz="880" dirty="0"/>
          </a:p>
        </p:txBody>
      </p:sp>
      <p:sp>
        <p:nvSpPr>
          <p:cNvPr id="38" name="Text 36"/>
          <p:cNvSpPr/>
          <p:nvPr/>
        </p:nvSpPr>
        <p:spPr>
          <a:xfrm>
            <a:off x="3355848" y="3364992"/>
            <a:ext cx="2633472" cy="420624"/>
          </a:xfrm>
          <a:prstGeom prst="rect">
            <a:avLst/>
          </a:prstGeom>
          <a:noFill/>
          <a:ln/>
        </p:spPr>
        <p:txBody>
          <a:bodyPr wrap="square" lIns="0" tIns="0" rIns="0" bIns="0" rtlCol="0" anchor="t"/>
          <a:lstStyle/>
          <a:p>
            <a:pPr indent="0" marL="0">
              <a:buNone/>
            </a:pPr>
            <a:r>
              <a:rPr lang="en-US" sz="880" dirty="0">
                <a:solidFill>
                  <a:srgbClr val="ECF0F1"/>
                </a:solidFill>
              </a:rPr>
              <a:t>•  Quarkus Maven plugin trains on your @QuarkusIntegrationTest suite automatically</a:t>
            </a:r>
            <a:endParaRPr lang="en-US" sz="880" dirty="0"/>
          </a:p>
        </p:txBody>
      </p:sp>
      <p:sp>
        <p:nvSpPr>
          <p:cNvPr id="39" name="Text 37"/>
          <p:cNvSpPr/>
          <p:nvPr/>
        </p:nvSpPr>
        <p:spPr>
          <a:xfrm>
            <a:off x="3355848" y="3813048"/>
            <a:ext cx="2633472" cy="420624"/>
          </a:xfrm>
          <a:prstGeom prst="rect">
            <a:avLst/>
          </a:prstGeom>
          <a:noFill/>
          <a:ln/>
        </p:spPr>
        <p:txBody>
          <a:bodyPr wrap="square" lIns="0" tIns="0" rIns="0" bIns="0" rtlCol="0" anchor="t"/>
          <a:lstStyle/>
          <a:p>
            <a:pPr indent="0" marL="0">
              <a:buNone/>
            </a:pPr>
            <a:r>
              <a:rPr lang="en-US" sz="880" dirty="0">
                <a:solidFill>
                  <a:srgbClr val="ECF0F1"/>
                </a:solidFill>
              </a:rPr>
              <a:t>•  Bundles app.aot alongside quarkus-run.jar — no manual -XX flags in your Dockerfile</a:t>
            </a:r>
            <a:endParaRPr lang="en-US" sz="880" dirty="0"/>
          </a:p>
        </p:txBody>
      </p:sp>
      <p:sp>
        <p:nvSpPr>
          <p:cNvPr id="40" name="Text 38"/>
          <p:cNvSpPr/>
          <p:nvPr/>
        </p:nvSpPr>
        <p:spPr>
          <a:xfrm>
            <a:off x="3355848" y="4261104"/>
            <a:ext cx="2633472" cy="420624"/>
          </a:xfrm>
          <a:prstGeom prst="rect">
            <a:avLst/>
          </a:prstGeom>
          <a:noFill/>
          <a:ln/>
        </p:spPr>
        <p:txBody>
          <a:bodyPr wrap="square" lIns="0" tIns="0" rIns="0" bIns="0" rtlCol="0" anchor="t"/>
          <a:lstStyle/>
          <a:p>
            <a:pPr indent="0" marL="0">
              <a:buNone/>
            </a:pPr>
            <a:r>
              <a:rPr lang="en-US" sz="880" dirty="0">
                <a:solidFill>
                  <a:srgbClr val="ECF0F1"/>
                </a:solidFill>
              </a:rPr>
              <a:t>•  Runtime: java -XX:AOTCache=app.aot -jar quarkus-run.jar  (Quarkus sets this for you)</a:t>
            </a:r>
            <a:endParaRPr lang="en-US" sz="880" dirty="0"/>
          </a:p>
        </p:txBody>
      </p:sp>
      <p:sp>
        <p:nvSpPr>
          <p:cNvPr id="41" name="Shape 39"/>
          <p:cNvSpPr/>
          <p:nvPr/>
        </p:nvSpPr>
        <p:spPr>
          <a:xfrm>
            <a:off x="6208776" y="2542032"/>
            <a:ext cx="2816352" cy="230428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42" name="Shape 40"/>
          <p:cNvSpPr/>
          <p:nvPr/>
        </p:nvSpPr>
        <p:spPr>
          <a:xfrm>
            <a:off x="6208776" y="2542032"/>
            <a:ext cx="2816352" cy="310896"/>
          </a:xfrm>
          <a:prstGeom prst="rect">
            <a:avLst/>
          </a:prstGeom>
          <a:solidFill>
            <a:srgbClr val="F5A623"/>
          </a:solidFill>
          <a:ln w="12700">
            <a:solidFill>
              <a:srgbClr val="F5A623"/>
            </a:solidFill>
            <a:prstDash val="solid"/>
          </a:ln>
        </p:spPr>
      </p:sp>
      <p:sp>
        <p:nvSpPr>
          <p:cNvPr id="43" name="Text 41"/>
          <p:cNvSpPr/>
          <p:nvPr/>
        </p:nvSpPr>
        <p:spPr>
          <a:xfrm>
            <a:off x="6281928" y="2542032"/>
            <a:ext cx="2670048" cy="310896"/>
          </a:xfrm>
          <a:prstGeom prst="rect">
            <a:avLst/>
          </a:prstGeom>
          <a:noFill/>
          <a:ln/>
        </p:spPr>
        <p:txBody>
          <a:bodyPr wrap="square" lIns="0" tIns="0" rIns="0" bIns="0" rtlCol="0" anchor="ctr"/>
          <a:lstStyle/>
          <a:p>
            <a:pPr indent="0" marL="0">
              <a:buNone/>
            </a:pPr>
            <a:r>
              <a:rPr lang="en-US" sz="1000" b="1" dirty="0">
                <a:solidFill>
                  <a:srgbClr val="FFFFFF"/>
                </a:solidFill>
              </a:rPr>
              <a:t>Leyden vs GraalVM Native Image</a:t>
            </a:r>
            <a:endParaRPr lang="en-US" sz="1000" dirty="0"/>
          </a:p>
        </p:txBody>
      </p:sp>
      <p:sp>
        <p:nvSpPr>
          <p:cNvPr id="44" name="Text 42"/>
          <p:cNvSpPr/>
          <p:nvPr/>
        </p:nvSpPr>
        <p:spPr>
          <a:xfrm>
            <a:off x="6300216" y="2916936"/>
            <a:ext cx="2633472" cy="420624"/>
          </a:xfrm>
          <a:prstGeom prst="rect">
            <a:avLst/>
          </a:prstGeom>
          <a:noFill/>
          <a:ln/>
        </p:spPr>
        <p:txBody>
          <a:bodyPr wrap="square" lIns="0" tIns="0" rIns="0" bIns="0" rtlCol="0" anchor="t"/>
          <a:lstStyle/>
          <a:p>
            <a:pPr indent="0" marL="0">
              <a:buNone/>
            </a:pPr>
            <a:r>
              <a:rPr lang="en-US" sz="880" dirty="0">
                <a:solidFill>
                  <a:srgbClr val="ECF0F1"/>
                </a:solidFill>
              </a:rPr>
              <a:t>•  Native Image: static binary, 95-99% faster startup, closed-world AOT — no JIT after start</a:t>
            </a:r>
            <a:endParaRPr lang="en-US" sz="880" dirty="0"/>
          </a:p>
        </p:txBody>
      </p:sp>
      <p:sp>
        <p:nvSpPr>
          <p:cNvPr id="45" name="Text 43"/>
          <p:cNvSpPr/>
          <p:nvPr/>
        </p:nvSpPr>
        <p:spPr>
          <a:xfrm>
            <a:off x="6300216" y="3364992"/>
            <a:ext cx="2633472" cy="420624"/>
          </a:xfrm>
          <a:prstGeom prst="rect">
            <a:avLst/>
          </a:prstGeom>
          <a:noFill/>
          <a:ln/>
        </p:spPr>
        <p:txBody>
          <a:bodyPr wrap="square" lIns="0" tIns="0" rIns="0" bIns="0" rtlCol="0" anchor="t"/>
          <a:lstStyle/>
          <a:p>
            <a:pPr indent="0" marL="0">
              <a:buNone/>
            </a:pPr>
            <a:r>
              <a:rPr lang="en-US" sz="880" dirty="0">
                <a:solidFill>
                  <a:srgbClr val="ECF0F1"/>
                </a:solidFill>
              </a:rPr>
              <a:t>•  Leyden: stays on the JVM — full reflection, dynamic loading, JIT all continue to work</a:t>
            </a:r>
            <a:endParaRPr lang="en-US" sz="880" dirty="0"/>
          </a:p>
        </p:txBody>
      </p:sp>
      <p:sp>
        <p:nvSpPr>
          <p:cNvPr id="46" name="Text 44"/>
          <p:cNvSpPr/>
          <p:nvPr/>
        </p:nvSpPr>
        <p:spPr>
          <a:xfrm>
            <a:off x="6300216" y="3813048"/>
            <a:ext cx="2633472" cy="420624"/>
          </a:xfrm>
          <a:prstGeom prst="rect">
            <a:avLst/>
          </a:prstGeom>
          <a:noFill/>
          <a:ln/>
        </p:spPr>
        <p:txBody>
          <a:bodyPr wrap="square" lIns="0" tIns="0" rIns="0" bIns="0" rtlCol="0" anchor="t"/>
          <a:lstStyle/>
          <a:p>
            <a:pPr indent="0" marL="0">
              <a:buNone/>
            </a:pPr>
            <a:r>
              <a:rPr lang="en-US" sz="880" dirty="0">
                <a:solidFill>
                  <a:srgbClr val="ECF0F1"/>
                </a:solidFill>
              </a:rPr>
              <a:t>•  Leyden: 40-55% startup gain, 15-25% warmup gain — no code changes required</a:t>
            </a:r>
            <a:endParaRPr lang="en-US" sz="880" dirty="0"/>
          </a:p>
        </p:txBody>
      </p:sp>
      <p:sp>
        <p:nvSpPr>
          <p:cNvPr id="47" name="Text 45"/>
          <p:cNvSpPr/>
          <p:nvPr/>
        </p:nvSpPr>
        <p:spPr>
          <a:xfrm>
            <a:off x="6300216" y="4261104"/>
            <a:ext cx="2633472" cy="420624"/>
          </a:xfrm>
          <a:prstGeom prst="rect">
            <a:avLst/>
          </a:prstGeom>
          <a:noFill/>
          <a:ln/>
        </p:spPr>
        <p:txBody>
          <a:bodyPr wrap="square" lIns="0" tIns="0" rIns="0" bIns="0" rtlCol="0" anchor="t"/>
          <a:lstStyle/>
          <a:p>
            <a:pPr indent="0" marL="0">
              <a:buNone/>
            </a:pPr>
            <a:r>
              <a:rPr lang="en-US" sz="880" dirty="0">
                <a:solidFill>
                  <a:srgbClr val="ECF0F1"/>
                </a:solidFill>
              </a:rPr>
              <a:t>•  Different tools: Leyden for JVM workloads, Native for footprint-critical deployments</a:t>
            </a:r>
            <a:endParaRPr lang="en-US" sz="880" dirty="0"/>
          </a:p>
        </p:txBody>
      </p:sp>
      <p:sp>
        <p:nvSpPr>
          <p:cNvPr id="48" name="Shape 46"/>
          <p:cNvSpPr/>
          <p:nvPr/>
        </p:nvSpPr>
        <p:spPr>
          <a:xfrm>
            <a:off x="320040" y="4910328"/>
            <a:ext cx="8503920" cy="201168"/>
          </a:xfrm>
          <a:prstGeom prst="rect">
            <a:avLst/>
          </a:prstGeom>
          <a:solidFill>
            <a:srgbClr val="0A1628"/>
          </a:solidFill>
          <a:ln/>
        </p:spPr>
      </p:sp>
      <p:sp>
        <p:nvSpPr>
          <p:cNvPr id="49" name="Text 47"/>
          <p:cNvSpPr/>
          <p:nvPr/>
        </p:nvSpPr>
        <p:spPr>
          <a:xfrm>
            <a:off x="320040" y="4910328"/>
            <a:ext cx="8503920" cy="201168"/>
          </a:xfrm>
          <a:prstGeom prst="rect">
            <a:avLst/>
          </a:prstGeom>
          <a:noFill/>
          <a:ln/>
        </p:spPr>
        <p:txBody>
          <a:bodyPr wrap="square" lIns="0" tIns="0" rIns="0" bIns="0" rtlCol="0" anchor="ctr"/>
          <a:lstStyle/>
          <a:p>
            <a:pPr indent="0" marL="0">
              <a:buNone/>
            </a:pPr>
            <a:r>
              <a:rPr lang="en-US" sz="900" dirty="0">
                <a:solidFill>
                  <a:srgbClr val="00BCD4"/>
                </a:solidFill>
              </a:rPr>
              <a:t>quarkus.io/guides/aot  |  JDK 25 LTS required  |  JDK 26: ZGC support (JEP 516)  |  quarkus.io/blog/quarkus-and-leyden</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1E6FC8"/>
          </a:solidFill>
          <a:ln/>
        </p:spPr>
      </p:sp>
      <p:sp>
        <p:nvSpPr>
          <p:cNvPr id="3" name="Text 1"/>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28/26</a:t>
            </a:r>
            <a:endParaRPr lang="en-US" sz="900" dirty="0"/>
          </a:p>
        </p:txBody>
      </p:sp>
      <p:sp>
        <p:nvSpPr>
          <p:cNvPr id="4" name="Text 2"/>
          <p:cNvSpPr/>
          <p:nvPr/>
        </p:nvSpPr>
        <p:spPr>
          <a:xfrm>
            <a:off x="457200" y="502920"/>
            <a:ext cx="1828800" cy="256032"/>
          </a:xfrm>
          <a:prstGeom prst="rect">
            <a:avLst/>
          </a:prstGeom>
          <a:noFill/>
          <a:ln/>
        </p:spPr>
        <p:txBody>
          <a:bodyPr wrap="square" lIns="0" tIns="0" rIns="0" bIns="0" rtlCol="0" anchor="ctr"/>
          <a:lstStyle/>
          <a:p>
            <a:pPr indent="0" marL="0">
              <a:buNone/>
            </a:pPr>
            <a:r>
              <a:rPr lang="en-US" sz="1100" b="1" spc="400" kern="0" dirty="0">
                <a:solidFill>
                  <a:srgbClr val="00BCD4"/>
                </a:solidFill>
              </a:rPr>
              <a:t>DEMO 04</a:t>
            </a:r>
            <a:endParaRPr lang="en-US" sz="1100" dirty="0"/>
          </a:p>
        </p:txBody>
      </p:sp>
      <p:sp>
        <p:nvSpPr>
          <p:cNvPr id="5" name="Text 3"/>
          <p:cNvSpPr/>
          <p:nvPr/>
        </p:nvSpPr>
        <p:spPr>
          <a:xfrm>
            <a:off x="457200" y="777240"/>
            <a:ext cx="7772400" cy="658368"/>
          </a:xfrm>
          <a:prstGeom prst="rect">
            <a:avLst/>
          </a:prstGeom>
          <a:noFill/>
          <a:ln/>
        </p:spPr>
        <p:txBody>
          <a:bodyPr wrap="square" lIns="0" tIns="0" rIns="0" bIns="0" rtlCol="0" anchor="ctr"/>
          <a:lstStyle/>
          <a:p>
            <a:pPr indent="0" marL="0">
              <a:buNone/>
            </a:pPr>
            <a:r>
              <a:rPr lang="en-US" sz="4400" b="1" dirty="0">
                <a:solidFill>
                  <a:srgbClr val="000000"/>
                </a:solidFill>
                <a:latin typeface="Calibri" pitchFamily="34" charset="0"/>
                <a:ea typeface="Calibri" pitchFamily="34" charset="-122"/>
                <a:cs typeface="Calibri" pitchFamily="34" charset="-120"/>
              </a:rPr>
              <a:t>Quarkus + Project Leyden</a:t>
            </a:r>
            <a:endParaRPr lang="en-US" sz="4400" dirty="0"/>
          </a:p>
        </p:txBody>
      </p:sp>
      <p:sp>
        <p:nvSpPr>
          <p:cNvPr id="6" name="Text 4"/>
          <p:cNvSpPr/>
          <p:nvPr/>
        </p:nvSpPr>
        <p:spPr>
          <a:xfrm>
            <a:off x="457200" y="1417320"/>
            <a:ext cx="4572000" cy="548640"/>
          </a:xfrm>
          <a:prstGeom prst="rect">
            <a:avLst/>
          </a:prstGeom>
          <a:noFill/>
          <a:ln/>
        </p:spPr>
        <p:txBody>
          <a:bodyPr wrap="square" lIns="0" tIns="0" rIns="0" bIns="0" rtlCol="0" anchor="ctr"/>
          <a:lstStyle/>
          <a:p>
            <a:pPr indent="0" marL="0">
              <a:buNone/>
            </a:pPr>
            <a:r>
              <a:rPr lang="en-US" sz="4400" b="1" dirty="0">
                <a:solidFill>
                  <a:srgbClr val="00BCD4"/>
                </a:solidFill>
                <a:latin typeface="Calibri" pitchFamily="34" charset="0"/>
                <a:ea typeface="Calibri" pitchFamily="34" charset="-122"/>
                <a:cs typeface="Calibri" pitchFamily="34" charset="-120"/>
              </a:rPr>
              <a:t>AOT Cache</a:t>
            </a:r>
            <a:endParaRPr lang="en-US" sz="4400" dirty="0"/>
          </a:p>
        </p:txBody>
      </p:sp>
      <p:sp>
        <p:nvSpPr>
          <p:cNvPr id="7" name="Text 5"/>
          <p:cNvSpPr/>
          <p:nvPr/>
        </p:nvSpPr>
        <p:spPr>
          <a:xfrm>
            <a:off x="457200" y="2029968"/>
            <a:ext cx="7315200" cy="237744"/>
          </a:xfrm>
          <a:prstGeom prst="rect">
            <a:avLst/>
          </a:prstGeom>
          <a:noFill/>
          <a:ln/>
        </p:spPr>
        <p:txBody>
          <a:bodyPr wrap="square" lIns="0" tIns="0" rIns="0" bIns="0" rtlCol="0" anchor="ctr"/>
          <a:lstStyle/>
          <a:p>
            <a:pPr indent="0" marL="0">
              <a:buNone/>
            </a:pPr>
            <a:r>
              <a:rPr lang="en-US" sz="1100" dirty="0">
                <a:solidFill>
                  <a:srgbClr val="90A4AE"/>
                </a:solidFill>
              </a:rPr>
              <a:t>JDK 25 LTS  •  Quarkus 3.33.1 LTS  •  quarkus-demo-04-leyden/</a:t>
            </a:r>
            <a:endParaRPr lang="en-US" sz="1100" dirty="0"/>
          </a:p>
        </p:txBody>
      </p:sp>
      <p:sp>
        <p:nvSpPr>
          <p:cNvPr id="8" name="Shape 6"/>
          <p:cNvSpPr/>
          <p:nvPr/>
        </p:nvSpPr>
        <p:spPr>
          <a:xfrm>
            <a:off x="457200" y="2322576"/>
            <a:ext cx="4572000" cy="36576"/>
          </a:xfrm>
          <a:prstGeom prst="rect">
            <a:avLst/>
          </a:prstGeom>
          <a:solidFill>
            <a:srgbClr val="00BCD4"/>
          </a:solidFill>
          <a:ln/>
        </p:spPr>
      </p:sp>
      <p:sp>
        <p:nvSpPr>
          <p:cNvPr id="9" name="Text 7"/>
          <p:cNvSpPr/>
          <p:nvPr/>
        </p:nvSpPr>
        <p:spPr>
          <a:xfrm>
            <a:off x="457200" y="2450592"/>
            <a:ext cx="4572000" cy="237744"/>
          </a:xfrm>
          <a:prstGeom prst="rect">
            <a:avLst/>
          </a:prstGeom>
          <a:noFill/>
          <a:ln/>
        </p:spPr>
        <p:txBody>
          <a:bodyPr wrap="square" lIns="0" tIns="0" rIns="0" bIns="0" rtlCol="0" anchor="ctr"/>
          <a:lstStyle/>
          <a:p>
            <a:pPr indent="0" marL="0">
              <a:buNone/>
            </a:pPr>
            <a:r>
              <a:rPr lang="en-US" sz="1300" b="1" dirty="0">
                <a:solidFill>
                  <a:srgbClr val="00BCD4"/>
                </a:solidFill>
              </a:rPr>
              <a:t>What you’ll see:</a:t>
            </a:r>
            <a:endParaRPr lang="en-US" sz="1300" dirty="0"/>
          </a:p>
        </p:txBody>
      </p:sp>
      <p:sp>
        <p:nvSpPr>
          <p:cNvPr id="10" name="Shape 8"/>
          <p:cNvSpPr/>
          <p:nvPr/>
        </p:nvSpPr>
        <p:spPr>
          <a:xfrm>
            <a:off x="457200" y="2761488"/>
            <a:ext cx="36576" cy="292608"/>
          </a:xfrm>
          <a:prstGeom prst="rect">
            <a:avLst/>
          </a:prstGeom>
          <a:solidFill>
            <a:srgbClr val="00BCD4"/>
          </a:solidFill>
          <a:ln/>
        </p:spPr>
      </p:sp>
      <p:sp>
        <p:nvSpPr>
          <p:cNvPr id="11" name="Text 9"/>
          <p:cNvSpPr/>
          <p:nvPr/>
        </p:nvSpPr>
        <p:spPr>
          <a:xfrm>
            <a:off x="621792" y="2743200"/>
            <a:ext cx="5120640" cy="329184"/>
          </a:xfrm>
          <a:prstGeom prst="rect">
            <a:avLst/>
          </a:prstGeom>
          <a:noFill/>
          <a:ln/>
        </p:spPr>
        <p:txBody>
          <a:bodyPr wrap="square" lIns="0" tIns="0" rIns="0" bIns="0" rtlCol="0" anchor="ctr"/>
          <a:lstStyle/>
          <a:p>
            <a:pPr indent="0" marL="0">
              <a:buNone/>
            </a:pPr>
            <a:r>
              <a:rPr lang="en-US" sz="1150" dirty="0">
                <a:solidFill>
                  <a:srgbClr val="ECF0F1"/>
                </a:solidFill>
              </a:rPr>
              <a:t>One property: quarkus.package.jar.aot.enabled=true in application.properties</a:t>
            </a:r>
            <a:endParaRPr lang="en-US" sz="1150" dirty="0"/>
          </a:p>
        </p:txBody>
      </p:sp>
      <p:sp>
        <p:nvSpPr>
          <p:cNvPr id="12" name="Shape 10"/>
          <p:cNvSpPr/>
          <p:nvPr/>
        </p:nvSpPr>
        <p:spPr>
          <a:xfrm>
            <a:off x="457200" y="3191256"/>
            <a:ext cx="36576" cy="292608"/>
          </a:xfrm>
          <a:prstGeom prst="rect">
            <a:avLst/>
          </a:prstGeom>
          <a:solidFill>
            <a:srgbClr val="00BCD4"/>
          </a:solidFill>
          <a:ln/>
        </p:spPr>
      </p:sp>
      <p:sp>
        <p:nvSpPr>
          <p:cNvPr id="13" name="Text 11"/>
          <p:cNvSpPr/>
          <p:nvPr/>
        </p:nvSpPr>
        <p:spPr>
          <a:xfrm>
            <a:off x="621792" y="3172968"/>
            <a:ext cx="5120640" cy="329184"/>
          </a:xfrm>
          <a:prstGeom prst="rect">
            <a:avLst/>
          </a:prstGeom>
          <a:noFill/>
          <a:ln/>
        </p:spPr>
        <p:txBody>
          <a:bodyPr wrap="square" lIns="0" tIns="0" rIns="0" bIns="0" rtlCol="0" anchor="ctr"/>
          <a:lstStyle/>
          <a:p>
            <a:pPr indent="0" marL="0">
              <a:buNone/>
            </a:pPr>
            <a:r>
              <a:rPr lang="en-US" sz="1150" dirty="0">
                <a:solidFill>
                  <a:srgbClr val="ECF0F1"/>
                </a:solidFill>
              </a:rPr>
              <a:t>Build trains on @QuarkusIntegrationTest suite — Quarkus Maven plugin handles all JVM flags</a:t>
            </a:r>
            <a:endParaRPr lang="en-US" sz="1150" dirty="0"/>
          </a:p>
        </p:txBody>
      </p:sp>
      <p:sp>
        <p:nvSpPr>
          <p:cNvPr id="14" name="Shape 12"/>
          <p:cNvSpPr/>
          <p:nvPr/>
        </p:nvSpPr>
        <p:spPr>
          <a:xfrm>
            <a:off x="457200" y="3621024"/>
            <a:ext cx="36576" cy="292608"/>
          </a:xfrm>
          <a:prstGeom prst="rect">
            <a:avLst/>
          </a:prstGeom>
          <a:solidFill>
            <a:srgbClr val="00BCD4"/>
          </a:solidFill>
          <a:ln/>
        </p:spPr>
      </p:sp>
      <p:sp>
        <p:nvSpPr>
          <p:cNvPr id="15" name="Text 13"/>
          <p:cNvSpPr/>
          <p:nvPr/>
        </p:nvSpPr>
        <p:spPr>
          <a:xfrm>
            <a:off x="621792" y="3602736"/>
            <a:ext cx="5120640" cy="329184"/>
          </a:xfrm>
          <a:prstGeom prst="rect">
            <a:avLst/>
          </a:prstGeom>
          <a:noFill/>
          <a:ln/>
        </p:spPr>
        <p:txBody>
          <a:bodyPr wrap="square" lIns="0" tIns="0" rIns="0" bIns="0" rtlCol="0" anchor="ctr"/>
          <a:lstStyle/>
          <a:p>
            <a:pPr indent="0" marL="0">
              <a:buNone/>
            </a:pPr>
            <a:r>
              <a:rPr lang="en-US" sz="1150" dirty="0">
                <a:solidFill>
                  <a:srgbClr val="ECF0F1"/>
                </a:solidFill>
              </a:rPr>
              <a:t>Output: app.aot alongside quarkus-run.jar — Quarkus sets -XX:AOTCache automatically</a:t>
            </a:r>
            <a:endParaRPr lang="en-US" sz="1150" dirty="0"/>
          </a:p>
        </p:txBody>
      </p:sp>
      <p:sp>
        <p:nvSpPr>
          <p:cNvPr id="16" name="Shape 14"/>
          <p:cNvSpPr/>
          <p:nvPr/>
        </p:nvSpPr>
        <p:spPr>
          <a:xfrm>
            <a:off x="457200" y="4050792"/>
            <a:ext cx="36576" cy="292608"/>
          </a:xfrm>
          <a:prstGeom prst="rect">
            <a:avLst/>
          </a:prstGeom>
          <a:solidFill>
            <a:srgbClr val="00BCD4"/>
          </a:solidFill>
          <a:ln/>
        </p:spPr>
      </p:sp>
      <p:sp>
        <p:nvSpPr>
          <p:cNvPr id="17" name="Text 15"/>
          <p:cNvSpPr/>
          <p:nvPr/>
        </p:nvSpPr>
        <p:spPr>
          <a:xfrm>
            <a:off x="621792" y="4032504"/>
            <a:ext cx="5120640" cy="329184"/>
          </a:xfrm>
          <a:prstGeom prst="rect">
            <a:avLst/>
          </a:prstGeom>
          <a:noFill/>
          <a:ln/>
        </p:spPr>
        <p:txBody>
          <a:bodyPr wrap="square" lIns="0" tIns="0" rIns="0" bIns="0" rtlCol="0" anchor="ctr"/>
          <a:lstStyle/>
          <a:p>
            <a:pPr indent="0" marL="0">
              <a:buNone/>
            </a:pPr>
            <a:r>
              <a:rPr lang="en-US" sz="1150" dirty="0">
                <a:solidFill>
                  <a:srgbClr val="ECF0F1"/>
                </a:solidFill>
              </a:rPr>
              <a:t>Compare baseline startup vs AOT cache startup: expect 30-50% improvement</a:t>
            </a:r>
            <a:endParaRPr lang="en-US" sz="1150" dirty="0"/>
          </a:p>
        </p:txBody>
      </p:sp>
      <p:sp>
        <p:nvSpPr>
          <p:cNvPr id="18" name="Shape 16"/>
          <p:cNvSpPr/>
          <p:nvPr/>
        </p:nvSpPr>
        <p:spPr>
          <a:xfrm>
            <a:off x="457200" y="4480560"/>
            <a:ext cx="36576" cy="292608"/>
          </a:xfrm>
          <a:prstGeom prst="rect">
            <a:avLst/>
          </a:prstGeom>
          <a:solidFill>
            <a:srgbClr val="00BCD4"/>
          </a:solidFill>
          <a:ln/>
        </p:spPr>
      </p:sp>
      <p:sp>
        <p:nvSpPr>
          <p:cNvPr id="19" name="Text 17"/>
          <p:cNvSpPr/>
          <p:nvPr/>
        </p:nvSpPr>
        <p:spPr>
          <a:xfrm>
            <a:off x="621792" y="4462272"/>
            <a:ext cx="5120640" cy="329184"/>
          </a:xfrm>
          <a:prstGeom prst="rect">
            <a:avLst/>
          </a:prstGeom>
          <a:noFill/>
          <a:ln/>
        </p:spPr>
        <p:txBody>
          <a:bodyPr wrap="square" lIns="0" tIns="0" rIns="0" bIns="0" rtlCol="0" anchor="ctr"/>
          <a:lstStyle/>
          <a:p>
            <a:pPr indent="0" marL="0">
              <a:buNone/>
            </a:pPr>
            <a:r>
              <a:rPr lang="en-US" sz="1150" dirty="0">
                <a:solidFill>
                  <a:srgbClr val="ECF0F1"/>
                </a:solidFill>
              </a:rPr>
              <a:t>Understand the progression: AppCDS (JDK 21) → Leyden AOT (JDK 25) → JDK 26 + ZGC</a:t>
            </a:r>
            <a:endParaRPr lang="en-US" sz="1150" dirty="0"/>
          </a:p>
        </p:txBody>
      </p:sp>
      <p:sp>
        <p:nvSpPr>
          <p:cNvPr id="20" name="Shape 18"/>
          <p:cNvSpPr/>
          <p:nvPr/>
        </p:nvSpPr>
        <p:spPr>
          <a:xfrm>
            <a:off x="5989320" y="2450592"/>
            <a:ext cx="2834640" cy="2606040"/>
          </a:xfrm>
          <a:prstGeom prst="rect">
            <a:avLst/>
          </a:prstGeom>
          <a:solidFill>
            <a:srgbClr val="0D2137"/>
          </a:solidFill>
          <a:ln w="19050">
            <a:solidFill>
              <a:srgbClr val="00BCD4"/>
            </a:solidFill>
            <a:prstDash val="solid"/>
          </a:ln>
        </p:spPr>
      </p:sp>
      <p:sp>
        <p:nvSpPr>
          <p:cNvPr id="21" name="Text 19"/>
          <p:cNvSpPr/>
          <p:nvPr/>
        </p:nvSpPr>
        <p:spPr>
          <a:xfrm>
            <a:off x="6062472" y="2496312"/>
            <a:ext cx="2688336" cy="2514600"/>
          </a:xfrm>
          <a:prstGeom prst="rect">
            <a:avLst/>
          </a:prstGeom>
          <a:noFill/>
          <a:ln/>
        </p:spPr>
        <p:txBody>
          <a:bodyPr wrap="square" rtlCol="0" anchor="t"/>
          <a:lstStyle/>
          <a:p>
            <a:pPr indent="0" marL="0">
              <a:buNone/>
            </a:pPr>
            <a:r>
              <a:rPr lang="en-US" sz="950" dirty="0">
                <a:solidFill>
                  <a:srgbClr val="A8D8EA"/>
                </a:solidFill>
                <a:latin typeface="Courier New" pitchFamily="34" charset="0"/>
                <a:ea typeface="Courier New" pitchFamily="34" charset="-122"/>
                <a:cs typeface="Courier New" pitchFamily="34" charset="-120"/>
              </a:rPr>
              <a:t># quarkus-demo-04-leyden/</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./demo.sh</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application.properties:</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quarkus.package.jar.aot.enabled=true</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Build + train:</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./mvnw verify</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runs @QuarkusIntegrationTest</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 writes target/quarkus-app/app.aot</a:t>
            </a:r>
            <a:endParaRPr lang="en-US" sz="950" dirty="0"/>
          </a:p>
          <a:p>
            <a:pPr indent="0" marL="0">
              <a:buNone/>
            </a:pP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Run with cache:</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java -XX:AOTCache=app.aot \</a:t>
            </a:r>
            <a:endParaRPr lang="en-US" sz="950" dirty="0"/>
          </a:p>
          <a:p>
            <a:pPr indent="0" marL="0">
              <a:buNone/>
            </a:pPr>
            <a:r>
              <a:rPr lang="en-US" sz="950" dirty="0">
                <a:solidFill>
                  <a:srgbClr val="A8D8EA"/>
                </a:solidFill>
                <a:latin typeface="Courier New" pitchFamily="34" charset="0"/>
                <a:ea typeface="Courier New" pitchFamily="34" charset="-122"/>
                <a:cs typeface="Courier New" pitchFamily="34" charset="-120"/>
              </a:rPr>
              <a:t>     -jar quarkus-run.jar</a:t>
            </a:r>
            <a:endParaRPr lang="en-US" sz="950" dirty="0"/>
          </a:p>
        </p:txBody>
      </p:sp>
      <p:sp>
        <p:nvSpPr>
          <p:cNvPr id="22" name="Shape 20"/>
          <p:cNvSpPr/>
          <p:nvPr/>
        </p:nvSpPr>
        <p:spPr>
          <a:xfrm>
            <a:off x="6583680" y="-731520"/>
            <a:ext cx="3200400" cy="3200400"/>
          </a:xfrm>
          <a:prstGeom prst="ellipse">
            <a:avLst/>
          </a:prstGeom>
          <a:ln w="25400">
            <a:solidFill>
              <a:srgbClr val="00BCD4"/>
            </a:solidFill>
            <a:prstDash val="solid"/>
          </a:ln>
        </p:spPr>
      </p:sp>
      <p:sp>
        <p:nvSpPr>
          <p:cNvPr id="23" name="Shape 21"/>
          <p:cNvSpPr/>
          <p:nvPr/>
        </p:nvSpPr>
        <p:spPr>
          <a:xfrm>
            <a:off x="7406640" y="3474720"/>
            <a:ext cx="2011680" cy="2011680"/>
          </a:xfrm>
          <a:prstGeom prst="ellipse">
            <a:avLst/>
          </a:prstGeom>
          <a:ln w="19050">
            <a:solidFill>
              <a:srgbClr val="1E6FC8"/>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Common JVM Anti-Patterns on Kubernetes</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Bonus</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29/26</a:t>
            </a:r>
            <a:endParaRPr lang="en-US" sz="900" dirty="0"/>
          </a:p>
        </p:txBody>
      </p:sp>
      <p:sp>
        <p:nvSpPr>
          <p:cNvPr id="7" name="Text 5"/>
          <p:cNvSpPr/>
          <p:nvPr/>
        </p:nvSpPr>
        <p:spPr>
          <a:xfrm>
            <a:off x="365760" y="749808"/>
            <a:ext cx="8412480" cy="256032"/>
          </a:xfrm>
          <a:prstGeom prst="rect">
            <a:avLst/>
          </a:prstGeom>
          <a:noFill/>
          <a:ln/>
        </p:spPr>
        <p:txBody>
          <a:bodyPr wrap="square" lIns="0" tIns="0" rIns="0" bIns="0" rtlCol="0" anchor="ctr"/>
          <a:lstStyle/>
          <a:p>
            <a:pPr indent="0" marL="0">
              <a:buNone/>
            </a:pPr>
            <a:r>
              <a:rPr lang="en-US" sz="1200" i="1" dirty="0">
                <a:solidFill>
                  <a:srgbClr val="90A4AE"/>
                </a:solidFill>
              </a:rPr>
              <a:t>Real failures from production — patterns that look harmless until they aren't</a:t>
            </a:r>
            <a:endParaRPr lang="en-US" sz="1200" dirty="0"/>
          </a:p>
        </p:txBody>
      </p:sp>
      <p:sp>
        <p:nvSpPr>
          <p:cNvPr id="8" name="Shape 6"/>
          <p:cNvSpPr/>
          <p:nvPr/>
        </p:nvSpPr>
        <p:spPr>
          <a:xfrm>
            <a:off x="320040" y="1115568"/>
            <a:ext cx="4187952" cy="1920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320040" y="1115568"/>
            <a:ext cx="4187952" cy="292608"/>
          </a:xfrm>
          <a:prstGeom prst="rect">
            <a:avLst/>
          </a:prstGeom>
          <a:solidFill>
            <a:srgbClr val="E84855"/>
          </a:solidFill>
          <a:ln w="12700">
            <a:solidFill>
              <a:srgbClr val="E84855"/>
            </a:solidFill>
            <a:prstDash val="solid"/>
          </a:ln>
        </p:spPr>
      </p:sp>
      <p:sp>
        <p:nvSpPr>
          <p:cNvPr id="10" name="Text 8"/>
          <p:cNvSpPr/>
          <p:nvPr/>
        </p:nvSpPr>
        <p:spPr>
          <a:xfrm>
            <a:off x="411480" y="1115568"/>
            <a:ext cx="4005072" cy="292608"/>
          </a:xfrm>
          <a:prstGeom prst="rect">
            <a:avLst/>
          </a:prstGeom>
          <a:noFill/>
          <a:ln/>
        </p:spPr>
        <p:txBody>
          <a:bodyPr wrap="square" lIns="0" tIns="0" rIns="0" bIns="0" rtlCol="0" anchor="ctr"/>
          <a:lstStyle/>
          <a:p>
            <a:pPr indent="0" marL="0">
              <a:buNone/>
            </a:pPr>
            <a:r>
              <a:rPr lang="en-US" sz="1100" b="1" dirty="0">
                <a:solidFill>
                  <a:srgbClr val="FFFFFF"/>
                </a:solidFill>
              </a:rPr>
              <a:t>🧠  Memory Anti-Patterns</a:t>
            </a:r>
            <a:endParaRPr lang="en-US" sz="1100" dirty="0"/>
          </a:p>
        </p:txBody>
      </p:sp>
      <p:sp>
        <p:nvSpPr>
          <p:cNvPr id="11" name="Shape 9"/>
          <p:cNvSpPr/>
          <p:nvPr/>
        </p:nvSpPr>
        <p:spPr>
          <a:xfrm>
            <a:off x="393192" y="1444752"/>
            <a:ext cx="182880" cy="182880"/>
          </a:xfrm>
          <a:prstGeom prst="rect">
            <a:avLst/>
          </a:prstGeom>
          <a:solidFill>
            <a:srgbClr val="E84855"/>
          </a:solidFill>
          <a:ln w="12700">
            <a:solidFill>
              <a:srgbClr val="E84855"/>
            </a:solidFill>
            <a:prstDash val="solid"/>
          </a:ln>
        </p:spPr>
      </p:sp>
      <p:sp>
        <p:nvSpPr>
          <p:cNvPr id="12" name="Text 10"/>
          <p:cNvSpPr/>
          <p:nvPr/>
        </p:nvSpPr>
        <p:spPr>
          <a:xfrm>
            <a:off x="429768" y="1444752"/>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Hardcoded -Xmx/-Xms</a:t>
            </a:r>
            <a:endParaRPr lang="en-US" sz="950" dirty="0"/>
          </a:p>
        </p:txBody>
      </p:sp>
      <p:sp>
        <p:nvSpPr>
          <p:cNvPr id="13" name="Text 11"/>
          <p:cNvSpPr/>
          <p:nvPr/>
        </p:nvSpPr>
        <p:spPr>
          <a:xfrm>
            <a:off x="429768" y="1627632"/>
            <a:ext cx="3931920" cy="164592"/>
          </a:xfrm>
          <a:prstGeom prst="rect">
            <a:avLst/>
          </a:prstGeom>
          <a:noFill/>
          <a:ln/>
        </p:spPr>
        <p:txBody>
          <a:bodyPr wrap="square" lIns="0" tIns="0" rIns="0" bIns="0" rtlCol="0" anchor="ctr"/>
          <a:lstStyle/>
          <a:p>
            <a:pPr indent="0" marL="0">
              <a:buNone/>
            </a:pPr>
            <a:r>
              <a:rPr lang="en-US" sz="900" dirty="0">
                <a:solidFill>
                  <a:srgbClr val="90A4AE"/>
                </a:solidFill>
              </a:rPr>
              <a:t>     Breaks silently when VPA or cluster admin changes container limits</a:t>
            </a:r>
            <a:endParaRPr lang="en-US" sz="900" dirty="0"/>
          </a:p>
        </p:txBody>
      </p:sp>
      <p:sp>
        <p:nvSpPr>
          <p:cNvPr id="14" name="Shape 12"/>
          <p:cNvSpPr/>
          <p:nvPr/>
        </p:nvSpPr>
        <p:spPr>
          <a:xfrm>
            <a:off x="393192" y="1837944"/>
            <a:ext cx="182880" cy="182880"/>
          </a:xfrm>
          <a:prstGeom prst="rect">
            <a:avLst/>
          </a:prstGeom>
          <a:solidFill>
            <a:srgbClr val="E84855"/>
          </a:solidFill>
          <a:ln w="12700">
            <a:solidFill>
              <a:srgbClr val="E84855"/>
            </a:solidFill>
            <a:prstDash val="solid"/>
          </a:ln>
        </p:spPr>
      </p:sp>
      <p:sp>
        <p:nvSpPr>
          <p:cNvPr id="15" name="Text 13"/>
          <p:cNvSpPr/>
          <p:nvPr/>
        </p:nvSpPr>
        <p:spPr>
          <a:xfrm>
            <a:off x="429768" y="1837944"/>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MaxRAMPercentage=90</a:t>
            </a:r>
            <a:endParaRPr lang="en-US" sz="950" dirty="0"/>
          </a:p>
        </p:txBody>
      </p:sp>
      <p:sp>
        <p:nvSpPr>
          <p:cNvPr id="16" name="Text 14"/>
          <p:cNvSpPr/>
          <p:nvPr/>
        </p:nvSpPr>
        <p:spPr>
          <a:xfrm>
            <a:off x="429768" y="2020824"/>
            <a:ext cx="3931920" cy="164592"/>
          </a:xfrm>
          <a:prstGeom prst="rect">
            <a:avLst/>
          </a:prstGeom>
          <a:noFill/>
          <a:ln/>
        </p:spPr>
        <p:txBody>
          <a:bodyPr wrap="square" lIns="0" tIns="0" rIns="0" bIns="0" rtlCol="0" anchor="ctr"/>
          <a:lstStyle/>
          <a:p>
            <a:pPr indent="0" marL="0">
              <a:buNone/>
            </a:pPr>
            <a:r>
              <a:rPr lang="en-US" sz="900" dirty="0">
                <a:solidFill>
                  <a:srgbClr val="90A4AE"/>
                </a:solidFill>
              </a:rPr>
              <a:t>     Starves Metaspace, thread stacks, and Netty direct buffers → OOMKill</a:t>
            </a:r>
            <a:endParaRPr lang="en-US" sz="900" dirty="0"/>
          </a:p>
        </p:txBody>
      </p:sp>
      <p:sp>
        <p:nvSpPr>
          <p:cNvPr id="17" name="Shape 15"/>
          <p:cNvSpPr/>
          <p:nvPr/>
        </p:nvSpPr>
        <p:spPr>
          <a:xfrm>
            <a:off x="393192" y="2231136"/>
            <a:ext cx="182880" cy="182880"/>
          </a:xfrm>
          <a:prstGeom prst="rect">
            <a:avLst/>
          </a:prstGeom>
          <a:solidFill>
            <a:srgbClr val="E84855"/>
          </a:solidFill>
          <a:ln w="12700">
            <a:solidFill>
              <a:srgbClr val="E84855"/>
            </a:solidFill>
            <a:prstDash val="solid"/>
          </a:ln>
        </p:spPr>
      </p:sp>
      <p:sp>
        <p:nvSpPr>
          <p:cNvPr id="18" name="Text 16"/>
          <p:cNvSpPr/>
          <p:nvPr/>
        </p:nvSpPr>
        <p:spPr>
          <a:xfrm>
            <a:off x="429768" y="2231136"/>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No -XX:MaxMetaspaceSize</a:t>
            </a:r>
            <a:endParaRPr lang="en-US" sz="950" dirty="0"/>
          </a:p>
        </p:txBody>
      </p:sp>
      <p:sp>
        <p:nvSpPr>
          <p:cNvPr id="19" name="Text 17"/>
          <p:cNvSpPr/>
          <p:nvPr/>
        </p:nvSpPr>
        <p:spPr>
          <a:xfrm>
            <a:off x="429768" y="2414016"/>
            <a:ext cx="3931920" cy="164592"/>
          </a:xfrm>
          <a:prstGeom prst="rect">
            <a:avLst/>
          </a:prstGeom>
          <a:noFill/>
          <a:ln/>
        </p:spPr>
        <p:txBody>
          <a:bodyPr wrap="square" lIns="0" tIns="0" rIns="0" bIns="0" rtlCol="0" anchor="ctr"/>
          <a:lstStyle/>
          <a:p>
            <a:pPr indent="0" marL="0">
              <a:buNone/>
            </a:pPr>
            <a:r>
              <a:rPr lang="en-US" sz="900" dirty="0">
                <a:solidFill>
                  <a:srgbClr val="90A4AE"/>
                </a:solidFill>
              </a:rPr>
              <a:t>     Framework-heavy apps (Spring/Quarkus) can leak to 800 MB+ Metaspace</a:t>
            </a:r>
            <a:endParaRPr lang="en-US" sz="900" dirty="0"/>
          </a:p>
        </p:txBody>
      </p:sp>
      <p:sp>
        <p:nvSpPr>
          <p:cNvPr id="20" name="Shape 18"/>
          <p:cNvSpPr/>
          <p:nvPr/>
        </p:nvSpPr>
        <p:spPr>
          <a:xfrm>
            <a:off x="393192" y="2624328"/>
            <a:ext cx="182880" cy="182880"/>
          </a:xfrm>
          <a:prstGeom prst="rect">
            <a:avLst/>
          </a:prstGeom>
          <a:solidFill>
            <a:srgbClr val="E84855"/>
          </a:solidFill>
          <a:ln w="12700">
            <a:solidFill>
              <a:srgbClr val="E84855"/>
            </a:solidFill>
            <a:prstDash val="solid"/>
          </a:ln>
        </p:spPr>
      </p:sp>
      <p:sp>
        <p:nvSpPr>
          <p:cNvPr id="21" name="Text 19"/>
          <p:cNvSpPr/>
          <p:nvPr/>
        </p:nvSpPr>
        <p:spPr>
          <a:xfrm>
            <a:off x="429768" y="2624328"/>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requests == limits for memory</a:t>
            </a:r>
            <a:endParaRPr lang="en-US" sz="950" dirty="0"/>
          </a:p>
        </p:txBody>
      </p:sp>
      <p:sp>
        <p:nvSpPr>
          <p:cNvPr id="22" name="Text 20"/>
          <p:cNvSpPr/>
          <p:nvPr/>
        </p:nvSpPr>
        <p:spPr>
          <a:xfrm>
            <a:off x="429768" y="2807208"/>
            <a:ext cx="3931920" cy="164592"/>
          </a:xfrm>
          <a:prstGeom prst="rect">
            <a:avLst/>
          </a:prstGeom>
          <a:noFill/>
          <a:ln/>
        </p:spPr>
        <p:txBody>
          <a:bodyPr wrap="square" lIns="0" tIns="0" rIns="0" bIns="0" rtlCol="0" anchor="ctr"/>
          <a:lstStyle/>
          <a:p>
            <a:pPr indent="0" marL="0">
              <a:buNone/>
            </a:pPr>
            <a:r>
              <a:rPr lang="en-US" sz="900" dirty="0">
                <a:solidFill>
                  <a:srgbClr val="90A4AE"/>
                </a:solidFill>
              </a:rPr>
              <a:t>     No headroom for GC surge → OOMKill at P99 load peak</a:t>
            </a:r>
            <a:endParaRPr lang="en-US" sz="900" dirty="0"/>
          </a:p>
        </p:txBody>
      </p:sp>
      <p:sp>
        <p:nvSpPr>
          <p:cNvPr id="23" name="Shape 21"/>
          <p:cNvSpPr/>
          <p:nvPr/>
        </p:nvSpPr>
        <p:spPr>
          <a:xfrm>
            <a:off x="4690872" y="1115568"/>
            <a:ext cx="4187952" cy="1920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4690872" y="1115568"/>
            <a:ext cx="4187952" cy="292608"/>
          </a:xfrm>
          <a:prstGeom prst="rect">
            <a:avLst/>
          </a:prstGeom>
          <a:solidFill>
            <a:srgbClr val="E84855"/>
          </a:solidFill>
          <a:ln w="12700">
            <a:solidFill>
              <a:srgbClr val="E84855"/>
            </a:solidFill>
            <a:prstDash val="solid"/>
          </a:ln>
        </p:spPr>
      </p:sp>
      <p:sp>
        <p:nvSpPr>
          <p:cNvPr id="25" name="Text 23"/>
          <p:cNvSpPr/>
          <p:nvPr/>
        </p:nvSpPr>
        <p:spPr>
          <a:xfrm>
            <a:off x="4782312" y="1115568"/>
            <a:ext cx="4005072" cy="292608"/>
          </a:xfrm>
          <a:prstGeom prst="rect">
            <a:avLst/>
          </a:prstGeom>
          <a:noFill/>
          <a:ln/>
        </p:spPr>
        <p:txBody>
          <a:bodyPr wrap="square" lIns="0" tIns="0" rIns="0" bIns="0" rtlCol="0" anchor="ctr"/>
          <a:lstStyle/>
          <a:p>
            <a:pPr indent="0" marL="0">
              <a:buNone/>
            </a:pPr>
            <a:r>
              <a:rPr lang="en-US" sz="1100" b="1" dirty="0">
                <a:solidFill>
                  <a:srgbClr val="FFFFFF"/>
                </a:solidFill>
              </a:rPr>
              <a:t>⚙️  GC &amp; CPU Anti-Patterns</a:t>
            </a:r>
            <a:endParaRPr lang="en-US" sz="1100" dirty="0"/>
          </a:p>
        </p:txBody>
      </p:sp>
      <p:sp>
        <p:nvSpPr>
          <p:cNvPr id="26" name="Shape 24"/>
          <p:cNvSpPr/>
          <p:nvPr/>
        </p:nvSpPr>
        <p:spPr>
          <a:xfrm>
            <a:off x="4764024" y="1444752"/>
            <a:ext cx="182880" cy="182880"/>
          </a:xfrm>
          <a:prstGeom prst="rect">
            <a:avLst/>
          </a:prstGeom>
          <a:solidFill>
            <a:srgbClr val="E84855"/>
          </a:solidFill>
          <a:ln w="12700">
            <a:solidFill>
              <a:srgbClr val="E84855"/>
            </a:solidFill>
            <a:prstDash val="solid"/>
          </a:ln>
        </p:spPr>
      </p:sp>
      <p:sp>
        <p:nvSpPr>
          <p:cNvPr id="27" name="Text 25"/>
          <p:cNvSpPr/>
          <p:nvPr/>
        </p:nvSpPr>
        <p:spPr>
          <a:xfrm>
            <a:off x="4800600" y="1444752"/>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Default ParallelGCThreads on large node</a:t>
            </a:r>
            <a:endParaRPr lang="en-US" sz="950" dirty="0"/>
          </a:p>
        </p:txBody>
      </p:sp>
      <p:sp>
        <p:nvSpPr>
          <p:cNvPr id="28" name="Text 26"/>
          <p:cNvSpPr/>
          <p:nvPr/>
        </p:nvSpPr>
        <p:spPr>
          <a:xfrm>
            <a:off x="4800600" y="1627632"/>
            <a:ext cx="3931920" cy="164592"/>
          </a:xfrm>
          <a:prstGeom prst="rect">
            <a:avLst/>
          </a:prstGeom>
          <a:noFill/>
          <a:ln/>
        </p:spPr>
        <p:txBody>
          <a:bodyPr wrap="square" lIns="0" tIns="0" rIns="0" bIns="0" rtlCol="0" anchor="ctr"/>
          <a:lstStyle/>
          <a:p>
            <a:pPr indent="0" marL="0">
              <a:buNone/>
            </a:pPr>
            <a:r>
              <a:rPr lang="en-US" sz="900" dirty="0">
                <a:solidFill>
                  <a:srgbClr val="90A4AE"/>
                </a:solidFill>
              </a:rPr>
              <a:t>     64-core node + 2-CPU container = 64 GC threads competing for 2 CPUs</a:t>
            </a:r>
            <a:endParaRPr lang="en-US" sz="900" dirty="0"/>
          </a:p>
        </p:txBody>
      </p:sp>
      <p:sp>
        <p:nvSpPr>
          <p:cNvPr id="29" name="Shape 27"/>
          <p:cNvSpPr/>
          <p:nvPr/>
        </p:nvSpPr>
        <p:spPr>
          <a:xfrm>
            <a:off x="4764024" y="1837944"/>
            <a:ext cx="182880" cy="182880"/>
          </a:xfrm>
          <a:prstGeom prst="rect">
            <a:avLst/>
          </a:prstGeom>
          <a:solidFill>
            <a:srgbClr val="E84855"/>
          </a:solidFill>
          <a:ln w="12700">
            <a:solidFill>
              <a:srgbClr val="E84855"/>
            </a:solidFill>
            <a:prstDash val="solid"/>
          </a:ln>
        </p:spPr>
      </p:sp>
      <p:sp>
        <p:nvSpPr>
          <p:cNvPr id="30" name="Text 28"/>
          <p:cNvSpPr/>
          <p:nvPr/>
        </p:nvSpPr>
        <p:spPr>
          <a:xfrm>
            <a:off x="4800600" y="1837944"/>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CPU-based HPA with Java workloads</a:t>
            </a:r>
            <a:endParaRPr lang="en-US" sz="950" dirty="0"/>
          </a:p>
        </p:txBody>
      </p:sp>
      <p:sp>
        <p:nvSpPr>
          <p:cNvPr id="31" name="Text 29"/>
          <p:cNvSpPr/>
          <p:nvPr/>
        </p:nvSpPr>
        <p:spPr>
          <a:xfrm>
            <a:off x="4800600" y="2020824"/>
            <a:ext cx="3931920" cy="164592"/>
          </a:xfrm>
          <a:prstGeom prst="rect">
            <a:avLst/>
          </a:prstGeom>
          <a:noFill/>
          <a:ln/>
        </p:spPr>
        <p:txBody>
          <a:bodyPr wrap="square" lIns="0" tIns="0" rIns="0" bIns="0" rtlCol="0" anchor="ctr"/>
          <a:lstStyle/>
          <a:p>
            <a:pPr indent="0" marL="0">
              <a:buNone/>
            </a:pPr>
            <a:r>
              <a:rPr lang="en-US" sz="900" dirty="0">
                <a:solidFill>
                  <a:srgbClr val="90A4AE"/>
                </a:solidFill>
              </a:rPr>
              <a:t>     GC pauses spike CPU → HPA scales out for the wrong reason</a:t>
            </a:r>
            <a:endParaRPr lang="en-US" sz="900" dirty="0"/>
          </a:p>
        </p:txBody>
      </p:sp>
      <p:sp>
        <p:nvSpPr>
          <p:cNvPr id="32" name="Shape 30"/>
          <p:cNvSpPr/>
          <p:nvPr/>
        </p:nvSpPr>
        <p:spPr>
          <a:xfrm>
            <a:off x="4764024" y="2231136"/>
            <a:ext cx="182880" cy="182880"/>
          </a:xfrm>
          <a:prstGeom prst="rect">
            <a:avLst/>
          </a:prstGeom>
          <a:solidFill>
            <a:srgbClr val="E84855"/>
          </a:solidFill>
          <a:ln w="12700">
            <a:solidFill>
              <a:srgbClr val="E84855"/>
            </a:solidFill>
            <a:prstDash val="solid"/>
          </a:ln>
        </p:spPr>
      </p:sp>
      <p:sp>
        <p:nvSpPr>
          <p:cNvPr id="33" name="Text 31"/>
          <p:cNvSpPr/>
          <p:nvPr/>
        </p:nvSpPr>
        <p:spPr>
          <a:xfrm>
            <a:off x="4800600" y="2231136"/>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minReplicas: 1 in HPA</a:t>
            </a:r>
            <a:endParaRPr lang="en-US" sz="950" dirty="0"/>
          </a:p>
        </p:txBody>
      </p:sp>
      <p:sp>
        <p:nvSpPr>
          <p:cNvPr id="34" name="Text 32"/>
          <p:cNvSpPr/>
          <p:nvPr/>
        </p:nvSpPr>
        <p:spPr>
          <a:xfrm>
            <a:off x="4800600" y="2414016"/>
            <a:ext cx="3931920" cy="164592"/>
          </a:xfrm>
          <a:prstGeom prst="rect">
            <a:avLst/>
          </a:prstGeom>
          <a:noFill/>
          <a:ln/>
        </p:spPr>
        <p:txBody>
          <a:bodyPr wrap="square" lIns="0" tIns="0" rIns="0" bIns="0" rtlCol="0" anchor="ctr"/>
          <a:lstStyle/>
          <a:p>
            <a:pPr indent="0" marL="0">
              <a:buNone/>
            </a:pPr>
            <a:r>
              <a:rPr lang="en-US" sz="900" dirty="0">
                <a:solidFill>
                  <a:srgbClr val="90A4AE"/>
                </a:solidFill>
              </a:rPr>
              <a:t>     Single pod + GC stop-the-world = 100% error rate during pause</a:t>
            </a:r>
            <a:endParaRPr lang="en-US" sz="900" dirty="0"/>
          </a:p>
        </p:txBody>
      </p:sp>
      <p:sp>
        <p:nvSpPr>
          <p:cNvPr id="35" name="Shape 33"/>
          <p:cNvSpPr/>
          <p:nvPr/>
        </p:nvSpPr>
        <p:spPr>
          <a:xfrm>
            <a:off x="4764024" y="2624328"/>
            <a:ext cx="182880" cy="182880"/>
          </a:xfrm>
          <a:prstGeom prst="rect">
            <a:avLst/>
          </a:prstGeom>
          <a:solidFill>
            <a:srgbClr val="E84855"/>
          </a:solidFill>
          <a:ln w="12700">
            <a:solidFill>
              <a:srgbClr val="E84855"/>
            </a:solidFill>
            <a:prstDash val="solid"/>
          </a:ln>
        </p:spPr>
      </p:sp>
      <p:sp>
        <p:nvSpPr>
          <p:cNvPr id="36" name="Text 34"/>
          <p:cNvSpPr/>
          <p:nvPr/>
        </p:nvSpPr>
        <p:spPr>
          <a:xfrm>
            <a:off x="4800600" y="2624328"/>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No HPA stabilizationWindowSeconds</a:t>
            </a:r>
            <a:endParaRPr lang="en-US" sz="950" dirty="0"/>
          </a:p>
        </p:txBody>
      </p:sp>
      <p:sp>
        <p:nvSpPr>
          <p:cNvPr id="37" name="Text 35"/>
          <p:cNvSpPr/>
          <p:nvPr/>
        </p:nvSpPr>
        <p:spPr>
          <a:xfrm>
            <a:off x="4800600" y="2807208"/>
            <a:ext cx="3931920" cy="164592"/>
          </a:xfrm>
          <a:prstGeom prst="rect">
            <a:avLst/>
          </a:prstGeom>
          <a:noFill/>
          <a:ln/>
        </p:spPr>
        <p:txBody>
          <a:bodyPr wrap="square" lIns="0" tIns="0" rIns="0" bIns="0" rtlCol="0" anchor="ctr"/>
          <a:lstStyle/>
          <a:p>
            <a:pPr indent="0" marL="0">
              <a:buNone/>
            </a:pPr>
            <a:r>
              <a:rPr lang="en-US" sz="900" dirty="0">
                <a:solidFill>
                  <a:srgbClr val="90A4AE"/>
                </a:solidFill>
              </a:rPr>
              <a:t>     GC CPU spikes trigger scale-out/in thrash every few minutes</a:t>
            </a:r>
            <a:endParaRPr lang="en-US" sz="900" dirty="0"/>
          </a:p>
        </p:txBody>
      </p:sp>
      <p:sp>
        <p:nvSpPr>
          <p:cNvPr id="38" name="Shape 36"/>
          <p:cNvSpPr/>
          <p:nvPr/>
        </p:nvSpPr>
        <p:spPr>
          <a:xfrm>
            <a:off x="320040" y="3127248"/>
            <a:ext cx="4187952" cy="1920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39" name="Shape 37"/>
          <p:cNvSpPr/>
          <p:nvPr/>
        </p:nvSpPr>
        <p:spPr>
          <a:xfrm>
            <a:off x="320040" y="3127248"/>
            <a:ext cx="4187952" cy="292608"/>
          </a:xfrm>
          <a:prstGeom prst="rect">
            <a:avLst/>
          </a:prstGeom>
          <a:solidFill>
            <a:srgbClr val="E84855"/>
          </a:solidFill>
          <a:ln w="12700">
            <a:solidFill>
              <a:srgbClr val="E84855"/>
            </a:solidFill>
            <a:prstDash val="solid"/>
          </a:ln>
        </p:spPr>
      </p:sp>
      <p:sp>
        <p:nvSpPr>
          <p:cNvPr id="40" name="Text 38"/>
          <p:cNvSpPr/>
          <p:nvPr/>
        </p:nvSpPr>
        <p:spPr>
          <a:xfrm>
            <a:off x="411480" y="3127248"/>
            <a:ext cx="4005072" cy="292608"/>
          </a:xfrm>
          <a:prstGeom prst="rect">
            <a:avLst/>
          </a:prstGeom>
          <a:noFill/>
          <a:ln/>
        </p:spPr>
        <p:txBody>
          <a:bodyPr wrap="square" lIns="0" tIns="0" rIns="0" bIns="0" rtlCol="0" anchor="ctr"/>
          <a:lstStyle/>
          <a:p>
            <a:pPr indent="0" marL="0">
              <a:buNone/>
            </a:pPr>
            <a:r>
              <a:rPr lang="en-US" sz="1100" b="1" dirty="0">
                <a:solidFill>
                  <a:srgbClr val="FFFFFF"/>
                </a:solidFill>
              </a:rPr>
              <a:t>🚀  AOT / Startup Anti-Patterns</a:t>
            </a:r>
            <a:endParaRPr lang="en-US" sz="1100" dirty="0"/>
          </a:p>
        </p:txBody>
      </p:sp>
      <p:sp>
        <p:nvSpPr>
          <p:cNvPr id="41" name="Shape 39"/>
          <p:cNvSpPr/>
          <p:nvPr/>
        </p:nvSpPr>
        <p:spPr>
          <a:xfrm>
            <a:off x="393192" y="3456432"/>
            <a:ext cx="182880" cy="182880"/>
          </a:xfrm>
          <a:prstGeom prst="rect">
            <a:avLst/>
          </a:prstGeom>
          <a:solidFill>
            <a:srgbClr val="E84855"/>
          </a:solidFill>
          <a:ln w="12700">
            <a:solidFill>
              <a:srgbClr val="E84855"/>
            </a:solidFill>
            <a:prstDash val="solid"/>
          </a:ln>
        </p:spPr>
      </p:sp>
      <p:sp>
        <p:nvSpPr>
          <p:cNvPr id="42" name="Text 40"/>
          <p:cNvSpPr/>
          <p:nvPr/>
        </p:nvSpPr>
        <p:spPr>
          <a:xfrm>
            <a:off x="429768" y="3456432"/>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Using @QuarkusTest for AOT training</a:t>
            </a:r>
            <a:endParaRPr lang="en-US" sz="950" dirty="0"/>
          </a:p>
        </p:txBody>
      </p:sp>
      <p:sp>
        <p:nvSpPr>
          <p:cNvPr id="43" name="Text 41"/>
          <p:cNvSpPr/>
          <p:nvPr/>
        </p:nvSpPr>
        <p:spPr>
          <a:xfrm>
            <a:off x="429768" y="3639312"/>
            <a:ext cx="3931920" cy="164592"/>
          </a:xfrm>
          <a:prstGeom prst="rect">
            <a:avLst/>
          </a:prstGeom>
          <a:noFill/>
          <a:ln/>
        </p:spPr>
        <p:txBody>
          <a:bodyPr wrap="square" lIns="0" tIns="0" rIns="0" bIns="0" rtlCol="0" anchor="ctr"/>
          <a:lstStyle/>
          <a:p>
            <a:pPr indent="0" marL="0">
              <a:buNone/>
            </a:pPr>
            <a:r>
              <a:rPr lang="en-US" sz="900" dirty="0">
                <a:solidFill>
                  <a:srgbClr val="90A4AE"/>
                </a:solidFill>
              </a:rPr>
              <a:t>     Runs in dev JVM — doesn't contribute to app.aot cache at all</a:t>
            </a:r>
            <a:endParaRPr lang="en-US" sz="900" dirty="0"/>
          </a:p>
        </p:txBody>
      </p:sp>
      <p:sp>
        <p:nvSpPr>
          <p:cNvPr id="44" name="Shape 42"/>
          <p:cNvSpPr/>
          <p:nvPr/>
        </p:nvSpPr>
        <p:spPr>
          <a:xfrm>
            <a:off x="393192" y="3849624"/>
            <a:ext cx="182880" cy="182880"/>
          </a:xfrm>
          <a:prstGeom prst="rect">
            <a:avLst/>
          </a:prstGeom>
          <a:solidFill>
            <a:srgbClr val="E84855"/>
          </a:solidFill>
          <a:ln w="12700">
            <a:solidFill>
              <a:srgbClr val="E84855"/>
            </a:solidFill>
            <a:prstDash val="solid"/>
          </a:ln>
        </p:spPr>
      </p:sp>
      <p:sp>
        <p:nvSpPr>
          <p:cNvPr id="45" name="Text 43"/>
          <p:cNvSpPr/>
          <p:nvPr/>
        </p:nvSpPr>
        <p:spPr>
          <a:xfrm>
            <a:off x="429768" y="3849624"/>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Manual -XX:SharedArchiveFile in Dockerfile</a:t>
            </a:r>
            <a:endParaRPr lang="en-US" sz="950" dirty="0"/>
          </a:p>
        </p:txBody>
      </p:sp>
      <p:sp>
        <p:nvSpPr>
          <p:cNvPr id="46" name="Text 44"/>
          <p:cNvSpPr/>
          <p:nvPr/>
        </p:nvSpPr>
        <p:spPr>
          <a:xfrm>
            <a:off x="429768" y="4032504"/>
            <a:ext cx="3931920" cy="164592"/>
          </a:xfrm>
          <a:prstGeom prst="rect">
            <a:avLst/>
          </a:prstGeom>
          <a:noFill/>
          <a:ln/>
        </p:spPr>
        <p:txBody>
          <a:bodyPr wrap="square" lIns="0" tIns="0" rIns="0" bIns="0" rtlCol="0" anchor="ctr"/>
          <a:lstStyle/>
          <a:p>
            <a:pPr indent="0" marL="0">
              <a:buNone/>
            </a:pPr>
            <a:r>
              <a:rPr lang="en-US" sz="900" dirty="0">
                <a:solidFill>
                  <a:srgbClr val="90A4AE"/>
                </a:solidFill>
              </a:rPr>
              <a:t>     Quarkus sets this automatically — duplicate flag causes startup failure</a:t>
            </a:r>
            <a:endParaRPr lang="en-US" sz="900" dirty="0"/>
          </a:p>
        </p:txBody>
      </p:sp>
      <p:sp>
        <p:nvSpPr>
          <p:cNvPr id="47" name="Shape 45"/>
          <p:cNvSpPr/>
          <p:nvPr/>
        </p:nvSpPr>
        <p:spPr>
          <a:xfrm>
            <a:off x="393192" y="4242816"/>
            <a:ext cx="182880" cy="182880"/>
          </a:xfrm>
          <a:prstGeom prst="rect">
            <a:avLst/>
          </a:prstGeom>
          <a:solidFill>
            <a:srgbClr val="E84855"/>
          </a:solidFill>
          <a:ln w="12700">
            <a:solidFill>
              <a:srgbClr val="E84855"/>
            </a:solidFill>
            <a:prstDash val="solid"/>
          </a:ln>
        </p:spPr>
      </p:sp>
      <p:sp>
        <p:nvSpPr>
          <p:cNvPr id="48" name="Text 46"/>
          <p:cNvSpPr/>
          <p:nvPr/>
        </p:nvSpPr>
        <p:spPr>
          <a:xfrm>
            <a:off x="429768" y="4242816"/>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mvn package instead of mvn verify for AOT</a:t>
            </a:r>
            <a:endParaRPr lang="en-US" sz="950" dirty="0"/>
          </a:p>
        </p:txBody>
      </p:sp>
      <p:sp>
        <p:nvSpPr>
          <p:cNvPr id="49" name="Text 47"/>
          <p:cNvSpPr/>
          <p:nvPr/>
        </p:nvSpPr>
        <p:spPr>
          <a:xfrm>
            <a:off x="429768" y="4425696"/>
            <a:ext cx="3931920" cy="164592"/>
          </a:xfrm>
          <a:prstGeom prst="rect">
            <a:avLst/>
          </a:prstGeom>
          <a:noFill/>
          <a:ln/>
        </p:spPr>
        <p:txBody>
          <a:bodyPr wrap="square" lIns="0" tIns="0" rIns="0" bIns="0" rtlCol="0" anchor="ctr"/>
          <a:lstStyle/>
          <a:p>
            <a:pPr indent="0" marL="0">
              <a:buNone/>
            </a:pPr>
            <a:r>
              <a:rPr lang="en-US" sz="900" dirty="0">
                <a:solidFill>
                  <a:srgbClr val="90A4AE"/>
                </a:solidFill>
              </a:rPr>
              <a:t>     Package skips integration tests — cache is empty or minimal</a:t>
            </a:r>
            <a:endParaRPr lang="en-US" sz="900" dirty="0"/>
          </a:p>
        </p:txBody>
      </p:sp>
      <p:sp>
        <p:nvSpPr>
          <p:cNvPr id="50" name="Shape 48"/>
          <p:cNvSpPr/>
          <p:nvPr/>
        </p:nvSpPr>
        <p:spPr>
          <a:xfrm>
            <a:off x="393192" y="4636008"/>
            <a:ext cx="182880" cy="182880"/>
          </a:xfrm>
          <a:prstGeom prst="rect">
            <a:avLst/>
          </a:prstGeom>
          <a:solidFill>
            <a:srgbClr val="E84855"/>
          </a:solidFill>
          <a:ln w="12700">
            <a:solidFill>
              <a:srgbClr val="E84855"/>
            </a:solidFill>
            <a:prstDash val="solid"/>
          </a:ln>
        </p:spPr>
      </p:sp>
      <p:sp>
        <p:nvSpPr>
          <p:cNvPr id="51" name="Text 49"/>
          <p:cNvSpPr/>
          <p:nvPr/>
        </p:nvSpPr>
        <p:spPr>
          <a:xfrm>
            <a:off x="429768" y="4636008"/>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Ignoring JDK version on cache rebuild</a:t>
            </a:r>
            <a:endParaRPr lang="en-US" sz="950" dirty="0"/>
          </a:p>
        </p:txBody>
      </p:sp>
      <p:sp>
        <p:nvSpPr>
          <p:cNvPr id="52" name="Text 50"/>
          <p:cNvSpPr/>
          <p:nvPr/>
        </p:nvSpPr>
        <p:spPr>
          <a:xfrm>
            <a:off x="429768" y="4818888"/>
            <a:ext cx="3931920" cy="164592"/>
          </a:xfrm>
          <a:prstGeom prst="rect">
            <a:avLst/>
          </a:prstGeom>
          <a:noFill/>
          <a:ln/>
        </p:spPr>
        <p:txBody>
          <a:bodyPr wrap="square" lIns="0" tIns="0" rIns="0" bIns="0" rtlCol="0" anchor="ctr"/>
          <a:lstStyle/>
          <a:p>
            <a:pPr indent="0" marL="0">
              <a:buNone/>
            </a:pPr>
            <a:r>
              <a:rPr lang="en-US" sz="900" dirty="0">
                <a:solidFill>
                  <a:srgbClr val="90A4AE"/>
                </a:solidFill>
              </a:rPr>
              <a:t>     app.aot from JDK 21 used on JDK 25 pod — JVM silently rebuilds, no gain</a:t>
            </a:r>
            <a:endParaRPr lang="en-US" sz="900" dirty="0"/>
          </a:p>
        </p:txBody>
      </p:sp>
      <p:sp>
        <p:nvSpPr>
          <p:cNvPr id="53" name="Shape 51"/>
          <p:cNvSpPr/>
          <p:nvPr/>
        </p:nvSpPr>
        <p:spPr>
          <a:xfrm>
            <a:off x="4690872" y="3127248"/>
            <a:ext cx="4187952" cy="1920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54" name="Shape 52"/>
          <p:cNvSpPr/>
          <p:nvPr/>
        </p:nvSpPr>
        <p:spPr>
          <a:xfrm>
            <a:off x="4690872" y="3127248"/>
            <a:ext cx="4187952" cy="292608"/>
          </a:xfrm>
          <a:prstGeom prst="rect">
            <a:avLst/>
          </a:prstGeom>
          <a:solidFill>
            <a:srgbClr val="E84855"/>
          </a:solidFill>
          <a:ln w="12700">
            <a:solidFill>
              <a:srgbClr val="E84855"/>
            </a:solidFill>
            <a:prstDash val="solid"/>
          </a:ln>
        </p:spPr>
      </p:sp>
      <p:sp>
        <p:nvSpPr>
          <p:cNvPr id="55" name="Text 53"/>
          <p:cNvSpPr/>
          <p:nvPr/>
        </p:nvSpPr>
        <p:spPr>
          <a:xfrm>
            <a:off x="4782312" y="3127248"/>
            <a:ext cx="4005072" cy="292608"/>
          </a:xfrm>
          <a:prstGeom prst="rect">
            <a:avLst/>
          </a:prstGeom>
          <a:noFill/>
          <a:ln/>
        </p:spPr>
        <p:txBody>
          <a:bodyPr wrap="square" lIns="0" tIns="0" rIns="0" bIns="0" rtlCol="0" anchor="ctr"/>
          <a:lstStyle/>
          <a:p>
            <a:pPr indent="0" marL="0">
              <a:buNone/>
            </a:pPr>
            <a:r>
              <a:rPr lang="en-US" sz="1100" b="1" dirty="0">
                <a:solidFill>
                  <a:srgbClr val="FFFFFF"/>
                </a:solidFill>
              </a:rPr>
              <a:t>👁  Observability Anti-Patterns</a:t>
            </a:r>
            <a:endParaRPr lang="en-US" sz="1100" dirty="0"/>
          </a:p>
        </p:txBody>
      </p:sp>
      <p:sp>
        <p:nvSpPr>
          <p:cNvPr id="56" name="Shape 54"/>
          <p:cNvSpPr/>
          <p:nvPr/>
        </p:nvSpPr>
        <p:spPr>
          <a:xfrm>
            <a:off x="4764024" y="3456432"/>
            <a:ext cx="182880" cy="182880"/>
          </a:xfrm>
          <a:prstGeom prst="rect">
            <a:avLst/>
          </a:prstGeom>
          <a:solidFill>
            <a:srgbClr val="E84855"/>
          </a:solidFill>
          <a:ln w="12700">
            <a:solidFill>
              <a:srgbClr val="E84855"/>
            </a:solidFill>
            <a:prstDash val="solid"/>
          </a:ln>
        </p:spPr>
      </p:sp>
      <p:sp>
        <p:nvSpPr>
          <p:cNvPr id="57" name="Text 55"/>
          <p:cNvSpPr/>
          <p:nvPr/>
        </p:nvSpPr>
        <p:spPr>
          <a:xfrm>
            <a:off x="4800600" y="3456432"/>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No GC pause histogram in Prometheus</a:t>
            </a:r>
            <a:endParaRPr lang="en-US" sz="950" dirty="0"/>
          </a:p>
        </p:txBody>
      </p:sp>
      <p:sp>
        <p:nvSpPr>
          <p:cNvPr id="58" name="Text 56"/>
          <p:cNvSpPr/>
          <p:nvPr/>
        </p:nvSpPr>
        <p:spPr>
          <a:xfrm>
            <a:off x="4800600" y="3639312"/>
            <a:ext cx="3931920" cy="164592"/>
          </a:xfrm>
          <a:prstGeom prst="rect">
            <a:avLst/>
          </a:prstGeom>
          <a:noFill/>
          <a:ln/>
        </p:spPr>
        <p:txBody>
          <a:bodyPr wrap="square" lIns="0" tIns="0" rIns="0" bIns="0" rtlCol="0" anchor="ctr"/>
          <a:lstStyle/>
          <a:p>
            <a:pPr indent="0" marL="0">
              <a:buNone/>
            </a:pPr>
            <a:r>
              <a:rPr lang="en-US" sz="900" dirty="0">
                <a:solidFill>
                  <a:srgbClr val="90A4AE"/>
                </a:solidFill>
              </a:rPr>
              <a:t>     Can't distinguish GC-induced latency from real application slowness</a:t>
            </a:r>
            <a:endParaRPr lang="en-US" sz="900" dirty="0"/>
          </a:p>
        </p:txBody>
      </p:sp>
      <p:sp>
        <p:nvSpPr>
          <p:cNvPr id="59" name="Shape 57"/>
          <p:cNvSpPr/>
          <p:nvPr/>
        </p:nvSpPr>
        <p:spPr>
          <a:xfrm>
            <a:off x="4764024" y="3849624"/>
            <a:ext cx="182880" cy="182880"/>
          </a:xfrm>
          <a:prstGeom prst="rect">
            <a:avLst/>
          </a:prstGeom>
          <a:solidFill>
            <a:srgbClr val="E84855"/>
          </a:solidFill>
          <a:ln w="12700">
            <a:solidFill>
              <a:srgbClr val="E84855"/>
            </a:solidFill>
            <a:prstDash val="solid"/>
          </a:ln>
        </p:spPr>
      </p:sp>
      <p:sp>
        <p:nvSpPr>
          <p:cNvPr id="60" name="Text 58"/>
          <p:cNvSpPr/>
          <p:nvPr/>
        </p:nvSpPr>
        <p:spPr>
          <a:xfrm>
            <a:off x="4800600" y="3849624"/>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quarkus-micrometer-registry-prometheus alone</a:t>
            </a:r>
            <a:endParaRPr lang="en-US" sz="950" dirty="0"/>
          </a:p>
        </p:txBody>
      </p:sp>
      <p:sp>
        <p:nvSpPr>
          <p:cNvPr id="61" name="Text 59"/>
          <p:cNvSpPr/>
          <p:nvPr/>
        </p:nvSpPr>
        <p:spPr>
          <a:xfrm>
            <a:off x="4800600" y="4032504"/>
            <a:ext cx="3931920" cy="164592"/>
          </a:xfrm>
          <a:prstGeom prst="rect">
            <a:avLst/>
          </a:prstGeom>
          <a:noFill/>
          <a:ln/>
        </p:spPr>
        <p:txBody>
          <a:bodyPr wrap="square" lIns="0" tIns="0" rIns="0" bIns="0" rtlCol="0" anchor="ctr"/>
          <a:lstStyle/>
          <a:p>
            <a:pPr indent="0" marL="0">
              <a:buNone/>
            </a:pPr>
            <a:r>
              <a:rPr lang="en-US" sz="900" dirty="0">
                <a:solidFill>
                  <a:srgbClr val="90A4AE"/>
                </a:solidFill>
              </a:rPr>
              <a:t>     Misses unified OTel pipeline — use quarkus-micrometer-opentelemetry instead</a:t>
            </a:r>
            <a:endParaRPr lang="en-US" sz="900" dirty="0"/>
          </a:p>
        </p:txBody>
      </p:sp>
      <p:sp>
        <p:nvSpPr>
          <p:cNvPr id="62" name="Shape 60"/>
          <p:cNvSpPr/>
          <p:nvPr/>
        </p:nvSpPr>
        <p:spPr>
          <a:xfrm>
            <a:off x="4764024" y="4242816"/>
            <a:ext cx="182880" cy="182880"/>
          </a:xfrm>
          <a:prstGeom prst="rect">
            <a:avLst/>
          </a:prstGeom>
          <a:solidFill>
            <a:srgbClr val="E84855"/>
          </a:solidFill>
          <a:ln w="12700">
            <a:solidFill>
              <a:srgbClr val="E84855"/>
            </a:solidFill>
            <a:prstDash val="solid"/>
          </a:ln>
        </p:spPr>
      </p:sp>
      <p:sp>
        <p:nvSpPr>
          <p:cNvPr id="63" name="Text 61"/>
          <p:cNvSpPr/>
          <p:nvPr/>
        </p:nvSpPr>
        <p:spPr>
          <a:xfrm>
            <a:off x="4800600" y="4242816"/>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No PrometheusRule on jvm_gc_pause</a:t>
            </a:r>
            <a:endParaRPr lang="en-US" sz="950" dirty="0"/>
          </a:p>
        </p:txBody>
      </p:sp>
      <p:sp>
        <p:nvSpPr>
          <p:cNvPr id="64" name="Text 62"/>
          <p:cNvSpPr/>
          <p:nvPr/>
        </p:nvSpPr>
        <p:spPr>
          <a:xfrm>
            <a:off x="4800600" y="4425696"/>
            <a:ext cx="3931920" cy="164592"/>
          </a:xfrm>
          <a:prstGeom prst="rect">
            <a:avLst/>
          </a:prstGeom>
          <a:noFill/>
          <a:ln/>
        </p:spPr>
        <p:txBody>
          <a:bodyPr wrap="square" lIns="0" tIns="0" rIns="0" bIns="0" rtlCol="0" anchor="ctr"/>
          <a:lstStyle/>
          <a:p>
            <a:pPr indent="0" marL="0">
              <a:buNone/>
            </a:pPr>
            <a:r>
              <a:rPr lang="en-US" sz="900" dirty="0">
                <a:solidFill>
                  <a:srgbClr val="90A4AE"/>
                </a:solidFill>
              </a:rPr>
              <a:t>     GC degradation is invisible until SLO breach — no alerting before impact</a:t>
            </a:r>
            <a:endParaRPr lang="en-US" sz="900" dirty="0"/>
          </a:p>
        </p:txBody>
      </p:sp>
      <p:sp>
        <p:nvSpPr>
          <p:cNvPr id="65" name="Shape 63"/>
          <p:cNvSpPr/>
          <p:nvPr/>
        </p:nvSpPr>
        <p:spPr>
          <a:xfrm>
            <a:off x="4764024" y="4636008"/>
            <a:ext cx="182880" cy="182880"/>
          </a:xfrm>
          <a:prstGeom prst="rect">
            <a:avLst/>
          </a:prstGeom>
          <a:solidFill>
            <a:srgbClr val="E84855"/>
          </a:solidFill>
          <a:ln w="12700">
            <a:solidFill>
              <a:srgbClr val="E84855"/>
            </a:solidFill>
            <a:prstDash val="solid"/>
          </a:ln>
        </p:spPr>
      </p:sp>
      <p:sp>
        <p:nvSpPr>
          <p:cNvPr id="66" name="Text 64"/>
          <p:cNvSpPr/>
          <p:nvPr/>
        </p:nvSpPr>
        <p:spPr>
          <a:xfrm>
            <a:off x="4800600" y="4636008"/>
            <a:ext cx="3931920" cy="182880"/>
          </a:xfrm>
          <a:prstGeom prst="rect">
            <a:avLst/>
          </a:prstGeom>
          <a:noFill/>
          <a:ln/>
        </p:spPr>
        <p:txBody>
          <a:bodyPr wrap="square" lIns="0" tIns="0" rIns="0" bIns="0" rtlCol="0" anchor="ctr"/>
          <a:lstStyle/>
          <a:p>
            <a:pPr indent="0" marL="0">
              <a:buNone/>
            </a:pPr>
            <a:r>
              <a:rPr lang="en-US" sz="950" b="1" dirty="0">
                <a:solidFill>
                  <a:srgbClr val="ECF0F1"/>
                </a:solidFill>
              </a:rPr>
              <a:t>❌  Tuning JVM flags without baseline</a:t>
            </a:r>
            <a:endParaRPr lang="en-US" sz="950" dirty="0"/>
          </a:p>
        </p:txBody>
      </p:sp>
      <p:sp>
        <p:nvSpPr>
          <p:cNvPr id="67" name="Text 65"/>
          <p:cNvSpPr/>
          <p:nvPr/>
        </p:nvSpPr>
        <p:spPr>
          <a:xfrm>
            <a:off x="4800600" y="4818888"/>
            <a:ext cx="3931920" cy="164592"/>
          </a:xfrm>
          <a:prstGeom prst="rect">
            <a:avLst/>
          </a:prstGeom>
          <a:noFill/>
          <a:ln/>
        </p:spPr>
        <p:txBody>
          <a:bodyPr wrap="square" lIns="0" tIns="0" rIns="0" bIns="0" rtlCol="0" anchor="ctr"/>
          <a:lstStyle/>
          <a:p>
            <a:pPr indent="0" marL="0">
              <a:buNone/>
            </a:pPr>
            <a:r>
              <a:rPr lang="en-US" sz="900" dirty="0">
                <a:solidFill>
                  <a:srgbClr val="90A4AE"/>
                </a:solidFill>
              </a:rPr>
              <a:t>     No before/after measurement → can't tell if change helped or hurt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111F"/>
          </a:solidFill>
          <a:ln/>
        </p:spPr>
      </p:sp>
      <p:sp>
        <p:nvSpPr>
          <p:cNvPr id="3" name="Text 1"/>
          <p:cNvSpPr/>
          <p:nvPr/>
        </p:nvSpPr>
        <p:spPr>
          <a:xfrm>
            <a:off x="365760" y="0"/>
            <a:ext cx="6858000" cy="640080"/>
          </a:xfrm>
          <a:prstGeom prst="rect">
            <a:avLst/>
          </a:prstGeom>
          <a:noFill/>
          <a:ln/>
        </p:spPr>
        <p:txBody>
          <a:bodyPr wrap="square" lIns="0" tIns="0" rIns="0" bIns="0" rtlCol="0" anchor="ctr"/>
          <a:lstStyle/>
          <a:p>
            <a:pPr indent="0" marL="0">
              <a:buNone/>
            </a:pPr>
            <a:r>
              <a:rPr lang="en-US" sz="2000" b="1" dirty="0">
                <a:solidFill>
                  <a:srgbClr val="00BCD4"/>
                </a:solidFill>
              </a:rPr>
              <a:t>Anti-Pattern Remediation — The Correct Approach</a:t>
            </a:r>
            <a:endParaRPr lang="en-US" sz="2000" dirty="0"/>
          </a:p>
        </p:txBody>
      </p:sp>
      <p:sp>
        <p:nvSpPr>
          <p:cNvPr id="4" name="Text 2"/>
          <p:cNvSpPr/>
          <p:nvPr/>
        </p:nvSpPr>
        <p:spPr>
          <a:xfrm>
            <a:off x="7315200" y="73152"/>
            <a:ext cx="1645920" cy="502920"/>
          </a:xfrm>
          <a:prstGeom prst="rect">
            <a:avLst>
              <a:gd name="adj" fmla="val 10909"/>
            </a:avLst>
          </a:prstGeom>
          <a:solidFill>
            <a:srgbClr val="1E6FC8"/>
          </a:solidFill>
          <a:ln/>
        </p:spPr>
        <p:txBody>
          <a:bodyPr wrap="square" lIns="0" tIns="76200" rIns="76200" bIns="0" rtlCol="0" anchor="ctr"/>
          <a:lstStyle/>
          <a:p>
            <a:pPr algn="r" indent="0" marL="0">
              <a:buNone/>
            </a:pPr>
            <a:r>
              <a:rPr lang="en-US" sz="1000" dirty="0">
                <a:solidFill>
                  <a:srgbClr val="ECF0F1"/>
                </a:solidFill>
              </a:rPr>
              <a:t>Bonus</a:t>
            </a:r>
            <a:endParaRPr lang="en-US" sz="1000" dirty="0"/>
          </a:p>
        </p:txBody>
      </p:sp>
      <p:sp>
        <p:nvSpPr>
          <p:cNvPr id="5" name="Shape 3"/>
          <p:cNvSpPr/>
          <p:nvPr/>
        </p:nvSpPr>
        <p:spPr>
          <a:xfrm>
            <a:off x="0" y="4960620"/>
            <a:ext cx="9144000" cy="182880"/>
          </a:xfrm>
          <a:prstGeom prst="rect">
            <a:avLst/>
          </a:prstGeom>
          <a:solidFill>
            <a:srgbClr val="1E6FC8"/>
          </a:solidFill>
          <a:ln/>
        </p:spPr>
      </p:sp>
      <p:sp>
        <p:nvSpPr>
          <p:cNvPr id="6" name="Text 4"/>
          <p:cNvSpPr/>
          <p:nvPr/>
        </p:nvSpPr>
        <p:spPr>
          <a:xfrm>
            <a:off x="365760" y="4956048"/>
            <a:ext cx="8412480" cy="182880"/>
          </a:xfrm>
          <a:prstGeom prst="rect">
            <a:avLst/>
          </a:prstGeom>
          <a:noFill/>
          <a:ln/>
        </p:spPr>
        <p:txBody>
          <a:bodyPr wrap="square" lIns="0" tIns="0" rIns="0" bIns="0" rtlCol="0" anchor="ctr"/>
          <a:lstStyle/>
          <a:p>
            <a:pPr algn="ctr" indent="0" marL="0">
              <a:buNone/>
            </a:pPr>
            <a:r>
              <a:rPr lang="en-US" sz="900" dirty="0">
                <a:solidFill>
                  <a:srgbClr val="ECF0F1"/>
                </a:solidFill>
              </a:rPr>
              <a:t>Taming the JVM: Java Optimization on OpenShift   |   30/26</a:t>
            </a:r>
            <a:endParaRPr lang="en-US" sz="900" dirty="0"/>
          </a:p>
        </p:txBody>
      </p:sp>
      <p:sp>
        <p:nvSpPr>
          <p:cNvPr id="7" name="Text 5"/>
          <p:cNvSpPr/>
          <p:nvPr/>
        </p:nvSpPr>
        <p:spPr>
          <a:xfrm>
            <a:off x="365760" y="749808"/>
            <a:ext cx="8412480" cy="256032"/>
          </a:xfrm>
          <a:prstGeom prst="rect">
            <a:avLst/>
          </a:prstGeom>
          <a:noFill/>
          <a:ln/>
        </p:spPr>
        <p:txBody>
          <a:bodyPr wrap="square" lIns="0" tIns="0" rIns="0" bIns="0" rtlCol="0" anchor="ctr"/>
          <a:lstStyle/>
          <a:p>
            <a:pPr indent="0" marL="0">
              <a:buNone/>
            </a:pPr>
            <a:r>
              <a:rPr lang="en-US" sz="1200" i="1" dirty="0">
                <a:solidFill>
                  <a:srgbClr val="90A4AE"/>
                </a:solidFill>
              </a:rPr>
              <a:t>Drop-in fixes for every anti-pattern on the previous slide</a:t>
            </a:r>
            <a:endParaRPr lang="en-US" sz="1200" dirty="0"/>
          </a:p>
        </p:txBody>
      </p:sp>
      <p:sp>
        <p:nvSpPr>
          <p:cNvPr id="8" name="Shape 6"/>
          <p:cNvSpPr/>
          <p:nvPr/>
        </p:nvSpPr>
        <p:spPr>
          <a:xfrm>
            <a:off x="320040" y="1115568"/>
            <a:ext cx="4187952" cy="1920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320040" y="1115568"/>
            <a:ext cx="4187952" cy="292608"/>
          </a:xfrm>
          <a:prstGeom prst="rect">
            <a:avLst/>
          </a:prstGeom>
          <a:solidFill>
            <a:srgbClr val="1E6FC8"/>
          </a:solidFill>
          <a:ln w="12700">
            <a:solidFill>
              <a:srgbClr val="1E6FC8"/>
            </a:solidFill>
            <a:prstDash val="solid"/>
          </a:ln>
        </p:spPr>
      </p:sp>
      <p:sp>
        <p:nvSpPr>
          <p:cNvPr id="10" name="Text 8"/>
          <p:cNvSpPr/>
          <p:nvPr/>
        </p:nvSpPr>
        <p:spPr>
          <a:xfrm>
            <a:off x="411480" y="1115568"/>
            <a:ext cx="4005072" cy="292608"/>
          </a:xfrm>
          <a:prstGeom prst="rect">
            <a:avLst/>
          </a:prstGeom>
          <a:noFill/>
          <a:ln/>
        </p:spPr>
        <p:txBody>
          <a:bodyPr wrap="square" lIns="0" tIns="0" rIns="0" bIns="0" rtlCol="0" anchor="ctr"/>
          <a:lstStyle/>
          <a:p>
            <a:pPr indent="0" marL="0">
              <a:buNone/>
            </a:pPr>
            <a:r>
              <a:rPr lang="en-US" sz="1100" b="1" dirty="0">
                <a:solidFill>
                  <a:srgbClr val="FFFFFF"/>
                </a:solidFill>
              </a:rPr>
              <a:t>✅  Memory Fixes</a:t>
            </a:r>
            <a:endParaRPr lang="en-US" sz="1100" dirty="0"/>
          </a:p>
        </p:txBody>
      </p:sp>
      <p:sp>
        <p:nvSpPr>
          <p:cNvPr id="11" name="Text 9"/>
          <p:cNvSpPr/>
          <p:nvPr/>
        </p:nvSpPr>
        <p:spPr>
          <a:xfrm>
            <a:off x="429768" y="1463040"/>
            <a:ext cx="3986784" cy="347472"/>
          </a:xfrm>
          <a:prstGeom prst="rect">
            <a:avLst/>
          </a:prstGeom>
          <a:noFill/>
          <a:ln/>
        </p:spPr>
        <p:txBody>
          <a:bodyPr wrap="square" lIns="0" tIns="0" rIns="0" bIns="0" rtlCol="0" anchor="t"/>
          <a:lstStyle/>
          <a:p>
            <a:pPr indent="0" marL="0">
              <a:buNone/>
            </a:pPr>
            <a:r>
              <a:rPr lang="en-US" sz="980" dirty="0">
                <a:solidFill>
                  <a:srgbClr val="ECF0F1"/>
                </a:solidFill>
              </a:rPr>
              <a:t>→  Replace -Xmx/-Xms with -XX:+UseContainerSupport -XX:MaxRAMPercentage=75.0</a:t>
            </a:r>
            <a:endParaRPr lang="en-US" sz="980" dirty="0"/>
          </a:p>
        </p:txBody>
      </p:sp>
      <p:sp>
        <p:nvSpPr>
          <p:cNvPr id="12" name="Text 10"/>
          <p:cNvSpPr/>
          <p:nvPr/>
        </p:nvSpPr>
        <p:spPr>
          <a:xfrm>
            <a:off x="429768" y="1851660"/>
            <a:ext cx="3986784" cy="347472"/>
          </a:xfrm>
          <a:prstGeom prst="rect">
            <a:avLst/>
          </a:prstGeom>
          <a:noFill/>
          <a:ln/>
        </p:spPr>
        <p:txBody>
          <a:bodyPr wrap="square" lIns="0" tIns="0" rIns="0" bIns="0" rtlCol="0" anchor="t"/>
          <a:lstStyle/>
          <a:p>
            <a:pPr indent="0" marL="0">
              <a:buNone/>
            </a:pPr>
            <a:r>
              <a:rPr lang="en-US" sz="980" dirty="0">
                <a:solidFill>
                  <a:srgbClr val="ECF0F1"/>
                </a:solidFill>
              </a:rPr>
              <a:t>→  Use 75% not 90% — reserve 25% for Metaspace + threads + JIT + Netty buffers</a:t>
            </a:r>
            <a:endParaRPr lang="en-US" sz="980" dirty="0"/>
          </a:p>
        </p:txBody>
      </p:sp>
      <p:sp>
        <p:nvSpPr>
          <p:cNvPr id="13" name="Text 11"/>
          <p:cNvSpPr/>
          <p:nvPr/>
        </p:nvSpPr>
        <p:spPr>
          <a:xfrm>
            <a:off x="429768" y="2240280"/>
            <a:ext cx="3986784" cy="347472"/>
          </a:xfrm>
          <a:prstGeom prst="rect">
            <a:avLst/>
          </a:prstGeom>
          <a:noFill/>
          <a:ln/>
        </p:spPr>
        <p:txBody>
          <a:bodyPr wrap="square" lIns="0" tIns="0" rIns="0" bIns="0" rtlCol="0" anchor="t"/>
          <a:lstStyle/>
          <a:p>
            <a:pPr indent="0" marL="0">
              <a:buNone/>
            </a:pPr>
            <a:r>
              <a:rPr lang="en-US" sz="980" dirty="0">
                <a:solidFill>
                  <a:srgbClr val="ECF0F1"/>
                </a:solidFill>
              </a:rPr>
              <a:t>→  Add -XX:MaxMetaspaceSize=256m to cap Metaspace growth on framework-heavy apps</a:t>
            </a:r>
            <a:endParaRPr lang="en-US" sz="980" dirty="0"/>
          </a:p>
        </p:txBody>
      </p:sp>
      <p:sp>
        <p:nvSpPr>
          <p:cNvPr id="14" name="Text 12"/>
          <p:cNvSpPr/>
          <p:nvPr/>
        </p:nvSpPr>
        <p:spPr>
          <a:xfrm>
            <a:off x="429768" y="2628900"/>
            <a:ext cx="3986784" cy="347472"/>
          </a:xfrm>
          <a:prstGeom prst="rect">
            <a:avLst/>
          </a:prstGeom>
          <a:noFill/>
          <a:ln/>
        </p:spPr>
        <p:txBody>
          <a:bodyPr wrap="square" lIns="0" tIns="0" rIns="0" bIns="0" rtlCol="0" anchor="t"/>
          <a:lstStyle/>
          <a:p>
            <a:pPr indent="0" marL="0">
              <a:buNone/>
            </a:pPr>
            <a:r>
              <a:rPr lang="en-US" sz="980" dirty="0">
                <a:solidFill>
                  <a:srgbClr val="ECF0F1"/>
                </a:solidFill>
              </a:rPr>
              <a:t>→  Set memory limit 25-30% above P99 peak RSS (kubectl top pod --containers)</a:t>
            </a:r>
            <a:endParaRPr lang="en-US" sz="980" dirty="0"/>
          </a:p>
        </p:txBody>
      </p:sp>
      <p:sp>
        <p:nvSpPr>
          <p:cNvPr id="15" name="Shape 13"/>
          <p:cNvSpPr/>
          <p:nvPr/>
        </p:nvSpPr>
        <p:spPr>
          <a:xfrm>
            <a:off x="4690872" y="1115568"/>
            <a:ext cx="4187952" cy="1920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4690872" y="1115568"/>
            <a:ext cx="4187952" cy="292608"/>
          </a:xfrm>
          <a:prstGeom prst="rect">
            <a:avLst/>
          </a:prstGeom>
          <a:solidFill>
            <a:srgbClr val="00BCD4"/>
          </a:solidFill>
          <a:ln w="12700">
            <a:solidFill>
              <a:srgbClr val="00BCD4"/>
            </a:solidFill>
            <a:prstDash val="solid"/>
          </a:ln>
        </p:spPr>
      </p:sp>
      <p:sp>
        <p:nvSpPr>
          <p:cNvPr id="17" name="Text 15"/>
          <p:cNvSpPr/>
          <p:nvPr/>
        </p:nvSpPr>
        <p:spPr>
          <a:xfrm>
            <a:off x="4782312" y="1115568"/>
            <a:ext cx="4005072" cy="292608"/>
          </a:xfrm>
          <a:prstGeom prst="rect">
            <a:avLst/>
          </a:prstGeom>
          <a:noFill/>
          <a:ln/>
        </p:spPr>
        <p:txBody>
          <a:bodyPr wrap="square" lIns="0" tIns="0" rIns="0" bIns="0" rtlCol="0" anchor="ctr"/>
          <a:lstStyle/>
          <a:p>
            <a:pPr indent="0" marL="0">
              <a:buNone/>
            </a:pPr>
            <a:r>
              <a:rPr lang="en-US" sz="1100" b="1" dirty="0">
                <a:solidFill>
                  <a:srgbClr val="FFFFFF"/>
                </a:solidFill>
              </a:rPr>
              <a:t>✅  GC &amp; CPU Fixes</a:t>
            </a:r>
            <a:endParaRPr lang="en-US" sz="1100" dirty="0"/>
          </a:p>
        </p:txBody>
      </p:sp>
      <p:sp>
        <p:nvSpPr>
          <p:cNvPr id="18" name="Text 16"/>
          <p:cNvSpPr/>
          <p:nvPr/>
        </p:nvSpPr>
        <p:spPr>
          <a:xfrm>
            <a:off x="4800600" y="1463040"/>
            <a:ext cx="3986784" cy="347472"/>
          </a:xfrm>
          <a:prstGeom prst="rect">
            <a:avLst/>
          </a:prstGeom>
          <a:noFill/>
          <a:ln/>
        </p:spPr>
        <p:txBody>
          <a:bodyPr wrap="square" lIns="0" tIns="0" rIns="0" bIns="0" rtlCol="0" anchor="t"/>
          <a:lstStyle/>
          <a:p>
            <a:pPr indent="0" marL="0">
              <a:buNone/>
            </a:pPr>
            <a:r>
              <a:rPr lang="en-US" sz="980" dirty="0">
                <a:solidFill>
                  <a:srgbClr val="ECF0F1"/>
                </a:solidFill>
              </a:rPr>
              <a:t>→  Set -XX:ParallelGCThreads=N where N equals your CPU request (not host CPU count)</a:t>
            </a:r>
            <a:endParaRPr lang="en-US" sz="980" dirty="0"/>
          </a:p>
        </p:txBody>
      </p:sp>
      <p:sp>
        <p:nvSpPr>
          <p:cNvPr id="19" name="Text 17"/>
          <p:cNvSpPr/>
          <p:nvPr/>
        </p:nvSpPr>
        <p:spPr>
          <a:xfrm>
            <a:off x="4800600" y="1851660"/>
            <a:ext cx="3986784" cy="347472"/>
          </a:xfrm>
          <a:prstGeom prst="rect">
            <a:avLst/>
          </a:prstGeom>
          <a:noFill/>
          <a:ln/>
        </p:spPr>
        <p:txBody>
          <a:bodyPr wrap="square" lIns="0" tIns="0" rIns="0" bIns="0" rtlCol="0" anchor="t"/>
          <a:lstStyle/>
          <a:p>
            <a:pPr indent="0" marL="0">
              <a:buNone/>
            </a:pPr>
            <a:r>
              <a:rPr lang="en-US" sz="980" dirty="0">
                <a:solidFill>
                  <a:srgbClr val="ECF0F1"/>
                </a:solidFill>
              </a:rPr>
              <a:t>→  Scale HPA on RPS not CPU — use KEDA or Prometheus Adapter with http_requests_per_second</a:t>
            </a:r>
            <a:endParaRPr lang="en-US" sz="980" dirty="0"/>
          </a:p>
        </p:txBody>
      </p:sp>
      <p:sp>
        <p:nvSpPr>
          <p:cNvPr id="20" name="Text 18"/>
          <p:cNvSpPr/>
          <p:nvPr/>
        </p:nvSpPr>
        <p:spPr>
          <a:xfrm>
            <a:off x="4800600" y="2240280"/>
            <a:ext cx="3986784" cy="347472"/>
          </a:xfrm>
          <a:prstGeom prst="rect">
            <a:avLst/>
          </a:prstGeom>
          <a:noFill/>
          <a:ln/>
        </p:spPr>
        <p:txBody>
          <a:bodyPr wrap="square" lIns="0" tIns="0" rIns="0" bIns="0" rtlCol="0" anchor="t"/>
          <a:lstStyle/>
          <a:p>
            <a:pPr indent="0" marL="0">
              <a:buNone/>
            </a:pPr>
            <a:r>
              <a:rPr lang="en-US" sz="980" dirty="0">
                <a:solidFill>
                  <a:srgbClr val="ECF0F1"/>
                </a:solidFill>
              </a:rPr>
              <a:t>→  Set minReplicas: 2 minimum — single pod + GC stop-the-world = 100% error rate</a:t>
            </a:r>
            <a:endParaRPr lang="en-US" sz="980" dirty="0"/>
          </a:p>
        </p:txBody>
      </p:sp>
      <p:sp>
        <p:nvSpPr>
          <p:cNvPr id="21" name="Text 19"/>
          <p:cNvSpPr/>
          <p:nvPr/>
        </p:nvSpPr>
        <p:spPr>
          <a:xfrm>
            <a:off x="4800600" y="2628900"/>
            <a:ext cx="3986784" cy="347472"/>
          </a:xfrm>
          <a:prstGeom prst="rect">
            <a:avLst/>
          </a:prstGeom>
          <a:noFill/>
          <a:ln/>
        </p:spPr>
        <p:txBody>
          <a:bodyPr wrap="square" lIns="0" tIns="0" rIns="0" bIns="0" rtlCol="0" anchor="t"/>
          <a:lstStyle/>
          <a:p>
            <a:pPr indent="0" marL="0">
              <a:buNone/>
            </a:pPr>
            <a:r>
              <a:rPr lang="en-US" sz="980" dirty="0">
                <a:solidFill>
                  <a:srgbClr val="ECF0F1"/>
                </a:solidFill>
              </a:rPr>
              <a:t>→  Add behavior.scaleUp.stabilizationWindowSeconds: 120 to absorb GC CPU spikes</a:t>
            </a:r>
            <a:endParaRPr lang="en-US" sz="980" dirty="0"/>
          </a:p>
        </p:txBody>
      </p:sp>
      <p:sp>
        <p:nvSpPr>
          <p:cNvPr id="22" name="Shape 20"/>
          <p:cNvSpPr/>
          <p:nvPr/>
        </p:nvSpPr>
        <p:spPr>
          <a:xfrm>
            <a:off x="320040" y="3127248"/>
            <a:ext cx="4187952" cy="1920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320040" y="3127248"/>
            <a:ext cx="4187952" cy="292608"/>
          </a:xfrm>
          <a:prstGeom prst="rect">
            <a:avLst/>
          </a:prstGeom>
          <a:solidFill>
            <a:srgbClr val="F5A623"/>
          </a:solidFill>
          <a:ln w="12700">
            <a:solidFill>
              <a:srgbClr val="F5A623"/>
            </a:solidFill>
            <a:prstDash val="solid"/>
          </a:ln>
        </p:spPr>
      </p:sp>
      <p:sp>
        <p:nvSpPr>
          <p:cNvPr id="24" name="Text 22"/>
          <p:cNvSpPr/>
          <p:nvPr/>
        </p:nvSpPr>
        <p:spPr>
          <a:xfrm>
            <a:off x="411480" y="3127248"/>
            <a:ext cx="4005072" cy="292608"/>
          </a:xfrm>
          <a:prstGeom prst="rect">
            <a:avLst/>
          </a:prstGeom>
          <a:noFill/>
          <a:ln/>
        </p:spPr>
        <p:txBody>
          <a:bodyPr wrap="square" lIns="0" tIns="0" rIns="0" bIns="0" rtlCol="0" anchor="ctr"/>
          <a:lstStyle/>
          <a:p>
            <a:pPr indent="0" marL="0">
              <a:buNone/>
            </a:pPr>
            <a:r>
              <a:rPr lang="en-US" sz="1100" b="1" dirty="0">
                <a:solidFill>
                  <a:srgbClr val="FFFFFF"/>
                </a:solidFill>
              </a:rPr>
              <a:t>✅  AOT / Startup Fixes</a:t>
            </a:r>
            <a:endParaRPr lang="en-US" sz="1100" dirty="0"/>
          </a:p>
        </p:txBody>
      </p:sp>
      <p:sp>
        <p:nvSpPr>
          <p:cNvPr id="25" name="Text 23"/>
          <p:cNvSpPr/>
          <p:nvPr/>
        </p:nvSpPr>
        <p:spPr>
          <a:xfrm>
            <a:off x="429768" y="3474720"/>
            <a:ext cx="3986784" cy="347472"/>
          </a:xfrm>
          <a:prstGeom prst="rect">
            <a:avLst/>
          </a:prstGeom>
          <a:noFill/>
          <a:ln/>
        </p:spPr>
        <p:txBody>
          <a:bodyPr wrap="square" lIns="0" tIns="0" rIns="0" bIns="0" rtlCol="0" anchor="t"/>
          <a:lstStyle/>
          <a:p>
            <a:pPr indent="0" marL="0">
              <a:buNone/>
            </a:pPr>
            <a:r>
              <a:rPr lang="en-US" sz="980" dirty="0">
                <a:solidFill>
                  <a:srgbClr val="ECF0F1"/>
                </a:solidFill>
              </a:rPr>
              <a:t>→  Use @QuarkusIntegrationTest not @QuarkusTest — IT tests run against packaged JAR</a:t>
            </a:r>
            <a:endParaRPr lang="en-US" sz="980" dirty="0"/>
          </a:p>
        </p:txBody>
      </p:sp>
      <p:sp>
        <p:nvSpPr>
          <p:cNvPr id="26" name="Text 24"/>
          <p:cNvSpPr/>
          <p:nvPr/>
        </p:nvSpPr>
        <p:spPr>
          <a:xfrm>
            <a:off x="429768" y="3863340"/>
            <a:ext cx="3986784" cy="347472"/>
          </a:xfrm>
          <a:prstGeom prst="rect">
            <a:avLst/>
          </a:prstGeom>
          <a:noFill/>
          <a:ln/>
        </p:spPr>
        <p:txBody>
          <a:bodyPr wrap="square" lIns="0" tIns="0" rIns="0" bIns="0" rtlCol="0" anchor="t"/>
          <a:lstStyle/>
          <a:p>
            <a:pPr indent="0" marL="0">
              <a:buNone/>
            </a:pPr>
            <a:r>
              <a:rPr lang="en-US" sz="980" dirty="0">
                <a:solidFill>
                  <a:srgbClr val="ECF0F1"/>
                </a:solidFill>
              </a:rPr>
              <a:t>→  Run mvn verify not mvn package — verify phase triggers @QuarkusIntegrationTest training</a:t>
            </a:r>
            <a:endParaRPr lang="en-US" sz="980" dirty="0"/>
          </a:p>
        </p:txBody>
      </p:sp>
      <p:sp>
        <p:nvSpPr>
          <p:cNvPr id="27" name="Text 25"/>
          <p:cNvSpPr/>
          <p:nvPr/>
        </p:nvSpPr>
        <p:spPr>
          <a:xfrm>
            <a:off x="429768" y="4251960"/>
            <a:ext cx="3986784" cy="347472"/>
          </a:xfrm>
          <a:prstGeom prst="rect">
            <a:avLst/>
          </a:prstGeom>
          <a:noFill/>
          <a:ln/>
        </p:spPr>
        <p:txBody>
          <a:bodyPr wrap="square" lIns="0" tIns="0" rIns="0" bIns="0" rtlCol="0" anchor="t"/>
          <a:lstStyle/>
          <a:p>
            <a:pPr indent="0" marL="0">
              <a:buNone/>
            </a:pPr>
            <a:r>
              <a:rPr lang="en-US" sz="980" dirty="0">
                <a:solidFill>
                  <a:srgbClr val="ECF0F1"/>
                </a:solidFill>
              </a:rPr>
              <a:t>→  Don't add -XX:AOTCache to Dockerfile — Quarkus sets it automatically from app.aot</a:t>
            </a:r>
            <a:endParaRPr lang="en-US" sz="980" dirty="0"/>
          </a:p>
        </p:txBody>
      </p:sp>
      <p:sp>
        <p:nvSpPr>
          <p:cNvPr id="28" name="Text 26"/>
          <p:cNvSpPr/>
          <p:nvPr/>
        </p:nvSpPr>
        <p:spPr>
          <a:xfrm>
            <a:off x="429768" y="4640580"/>
            <a:ext cx="3986784" cy="347472"/>
          </a:xfrm>
          <a:prstGeom prst="rect">
            <a:avLst/>
          </a:prstGeom>
          <a:noFill/>
          <a:ln/>
        </p:spPr>
        <p:txBody>
          <a:bodyPr wrap="square" lIns="0" tIns="0" rIns="0" bIns="0" rtlCol="0" anchor="t"/>
          <a:lstStyle/>
          <a:p>
            <a:pPr indent="0" marL="0">
              <a:buNone/>
            </a:pPr>
            <a:r>
              <a:rPr lang="en-US" sz="980" dirty="0">
                <a:solidFill>
                  <a:srgbClr val="ECF0F1"/>
                </a:solidFill>
              </a:rPr>
              <a:t>→  Pin JDK version in Dockerfile FROM line — cache is tied to exact JDK version</a:t>
            </a:r>
            <a:endParaRPr lang="en-US" sz="980" dirty="0"/>
          </a:p>
        </p:txBody>
      </p:sp>
      <p:sp>
        <p:nvSpPr>
          <p:cNvPr id="29" name="Shape 27"/>
          <p:cNvSpPr/>
          <p:nvPr/>
        </p:nvSpPr>
        <p:spPr>
          <a:xfrm>
            <a:off x="4690872" y="3127248"/>
            <a:ext cx="4187952" cy="19202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4690872" y="3127248"/>
            <a:ext cx="4187952" cy="292608"/>
          </a:xfrm>
          <a:prstGeom prst="rect">
            <a:avLst/>
          </a:prstGeom>
          <a:solidFill>
            <a:srgbClr val="27AE60"/>
          </a:solidFill>
          <a:ln w="12700">
            <a:solidFill>
              <a:srgbClr val="27AE60"/>
            </a:solidFill>
            <a:prstDash val="solid"/>
          </a:ln>
        </p:spPr>
      </p:sp>
      <p:sp>
        <p:nvSpPr>
          <p:cNvPr id="31" name="Text 29"/>
          <p:cNvSpPr/>
          <p:nvPr/>
        </p:nvSpPr>
        <p:spPr>
          <a:xfrm>
            <a:off x="4782312" y="3127248"/>
            <a:ext cx="4005072" cy="292608"/>
          </a:xfrm>
          <a:prstGeom prst="rect">
            <a:avLst/>
          </a:prstGeom>
          <a:noFill/>
          <a:ln/>
        </p:spPr>
        <p:txBody>
          <a:bodyPr wrap="square" lIns="0" tIns="0" rIns="0" bIns="0" rtlCol="0" anchor="ctr"/>
          <a:lstStyle/>
          <a:p>
            <a:pPr indent="0" marL="0">
              <a:buNone/>
            </a:pPr>
            <a:r>
              <a:rPr lang="en-US" sz="1100" b="1" dirty="0">
                <a:solidFill>
                  <a:srgbClr val="FFFFFF"/>
                </a:solidFill>
              </a:rPr>
              <a:t>✅  Observability Fixes</a:t>
            </a:r>
            <a:endParaRPr lang="en-US" sz="1100" dirty="0"/>
          </a:p>
        </p:txBody>
      </p:sp>
      <p:sp>
        <p:nvSpPr>
          <p:cNvPr id="32" name="Text 30"/>
          <p:cNvSpPr/>
          <p:nvPr/>
        </p:nvSpPr>
        <p:spPr>
          <a:xfrm>
            <a:off x="4800600" y="3474720"/>
            <a:ext cx="3986784" cy="347472"/>
          </a:xfrm>
          <a:prstGeom prst="rect">
            <a:avLst/>
          </a:prstGeom>
          <a:noFill/>
          <a:ln/>
        </p:spPr>
        <p:txBody>
          <a:bodyPr wrap="square" lIns="0" tIns="0" rIns="0" bIns="0" rtlCol="0" anchor="t"/>
          <a:lstStyle/>
          <a:p>
            <a:pPr indent="0" marL="0">
              <a:buNone/>
            </a:pPr>
            <a:r>
              <a:rPr lang="en-US" sz="980" dirty="0">
                <a:solidFill>
                  <a:srgbClr val="ECF0F1"/>
                </a:solidFill>
              </a:rPr>
              <a:t>→  Enable GC histogram: quarkus.micrometer.distribution.percentiles-histogram.jvm.gc.pause=true</a:t>
            </a:r>
            <a:endParaRPr lang="en-US" sz="980" dirty="0"/>
          </a:p>
        </p:txBody>
      </p:sp>
      <p:sp>
        <p:nvSpPr>
          <p:cNvPr id="33" name="Text 31"/>
          <p:cNvSpPr/>
          <p:nvPr/>
        </p:nvSpPr>
        <p:spPr>
          <a:xfrm>
            <a:off x="4800600" y="3863340"/>
            <a:ext cx="3986784" cy="347472"/>
          </a:xfrm>
          <a:prstGeom prst="rect">
            <a:avLst/>
          </a:prstGeom>
          <a:noFill/>
          <a:ln/>
        </p:spPr>
        <p:txBody>
          <a:bodyPr wrap="square" lIns="0" tIns="0" rIns="0" bIns="0" rtlCol="0" anchor="t"/>
          <a:lstStyle/>
          <a:p>
            <a:pPr indent="0" marL="0">
              <a:buNone/>
            </a:pPr>
            <a:r>
              <a:rPr lang="en-US" sz="980" dirty="0">
                <a:solidFill>
                  <a:srgbClr val="ECF0F1"/>
                </a:solidFill>
              </a:rPr>
              <a:t>→  Use quarkus-micrometer-opentelemetry — unified extension for metrics + traces + logs</a:t>
            </a:r>
            <a:endParaRPr lang="en-US" sz="980" dirty="0"/>
          </a:p>
        </p:txBody>
      </p:sp>
      <p:sp>
        <p:nvSpPr>
          <p:cNvPr id="34" name="Text 32"/>
          <p:cNvSpPr/>
          <p:nvPr/>
        </p:nvSpPr>
        <p:spPr>
          <a:xfrm>
            <a:off x="4800600" y="4251960"/>
            <a:ext cx="3986784" cy="347472"/>
          </a:xfrm>
          <a:prstGeom prst="rect">
            <a:avLst/>
          </a:prstGeom>
          <a:noFill/>
          <a:ln/>
        </p:spPr>
        <p:txBody>
          <a:bodyPr wrap="square" lIns="0" tIns="0" rIns="0" bIns="0" rtlCol="0" anchor="t"/>
          <a:lstStyle/>
          <a:p>
            <a:pPr indent="0" marL="0">
              <a:buNone/>
            </a:pPr>
            <a:r>
              <a:rPr lang="en-US" sz="980" dirty="0">
                <a:solidFill>
                  <a:srgbClr val="ECF0F1"/>
                </a:solidFill>
              </a:rPr>
              <a:t>→  Add PrometheusRule: alert when histogram_quantile(0.99, jvm_gc_pause) &gt; 0.5 for 2m</a:t>
            </a:r>
            <a:endParaRPr lang="en-US" sz="980" dirty="0"/>
          </a:p>
        </p:txBody>
      </p:sp>
      <p:sp>
        <p:nvSpPr>
          <p:cNvPr id="35" name="Text 33"/>
          <p:cNvSpPr/>
          <p:nvPr/>
        </p:nvSpPr>
        <p:spPr>
          <a:xfrm>
            <a:off x="4800600" y="4640580"/>
            <a:ext cx="3986784" cy="347472"/>
          </a:xfrm>
          <a:prstGeom prst="rect">
            <a:avLst/>
          </a:prstGeom>
          <a:noFill/>
          <a:ln/>
        </p:spPr>
        <p:txBody>
          <a:bodyPr wrap="square" lIns="0" tIns="0" rIns="0" bIns="0" rtlCol="0" anchor="t"/>
          <a:lstStyle/>
          <a:p>
            <a:pPr indent="0" marL="0">
              <a:buNone/>
            </a:pPr>
            <a:r>
              <a:rPr lang="en-US" sz="980" dirty="0">
                <a:solidFill>
                  <a:srgbClr val="ECF0F1"/>
                </a:solidFill>
              </a:rPr>
              <a:t>→  Baseline first — measure P99 startup + P99 latency before changing any JVM flag</a:t>
            </a:r>
            <a:endParaRPr lang="en-US" sz="9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Taming the JVM: Optimizing Java Workloads on OpenShift &amp; Kubernetes</dc:title>
  <dc:subject>PptxGenJS Presentation</dc:subject>
  <dc:creator>Java on OpenShift Optimization</dc:creator>
  <cp:lastModifiedBy>Java on OpenShift Optimization</cp:lastModifiedBy>
  <cp:revision>1</cp:revision>
  <dcterms:created xsi:type="dcterms:W3CDTF">2026-04-07T22:38:18Z</dcterms:created>
  <dcterms:modified xsi:type="dcterms:W3CDTF">2026-04-07T22:38:18Z</dcterms:modified>
</cp:coreProperties>
</file>