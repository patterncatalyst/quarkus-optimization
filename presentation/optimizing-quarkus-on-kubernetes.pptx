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9" r:id="rId3"/>
  </p:sldMasterIdLst>
  <p:notesMasterIdLst>
    <p:notesMasterId r:id="rId4"/>
  </p:notesMasterIdLst>
  <p:sldIdLst>
    <p:sldId id="256" r:id="rId5"/>
    <p:sldId id="257" r:id="rId6"/>
    <p:sldId id="258" r:id="rId7"/>
    <p:sldId id="310" r:id="rId63"/>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311" r:id="rId64"/>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312" r:id="rId65"/>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3" r:id="rId66"/>
  </p:sldIdLst>
  <p:sldSz cy="5143500" cx="9144000"/>
  <p:notesSz cx="5143500" cy="9144000"/>
  <p:embeddedFontLst>
    <p:embeddedFont>
      <p:font typeface="Roboto Mono"/>
      <p:regular r:id="rId59"/>
      <p:bold r:id="rId60"/>
      <p:italic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font" Target="fonts/RobotoMono-regular.fntdata"/><Relationship Id="rId60" Type="http://schemas.openxmlformats.org/officeDocument/2006/relationships/font" Target="fonts/RobotoMono-bold.fntdata"/><Relationship Id="rId61" Type="http://schemas.openxmlformats.org/officeDocument/2006/relationships/font" Target="fonts/RobotoMono-italic.fntdata"/><Relationship Id="rId62" Type="http://schemas.openxmlformats.org/officeDocument/2006/relationships/font" Target="fonts/RobotoMono-boldItalic.fntdata"/><Relationship Id="rId63" Type="http://schemas.openxmlformats.org/officeDocument/2006/relationships/slide" Target="slides/slide4.xml"/><Relationship Id="rId64" Type="http://schemas.openxmlformats.org/officeDocument/2006/relationships/slide" Target="slides/slide19.xml"/><Relationship Id="rId65" Type="http://schemas.openxmlformats.org/officeDocument/2006/relationships/slide" Target="slides/slide33.xml"/><Relationship Id="rId66"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quarkus.io/guides/observability-devservices-lgtm" TargetMode="External"/><Relationship Id="rId3" Type="http://schemas.openxmlformats.org/officeDocument/2006/relationships/hyperlink" Target="https://quarkus.io/guides/observability-devservices-lgtm" TargetMode="External"/><Relationship Id="rId4" Type="http://schemas.openxmlformats.org/officeDocument/2006/relationships/hyperlink" Target="https://community.grafana.com/t/using-prometheus-as-your-opentelemetry-backend-missing-metrics/141553" TargetMode="External"/><Relationship Id="rId5" Type="http://schemas.openxmlformats.org/officeDocument/2006/relationships/hyperlink" Target="https://community.grafana.com/t/using-prometheus-as-your-opentelemetry-backend-missing-metrics/141553"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 name="Shape 13"/>
        <p:cNvGrpSpPr/>
        <p:nvPr/>
      </p:nvGrpSpPr>
      <p:grpSpPr>
        <a:xfrm>
          <a:off x="0" y="0"/>
          <a:ext cx="0" cy="0"/>
          <a:chOff x="0" y="0"/>
          <a:chExt cx="0" cy="0"/>
        </a:xfrm>
      </p:grpSpPr>
      <p:sp>
        <p:nvSpPr>
          <p:cNvPr id="14" name="Google Shape;1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 name="Google Shape;1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TITLE SLIDE — 0:00-1:00</a:t>
            </a:r>
            <a:br>
              <a:rPr lang="en-US"/>
            </a:br>
            <a:r>
              <a:rPr lang="en-US"/>
              <a:t>Welcome. Today we tackle one of the most common pain points with Java on OpenShift: the JVM was designed for a world where you owned the whole machine. Kubernetes gives you a fraction of a machine. These two worlds collide.</a:t>
            </a:r>
            <a:br>
              <a:rPr lang="en-US"/>
            </a:br>
            <a:br>
              <a:rPr lang="en-US"/>
            </a:br>
            <a:r>
              <a:rPr lang="en-US"/>
              <a:t>Everything here is grounded in two O'Reilly books and production battle scars, using Quarkus 3.33.1 LTS throughout.</a:t>
            </a:r>
            <a:br>
              <a:rPr lang="en-US"/>
            </a:br>
            <a:br>
              <a:rPr lang="en-US"/>
            </a:br>
            <a:r>
              <a:rPr lang="en-US"/>
              <a:t>→ Click through to Agenda.</a:t>
            </a:r>
            <a:endParaRPr/>
          </a:p>
        </p:txBody>
      </p:sp>
      <p:sp>
        <p:nvSpPr>
          <p:cNvPr id="16" name="Google Shape;1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 name="Google Shape;3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AGENDA — 1:00-2:00</a:t>
            </a:r>
            <a:br>
              <a:rPr lang="en-US"/>
            </a:br>
            <a:r>
              <a:rPr lang="en-US"/>
              <a:t>Seven sections, three live demos — all runnable on your laptop right now with Podman only.</a:t>
            </a:r>
            <a:br>
              <a:rPr lang="en-US"/>
            </a:br>
            <a:br>
              <a:rPr lang="en-US"/>
            </a:br>
            <a:r>
              <a:rPr lang="en-US"/>
              <a:t>Demo callout at the bottom: demos are woven into sections 1, 3, and 4.</a:t>
            </a:r>
            <a:br>
              <a:rPr lang="en-US"/>
            </a:br>
            <a:br>
              <a:rPr lang="en-US"/>
            </a:br>
            <a:r>
              <a:rPr lang="en-US"/>
              <a:t>Key expectation: by the end you'll have concrete flags, PromQL queries, and a repeatable tuning workflow you can apply Monday morning.</a:t>
            </a:r>
            <a:br>
              <a:rPr lang="en-US"/>
            </a:br>
            <a:br>
              <a:rPr lang="en-US"/>
            </a:br>
            <a:r>
              <a:rPr lang="en-US"/>
              <a:t>→ Let's start with WHY this is hard.</a:t>
            </a:r>
            <a:endParaRPr/>
          </a:p>
        </p:txBody>
      </p:sp>
      <p:sp>
        <p:nvSpPr>
          <p:cNvPr id="34" name="Google Shape;3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PROBLEM — 2:00-4:00</a:t>
            </a:r>
            <a:br>
              <a:rPr lang="en-US"/>
            </a:br>
            <a:r>
              <a:rPr lang="en-US"/>
              <a:t>The 60% figure is an illustrative industry estimate of memory overprovisioning. Most Java teams don't realise they're overprovisioning by 2-3x.</a:t>
            </a:r>
            <a:br>
              <a:rPr lang="en-US"/>
            </a:br>
            <a:br>
              <a:rPr lang="en-US"/>
            </a:br>
            <a:r>
              <a:rPr lang="en-US"/>
              <a:t>OOMKill storm story: container limit 2 GB, JVM claimed 4 GB — Kubernetes terminates mid-request. On-call at 2am. Root cause: MaxRAMPercentage set too high with no headroom — UseContainerSupport is default-on since JDK 10, so the fix is right-sizing the percentage, not enabling a flag.</a:t>
            </a:r>
            <a:br>
              <a:rPr lang="en-US"/>
            </a:br>
            <a:br>
              <a:rPr lang="en-US"/>
            </a:br>
            <a:r>
              <a:rPr lang="en-US"/>
              <a:t>The GC-induced autoscaling story is subtle — I'll explain it fully in section 3. Plant the seed now: your HPA is being lied to by your GC.</a:t>
            </a:r>
            <a:br>
              <a:rPr lang="en-US"/>
            </a:br>
            <a:br>
              <a:rPr lang="en-US"/>
            </a:br>
            <a:r>
              <a:rPr lang="en-US"/>
              <a:t>→ Let's understand WHY the JVM misbehaves in containers.</a:t>
            </a:r>
            <a:endParaRPr/>
          </a:p>
        </p:txBody>
      </p:sp>
      <p:sp>
        <p:nvSpPr>
          <p:cNvPr id="77" name="Google Shape;7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CONTAINER-NATIVE JVM — 4:00-8:00</a:t>
            </a:r>
            <a:br>
              <a:rPr lang="en-US"/>
            </a:br>
            <a:r>
              <a:rPr lang="en-US"/>
              <a:t>PAUSE. Ask audience: "How many of you explicitly set MaxRAMPercentage in your Kubernetes deployments today?" Usually fewer than 30% of hands.</a:t>
            </a:r>
            <a:br>
              <a:rPr lang="en-US"/>
            </a:br>
            <a:br>
              <a:rPr lang="en-US"/>
            </a:br>
            <a:r>
              <a:rPr lang="en-US"/>
              <a:t>KEY POINT: UseContainerSupport is ON by default in Java 25. But MaxRAMPercentage defaults to 25% — too conservative. First flag you add to every Java container: -XX:MaxRAMPercentage=75.0</a:t>
            </a:r>
            <a:br>
              <a:rPr lang="en-US"/>
            </a:br>
            <a:br>
              <a:rPr lang="en-US"/>
            </a:br>
            <a:r>
              <a:rPr lang="en-US"/>
              <a:t>Code block:</a:t>
            </a:r>
            <a:br>
              <a:rPr lang="en-US"/>
            </a:br>
            <a:r>
              <a:rPr lang="en-US"/>
              <a:t>  Left: hardcoded -Xmx BREAKS when VPA changes limits</a:t>
            </a:r>
            <a:br>
              <a:rPr lang="en-US"/>
            </a:br>
            <a:r>
              <a:rPr lang="en-US"/>
              <a:t>  Right: reads cgroup dynamically, scales automatically</a:t>
            </a:r>
            <a:br>
              <a:rPr lang="en-US"/>
            </a:br>
            <a:br>
              <a:rPr lang="en-US"/>
            </a:br>
            <a:r>
              <a:rPr lang="en-US"/>
              <a:t>cgroup v2 note: RHEL 9 / OCP 4.14+. Java 15+ handles both correctly.</a:t>
            </a:r>
            <a:br>
              <a:rPr lang="en-US"/>
            </a:br>
            <a:br>
              <a:rPr lang="en-US"/>
            </a:br>
            <a:r>
              <a:rPr lang="en-US"/>
              <a:t>→ But heap is only one piece of the memory picture.</a:t>
            </a:r>
            <a:endParaRPr/>
          </a:p>
        </p:txBody>
      </p:sp>
      <p:sp>
        <p:nvSpPr>
          <p:cNvPr id="121" name="Google Shape;12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d4d61a5c01_0_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g3d4d61a5c01_0_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"Let me show you what happens when a JVM starts inside a Kubernetes container without the right flags. This is a real scenario I see in production."</a:t>
            </a:r>
            <a:endParaRPr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"You have a 64-core node with 64 GB of RAM. You deploy a pod with a container limit of 512 MB. The JVM starts up. It asks the operating system: how much memory do I have? When no memory limit is set — or the cgroup files are unreadable — it falls back to reading </a:t>
            </a:r>
            <a:r>
              <a:rPr lang="en-US" sz="1100">
                <a:solidFill>
                  <a:srgbClr val="188038"/>
                </a:solidFill>
                <a:latin typeface="Roboto Mono"/>
                <a:ea typeface="Roboto Mono"/>
                <a:cs typeface="Roboto Mono"/>
                <a:sym typeface="Roboto Mono"/>
              </a:rPr>
              <a:t>/proc/meminfo</a:t>
            </a:r>
            <a:r>
              <a:rPr lang="en-US" sz="1100">
                <a:latin typeface="Arial"/>
                <a:ea typeface="Arial"/>
                <a:cs typeface="Arial"/>
                <a:sym typeface="Arial"/>
              </a:rPr>
              <a:t>. That file reports the host memory — 64 GB. The JVM applies its default heuristic: 25 percent of available memory for heap. That's 16 GB of heap inside a 512 MB container."</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Point to the OOMKill annotation:</a:t>
            </a:r>
            <a:endParaRPr b="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"Kubernetes enforces that 512 MB limit at the cgroup level. The moment the JVM tries to allocate beyond 512 MB — which it does almost immediately trying to claim 64 GB — the kernel OOMKills the process. Exit code 137. Your pod restarts. It happens again. You're in a CrashLoopBackOff. And the error message tells you nothing about JVM heap sizing."</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Now move to the right side:</a:t>
            </a:r>
            <a:endParaRPr b="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"Java 25 ships with </a:t>
            </a:r>
            <a:r>
              <a:rPr lang="en-US" sz="1100">
                <a:solidFill>
                  <a:srgbClr val="188038"/>
                </a:solidFill>
                <a:latin typeface="Roboto Mono"/>
                <a:ea typeface="Roboto Mono"/>
                <a:cs typeface="Roboto Mono"/>
                <a:sym typeface="Roboto Mono"/>
              </a:rPr>
              <a:t>UseContainerSupport</a:t>
            </a:r>
            <a:r>
              <a:rPr lang="en-US" sz="1100">
                <a:latin typeface="Arial"/>
                <a:ea typeface="Arial"/>
                <a:cs typeface="Arial"/>
                <a:sym typeface="Arial"/>
              </a:rPr>
              <a:t> on by default — that has been the case since JDK 10 (and 8u191). What Java 15 added is cgroup v2 support; when a limit is set the JVM reads the cgroup files instead of </a:t>
            </a:r>
            <a:r>
              <a:rPr lang="en-US" sz="1100">
                <a:solidFill>
                  <a:srgbClr val="188038"/>
                </a:solidFill>
                <a:latin typeface="Roboto Mono"/>
                <a:ea typeface="Roboto Mono"/>
                <a:cs typeface="Roboto Mono"/>
                <a:sym typeface="Roboto Mono"/>
              </a:rPr>
              <a:t>/proc/meminfo</a:t>
            </a:r>
            <a:r>
              <a:rPr lang="en-US" sz="1100">
                <a:latin typeface="Arial"/>
                <a:ea typeface="Arial"/>
                <a:cs typeface="Arial"/>
                <a:sym typeface="Arial"/>
              </a:rPr>
              <a:t>. On RHEL 9 and OpenShift 4.14 and later, that's the cgroup v2 path at </a:t>
            </a:r>
            <a:r>
              <a:rPr lang="en-US" sz="1100">
                <a:solidFill>
                  <a:srgbClr val="188038"/>
                </a:solidFill>
                <a:latin typeface="Roboto Mono"/>
                <a:ea typeface="Roboto Mono"/>
                <a:cs typeface="Roboto Mono"/>
                <a:sym typeface="Roboto Mono"/>
              </a:rPr>
              <a:t>/sys/fs/cgroup/memory.max</a:t>
            </a:r>
            <a:r>
              <a:rPr lang="en-US" sz="1100">
                <a:latin typeface="Arial"/>
                <a:ea typeface="Arial"/>
                <a:cs typeface="Arial"/>
                <a:sym typeface="Arial"/>
              </a:rPr>
              <a:t>. On older systems, the v1 path. Either way, the JVM correctly reads 512 MB."</a:t>
            </a:r>
            <a:endParaRPr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"Then you set </a:t>
            </a:r>
            <a:r>
              <a:rPr lang="en-US" sz="1100">
                <a:solidFill>
                  <a:srgbClr val="188038"/>
                </a:solidFill>
                <a:latin typeface="Roboto Mono"/>
                <a:ea typeface="Roboto Mono"/>
                <a:cs typeface="Roboto Mono"/>
                <a:sym typeface="Roboto Mono"/>
              </a:rPr>
              <a:t>MaxRAMPercentage=75</a:t>
            </a:r>
            <a:r>
              <a:rPr lang="en-US" sz="1100">
                <a:latin typeface="Arial"/>
                <a:ea typeface="Arial"/>
                <a:cs typeface="Arial"/>
                <a:sym typeface="Arial"/>
              </a:rPr>
              <a:t>. The JVM claims 75 percent of 512 MB — 384 MB for heap. The remaining 128 MB covers Metaspace, thread stacks, JIT cache, and Netty buffers. The pod runs. No OOMKill."</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The critical point:</a:t>
            </a:r>
            <a:endParaRPr b="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old approach — hardcoding </a:t>
            </a:r>
            <a:r>
              <a:rPr lang="en-US" sz="1100">
                <a:solidFill>
                  <a:srgbClr val="188038"/>
                </a:solidFill>
                <a:latin typeface="Roboto Mono"/>
                <a:ea typeface="Roboto Mono"/>
                <a:cs typeface="Roboto Mono"/>
                <a:sym typeface="Roboto Mono"/>
              </a:rPr>
              <a:t>-Xms512m -Xmx1024m</a:t>
            </a:r>
            <a:r>
              <a:rPr lang="en-US" sz="1100">
                <a:latin typeface="Arial"/>
                <a:ea typeface="Arial"/>
                <a:cs typeface="Arial"/>
                <a:sym typeface="Arial"/>
              </a:rPr>
              <a:t> — is fragile. Every time your VPA changes the container limit, or you move to a different size instance, your hardcoded values are wrong. The percentage-based approach scales automatically. Set </a:t>
            </a:r>
            <a:r>
              <a:rPr lang="en-US" sz="1100">
                <a:solidFill>
                  <a:srgbClr val="188038"/>
                </a:solidFill>
                <a:latin typeface="Roboto Mono"/>
                <a:ea typeface="Roboto Mono"/>
                <a:cs typeface="Roboto Mono"/>
                <a:sym typeface="Roboto Mono"/>
              </a:rPr>
              <a:t>MaxRAMPercentage=75</a:t>
            </a:r>
            <a:r>
              <a:rPr lang="en-US" sz="1100">
                <a:latin typeface="Arial"/>
                <a:ea typeface="Arial"/>
                <a:cs typeface="Arial"/>
                <a:sym typeface="Arial"/>
              </a:rPr>
              <a:t> once. It's correct on a 256 MB container and on a 32 GB container. The JVM calculates the right heap size at runtime."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For Q&amp;A follow-up:</a:t>
            </a:r>
            <a:endParaRPr b="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most common follow-up question is: what about JDK 8 and 11? </a:t>
            </a:r>
            <a:r>
              <a:rPr lang="en-US" sz="1100">
                <a:solidFill>
                  <a:srgbClr val="188038"/>
                </a:solidFill>
                <a:latin typeface="Roboto Mono"/>
                <a:ea typeface="Roboto Mono"/>
                <a:cs typeface="Roboto Mono"/>
                <a:sym typeface="Roboto Mono"/>
              </a:rPr>
              <a:t>UseContainerSupport</a:t>
            </a:r>
            <a:r>
              <a:rPr lang="en-US" sz="1100">
                <a:latin typeface="Arial"/>
                <a:ea typeface="Arial"/>
                <a:cs typeface="Arial"/>
                <a:sym typeface="Arial"/>
              </a:rPr>
              <a:t> was backported to JDK 8u191 and JDK 11.0.1. If you're on a patch release older than those, you're running unsupported software and also have broken container memory detection. That's two good reasons to upgrade."</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139" name="Google Shape;139;g3d4d61a5c01_0_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JVM MEMORY REGIONS — 8:00-10:00</a:t>
            </a:r>
            <a:br>
              <a:rPr lang="en-US"/>
            </a:br>
            <a:r>
              <a:rPr lang="en-US"/>
              <a:t>THE KEY MISCONCEPTION: setting MaxRAMPercentage=90 thinking "more heap = better". Heap is only ONE of five regions.</a:t>
            </a:r>
            <a:br>
              <a:rPr lang="en-US"/>
            </a:br>
            <a:br>
              <a:rPr lang="en-US"/>
            </a:br>
            <a:r>
              <a:rPr lang="en-US"/>
              <a:t>Walk through each row:</a:t>
            </a:r>
            <a:br>
              <a:rPr lang="en-US"/>
            </a:br>
            <a:r>
              <a:rPr lang="en-US"/>
              <a:t>  Heap: what we tune with MaxRAMPercentage</a:t>
            </a:r>
            <a:br>
              <a:rPr lang="en-US"/>
            </a:br>
            <a:r>
              <a:rPr lang="en-US"/>
              <a:t>  Metaspace: class metadata — can grow unbounded without MaxMetaspaceSize</a:t>
            </a:r>
            <a:br>
              <a:rPr lang="en-US"/>
            </a:br>
            <a:r>
              <a:rPr lang="en-US"/>
              <a:t>  Thread Stacks: 1MB per platform thread — Quarkus Virtual Threads eliminate this!</a:t>
            </a:r>
            <a:br>
              <a:rPr lang="en-US"/>
            </a:br>
            <a:r>
              <a:rPr lang="en-US"/>
              <a:t>  JIT Code Cache: 128-256MB — often forgotten in budget</a:t>
            </a:r>
            <a:br>
              <a:rPr lang="en-US"/>
            </a:br>
            <a:r>
              <a:rPr lang="en-US"/>
              <a:t>  Direct ByteBuffers: Netty, NIO — must be added explicitly</a:t>
            </a:r>
            <a:br>
              <a:rPr lang="en-US"/>
            </a:br>
            <a:br>
              <a:rPr lang="en-US"/>
            </a:br>
            <a:r>
              <a:rPr lang="en-US"/>
              <a:t>Rule: MaxRAMPercentage=75. Leave 25% for off-heap.</a:t>
            </a:r>
            <a:br>
              <a:rPr lang="en-US"/>
            </a:br>
            <a:br>
              <a:rPr lang="en-US"/>
            </a:br>
            <a:r>
              <a:rPr lang="en-US"/>
              <a:t>→ Now let's right-size this correctly.</a:t>
            </a:r>
            <a:endParaRPr/>
          </a:p>
        </p:txBody>
      </p:sp>
      <p:sp>
        <p:nvSpPr>
          <p:cNvPr id="151" name="Google Shape;15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t/>
            </a:r>
            <a:endParaRPr b="1" sz="13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diagram is the answer to the most common question I get after talks: 'how do I actually calculate my container memory limit?'"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Point to the left bar first:</a:t>
            </a:r>
            <a:endParaRPr b="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is your container. Let's say it's 2 GB. Most people set MaxRAMPercentage=75 and think they're done. But look at what actually lives inside that 2 GB."</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Heap (green)</a:t>
            </a:r>
            <a:endParaRPr b="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heap is only one of six regions. MaxRAMPercentage=75 gives you 1.5 GB of heap. But the JVM needs memory for five other things, and most of them are completely ignored at sizing time."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Metaspace (orange)</a:t>
            </a:r>
            <a:endParaRPr b="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"Metaspace holds class metadata — method bytecodes, field descriptors, constant pool entries. Without </a:t>
            </a:r>
            <a:r>
              <a:rPr lang="en-US" sz="1100">
                <a:solidFill>
                  <a:srgbClr val="188038"/>
                </a:solidFill>
                <a:latin typeface="Roboto Mono"/>
                <a:ea typeface="Roboto Mono"/>
                <a:cs typeface="Roboto Mono"/>
                <a:sym typeface="Roboto Mono"/>
              </a:rPr>
              <a:t>-XX:MaxMetaspaceSize</a:t>
            </a:r>
            <a:r>
              <a:rPr lang="en-US" sz="1100">
                <a:latin typeface="Arial"/>
                <a:ea typeface="Arial"/>
                <a:cs typeface="Arial"/>
                <a:sym typeface="Arial"/>
              </a:rPr>
              <a:t>, this grows unbounded. I have seen Metaspace eat 800 MB on a framework-heavy application. Set the limit. A good starting point is 256m."</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Thread Stacks (purple)</a:t>
            </a:r>
            <a:endParaRPr b="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"Every platform thread gets 1 MB of stack by default. If you have 200 threads — totally normal for a REST service — that is 200 MB of off-heap memory that most sizing calculations miss entirely. This is why Quarkus Virtual Threads matter for container sizing: virtual thread stacks live in the heap as tiny continuations, not 1 MB stacks."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JIT Code Cache (red)</a:t>
            </a:r>
            <a:endParaRPr b="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"HotSpot compiles hot methods to native code and stores them here. Typically 128-256 MB. Project Leyden pre-populates this cache so the JIT starts compiling hot paths immediately rather than waiting for profiling data."</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Direct ByteBuffers and GC overhead</a:t>
            </a:r>
            <a:endParaRPr b="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"These are the ones that cause surprise OOMKills. Netty — which Quarkus uses under the hood via Vert.x — allocates direct buffers off-heap. Kafka clients do the same. GC bookkeeping structures add another 50-100 MB. None of these are bounded by your heap setting."</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Sizing formula</a:t>
            </a:r>
            <a:endParaRPr b="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formula at the bottom is the one I use: container limit equals heap divided by 0.75, plus MaxMetaspaceSize, plus threads times 1 MB, plus your direct buffer budget, plus GC overhead. Measure first with </a:t>
            </a:r>
            <a:r>
              <a:rPr lang="en-US" sz="1100">
                <a:solidFill>
                  <a:srgbClr val="188038"/>
                </a:solidFill>
                <a:latin typeface="Roboto Mono"/>
                <a:ea typeface="Roboto Mono"/>
                <a:cs typeface="Roboto Mono"/>
                <a:sym typeface="Roboto Mono"/>
              </a:rPr>
              <a:t>jcmd &lt;pid&gt; VM.native_memory summary</a:t>
            </a:r>
            <a:r>
              <a:rPr lang="en-US" sz="1100">
                <a:latin typeface="Arial"/>
                <a:ea typeface="Arial"/>
                <a:cs typeface="Arial"/>
                <a:sym typeface="Arial"/>
              </a:rPr>
              <a:t>. Then budget. Then set limits."</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189" name="Google Shape;18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d4d61a5c01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g3d4d61a5c01_0_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RIGHT-SIZING — 10:00-12:00</a:t>
            </a:r>
            <a:br>
              <a:rPr lang="en-US"/>
            </a:br>
            <a:r>
              <a:rPr lang="en-US"/>
              <a:t>Requests = your SLA TO the scheduler. Limits = your circuit breaker.</a:t>
            </a:r>
            <a:br>
              <a:rPr lang="en-US"/>
            </a:br>
            <a:br>
              <a:rPr lang="en-US"/>
            </a:br>
            <a:r>
              <a:rPr lang="en-US"/>
              <a:t>Most teams set them equal. WRONG. Limit should be 25-30% above P99 peak — enough for a GC surge without OOMKill.</a:t>
            </a:r>
            <a:br>
              <a:rPr lang="en-US"/>
            </a:br>
            <a:br>
              <a:rPr lang="en-US"/>
            </a:br>
            <a:r>
              <a:rPr lang="en-US"/>
              <a:t>Memory sizing formula:</a:t>
            </a:r>
            <a:br>
              <a:rPr lang="en-US"/>
            </a:br>
            <a:r>
              <a:rPr lang="en-US"/>
              <a:t>  Measure RSS first: kubectl top pod --containers</a:t>
            </a:r>
            <a:br>
              <a:rPr lang="en-US"/>
            </a:br>
            <a:r>
              <a:rPr lang="en-US"/>
              <a:t>  Then: Heap + Metaspace + Threads + Native + 20% buffer = limit</a:t>
            </a:r>
            <a:br>
              <a:rPr lang="en-US"/>
            </a:br>
            <a:r>
              <a:rPr lang="en-US"/>
              <a:t>  Request = P50 steady-state RSS</a:t>
            </a:r>
            <a:br>
              <a:rPr lang="en-US"/>
            </a:br>
            <a:br>
              <a:rPr lang="en-US"/>
            </a:br>
            <a:r>
              <a:rPr lang="en-US"/>
              <a:t>CPU note: Set limit 2-4x request. GC uses burst CPU. Low CPU limit = GC can't complete = pauses extend.</a:t>
            </a:r>
            <a:br>
              <a:rPr lang="en-US"/>
            </a:br>
            <a:br>
              <a:rPr lang="en-US"/>
            </a:br>
            <a:r>
              <a:rPr lang="en-US"/>
              <a:t>→ What does this look like at the node level?</a:t>
            </a:r>
            <a:endParaRPr/>
          </a:p>
        </p:txBody>
      </p:sp>
      <p:sp>
        <p:nvSpPr>
          <p:cNvPr id="202" name="Google Shape;202;g3d4d61a5c01_0_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BIN-PACKING — 12:00-14:00</a:t>
            </a:r>
            <a:br>
              <a:rPr lang="en-US"/>
            </a:br>
            <a:r>
              <a:rPr lang="en-US"/>
              <a:t>THIS IS YOUR BUSINESS CASE SLIDE. Show this to your manager.</a:t>
            </a:r>
            <a:br>
              <a:rPr lang="en-US"/>
            </a:br>
            <a:br>
              <a:rPr lang="en-US"/>
            </a:br>
            <a:r>
              <a:rPr lang="en-US"/>
              <a:t>Left: default JVM settings (no container flags), each claims 8GB. Only 3 pods per 32GB node.</a:t>
            </a:r>
            <a:br>
              <a:rPr lang="en-US"/>
            </a:br>
            <a:r>
              <a:rPr lang="en-US"/>
              <a:t>Right: after right-sizing. Each uses 1.5GB actual. 6 pods fit. 2x density.</a:t>
            </a:r>
            <a:br>
              <a:rPr lang="en-US"/>
            </a:br>
            <a:br>
              <a:rPr lang="en-US"/>
            </a:br>
            <a:r>
              <a:rPr lang="en-US"/>
              <a:t>On a cluster costing $10k/month, 2x density improvement = $5k/month back.</a:t>
            </a:r>
            <a:br>
              <a:rPr lang="en-US"/>
            </a:br>
            <a:br>
              <a:rPr lang="en-US"/>
            </a:br>
            <a:r>
              <a:rPr lang="en-US"/>
              <a:t>Real example: I've seen teams with 3 Spring Boot pods on a 16GB node, each claiming 4GB heap, actually using 600MB each. 12GB of reserved dead space.</a:t>
            </a:r>
            <a:br>
              <a:rPr lang="en-US"/>
            </a:br>
            <a:br>
              <a:rPr lang="en-US"/>
            </a:br>
            <a:r>
              <a:rPr lang="en-US"/>
              <a:t>→ Now GC — the other half of the container performance story.</a:t>
            </a:r>
            <a:endParaRPr/>
          </a:p>
        </p:txBody>
      </p:sp>
      <p:sp>
        <p:nvSpPr>
          <p:cNvPr id="230" name="Google Shape;23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GC IN CONTAINERS — 14:00-16:00</a:t>
            </a:r>
            <a:br>
              <a:rPr lang="en-US"/>
            </a:br>
            <a:r>
              <a:rPr lang="en-US"/>
              <a:t>GC-INDUCED HPA THRASH is the most surprising finding for most people.</a:t>
            </a:r>
            <a:br>
              <a:rPr lang="en-US"/>
            </a:br>
            <a:br>
              <a:rPr lang="en-US"/>
            </a:br>
            <a:r>
              <a:rPr lang="en-US"/>
              <a:t>The domino effect:</a:t>
            </a:r>
            <a:br>
              <a:rPr lang="en-US"/>
            </a:br>
            <a:r>
              <a:rPr lang="en-US"/>
              <a:t>  1. GC pause → CPU spike (normal)</a:t>
            </a:r>
            <a:br>
              <a:rPr lang="en-US"/>
            </a:br>
            <a:r>
              <a:rPr lang="en-US"/>
              <a:t>  2. HPA sees spike → scales out (WRONG)</a:t>
            </a:r>
            <a:br>
              <a:rPr lang="en-US"/>
            </a:br>
            <a:r>
              <a:rPr lang="en-US"/>
              <a:t>  3. New pods → also do GC → more spikes</a:t>
            </a:r>
            <a:br>
              <a:rPr lang="en-US"/>
            </a:br>
            <a:r>
              <a:rPr lang="en-US"/>
              <a:t>  4. 20 pods for a 3-pod workload</a:t>
            </a:r>
            <a:br>
              <a:rPr lang="en-US"/>
            </a:br>
            <a:br>
              <a:rPr lang="en-US"/>
            </a:br>
            <a:r>
              <a:rPr lang="en-US"/>
              <a:t>Fix requires BOTH GC tuning AND HPA configuration. We cover HPA in section 6.</a:t>
            </a:r>
            <a:br>
              <a:rPr lang="en-US"/>
            </a:br>
            <a:br>
              <a:rPr lang="en-US"/>
            </a:br>
            <a:r>
              <a:rPr lang="en-US"/>
              <a:t>ParallelGCThreads: with a CPU limit set, the JVM reads the cgroup quota and sizes GC threads to it. The trap is requests-but-no-limit — then it sizes to the node, capped above 8 cores (8 + (N-8)×5/8, e.g. 43 on 64 cores). Set a CPU limit or pin -XX:ParallelGCThreads to your allocation.</a:t>
            </a:r>
            <a:br>
              <a:rPr lang="en-US"/>
            </a:br>
            <a:br>
              <a:rPr lang="en-US"/>
            </a:br>
            <a:r>
              <a:rPr lang="en-US"/>
              <a:t>→ Which GC should you choose?</a:t>
            </a:r>
            <a:endParaRPr/>
          </a:p>
        </p:txBody>
      </p:sp>
      <p:sp>
        <p:nvSpPr>
          <p:cNvPr id="269" name="Google Shape;26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d4d61a5c0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g3d4d61a5c01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 want to show you why CPU-based HPA and the JVM are a dangerous combination. This is a loop that I have seen take a cluster from 3 pods to 20 pods with zero actual load increase."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Walk box by box:</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① Normal Operation</a:t>
            </a:r>
            <a:endParaRPr b="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"Everything is fine. Your app is running. GC pauses are under 200ms. Requests are being served."</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② GC Pause</a:t>
            </a:r>
            <a:endParaRPr b="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 normal GC cycle fires. This is not a problem — this is expected JVM behaviour. But during stop-the-world, all application threads halt. The GC threads hammer the CPU. You spike to 100% CPU for 50-200ms."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③ HPA Scales Out</a:t>
            </a:r>
            <a:endParaRPr b="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"HPA is watching CPU utilisation on a 30-second scrape interval. It sees a spike over your threshold and adds three new pods. This is the wrong response — the spike was GC, not load."</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④ New Pods Also GC</a:t>
            </a:r>
            <a:endParaRPr b="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"Each new pod starts cold. They all do JVM bootstrap and JIT warmup. They ALL spike CPU during their startup GC cycles. This looks to HPA like sustained high CPU."</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⑤ HPA Scales Again</a:t>
            </a:r>
            <a:endParaRPr b="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"HPA adds three more pods. Those pods spike. And so on."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⑥ Cost Explosion</a:t>
            </a:r>
            <a:endParaRPr b="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 have seen this reach 20 pods for a 3-pod workload. Your on-call engineer wakes up, sees the alerts, sees 20 pods, and has no idea why. The root cause is that HPA was given the wrong metric."</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The Fix panel</a:t>
            </a:r>
            <a:endParaRPr b="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"Two things together solve this. First, change the HPA metric to RPS — requests per second. RPS is completely unaffected by GC CPU spikes. Second, add stabilisation windows. </a:t>
            </a:r>
            <a:r>
              <a:rPr lang="en-US" sz="1100">
                <a:solidFill>
                  <a:srgbClr val="188038"/>
                </a:solidFill>
                <a:latin typeface="Roboto Mono"/>
                <a:ea typeface="Roboto Mono"/>
                <a:cs typeface="Roboto Mono"/>
                <a:sym typeface="Roboto Mono"/>
              </a:rPr>
              <a:t>stabilizationWindowSeconds: 120</a:t>
            </a:r>
            <a:r>
              <a:rPr lang="en-US" sz="1100">
                <a:latin typeface="Arial"/>
                <a:ea typeface="Arial"/>
                <a:cs typeface="Arial"/>
                <a:sym typeface="Arial"/>
              </a:rPr>
              <a:t> on scale-up means HPA will wait 2 minutes before acting on a CPU spike. That's longer than any normal GC pause. Together these make HPA work correctly for Java."</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297" name="Google Shape;297;g3d4d61a5c01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GC COMPARISON TABLE — 16:00-18:00</a:t>
            </a:r>
            <a:br>
              <a:rPr lang="en-US"/>
            </a:br>
            <a:r>
              <a:rPr lang="en-US"/>
              <a:t>Row by row:</a:t>
            </a:r>
            <a:br>
              <a:rPr lang="en-US"/>
            </a:br>
            <a:r>
              <a:rPr lang="en-US"/>
              <a:t>  G1GC: safe default. 99% of microservices start here.</a:t>
            </a:r>
            <a:br>
              <a:rPr lang="en-US"/>
            </a:br>
            <a:r>
              <a:rPr lang="en-US"/>
              <a:t>  ZGC (Generational): the modern low-latency GC. Sub-millisecond pauses. Generational is the only mode since JDK 24 (default since 23) — the old -XX:+ZGenerational flag is obsolete.</a:t>
            </a:r>
            <a:br>
              <a:rPr lang="en-US"/>
            </a:br>
            <a:r>
              <a:rPr lang="en-US"/>
              <a:t>  Shenandoah: OpenJDK/RHEL default. Similar to ZGC. Excellent for all heap sizes.</a:t>
            </a:r>
            <a:br>
              <a:rPr lang="en-US"/>
            </a:br>
            <a:r>
              <a:rPr lang="en-US"/>
              <a:t>  Serial GC: NEVER for microservices. Only CLI tools, tiny batch containers.</a:t>
            </a:r>
            <a:br>
              <a:rPr lang="en-US"/>
            </a:br>
            <a:br>
              <a:rPr lang="en-US"/>
            </a:br>
            <a:r>
              <a:rPr lang="en-US"/>
              <a:t>DECISION RULE (say slowly):</a:t>
            </a:r>
            <a:br>
              <a:rPr lang="en-US"/>
            </a:br>
            <a:r>
              <a:rPr lang="en-US"/>
              <a:t>  "If jvm_gc_pause_seconds P99 from Prometheus is consistently above 500ms, switch from G1GC to ZGC."</a:t>
            </a:r>
            <a:br>
              <a:rPr lang="en-US"/>
            </a:br>
            <a:r>
              <a:rPr lang="en-US"/>
              <a:t>  "If P99 is under 200ms, G1GC is fine. Don't change what's working."</a:t>
            </a:r>
            <a:br>
              <a:rPr lang="en-US"/>
            </a:br>
            <a:br>
              <a:rPr lang="en-US"/>
            </a:br>
            <a:r>
              <a:rPr lang="en-US"/>
              <a:t>→ The specific flags.</a:t>
            </a:r>
            <a:endParaRPr/>
          </a:p>
        </p:txBody>
      </p:sp>
      <p:sp>
        <p:nvSpPr>
          <p:cNvPr id="310" name="Google Shape;31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 name="Google Shape;37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GC TUNING PARAMETERS — 18:00-20:00</a:t>
            </a:r>
            <a:br>
              <a:rPr lang="en-US"/>
            </a:br>
            <a:r>
              <a:rPr lang="en-US"/>
              <a:t>PAUSE on ParallelGCThreads. Write this down: "Match ParallelGCThreads to your CPU limit, not your host CPU count."</a:t>
            </a:r>
            <a:br>
              <a:rPr lang="en-US"/>
            </a:br>
            <a:br>
              <a:rPr lang="en-US"/>
            </a:br>
            <a:r>
              <a:rPr lang="en-US"/>
              <a:t>G1GC block:</a:t>
            </a:r>
            <a:br>
              <a:rPr lang="en-US"/>
            </a:br>
            <a:r>
              <a:rPr lang="en-US"/>
              <a:t>  MaxGCPauseMillis=200 is a TARGET, not a guarantee</a:t>
            </a:r>
            <a:br>
              <a:rPr lang="en-US"/>
            </a:br>
            <a:r>
              <a:rPr lang="en-US"/>
              <a:t>  IHOP=45 — start GC when heap is 45% full. In containers, start earlier not later.</a:t>
            </a:r>
            <a:br>
              <a:rPr lang="en-US"/>
            </a:br>
            <a:br>
              <a:rPr lang="en-US"/>
            </a:br>
            <a:r>
              <a:rPr lang="en-US"/>
              <a:t>ZGC block — generational is the only mode since JDK 24, default since 23 (the old -XX:+ZGenerational flag is obsolete)</a:t>
            </a:r>
            <a:br>
              <a:rPr lang="en-US"/>
            </a:br>
            <a:br>
              <a:rPr lang="en-US"/>
            </a:br>
            <a:r>
              <a:rPr lang="en-US"/>
              <a:t>Bottom cards — three most important flags after ParallelGCThreads.</a:t>
            </a:r>
            <a:br>
              <a:rPr lang="en-US"/>
            </a:br>
            <a:br>
              <a:rPr lang="en-US"/>
            </a:br>
            <a:r>
              <a:rPr lang="en-US"/>
              <a:t>→ Now startup. A slow JVM bottlenecks your scale-out.</a:t>
            </a:r>
            <a:endParaRPr/>
          </a:p>
        </p:txBody>
      </p:sp>
      <p:sp>
        <p:nvSpPr>
          <p:cNvPr id="373" name="Google Shape;37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d4d61a5c01_0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g3d4d61a5c01_0_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is the question I get most often about startup optimisation: what is the difference between AppCDS on JDK 21 and the Leyden AOT cache on JDK 25? This diagram answers it."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The key framing line before opening:</a:t>
            </a:r>
            <a:endParaRPr b="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important thing to say upfront: the Quarkus property is identical across all four columns. </a:t>
            </a:r>
            <a:r>
              <a:rPr lang="en-US" sz="1100">
                <a:solidFill>
                  <a:srgbClr val="188038"/>
                </a:solidFill>
                <a:latin typeface="Roboto Mono"/>
                <a:ea typeface="Roboto Mono"/>
                <a:cs typeface="Roboto Mono"/>
                <a:sym typeface="Roboto Mono"/>
              </a:rPr>
              <a:t>quarkus.package.jar.aot.enabled=true</a:t>
            </a:r>
            <a:r>
              <a:rPr lang="en-US" sz="1100">
                <a:latin typeface="Arial"/>
                <a:ea typeface="Arial"/>
                <a:cs typeface="Arial"/>
                <a:sym typeface="Arial"/>
              </a:rPr>
              <a:t>. The command is </a:t>
            </a:r>
            <a:r>
              <a:rPr lang="en-US" sz="1100">
                <a:solidFill>
                  <a:srgbClr val="188038"/>
                </a:solidFill>
                <a:latin typeface="Roboto Mono"/>
                <a:ea typeface="Roboto Mono"/>
                <a:cs typeface="Roboto Mono"/>
                <a:sym typeface="Roboto Mono"/>
              </a:rPr>
              <a:t>mvnw verify</a:t>
            </a:r>
            <a:r>
              <a:rPr lang="en-US" sz="1100">
                <a:latin typeface="Arial"/>
                <a:ea typeface="Arial"/>
                <a:cs typeface="Arial"/>
                <a:sym typeface="Arial"/>
              </a:rPr>
              <a:t>. You change nothing. You just upgrade your JDK and you automatically get a richer, more effective cache."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Column 1 — JDK 21 AppCDS</a:t>
            </a:r>
            <a:endParaRPr b="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"On JDK 21, the cache stores parsed class bytes and the class hierarchy — things the JVM would have had to compute from bytecode. This gives you 20 to 30 percent startup improvement. Not bad for one property."</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Column 2 — JDK 24 (JEP 483)</a:t>
            </a:r>
            <a:endParaRPr b="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"JDK 24 was the first Leyden feature to land in mainline OpenJDK. Now the cache stores the fully loaded and linked class state — not just the bytes, but the resolved references, the verified types, the initialisation state. Spring PetClinic dropped about 42 percent — roughly 4.5 seconds to 2.6 seconds — in the JEP 483 benchmark. Quarkus starts at a lower baseline, so the absolute improvement is smaller, but the percentage gain is similar."</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Column 3 — JDK 25 LTS (JEP 514+515) — highlight as current</a:t>
            </a:r>
            <a:endParaRPr b="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is where we are now. JDK 25 is the current LTS. JEP 515 adds JIT method profiling to the cache. This means that on startup, the JVM doesn't just skip class loading — it also skips the profiling phase that normally precedes JIT compilation. Your hot methods are compiled immediately from the first request. That's the warmup improvement — 15 to 25 percent on top of the startup gain. For a Quarkus app, you're looking at around 175ms with the cache on JDK 25."</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Column 4 — JDK 26</a:t>
            </a:r>
            <a:endParaRPr b="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"JDK 26 adds ZGC support. Previously the AOT cache was incompatible with ZGC — you had to choose between low-latency garbage collection and fast startup. JEP 516 removes that constraint. If you're on JDK 26 with ZGC enabled, you can also use the full AOT cache. You don't have to pick."</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The key insight banner</a:t>
            </a:r>
            <a:endParaRPr b="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punchline is this: you do not need to change your Quarkus configuration to benefit from each JDK improvement. Set the property once. Upgrade the JDK at your own pace. The cache automatically becomes richer. This is intentional design — the Quarkus and OpenJDK teams are collaborating to make this progression seamless."</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395" name="Google Shape;395;g3d4d61a5c01_0_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STARTUP TIME — 20:00-22:00</a:t>
            </a:r>
            <a:br>
              <a:rPr lang="en-US"/>
            </a:br>
            <a:r>
              <a:rPr lang="en-US"/>
              <a:t>The comparison is stark. Spring Boot ~6.6s vs Quarkus JVM 0.3-0.8s (2.3x faster startup in the cited Quarkus benchmark, 6.569 vs 2.919s; quote the sourced figure, not a laptop guess). (GraalVM native is faster still, but it's a different tool — out of scope for JVM sizing.)</a:t>
            </a:r>
            <a:br>
              <a:rPr lang="en-US"/>
            </a:br>
            <a:br>
              <a:rPr lang="en-US"/>
            </a:br>
            <a:r>
              <a:rPr lang="en-US"/>
              <a:t>WHY is Quarkus already so much faster? Build-time processing. CDI resolution, classpath scanning, metadata pre-computation — all done at compile time.</a:t>
            </a:r>
            <a:br>
              <a:rPr lang="en-US"/>
            </a:br>
            <a:br>
              <a:rPr lang="en-US"/>
            </a:br>
            <a:r>
              <a:rPr lang="en-US"/>
              <a:t>The timeline bars show where Spring Boot spends its time. Quarkus eliminates most of "Framework Context Init" through its build step.</a:t>
            </a:r>
            <a:br>
              <a:rPr lang="en-US"/>
            </a:br>
            <a:br>
              <a:rPr lang="en-US"/>
            </a:br>
            <a:r>
              <a:rPr lang="en-US"/>
              <a:t>The Leyden AOT cache (JDK 25) adds ~75% on top of Quarkus's already-fast baseline; AppCDS alone is within noise (~0-5%) on Quarkus.</a:t>
            </a:r>
            <a:br>
              <a:rPr lang="en-US"/>
            </a:br>
            <a:br>
              <a:rPr lang="en-US"/>
            </a:br>
            <a:r>
              <a:rPr lang="en-US"/>
              <a:t>→ Let's see how Quarkus makes AppCDS trivial.</a:t>
            </a:r>
            <a:endParaRPr/>
          </a:p>
        </p:txBody>
      </p:sp>
      <p:sp>
        <p:nvSpPr>
          <p:cNvPr id="407" name="Google Shape;40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APPCDS — QUARKUS 3.33.1 — 22:00-25:00</a:t>
            </a:r>
            <a:br>
              <a:rPr lang="en-US"/>
            </a:br>
            <a:r>
              <a:rPr lang="en-US"/>
              <a:t>THE CONTRAST is the story.</a:t>
            </a:r>
            <a:br>
              <a:rPr lang="en-US"/>
            </a:br>
            <a:br>
              <a:rPr lang="en-US"/>
            </a:br>
            <a:r>
              <a:rPr lang="en-US"/>
              <a:t>Spring Boot: 3 manual steps (Xshare:off training, Xshare:dump archive, Xshare:on production). Complex Dockerfile.</a:t>
            </a:r>
            <a:br>
              <a:rPr lang="en-US"/>
            </a:br>
            <a:br>
              <a:rPr lang="en-US"/>
            </a:br>
            <a:r>
              <a:rPr lang="en-US"/>
              <a:t>Quarkus: ONE property. quarkus.package.jar.aot.enabled=true. Maven plugin handles training pass, archive generation, bundling automatically.</a:t>
            </a:r>
            <a:br>
              <a:rPr lang="en-US"/>
            </a:br>
            <a:br>
              <a:rPr lang="en-US"/>
            </a:br>
            <a:r>
              <a:rPr lang="en-US"/>
              <a:t>Quarkus Dockerfile columns:</a:t>
            </a:r>
            <a:br>
              <a:rPr lang="en-US"/>
            </a:br>
            <a:r>
              <a:rPr lang="en-US"/>
              <a:t>  lib/ changes rarely → Podman cache hit</a:t>
            </a:r>
            <a:br>
              <a:rPr lang="en-US"/>
            </a:br>
            <a:r>
              <a:rPr lang="en-US"/>
              <a:t>  app/ changes often → only small layer rebuilt</a:t>
            </a:r>
            <a:br>
              <a:rPr lang="en-US"/>
            </a:br>
            <a:r>
              <a:rPr lang="en-US"/>
              <a:t>  .cds archive → activated automatically if present next to quarkus-run.jar</a:t>
            </a:r>
            <a:br>
              <a:rPr lang="en-US"/>
            </a:br>
            <a:br>
              <a:rPr lang="en-US"/>
            </a:br>
            <a:r>
              <a:rPr lang="en-US"/>
              <a:t>BENCHMARK: AppCDS is within noise on Quarkus (~0.49s → 0.49s); the ~75% win is the Leyden AOT cache on JDK 25 (~0.83s → 0.22s). (baselines are different demo apps — AppCDS demo ~0.49s, Leyden demo ~0.83s). Spring Boot's cited baseline is ~6.6s (Quarkus project benchmark) — ~2.3x startup in that cited benchmark; on this laptop Quarkus starts in well under a second vs several seconds for Spring. Every HPA scale-out benefits.</a:t>
            </a:r>
            <a:br>
              <a:rPr lang="en-US"/>
            </a:br>
            <a:br>
              <a:rPr lang="en-US"/>
            </a:br>
            <a:r>
              <a:rPr lang="en-US"/>
              <a:t>→ Virtual Threads: the other Java 25 startup story.</a:t>
            </a:r>
            <a:endParaRPr/>
          </a:p>
        </p:txBody>
      </p:sp>
      <p:sp>
        <p:nvSpPr>
          <p:cNvPr id="440" name="Google Shape;44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4" name="Google Shape;46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VIRTUAL THREADS — QUARKUS @RunOnVirtualThread — 25:00-28:00</a:t>
            </a:r>
            <a:br>
              <a:rPr lang="en-US"/>
            </a:br>
            <a:r>
              <a:rPr lang="en-US"/>
              <a:t>"Virtual threads are the biggest concurrency change in Java in 20 years. JEP 444, shipped production in Java 21."</a:t>
            </a:r>
            <a:br>
              <a:rPr lang="en-US"/>
            </a:br>
            <a:br>
              <a:rPr lang="en-US"/>
            </a:br>
            <a:r>
              <a:rPr lang="en-US"/>
              <a:t>In Quarkus: annotate your resource method. Done. One annotation. No config needed.</a:t>
            </a:r>
            <a:br>
              <a:rPr lang="en-US"/>
            </a:br>
            <a:br>
              <a:rPr lang="en-US"/>
            </a:br>
            <a:r>
              <a:rPr lang="en-US"/>
              <a:t>Container sizing impact: 200 platform threads x 1MB stack = 200MB off-heap. Virtual threads: those stacks live in heap as tiny continuations — kilobytes not megabytes. Same REST service: drop memory limit from 512MB to 256MB.</a:t>
            </a:r>
            <a:br>
              <a:rPr lang="en-US"/>
            </a:br>
            <a:br>
              <a:rPr lang="en-US"/>
            </a:br>
            <a:r>
              <a:rPr lang="en-US"/>
              <a:t>CAVEAT (currency): On JDK 21, holding a synchronized lock during I/O pinned the carrier thread — the old advice was "use ReentrantLock." JDK 24/25 (JEP 491) removed synchronized pinning, so that advice is now obsolete. On Java 21 you can still verify pinning with -Djdk.tracePinnedThreads=full. The real concurrency bound is the Agroal pool, not the thread count. See the next slide for blocking vs virtual threads vs reactive.</a:t>
            </a:r>
            <a:br>
              <a:rPr lang="en-US"/>
            </a:br>
            <a:br>
              <a:rPr lang="en-US"/>
            </a:br>
            <a:r>
              <a:rPr lang="en-US"/>
              <a:t>→ Now how do we SEE all of this?</a:t>
            </a:r>
            <a:endParaRPr/>
          </a:p>
        </p:txBody>
      </p:sp>
      <p:sp>
        <p:nvSpPr>
          <p:cNvPr id="465" name="Google Shape;46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9" name="Google Shape;48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OBSERVABILITY STACK — 28:00-31:00</a:t>
            </a:r>
            <a:br>
              <a:rPr lang="en-US"/>
            </a:br>
            <a:r>
              <a:rPr lang="en-US"/>
              <a:t>"You cannot tune what you cannot see — and you cannot see what you do not measure."</a:t>
            </a:r>
            <a:br>
              <a:rPr lang="en-US"/>
            </a:br>
            <a:br>
              <a:rPr lang="en-US"/>
            </a:br>
            <a:r>
              <a:rPr lang="en-US"/>
              <a:t>Four cards:</a:t>
            </a:r>
            <a:br>
              <a:rPr lang="en-US"/>
            </a:br>
            <a:r>
              <a:rPr lang="en-US"/>
              <a:t>  JFR: zero-overhead in production. Gold standard profiling.</a:t>
            </a:r>
            <a:br>
              <a:rPr lang="en-US"/>
            </a:br>
            <a:r>
              <a:rPr lang="en-US"/>
              <a:t>  Cryostat: Kubernetes-native JFR management. If you're on OpenShift, this eliminates SSH into pods entirely.</a:t>
            </a:r>
            <a:br>
              <a:rPr lang="en-US"/>
            </a:br>
            <a:r>
              <a:rPr lang="en-US"/>
              <a:t>  Quarkus OTel: quarkus-micrometer-opentelemetry extension (unified — metrics + traces over OTLP). REST endpoints auto-instrumented. Traces to Grafana Tempo with zero code changes.</a:t>
            </a:r>
            <a:br>
              <a:rPr lang="en-US"/>
            </a:br>
            <a:r>
              <a:rPr lang="en-US"/>
              <a:t>  Micrometer via OTel: metrics flow through the OTel SDK to the Grafana LGTM stack. Same PromQL queries work in Grafana.</a:t>
            </a:r>
            <a:br>
              <a:rPr lang="en-US"/>
            </a:br>
            <a:br>
              <a:rPr lang="en-US"/>
            </a:br>
            <a:r>
              <a:rPr lang="en-US"/>
              <a:t>KEY MESSAGE: instrument BEFORE you tune. Every change needs a before/after data point.</a:t>
            </a:r>
            <a:br>
              <a:rPr lang="en-US"/>
            </a:br>
            <a:br>
              <a:rPr lang="en-US"/>
            </a:br>
            <a:r>
              <a:rPr lang="en-US"/>
              <a:t>→ Let's look at Cryostat in detail.</a:t>
            </a:r>
            <a:endParaRPr/>
          </a:p>
        </p:txBody>
      </p:sp>
      <p:sp>
        <p:nvSpPr>
          <p:cNvPr id="490" name="Google Shape;49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1" name="Google Shape;52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CRYOSTAT — 31:00-33:00</a:t>
            </a:r>
            <a:br>
              <a:rPr lang="en-US"/>
            </a:br>
            <a:r>
              <a:rPr lang="en-US"/>
              <a:t>Architecture: three boxes, two arrows. Agent runs INSIDE your pod as a javaagent. Cryostat server is a separate pod via Kubernetes Operator. Recordings stored in Kubernetes-native PVC.</a:t>
            </a:r>
            <a:br>
              <a:rPr lang="en-US"/>
            </a:br>
            <a:br>
              <a:rPr lang="en-US"/>
            </a:br>
            <a:r>
              <a:rPr lang="en-US"/>
              <a:t>"Flame graphs, allocation profiles, GC event timelines — without SSH-ing into pods."</a:t>
            </a:r>
            <a:br>
              <a:rPr lang="en-US"/>
            </a:br>
            <a:br>
              <a:rPr lang="en-US"/>
            </a:br>
            <a:r>
              <a:rPr lang="en-US"/>
              <a:t>Annotation-based discovery: add one annotation to your pod, Cryostat discovers it automatically.</a:t>
            </a:r>
            <a:br>
              <a:rPr lang="en-US"/>
            </a:br>
            <a:br>
              <a:rPr lang="en-US"/>
            </a:br>
            <a:r>
              <a:rPr lang="en-US"/>
              <a:t>Step 4 curl command can also be done from Cryostat UI or automated in CI pipeline.</a:t>
            </a:r>
            <a:br>
              <a:rPr lang="en-US"/>
            </a:br>
            <a:br>
              <a:rPr lang="en-US"/>
            </a:br>
            <a:r>
              <a:rPr lang="en-US"/>
              <a:t>→ Prometheus — the always-on complement to JFR.</a:t>
            </a:r>
            <a:endParaRPr/>
          </a:p>
        </p:txBody>
      </p:sp>
      <p:sp>
        <p:nvSpPr>
          <p:cNvPr id="522" name="Google Shape;522;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1" name="Google Shape;551;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PROMETHEUS + MICROMETER (QUARKUS) — 33:00-36:00</a:t>
            </a:r>
            <a:br>
              <a:rPr lang="en-US"/>
            </a:br>
            <a:r>
              <a:rPr lang="en-US"/>
              <a:t>QUARKUS DIFFERENCE: the endpoint is /q/metrics, not /actuator/prometheus. Prometheus scrape config needs metrics_path: /q/metrics.</a:t>
            </a:r>
            <a:br>
              <a:rPr lang="en-US"/>
            </a:br>
            <a:br>
              <a:rPr lang="en-US"/>
            </a:br>
            <a:r>
              <a:rPr lang="en-US"/>
              <a:t>Dependency: quarkus-micrometer-opentelemetry — unified Micrometer + OTel; metrics flow via OTLP (replaces the standalone quarkus-micrometer-registry-prometheus).</a:t>
            </a:r>
            <a:br>
              <a:rPr lang="en-US"/>
            </a:br>
            <a:br>
              <a:rPr lang="en-US"/>
            </a:br>
            <a:r>
              <a:rPr lang="en-US"/>
              <a:t>application.properties:</a:t>
            </a:r>
            <a:br>
              <a:rPr lang="en-US"/>
            </a:br>
            <a:r>
              <a:rPr lang="en-US"/>
              <a:t>  quarkus.otel.exporter.otlp.endpoint=http://grafana:4317</a:t>
            </a:r>
            <a:br>
              <a:rPr lang="en-US"/>
            </a:br>
            <a:r>
              <a:rPr lang="en-US"/>
              <a:t>  quarkus.micrometer.binder.jvm=true — enables all JVM gauges</a:t>
            </a:r>
            <a:br>
              <a:rPr lang="en-US"/>
            </a:br>
            <a:br>
              <a:rPr lang="en-US"/>
            </a:br>
            <a:r>
              <a:rPr lang="en-US"/>
              <a:t>THE PROMETHEUS RULE: alert fires when P99 GC pause exceeds 500ms for 2 minutes. This is the alert that tells you to switch from G1GC to ZGC. Set this up today.</a:t>
            </a:r>
            <a:br>
              <a:rPr lang="en-US"/>
            </a:br>
            <a:br>
              <a:rPr lang="en-US"/>
            </a:br>
            <a:r>
              <a:rPr lang="en-US"/>
              <a:t>PromQL queries are identical between Spring Boot and Quarkus — same metric names.</a:t>
            </a:r>
            <a:br>
              <a:rPr lang="en-US"/>
            </a:br>
            <a:br>
              <a:rPr lang="en-US"/>
            </a:br>
            <a:r>
              <a:rPr lang="en-US"/>
              <a:t>→ HPA — the autoscaling integration.</a:t>
            </a:r>
            <a:endParaRPr/>
          </a:p>
        </p:txBody>
      </p:sp>
      <p:sp>
        <p:nvSpPr>
          <p:cNvPr id="552" name="Google Shape;552;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 name="Google Shape;59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HPA WITH JVM METRICS — 36:00-39:00</a:t>
            </a:r>
            <a:br>
              <a:rPr lang="en-US"/>
            </a:br>
            <a:r>
              <a:rPr lang="en-US"/>
              <a:t>"Standard CPU-based HPA is blind to JVM internals. GC pauses create false CPU spikes."</a:t>
            </a:r>
            <a:br>
              <a:rPr lang="en-US"/>
            </a:br>
            <a:br>
              <a:rPr lang="en-US"/>
            </a:br>
            <a:r>
              <a:rPr lang="en-US"/>
              <a:t>KEY INSIGHT: Scale on RPS (requests per second), not CPU. RPS is a leading indicator of actual load. CPU for Java workloads is a lagging artifact of GC behavior.</a:t>
            </a:r>
            <a:br>
              <a:rPr lang="en-US"/>
            </a:br>
            <a:br>
              <a:rPr lang="en-US"/>
            </a:br>
            <a:r>
              <a:rPr lang="en-US"/>
              <a:t>YAML walkthrough:</a:t>
            </a:r>
            <a:br>
              <a:rPr lang="en-US"/>
            </a:br>
            <a:r>
              <a:rPr lang="en-US"/>
              <a:t>  minReplicas: 2 — NEVER 1. Single pod + GC stop-the-world = 100% downtime.</a:t>
            </a:r>
            <a:br>
              <a:rPr lang="en-US"/>
            </a:br>
            <a:r>
              <a:rPr lang="en-US"/>
              <a:t>  stabilizationWindowSeconds: 120 — absorbs GC CPU spikes up to 2 minutes.</a:t>
            </a:r>
            <a:br>
              <a:rPr lang="en-US"/>
            </a:br>
            <a:r>
              <a:rPr lang="en-US"/>
              <a:t>  Two metrics: RPS primary, heap ratio secondary (scale before OOMKill).</a:t>
            </a:r>
            <a:br>
              <a:rPr lang="en-US"/>
            </a:br>
            <a:br>
              <a:rPr lang="en-US"/>
            </a:br>
            <a:r>
              <a:rPr lang="en-US"/>
              <a:t>→ VPA for dynamic resource adjustment.</a:t>
            </a:r>
            <a:endParaRPr/>
          </a:p>
        </p:txBody>
      </p:sp>
      <p:sp>
        <p:nvSpPr>
          <p:cNvPr id="592" name="Google Shape;59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6" name="Google Shape;606;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VPA — 39:00-41:00</a:t>
            </a:r>
            <a:br>
              <a:rPr lang="en-US"/>
            </a:br>
            <a:r>
              <a:rPr lang="en-US"/>
              <a:t>VPA 4-step workflow:</a:t>
            </a:r>
            <a:br>
              <a:rPr lang="en-US"/>
            </a:br>
            <a:r>
              <a:rPr lang="en-US"/>
              <a:t>  Step 1: Run Off mode for 48-72 hours. JUST observe. Don't apply.</a:t>
            </a:r>
            <a:br>
              <a:rPr lang="en-US"/>
            </a:br>
            <a:r>
              <a:rPr lang="en-US"/>
              <a:t>  Step 2: Compare recommendations to your JVM memory budget calculation.</a:t>
            </a:r>
            <a:br>
              <a:rPr lang="en-US"/>
            </a:br>
            <a:r>
              <a:rPr lang="en-US"/>
              <a:t>  Step 3: Apply during low-traffic window.</a:t>
            </a:r>
            <a:br>
              <a:rPr lang="en-US"/>
            </a:br>
            <a:r>
              <a:rPr lang="en-US"/>
              <a:t>  Step 4: Watch for OOMKills and GC pressure changes.</a:t>
            </a:r>
            <a:br>
              <a:rPr lang="en-US"/>
            </a:br>
            <a:br>
              <a:rPr lang="en-US"/>
            </a:br>
            <a:r>
              <a:rPr lang="en-US"/>
              <a:t>WARNING: Don't use VPA and HPA on the same resource simultaneously. They fight each other. Pattern: VPA for memory right-sizing, HPA on RPS for scale-out.</a:t>
            </a:r>
            <a:br>
              <a:rPr lang="en-US"/>
            </a:br>
            <a:br>
              <a:rPr lang="en-US"/>
            </a:br>
            <a:r>
              <a:rPr lang="en-US"/>
              <a:t>→ Six rules to prevent autoscaling thrash.</a:t>
            </a:r>
            <a:endParaRPr/>
          </a:p>
        </p:txBody>
      </p:sp>
      <p:sp>
        <p:nvSpPr>
          <p:cNvPr id="607" name="Google Shape;607;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3" name="Google Shape;643;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AUTOSCALING THRASH PREVENTION — 41:00-43:00</a:t>
            </a:r>
            <a:br>
              <a:rPr lang="en-US"/>
            </a:br>
            <a:r>
              <a:rPr lang="en-US"/>
              <a:t>Quick pace — six rules. Three most important:</a:t>
            </a:r>
            <a:br>
              <a:rPr lang="en-US"/>
            </a:br>
            <a:r>
              <a:rPr lang="en-US"/>
              <a:t>  1. Scale on RPS not CPU.</a:t>
            </a:r>
            <a:br>
              <a:rPr lang="en-US"/>
            </a:br>
            <a:r>
              <a:rPr lang="en-US"/>
              <a:t>  2. Keep minReplicas at 2 or more.</a:t>
            </a:r>
            <a:br>
              <a:rPr lang="en-US"/>
            </a:br>
            <a:r>
              <a:rPr lang="en-US"/>
              <a:t>  3. Set memory limit 25% above P99 peak.</a:t>
            </a:r>
            <a:br>
              <a:rPr lang="en-US"/>
            </a:br>
            <a:br>
              <a:rPr lang="en-US"/>
            </a:br>
            <a:r>
              <a:rPr lang="en-US"/>
              <a:t>Correlation rule (bottom right): join GC pause timestamps with error rate and latency. If GC causes SLO breach, TUNE GC first. Don't scale out — you'll get N copies of the same GC problem.</a:t>
            </a:r>
            <a:br>
              <a:rPr lang="en-US"/>
            </a:br>
            <a:br>
              <a:rPr lang="en-US"/>
            </a:br>
            <a:r>
              <a:rPr lang="en-US"/>
              <a:t>→ The meta-lesson: the tuning workflow itself.</a:t>
            </a:r>
            <a:endParaRPr/>
          </a:p>
        </p:txBody>
      </p:sp>
      <p:sp>
        <p:nvSpPr>
          <p:cNvPr id="644" name="Google Shape;644;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2" name="Google Shape;672;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SYSTEMATIC TUNING WORKFLOW — 43:00-46:00</a:t>
            </a:r>
            <a:br>
              <a:rPr lang="en-US"/>
            </a:br>
            <a:r>
              <a:rPr lang="en-US"/>
              <a:t>"Every recommendation in this talk follows the same loop."</a:t>
            </a:r>
            <a:br>
              <a:rPr lang="en-US"/>
            </a:br>
            <a:br>
              <a:rPr lang="en-US"/>
            </a:br>
            <a:r>
              <a:rPr lang="en-US"/>
              <a:t>Four steps: Instrument → Baseline → Diagnose → Tune</a:t>
            </a:r>
            <a:br>
              <a:rPr lang="en-US"/>
            </a:br>
            <a:br>
              <a:rPr lang="en-US"/>
            </a:br>
            <a:r>
              <a:rPr lang="en-US"/>
              <a:t>THE NUMBER ONE MISTAKE: teams skip Baseline and Validate. They apply flags from Stack Overflow and never measure the effect.</a:t>
            </a:r>
            <a:br>
              <a:rPr lang="en-US"/>
            </a:br>
            <a:br>
              <a:rPr lang="en-US"/>
            </a:br>
            <a:r>
              <a:rPr lang="en-US"/>
              <a:t>Rule: Change ONE thing. Measure. Commit or revert.</a:t>
            </a:r>
            <a:br>
              <a:rPr lang="en-US"/>
            </a:br>
            <a:br>
              <a:rPr lang="en-US"/>
            </a:br>
            <a:r>
              <a:rPr lang="en-US"/>
              <a:t>DOCUMENT EVERYTHING. When you change MaxGCPauseMillis, write down why, what you expected, what actually happened. This becomes your runbook for the next incident.</a:t>
            </a:r>
            <a:br>
              <a:rPr lang="en-US"/>
            </a:br>
            <a:br>
              <a:rPr lang="en-US"/>
            </a:br>
            <a:r>
              <a:rPr lang="en-US"/>
              <a:t>Validate &amp; Repeat: re-run load test, compare P99 to baseline. Improved? Commit. Not improved? Revert and try next hypothesis.</a:t>
            </a:r>
            <a:br>
              <a:rPr lang="en-US"/>
            </a:br>
            <a:br>
              <a:rPr lang="en-US"/>
            </a:br>
            <a:r>
              <a:rPr lang="en-US"/>
              <a:t>→ The business case.</a:t>
            </a:r>
            <a:endParaRPr/>
          </a:p>
        </p:txBody>
      </p:sp>
      <p:sp>
        <p:nvSpPr>
          <p:cNvPr id="673" name="Google Shape;673;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0" name="Google Shape;71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COST OPTIMIZATION — 46:00-48:00</a:t>
            </a:r>
            <a:br>
              <a:rPr lang="en-US"/>
            </a:br>
            <a:r>
              <a:rPr lang="en-US"/>
              <a:t>CLOSE THE BUSINESS CASE.</a:t>
            </a:r>
            <a:br>
              <a:rPr lang="en-US"/>
            </a:br>
            <a:br>
              <a:rPr lang="en-US"/>
            </a:br>
            <a:r>
              <a:rPr lang="en-US"/>
              <a:t>Node reduction formula:</a:t>
            </a:r>
            <a:br>
              <a:rPr lang="en-US"/>
            </a:br>
            <a:r>
              <a:rPr lang="en-US"/>
              <a:t>  Nodes saved = pods/(old density) - pods/(new density)</a:t>
            </a:r>
            <a:br>
              <a:rPr lang="en-US"/>
            </a:br>
            <a:r>
              <a:rPr lang="en-US"/>
              <a:t>  Multiply by node hourly rate</a:t>
            </a:r>
            <a:br>
              <a:rPr lang="en-US"/>
            </a:br>
            <a:br>
              <a:rPr lang="en-US"/>
            </a:br>
            <a:r>
              <a:rPr lang="en-US"/>
              <a:t>On a cluster at $10k/month with 2x density improvement: $5k/month savings. $60k/year. From JVM flags.</a:t>
            </a:r>
            <a:br>
              <a:rPr lang="en-US"/>
            </a:br>
            <a:br>
              <a:rPr lang="en-US"/>
            </a:br>
            <a:r>
              <a:rPr lang="en-US"/>
              <a:t>Use OpenShift Cost Management to track before/after. Screenshot it. Put it in your quarterly review. This makes the CFO care about JVM tuning.</a:t>
            </a:r>
            <a:br>
              <a:rPr lang="en-US"/>
            </a:br>
            <a:br>
              <a:rPr lang="en-US"/>
            </a:br>
            <a:r>
              <a:rPr lang="en-US"/>
              <a:t>→ Demo time!</a:t>
            </a:r>
            <a:endParaRPr/>
          </a:p>
        </p:txBody>
      </p:sp>
      <p:sp>
        <p:nvSpPr>
          <p:cNvPr id="711" name="Google Shape;711;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0" name="Google Shape;750;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DEMO 01: CONTAINER-AWARE HEAP SIZING — 48:00-52:00</a:t>
            </a:r>
            <a:br>
              <a:rPr lang="en-US"/>
            </a:br>
            <a:r>
              <a:rPr lang="en-US"/>
              <a:t>Open terminal: cd quarkus-demo-01-heap-sizing (or demo-01-heap-sizing for plain Java)</a:t>
            </a:r>
            <a:br>
              <a:rPr lang="en-US"/>
            </a:br>
            <a:br>
              <a:rPr lang="en-US"/>
            </a:br>
            <a:r>
              <a:rPr lang="en-US"/>
              <a:t>What audience sees:</a:t>
            </a:r>
            <a:br>
              <a:rPr lang="en-US"/>
            </a:br>
            <a:r>
              <a:rPr lang="en-US"/>
              <a:t>  A: JVM reads HOST memory in 512m container → huge heap claimed</a:t>
            </a:r>
            <a:br>
              <a:rPr lang="en-US"/>
            </a:br>
            <a:r>
              <a:rPr lang="en-US"/>
              <a:t>  B: UseContainerSupport + MaxRAMPercentage → heap respects 512m limit</a:t>
            </a:r>
            <a:br>
              <a:rPr lang="en-US"/>
            </a:br>
            <a:r>
              <a:rPr lang="en-US"/>
              <a:t>  C: Three different container sizes → watch heap scale automatically</a:t>
            </a:r>
            <a:br>
              <a:rPr lang="en-US"/>
            </a:br>
            <a:r>
              <a:rPr lang="en-US"/>
              <a:t>  D: OOMKill simulation → exit code 137</a:t>
            </a:r>
            <a:br>
              <a:rPr lang="en-US"/>
            </a:br>
            <a:br>
              <a:rPr lang="en-US"/>
            </a:br>
            <a:r>
              <a:rPr lang="en-US"/>
              <a:t>PAUSE at Scenario A: "See that? The JVM is claiming [X]GB heap inside a 512MB container."</a:t>
            </a:r>
            <a:br>
              <a:rPr lang="en-US"/>
            </a:br>
            <a:r>
              <a:rPr lang="en-US"/>
              <a:t>PAUSE at OOMKill: "Exit code 137. This is what your pods look like in CrashLoopBackOff at 3am."</a:t>
            </a:r>
            <a:br>
              <a:rPr lang="en-US"/>
            </a:br>
            <a:br>
              <a:rPr lang="en-US"/>
            </a:br>
            <a:r>
              <a:rPr lang="en-US"/>
              <a:t>Run: ./demo.sh</a:t>
            </a:r>
            <a:endParaRPr/>
          </a:p>
        </p:txBody>
      </p:sp>
      <p:sp>
        <p:nvSpPr>
          <p:cNvPr id="751" name="Google Shape;751;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5" name="Google Shape;765;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DEMO 02: QUARKUS GC MONITORING — 52:00-56:00</a:t>
            </a:r>
            <a:br>
              <a:rPr lang="en-US"/>
            </a:br>
            <a:r>
              <a:rPr lang="en-US"/>
              <a:t>Grafana should be open at localhost:3000 (Grafana LGTM stack — Tempo for traces).</a:t>
            </a:r>
            <a:br>
              <a:rPr lang="en-US"/>
            </a:br>
            <a:br>
              <a:rPr lang="en-US"/>
            </a:br>
            <a:r>
              <a:rPr lang="en-US"/>
              <a:t>QUARKUS DIFFERENCE: "Metrics are at /q/metrics, not /actuator/prometheus. Everything else — PromQL queries, Grafana dashboards, PrometheusRule alerts — works identically."</a:t>
            </a:r>
            <a:br>
              <a:rPr lang="en-US"/>
            </a:br>
            <a:br>
              <a:rPr lang="en-US"/>
            </a:br>
            <a:r>
              <a:rPr lang="en-US"/>
              <a:t>Point at Grafana JVM GC Monitoring dashboard as load generates.</a:t>
            </a:r>
            <a:br>
              <a:rPr lang="en-US"/>
            </a:br>
            <a:r>
              <a:rPr lang="en-US"/>
              <a:t>Point at Tempo traces in Grafana — show how @WithSpan creates child spans for /allocate calls.</a:t>
            </a:r>
            <a:br>
              <a:rPr lang="en-US"/>
            </a:br>
            <a:br>
              <a:rPr lang="en-US"/>
            </a:br>
            <a:r>
              <a:rPr lang="en-US"/>
              <a:t>G1GC vs ZGC comparison: "Watch the top-left panel. G1GC P99 spikes during heavy allocation. ZGC stays flat. That's the trade-off."</a:t>
            </a:r>
            <a:br>
              <a:rPr lang="en-US"/>
            </a:br>
            <a:br>
              <a:rPr lang="en-US"/>
            </a:br>
            <a:r>
              <a:rPr lang="en-US"/>
              <a:t>Virtual threads: "500 tasks, 5ms blocking each. Watch peak platform thread count — never reaches 500."</a:t>
            </a:r>
            <a:br>
              <a:rPr lang="en-US"/>
            </a:br>
            <a:br>
              <a:rPr lang="en-US"/>
            </a:br>
            <a:r>
              <a:rPr lang="en-US"/>
              <a:t>Run: ./demo.sh (in quarkus-demo-02-gc-monitoring/)</a:t>
            </a:r>
            <a:endParaRPr/>
          </a:p>
        </p:txBody>
      </p:sp>
      <p:sp>
        <p:nvSpPr>
          <p:cNvPr id="766" name="Google Shape;766;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9" name="Google Shape;779;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DEMO 03: QUARKUS APPCDS — 56:00-60:00</a:t>
            </a:r>
            <a:br>
              <a:rPr lang="en-US"/>
            </a:br>
            <a:r>
              <a:rPr lang="en-US"/>
              <a:t>Run: ./demo.sh (in quarkus-demo-03-appcds/)</a:t>
            </a:r>
            <a:br>
              <a:rPr lang="en-US"/>
            </a:br>
            <a:br>
              <a:rPr lang="en-US"/>
            </a:br>
            <a:r>
              <a:rPr lang="en-US"/>
              <a:t>While building (~30s): "Spring Boot AppCDS requires 3 manual steps in your Dockerfile. Quarkus collapses this to ONE property: quarkus.package.jar.aot.enabled=true."</a:t>
            </a:r>
            <a:br>
              <a:rPr lang="en-US"/>
            </a:br>
            <a:br>
              <a:rPr lang="en-US"/>
            </a:br>
            <a:r>
              <a:rPr lang="en-US"/>
              <a:t>"The Maven plugin runs the training pass, generates the archive, and bundles it. You don't write a single extra Dockerfile line."</a:t>
            </a:r>
            <a:br>
              <a:rPr lang="en-US"/>
            </a:br>
            <a:br>
              <a:rPr lang="en-US"/>
            </a:br>
            <a:r>
              <a:rPr lang="en-US"/>
              <a:t>When results appear: "We went from 400ms cold start to 220ms with AppCDS. Quarkus's BASELINE of 400ms is already dramatically faster than Spring Boot's cited ~6.6s baseline (Quarkus project benchmark, not measured here)."</a:t>
            </a:r>
            <a:br>
              <a:rPr lang="en-US"/>
            </a:br>
            <a:br>
              <a:rPr lang="en-US"/>
            </a:br>
            <a:r>
              <a:rPr lang="en-US"/>
              <a:t>Bonus mention (only if asked): "GraalVM native starts even faster, but it's a separate tool with different trade-offs — out of scope for this JVM-sizing talk."</a:t>
            </a:r>
            <a:br>
              <a:rPr lang="en-US"/>
            </a:br>
            <a:br>
              <a:rPr lang="en-US"/>
            </a:br>
            <a:r>
              <a:rPr lang="en-US"/>
              <a:t>→ Wrap up.</a:t>
            </a:r>
            <a:endParaRPr/>
          </a:p>
        </p:txBody>
      </p:sp>
      <p:sp>
        <p:nvSpPr>
          <p:cNvPr id="780" name="Google Shape;780;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3" name="Google Shape;793;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KEY TAKEAWAYS — 58:00-59:30</a:t>
            </a:r>
            <a:br>
              <a:rPr lang="en-US"/>
            </a:br>
            <a:r>
              <a:rPr lang="en-US"/>
              <a:t>Read each one slowly.</a:t>
            </a:r>
            <a:br>
              <a:rPr lang="en-US"/>
            </a:br>
            <a:br>
              <a:rPr lang="en-US"/>
            </a:br>
            <a:r>
              <a:rPr lang="en-US"/>
              <a:t>1. "UseContainerSupport is default-on in Java 25. MaxRAMPercentage=75 is not. Set it today."</a:t>
            </a:r>
            <a:br>
              <a:rPr lang="en-US"/>
            </a:br>
            <a:r>
              <a:rPr lang="en-US"/>
              <a:t>2. "Measure RSS first, then size. Math beats guesswork."</a:t>
            </a:r>
            <a:br>
              <a:rPr lang="en-US"/>
            </a:br>
            <a:r>
              <a:rPr lang="en-US"/>
              <a:t>3. "G1GC for general use. ZGC Generational for latency-sensitive. Measure P99 before switching."</a:t>
            </a:r>
            <a:br>
              <a:rPr lang="en-US"/>
            </a:br>
            <a:r>
              <a:rPr lang="en-US"/>
              <a:t>4. "Quarkus AppCDS: one property, but ~0-5% on Quarkus. The ~75% startup win is Leyden AOT (JDK 25). Spring Boot's cited baseline is ~6.6s (Quarkus project benchmark) vs Quarkus JVM well under a second."</a:t>
            </a:r>
            <a:br>
              <a:rPr lang="en-US"/>
            </a:br>
            <a:r>
              <a:rPr lang="en-US"/>
              <a:t>5. "Observe before you tune. JFR + Cryostat + Prometheus gives you data. Without data you're guessing."</a:t>
            </a:r>
            <a:br>
              <a:rPr lang="en-US"/>
            </a:br>
            <a:r>
              <a:rPr lang="en-US"/>
              <a:t>6. "Autoscale on RPS. GC pauses mislead HPA. Use @RunOnVirtualThread for container-friendly concurrency."</a:t>
            </a:r>
            <a:br>
              <a:rPr lang="en-US"/>
            </a:br>
            <a:r>
              <a:rPr lang="en-US"/>
              <a:t>7. "Quantify the savings. $60k/year from JVM flags is a defensible engineering investment."</a:t>
            </a:r>
            <a:br>
              <a:rPr lang="en-US"/>
            </a:br>
            <a:br>
              <a:rPr lang="en-US"/>
            </a:br>
            <a:r>
              <a:rPr lang="en-US"/>
              <a:t>→ Questions?</a:t>
            </a:r>
            <a:endParaRPr/>
          </a:p>
        </p:txBody>
      </p:sp>
      <p:sp>
        <p:nvSpPr>
          <p:cNvPr id="794" name="Google Shape;794;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2" name="Google Shape;83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RESOURCES &amp; Q&amp;A — 59:30+</a:t>
            </a:r>
            <a:br>
              <a:rPr lang="en-US"/>
            </a:br>
            <a:r>
              <a:rPr lang="en-US"/>
              <a:t>Point to the repo URL: slides and all demos available. Runs on Podman Desktop, no Kubernetes cluster required.</a:t>
            </a:r>
            <a:br>
              <a:rPr lang="en-US"/>
            </a:br>
            <a:br>
              <a:rPr lang="en-US"/>
            </a:br>
            <a:r>
              <a:rPr lang="en-US"/>
              <a:t>COMMON QUESTIONS:</a:t>
            </a:r>
            <a:br>
              <a:rPr lang="en-US"/>
            </a:br>
            <a:br>
              <a:rPr lang="en-US"/>
            </a:br>
            <a:r>
              <a:rPr lang="en-US"/>
              <a:t>"Does this work with Quarkus Native?"</a:t>
            </a:r>
            <a:br>
              <a:rPr lang="en-US"/>
            </a:br>
            <a:r>
              <a:rPr lang="en-US"/>
              <a:t>  Native Image bypasses the JVM. GC tuning does not apply. AppCDS is irrelevant (&lt; 50ms already). Container sizing still matters.</a:t>
            </a:r>
            <a:br>
              <a:rPr lang="en-US"/>
            </a:br>
            <a:br>
              <a:rPr lang="en-US"/>
            </a:br>
            <a:r>
              <a:rPr lang="en-US"/>
              <a:t>"What Java version should we target?"</a:t>
            </a:r>
            <a:br>
              <a:rPr lang="en-US"/>
            </a:br>
            <a:r>
              <a:rPr lang="en-US"/>
              <a:t>  Java 25 LTS. Java 21 introduced production Virtual Threads and Generational ZGC; Java 25 adds the Leyden AOT cache, JEP 491 (virtual threads no longer pin), and generational-only ZGC. If on 17 or 21, upgrade to 25.</a:t>
            </a:r>
            <a:br>
              <a:rPr lang="en-US"/>
            </a:br>
            <a:br>
              <a:rPr lang="en-US"/>
            </a:br>
            <a:r>
              <a:rPr lang="en-US"/>
              <a:t>"Is ZGC safe in production?"</a:t>
            </a:r>
            <a:br>
              <a:rPr lang="en-US"/>
            </a:br>
            <a:r>
              <a:rPr lang="en-US"/>
              <a:t>  Yes. Generational ZGC is production-ready. Netflix and LinkedIn run it at scale. Benchmark your specific workload first.</a:t>
            </a:r>
            <a:br>
              <a:rPr lang="en-US"/>
            </a:br>
            <a:br>
              <a:rPr lang="en-US"/>
            </a:br>
            <a:r>
              <a:rPr lang="en-US"/>
              <a:t>"How often should we retune?"</a:t>
            </a:r>
            <a:br>
              <a:rPr lang="en-US"/>
            </a:br>
            <a:r>
              <a:rPr lang="en-US"/>
              <a:t>  After any significant traffic pattern change, major upgrade, or infrastructure change. JFR monthly in production as a baseline health check.</a:t>
            </a:r>
            <a:endParaRPr/>
          </a:p>
        </p:txBody>
      </p:sp>
      <p:sp>
        <p:nvSpPr>
          <p:cNvPr id="833" name="Google Shape;833;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3" name="Google Shape;863;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PROJECT LEYDEN — BONUS SLIDE (can slot after AppCDS slide 12)</a:t>
            </a:r>
            <a:br>
              <a:rPr lang="en-US"/>
            </a:br>
            <a:br>
              <a:rPr lang="en-US"/>
            </a:br>
            <a:r>
              <a:rPr lang="en-US"/>
              <a:t>KEY FRAMING: "AppCDS stores parsed classes. Project Leyden stores LOADED and LINKED classes, plus JIT method profiles from your actual test suite. It goes several layers deeper."</a:t>
            </a:r>
            <a:br>
              <a:rPr lang="en-US"/>
            </a:br>
            <a:br>
              <a:rPr lang="en-US"/>
            </a:br>
            <a:r>
              <a:rPr lang="en-US"/>
              <a:t>JEP timeline walk:</a:t>
            </a:r>
            <a:br>
              <a:rPr lang="en-US"/>
            </a:br>
            <a:r>
              <a:rPr lang="en-US"/>
              <a:t>  JDK 24 (JEP 483): First Leyden feature in mainline. AOT cache stores class loading+linking state. Spring PetClinic: ~4.5s → ~2.6s — ~42% improvement. No code changes required.</a:t>
            </a:r>
            <a:br>
              <a:rPr lang="en-US"/>
            </a:br>
            <a:r>
              <a:rPr lang="en-US"/>
              <a:t>  JDK 25 LTS (JEP 514+515): JIT method profiles added to cache. Warm-up penalty at startup eliminated. Quarkus 3.33.1 has first-class support via quarkus.package.jar.aot.enabled=true.</a:t>
            </a:r>
            <a:br>
              <a:rPr lang="en-US"/>
            </a:br>
            <a:r>
              <a:rPr lang="en-US"/>
              <a:t>  JDK 26 (JEP 516): ZGC now works with the AOT cache. Previously forced you to choose: low-latency GC OR fast startup. Now you get both. Baseline cache ships with the JDK.</a:t>
            </a:r>
            <a:br>
              <a:rPr lang="en-US"/>
            </a:br>
            <a:br>
              <a:rPr lang="en-US"/>
            </a:br>
            <a:r>
              <a:rPr lang="en-US"/>
              <a:t>Middle card — "Quarkus 3.33.1 — One Property":</a:t>
            </a:r>
            <a:br>
              <a:rPr lang="en-US"/>
            </a:br>
            <a:r>
              <a:rPr lang="en-US"/>
              <a:t>  KEY MESSAGE: "With Quarkus you don't write any JVM flags in your Dockerfile. Set one property, run mvn verify, Quarkus bundles the app.aot alongside quarkus-run.jar and activates it automatically."</a:t>
            </a:r>
            <a:br>
              <a:rPr lang="en-US"/>
            </a:br>
            <a:r>
              <a:rPr lang="en-US"/>
              <a:t>  The @QuarkusIntegrationTest suite IS the training workload. The better your tests represent production traffic, the more effective the cache.</a:t>
            </a:r>
            <a:br>
              <a:rPr lang="en-US"/>
            </a:br>
            <a:br>
              <a:rPr lang="en-US"/>
            </a:br>
            <a:r>
              <a:rPr lang="en-US"/>
              <a:t>Right card — vs GraalVM Native Image:</a:t>
            </a:r>
            <a:br>
              <a:rPr lang="en-US"/>
            </a:br>
            <a:r>
              <a:rPr lang="en-US"/>
              <a:t>  "Leyden is not Quarkus Native. Native Image: static binary, no JIT, 95-99% startup, code change constraints. Leyden: stays on the JVM, keeps reflection, JIT, dynamic loading — ~75% improvement (Demo 04: ~830→215ms)."</a:t>
            </a:r>
            <a:br>
              <a:rPr lang="en-US"/>
            </a:br>
            <a:r>
              <a:rPr lang="en-US"/>
              <a:t>  "Not either/or — use Leyden for your JVM workloads, and evaluate Native for latency-critical microservices separately."</a:t>
            </a:r>
            <a:br>
              <a:rPr lang="en-US"/>
            </a:br>
            <a:br>
              <a:rPr lang="en-US"/>
            </a:br>
            <a:r>
              <a:rPr lang="en-US"/>
              <a:t>→ Demo 04 shows it live.</a:t>
            </a:r>
            <a:endParaRPr/>
          </a:p>
        </p:txBody>
      </p:sp>
      <p:sp>
        <p:nvSpPr>
          <p:cNvPr id="864" name="Google Shape;864;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g3d4d61a5c01_0_1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7" name="Google Shape;917;g3d4d61a5c01_0_1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"Slide 27 told you what Project Leyden is. This diagram shows you what it does — specifically, what work it eliminates and how."</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"The headline is this: every time a JVM starts, it repeats a significant amount of computation that it has already done before. Leyden's insight is simple — record that work once during a training run, save it to a file, and skip it on every subsequent startup."</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Column 1 — Normal Startup (walk top to bottom)</a:t>
            </a:r>
            <a:endParaRPr/>
          </a:p>
          <a:p>
            <a:pPr indent="0" lvl="0" marL="0" rtl="0" algn="l">
              <a:spcBef>
                <a:spcPts val="0"/>
              </a:spcBef>
              <a:spcAft>
                <a:spcPts val="0"/>
              </a:spcAft>
              <a:buClr>
                <a:schemeClr val="dk1"/>
              </a:buClr>
              <a:buSzPts val="1100"/>
              <a:buFont typeface="Arial"/>
              <a:buNone/>
            </a:pPr>
            <a:r>
              <a:rPr lang="en-US"/>
              <a:t>"Without Leyden, here is what happens every single time a pod starts — on every node, for every HPA scale-out event, on every deployment."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Read bytecodes from disk:</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"The JVM opens the JAR file and reads the raw bytecodes for every class the application uses. For a typical Quarkus application that's between 15,000 and 25,000 class files. For Spring Boot it's more. This is pure I/O, and it happens every time."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Parse + verify: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"Each class is parsed into the JVM's internal representation. Bytecode verification runs — the JVM checks that the code is safe to execute. This is cryptographic-level paranoia baked into the JVM spec, and it runs on every class, every startup."</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Load + link:</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"This is the most expensive step. Linking resolves all the references between classes — when class A calls a method on class B, the JVM has to find B's method table and bind the call. It lays out memory for fields. It resolves constant pool entries. This is what Leyden JEP 483 specifically targets."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JIT interpreter mode: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"Even after the classes are loaded, the JVM starts in interpreter mode. It runs your bytecode slowly and counts how many times each method is called. This profiling phase is necessary before the JIT will bother compiling a method to native code."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JIT C1 compile: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"Once a method is called enough times, the JIT promotes it to C1 — a quick native compile. Eventually hot methods reach C2, the optimising compiler. But all of this observation and compilation takes time — typically 30 to 60 seconds after startup before P99 latency stabilises."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The punchline: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"And tomorrow, when this pod restarts, it does ALL of this again. From scratch. Because the JVM has no memory between runs."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Column 2 — Training Run (walk top to bottom)</a:t>
            </a:r>
            <a:endParaRPr/>
          </a:p>
          <a:p>
            <a:pPr indent="0" lvl="0" marL="0" rtl="0" algn="l">
              <a:spcBef>
                <a:spcPts val="0"/>
              </a:spcBef>
              <a:spcAft>
                <a:spcPts val="0"/>
              </a:spcAft>
              <a:buClr>
                <a:schemeClr val="dk1"/>
              </a:buClr>
              <a:buSzPts val="1100"/>
              <a:buFont typeface="Arial"/>
              <a:buNone/>
            </a:pPr>
            <a:r>
              <a:rPr lang="en-US"/>
              <a:t>"The training run is what Leyden introduces. It runs ONCE — in your CI/CD pipeline — and never again in production. That's the key framing."</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mvn verify: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"In Quarkus, the training run is triggered by quarkus.package.jar.aot.enabled=true in application.properties and running mvn verify. That's the only change to your build."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Plugin starts packaged app with observation mode: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"The Quarkus Maven plugin starts the fully packaged quarkus-run.jar with the JVM's observation hooks active. The JVM is watching everything — which classes are loaded, in what order, how they link to each other."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@QuarkusIntegrationTest runs — highlight this: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"Here's the part that catches people off-guard: the training workload is your own test suite. The @QuarkusIntegrationTest tests you wrote for CI also train the JVM. Every endpoint you hit in your integration tests gets its class loading recorded, its method call patterns profiled. This is by design. The better your tests represent production traffic, the more effective the cache."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"This is also why there's a distinction between @QuarkusTest and @QuarkusIntegrationTest. @QuarkusTest runs in dev-mode JVM — it doesn't contribute to the AOT cache. @QuarkusIntegrationTest runs against the packaged JAR — this is the training workload."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The three cache layers — point to each:</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"What gets written to app.aot is stratified. Layer 1 is the base CDS layer — parsed bytecode representation, same as AppCDS on JDK 21. Layer 2, from JEP 483 on JDK 24, adds the full loaded and linked class state — the resolved references, the memory layouts, the verified types. Layer 3, from JEP 515 on JDK 25, adds the JIT method profiles — which methods got called, how many times, what data shapes the JIT observed."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"The cache is self-invalidating. If your JARs change — different version, different classes — the JVM detects the mismatch at startup and rebuilds the cache rather than running stale data. You don't need to manage invalidation manually."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Column 3 — Production Run with Cache (walk top to bottom)</a:t>
            </a:r>
            <a:endParaRPr/>
          </a:p>
          <a:p>
            <a:pPr indent="0" lvl="0" marL="0" rtl="0" algn="l">
              <a:spcBef>
                <a:spcPts val="0"/>
              </a:spcBef>
              <a:spcAft>
                <a:spcPts val="0"/>
              </a:spcAft>
              <a:buClr>
                <a:schemeClr val="dk1"/>
              </a:buClr>
              <a:buSzPts val="1100"/>
              <a:buFont typeface="Arial"/>
              <a:buNone/>
            </a:pPr>
            <a:r>
              <a:rPr lang="en-US"/>
              <a:t>"Now let's follow a production startup with the cache present."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Detects and memory-maps app.aot: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"The JVM finds app.aot alongside quarkus-run.jar. With Quarkus, this happens automatically — the plugin sets -XX:AOTCache=app.aot when packaging, so you don't add it to your Dockerfile. The JVM memory-maps the cache file — this is an OS-level operation that's extremely fast and also allows the file to be shared across multiple JVM processes on the same node."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The SKIPPED work box — this is the key moment: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"Now read what the JVM skips. Parse and verify — skipped. Load and link for 25,000 classes — skipped. JIT interpreter warmup phase — skipped. C1 profiling pass — skipped."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"The JVM loads the pre-linked class state directly from the cache. Classes appear already-resolved. Method profiles are pre-loaded so the JIT can start compiling hot methods immediately — at first request, not after 30 seconds of warmup."</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First request at ~175ms: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"For a Quarkus app, this brings startup from around 350ms to around 175ms. That's a 50 percent reduction on top of Quarkus's already-fast baseline. But the number I find more compelling is the warmup story — with the JIT profiles pre-loaded, your P99 latency is good from the very first request. Without Leyden, request number one hits interpreted bytecode. With Leyden, it hits code that's already been JIT-compiled."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Cache shared across pods: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"One detail worth mentioning in a Kubernetes context: because the cache is memory-mapped, multiple pods on the same node can share the underlying physical memory pages for the read-only cache regions. It's not quite as dramatic as Native Image's single binary, but it does mean the cache file is not multiplied per pod at the RAM level."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Closing the Diagram</a:t>
            </a:r>
            <a:endParaRPr/>
          </a:p>
          <a:p>
            <a:pPr indent="0" lvl="0" marL="0" rtl="0" algn="l">
              <a:spcBef>
                <a:spcPts val="0"/>
              </a:spcBef>
              <a:spcAft>
                <a:spcPts val="0"/>
              </a:spcAft>
              <a:buClr>
                <a:schemeClr val="dk1"/>
              </a:buClr>
              <a:buSzPts val="1100"/>
              <a:buFont typeface="Arial"/>
              <a:buNone/>
            </a:pPr>
            <a:r>
              <a:rPr lang="en-US"/>
              <a:t>"The summary is at the bottom. Left column: this work repeats on every pod start, every HPA scale-out, every deployment rollout. Right column: all of it is skipped. The cost was paid once during mvn verify in your CI pipeline."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"And the Quarkus integration means you configure this with one property and one Maven command. The three columns you're looking at — that entire lifecycle — is fully automated."</a:t>
            </a:r>
            <a:endParaRPr/>
          </a:p>
          <a:p>
            <a:pPr indent="0" lvl="0" marL="0" rtl="0" algn="l">
              <a:spcBef>
                <a:spcPts val="0"/>
              </a:spcBef>
              <a:spcAft>
                <a:spcPts val="0"/>
              </a:spcAft>
              <a:buNone/>
            </a:pPr>
            <a:r>
              <a:t/>
            </a:r>
            <a:endParaRPr/>
          </a:p>
        </p:txBody>
      </p:sp>
      <p:sp>
        <p:nvSpPr>
          <p:cNvPr id="918" name="Google Shape;918;g3d4d61a5c01_0_17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0" name="Google Shape;930;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DEMO 04: QUARKUS + PROJECT LEYDEN AOT CACHE</a:t>
            </a:r>
            <a:br>
              <a:rPr lang="en-US"/>
            </a:br>
            <a:r>
              <a:rPr lang="en-US"/>
              <a:t>[Open terminal in quarkus-demo-04-leyden/]</a:t>
            </a:r>
            <a:br>
              <a:rPr lang="en-US"/>
            </a:br>
            <a:br>
              <a:rPr lang="en-US"/>
            </a:br>
            <a:r>
              <a:rPr lang="en-US"/>
              <a:t>PREREQUISITE: JDK 25 on the host or in the Docker image.</a:t>
            </a:r>
            <a:br>
              <a:rPr lang="en-US"/>
            </a:br>
            <a:r>
              <a:rPr lang="en-US"/>
              <a:t>  java -version   # should show 25 or 26</a:t>
            </a:r>
            <a:br>
              <a:rPr lang="en-US"/>
            </a:br>
            <a:br>
              <a:rPr lang="en-US"/>
            </a:br>
            <a:r>
              <a:rPr lang="en-US"/>
              <a:t>THE ONE-PROPERTY STORY (say this before running):</a:t>
            </a:r>
            <a:br>
              <a:rPr lang="en-US"/>
            </a:br>
            <a:r>
              <a:rPr lang="en-US"/>
              <a:t>  "Quarkus handles every step of AOT cache generation. You don't write -XX:AOTCacheOutput anywhere. You set one property and run mvn verify. That's it."</a:t>
            </a:r>
            <a:br>
              <a:rPr lang="en-US"/>
            </a:br>
            <a:br>
              <a:rPr lang="en-US"/>
            </a:br>
            <a:r>
              <a:rPr lang="en-US"/>
              <a:t>Run: ./demo.sh</a:t>
            </a:r>
            <a:br>
              <a:rPr lang="en-US"/>
            </a:br>
            <a:br>
              <a:rPr lang="en-US"/>
            </a:br>
            <a:r>
              <a:rPr lang="en-US"/>
              <a:t>WHAT THE SCRIPT DOES — narrate as it runs:</a:t>
            </a:r>
            <a:br>
              <a:rPr lang="en-US"/>
            </a:br>
            <a:r>
              <a:rPr lang="en-US"/>
              <a:t>  Step 1 — Baseline: builds and starts the app WITHOUT the AOT cache. Records startup time.</a:t>
            </a:r>
            <a:br>
              <a:rPr lang="en-US"/>
            </a:br>
            <a:r>
              <a:rPr lang="en-US"/>
              <a:t>  Step 2 — AOT build: runs mvn verify with quarkus.package.jar.aot.enabled=true.</a:t>
            </a:r>
            <a:br>
              <a:rPr lang="en-US"/>
            </a:br>
            <a:r>
              <a:rPr lang="en-US"/>
              <a:t>            Quarkus runs @QuarkusIntegrationTest suite. That test suite IS the training run.</a:t>
            </a:r>
            <a:br>
              <a:rPr lang="en-US"/>
            </a:br>
            <a:r>
              <a:rPr lang="en-US"/>
              <a:t>            JVM records class loading, linking, JIT profiles. Outputs app.aot in target/quarkus-app/.</a:t>
            </a:r>
            <a:br>
              <a:rPr lang="en-US"/>
            </a:br>
            <a:r>
              <a:rPr lang="en-US"/>
              <a:t>  Step 3 — AOT run: starts with -XX:AOTCache=app.aot. Records startup time. Compare.</a:t>
            </a:r>
            <a:br>
              <a:rPr lang="en-US"/>
            </a:br>
            <a:br>
              <a:rPr lang="en-US"/>
            </a:br>
            <a:r>
              <a:rPr lang="en-US"/>
              <a:t>WHILE BUILDING (30-60s): "The @QuarkusIntegrationTest tests you wrote for CI also train the JVM AOT cache. One Maven run, two benefits."</a:t>
            </a:r>
            <a:br>
              <a:rPr lang="en-US"/>
            </a:br>
            <a:br>
              <a:rPr lang="en-US"/>
            </a:br>
            <a:r>
              <a:rPr lang="en-US"/>
              <a:t>WHEN RESULTS SHOW:</a:t>
            </a:r>
            <a:br>
              <a:rPr lang="en-US"/>
            </a:br>
            <a:r>
              <a:rPr lang="en-US"/>
              <a:t>  "Quarkus baseline: ~830ms. With Leyden AOT cache: ~215ms — ~75% faster (Demo 04 measured; live numbers vary by hardware)."</a:t>
            </a:r>
            <a:br>
              <a:rPr lang="en-US"/>
            </a:br>
            <a:r>
              <a:rPr lang="en-US"/>
              <a:t>  "Spring Boot has no measured Leyden-cache figure in this deck — Spring's cited cold-start baseline is ~6.6s (Quarkus project benchmark), not measured here."</a:t>
            </a:r>
            <a:br>
              <a:rPr lang="en-US"/>
            </a:br>
            <a:r>
              <a:rPr lang="en-US"/>
              <a:t>  "Quarkus + Leyden: ~830ms → ~215ms — ~75% faster in the measured run."</a:t>
            </a:r>
            <a:br>
              <a:rPr lang="en-US"/>
            </a:br>
            <a:r>
              <a:rPr lang="en-US"/>
              <a:t>  "Quarkus's Leyden gain here is ~75% (measured); there's no comparable Spring measurement in this deck."</a:t>
            </a:r>
            <a:br>
              <a:rPr lang="en-US"/>
            </a:br>
            <a:br>
              <a:rPr lang="en-US"/>
            </a:br>
            <a:r>
              <a:rPr lang="en-US"/>
              <a:t>DISCUSSION — three tiers:</a:t>
            </a:r>
            <a:br>
              <a:rPr lang="en-US"/>
            </a:br>
            <a:r>
              <a:rPr lang="en-US"/>
              <a:t>  JDK 21 + quarkus.package.jar.aot.enabled=true → AppCDS only (~20-30%)</a:t>
            </a:r>
            <a:br>
              <a:rPr lang="en-US"/>
            </a:br>
            <a:r>
              <a:rPr lang="en-US"/>
              <a:t>  JDK 25 + quarkus.package.jar.aot.enabled=true → Leyden AOT cache (~75%)</a:t>
            </a:r>
            <a:br>
              <a:rPr lang="en-US"/>
            </a:br>
            <a:r>
              <a:rPr lang="en-US"/>
              <a:t>  JDK 26: add -XX:+UseZGC — low latency AND full AOT cache (JEP 516)</a:t>
            </a:r>
            <a:endParaRPr/>
          </a:p>
        </p:txBody>
      </p:sp>
      <p:sp>
        <p:nvSpPr>
          <p:cNvPr id="931" name="Google Shape;931;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g3d5496d2f37_1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8" name="Google Shape;958;g3d5496d2f37_1_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REST vs gRPC — SLIDE 31</a:t>
            </a:r>
            <a:br>
              <a:rPr lang="en-US"/>
            </a:br>
            <a:br>
              <a:rPr lang="en-US"/>
            </a:br>
            <a:r>
              <a:rPr lang="en-US"/>
              <a:t>OPENING:</a:t>
            </a:r>
            <a:br>
              <a:rPr lang="en-US"/>
            </a:br>
            <a:r>
              <a:rPr lang="en-US"/>
              <a:t>"Everything we've covered so far has been REST — JSON over HTTP/1.1. But when two Quarkus services talk to each other inside your cluster thousands of times per second, REST carries overhead you don't need. gRPC is the alternative."</a:t>
            </a:r>
            <a:br>
              <a:rPr lang="en-US"/>
            </a:br>
            <a:br>
              <a:rPr lang="en-US"/>
            </a:br>
            <a:r>
              <a:rPr lang="en-US"/>
              <a:t>KEY POINTS:</a:t>
            </a:r>
            <a:br>
              <a:rPr lang="en-US"/>
            </a:br>
            <a:r>
              <a:rPr lang="en-US"/>
              <a:t>- REST sends JSON text — human-readable, easy to debug with curl, but verbose. A 10-field response might be 400 bytes as JSON. The same data as Protobuf is 40 bytes.</a:t>
            </a:r>
            <a:br>
              <a:rPr lang="en-US"/>
            </a:br>
            <a:r>
              <a:rPr lang="en-US"/>
              <a:t>- gRPC uses HTTP/2 — header compression, multiplexing, single persistent connection.</a:t>
            </a:r>
            <a:br>
              <a:rPr lang="en-US"/>
            </a:br>
            <a:r>
              <a:rPr lang="en-US"/>
              <a:t>- gRPC has four communication modes. REST has one: request-response. gRPC adds server streaming — one request, continuous flow of responses.</a:t>
            </a:r>
            <a:br>
              <a:rPr lang="en-US"/>
            </a:br>
            <a:r>
              <a:rPr lang="en-US"/>
              <a:t>- Public APIs, browser clients, anything you test with curl — stay with REST. gRPC binary payloads require grpcurl or Postman to inspect.</a:t>
            </a:r>
            <a:endParaRPr/>
          </a:p>
        </p:txBody>
      </p:sp>
      <p:sp>
        <p:nvSpPr>
          <p:cNvPr id="959" name="Google Shape;959;g3d5496d2f37_1_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g3d5496d2f37_1_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2" name="Google Shape;1002;g3d5496d2f37_1_1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gRPC PERFORMANCE &amp; SETUP — SLIDE 32</a:t>
            </a:r>
            <a:br>
              <a:rPr lang="en-US"/>
            </a:br>
            <a:br>
              <a:rPr lang="en-US"/>
            </a:br>
            <a:r>
              <a:rPr lang="en-US"/>
              <a:t>NUMBERS TO WALK THROUGH:</a:t>
            </a:r>
            <a:br>
              <a:rPr lang="en-US"/>
            </a:br>
            <a:r>
              <a:rPr lang="en-US"/>
              <a:t>- Throughput (production projection, pod-to-pod): gRPC ~3-4x REST. On localhost REST actually wins: 26.7k vs 10.2k rps (demo-05).</a:t>
            </a:r>
            <a:br>
              <a:rPr lang="en-US"/>
            </a:br>
            <a:r>
              <a:rPr lang="en-US"/>
              <a:t>- CPU: gRPC's binary framing uses less CPU per call in production; this demo does not measure CPU directly.</a:t>
            </a:r>
            <a:br>
              <a:rPr lang="en-US"/>
            </a:br>
            <a:r>
              <a:rPr lang="en-US"/>
              <a:t>- Latency: ~73% lower p50 for gRPC in production (projection); on localhost REST p99 is lower (tiny payload, no network).</a:t>
            </a:r>
            <a:br>
              <a:rPr lang="en-US"/>
            </a:br>
            <a:br>
              <a:rPr lang="en-US"/>
            </a:br>
            <a:r>
              <a:rPr lang="en-US"/>
              <a:t>QUARKUS SETUP — one dependency, one annotation:</a:t>
            </a:r>
            <a:br>
              <a:rPr lang="en-US"/>
            </a:br>
            <a:r>
              <a:rPr lang="en-US"/>
              <a:t>"Drop a .proto file in src/main/proto, run mvn compile, Quarkus generates all the Java stubs. Annotate with @GrpcService. The streaming endpoint is a Multi&lt;MetricsResponse&gt; — Quarkus + Mutiny handles all HTTP/2 framing. Zero networking code."</a:t>
            </a:r>
            <a:br>
              <a:rPr lang="en-US"/>
            </a:br>
            <a:br>
              <a:rPr lang="en-US"/>
            </a:br>
            <a:r>
              <a:rPr lang="en-US"/>
              <a:t>DEMO PIVOT:</a:t>
            </a:r>
            <a:br>
              <a:rPr lang="en-US"/>
            </a:br>
            <a:r>
              <a:rPr lang="en-US"/>
              <a:t>"The demo script starts both REST on 8080 and gRPC on 9000 from the same Quarkus app. We'll hit both with hey and ghz and compare the output live."</a:t>
            </a:r>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REST might win on a local machine here because the benchmark conditions favour it:</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1. Localhost removes gRPC's biggest advantage.</a:t>
            </a:r>
            <a:r>
              <a:rPr lang="en-US" sz="1100">
                <a:latin typeface="Arial"/>
                <a:ea typeface="Arial"/>
                <a:cs typeface="Arial"/>
                <a:sym typeface="Arial"/>
              </a:rPr>
              <a:t> gRPC's persistent HTTP/2 connection eliminates TCP handshake overhead — but on loopback there's no meaningful network latency to eliminate. Both protocols are hitting 127.0.0.1. The gain only appears when services are on separate pods across a real network.</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2. The payload is tiny.</a:t>
            </a:r>
            <a:r>
              <a:rPr lang="en-US" sz="1100">
                <a:latin typeface="Arial"/>
                <a:ea typeface="Arial"/>
                <a:cs typeface="Arial"/>
                <a:sym typeface="Arial"/>
              </a:rPr>
              <a:t> Protobuf's 82% size reduction matters at scale but a JVM metrics response is maybe 200 bytes of JSON. Saving 160 bytes on loopback doesn't move the needle. The serialization/deserialization cost difference is also negligible at this size.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3. HTTP/2 has framing overhead.</a:t>
            </a:r>
            <a:r>
              <a:rPr lang="en-US" sz="1100">
                <a:latin typeface="Arial"/>
                <a:ea typeface="Arial"/>
                <a:cs typeface="Arial"/>
                <a:sym typeface="Arial"/>
              </a:rPr>
              <a:t> For simple unary request/response, HTTP/2 actually adds more framing than HTTP/1.1. Multiplexing and header compression help when you have many concurrent streams or large repeated headers — neither is true here.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4. Quarkus REST (RESTEasy Reactive) is genuinely fast.</a:t>
            </a:r>
            <a:r>
              <a:rPr lang="en-US" sz="1100">
                <a:latin typeface="Arial"/>
                <a:ea typeface="Arial"/>
                <a:cs typeface="Arial"/>
                <a:sym typeface="Arial"/>
              </a:rPr>
              <a:t> It runs on Vert.x's event loop with non-blocking I/O. 14,000 rps on localhost for a trivial JSON endpoint is about what you'd expect from a well-tuned reactive stack.</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Where gRPC actually wins in production:</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Pod-to-pod across a real Kubernetes network (50-200ms baseline latency vs 0ms localhost)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High-frequency calls with large or repeated payloads where Protobuf and header compression compound</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Server streaming — this demo only tested unary, which is gRPC at its weakest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High concurrency where HTTP/2 multiplexing over one connection beats opening many HTTP/1.1 connections</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1003" name="Google Shape;1003;g3d5496d2f37_1_1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3d5496d2f37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5" name="Google Shape;1035;g3d5496d2f37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REST vs gRPC — THE DIAGRAM — 24:00-26:00</a:t>
            </a:r>
            <a:br>
              <a:rPr lang="en-US"/>
            </a:br>
            <a:r>
              <a:rPr lang="en-US"/>
              <a:t>This diagram is the decision picture: one Quarkus service, two wire formats. Walk it left-to-right.</a:t>
            </a:r>
            <a:br>
              <a:rPr lang="en-US"/>
            </a:br>
            <a:br>
              <a:rPr lang="en-US"/>
            </a:br>
            <a:r>
              <a:rPr lang="en-US"/>
              <a:t>THE TWO PATHS:</a:t>
            </a:r>
            <a:br>
              <a:rPr lang="en-US"/>
            </a:br>
            <a:r>
              <a:rPr lang="en-US"/>
              <a:t>- REST: HTTP/1.1 + JSON on :8080. Human-readable, browser/curl-friendly, passes every proxy. Metrics response ~200 bytes.</a:t>
            </a:r>
            <a:br>
              <a:rPr lang="en-US"/>
            </a:br>
            <a:r>
              <a:rPr lang="en-US"/>
              <a:t>- gRPC: HTTP/2 + Protobuf on :9000. Binary framing on one persistent connection; same payload ~40 bytes (~80% smaller). Contract-first: the .proto generates stubs at mvn compile.</a:t>
            </a:r>
            <a:br>
              <a:rPr lang="en-US"/>
            </a:br>
            <a:br>
              <a:rPr lang="en-US"/>
            </a:br>
            <a:r>
              <a:rPr lang="en-US"/>
              <a:t>THE HONEST BENCHMARK: "On localhost, REST actually wins — ~26.7k rps vs ~10.2k for gRPC (demo-05, c=50). Not a typo." Why: loopback removes the network hop so gRPC's persistent HTTP/2 connection saves nothing; the payload is tiny so Protobuf's size win doesn't matter; and for simple unary calls HTTP/2 framing is heavier than HTTP/1.1.</a:t>
            </a:r>
            <a:br>
              <a:rPr lang="en-US"/>
            </a:br>
            <a:br>
              <a:rPr lang="en-US"/>
            </a:br>
            <a:r>
              <a:rPr lang="en-US"/>
              <a:t>WHERE gRPC WINS (production projection — label it): pod-to-pod on a real network, the persistent HTTP/2 connection + binary framing compound to ~3-4x throughput / ~73% lower p50 (projection, not localhost). Streaming: server streaming is a Multi&lt;MetricsResponse&gt; return — no SSE glue. High concurrency: at c=500 the gap closes — runs varied from near-parity (~24k each) to gRPC ahead (~19k vs ~15k); gRPC's edge grows on a real network.</a:t>
            </a:r>
            <a:br>
              <a:rPr lang="en-US"/>
            </a:br>
            <a:br>
              <a:rPr lang="en-US"/>
            </a:br>
            <a:r>
              <a:rPr lang="en-US"/>
              <a:t>DECISION RULE: public APIs / browsers → REST; internal service-to-service where you own both ends → gRPC. Same Quarkus app serves both — pick per endpoint, a trade-off not a rewrite.</a:t>
            </a:r>
            <a:br>
              <a:rPr lang="en-US"/>
            </a:br>
            <a:br>
              <a:rPr lang="en-US"/>
            </a:br>
            <a:r>
              <a:rPr lang="en-US"/>
              <a:t>→ Next: live demo — REST :8080 and gRPC :9000 from one JVM, compared with hey and ghz.</a:t>
            </a:r>
            <a:endParaRPr/>
          </a:p>
        </p:txBody>
      </p:sp>
      <p:sp>
        <p:nvSpPr>
          <p:cNvPr id="1036" name="Google Shape;1036;g3d5496d2f37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3d8c134f9ee_0_5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6" name="Google Shape;1046;g3d8c134f9ee_0_5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DEMO 05 INTRO — REST vs gRPC</a:t>
            </a:r>
            <a:br>
              <a:rPr lang="en-US"/>
            </a:br>
            <a:br>
              <a:rPr lang="en-US"/>
            </a:br>
            <a:r>
              <a:rPr lang="en-US"/>
              <a:t>SETUP (before running):</a:t>
            </a:r>
            <a:br>
              <a:rPr lang="en-US"/>
            </a:br>
            <a:r>
              <a:rPr lang="en-US"/>
              <a:t>  cd quarkus-demo-05-grpc &amp;&amp; chmod +x demo.sh</a:t>
            </a:r>
            <a:br>
              <a:rPr lang="en-US"/>
            </a:br>
            <a:br>
              <a:rPr lang="en-US"/>
            </a:br>
            <a:r>
              <a:rPr lang="en-US"/>
              <a:t>WHAT THIS SHOWS:</a:t>
            </a:r>
            <a:br>
              <a:rPr lang="en-US"/>
            </a:br>
            <a:r>
              <a:rPr lang="en-US"/>
              <a:t>  The same Quarkus application exposes both protocols simultaneously.</a:t>
            </a:r>
            <a:br>
              <a:rPr lang="en-US"/>
            </a:br>
            <a:r>
              <a:rPr lang="en-US"/>
              <a:t>  REST on port 8080 returns JSON. gRPC on port 9000 returns Protobuf.</a:t>
            </a:r>
            <a:br>
              <a:rPr lang="en-US"/>
            </a:br>
            <a:r>
              <a:rPr lang="en-US"/>
              <a:t>  Same business logic, same JVM, same GC — only the wire format and transport differ.</a:t>
            </a:r>
            <a:br>
              <a:rPr lang="en-US"/>
            </a:br>
            <a:br>
              <a:rPr lang="en-US"/>
            </a:br>
            <a:r>
              <a:rPr lang="en-US"/>
              <a:t>KEY TALKING POINT:</a:t>
            </a:r>
            <a:br>
              <a:rPr lang="en-US"/>
            </a:br>
            <a:r>
              <a:rPr lang="en-US"/>
              <a:t>  "For public APIs and browser clients, REST is the right default.</a:t>
            </a:r>
            <a:br>
              <a:rPr lang="en-US"/>
            </a:br>
            <a:r>
              <a:rPr lang="en-US"/>
              <a:t>   For internal service-to-service calls inside your cluster — where you control</a:t>
            </a:r>
            <a:br>
              <a:rPr lang="en-US"/>
            </a:br>
            <a:r>
              <a:rPr lang="en-US"/>
              <a:t>   both ends — gRPC gives you 3-4x throughput in production and streaming</a:t>
            </a:r>
            <a:br>
              <a:rPr lang="en-US"/>
            </a:br>
            <a:r>
              <a:rPr lang="en-US"/>
              <a:t>   with zero extra code. One annotation: @GrpcService."</a:t>
            </a:r>
            <a:br>
              <a:rPr lang="en-US"/>
            </a:br>
            <a:br>
              <a:rPr lang="en-US"/>
            </a:br>
            <a:r>
              <a:rPr lang="en-US"/>
              <a:t>STREAMING DEMO moment:</a:t>
            </a:r>
            <a:br>
              <a:rPr lang="en-US"/>
            </a:br>
            <a:r>
              <a:rPr lang="en-US"/>
              <a:t>  Run: grpcurl -plaintext -d '{"host":"localhost"}' localhost:9000 MetricsService/StreamMetrics</a:t>
            </a:r>
            <a:br>
              <a:rPr lang="en-US"/>
            </a:br>
            <a:r>
              <a:rPr lang="en-US"/>
              <a:t>  Audience sees live JVM heap data pushing every second.</a:t>
            </a:r>
            <a:br>
              <a:rPr lang="en-US"/>
            </a:br>
            <a:r>
              <a:rPr lang="en-US"/>
              <a:t>  Ask: "How would you do this with REST? SSE handler, connection management, retry logic.</a:t>
            </a:r>
            <a:br>
              <a:rPr lang="en-US"/>
            </a:br>
            <a:r>
              <a:rPr lang="en-US"/>
              <a:t>  With gRPC it's a Multi&lt;&gt; return type."</a:t>
            </a:r>
            <a:endParaRPr/>
          </a:p>
        </p:txBody>
      </p:sp>
      <p:sp>
        <p:nvSpPr>
          <p:cNvPr id="1047" name="Google Shape;1047;g3d8c134f9ee_0_5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3d8376bfa8d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1" name="Google Shape;1071;g3d8376bfa8d_0_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LATENCY PROBLEM — SLIDE</a:t>
            </a:r>
            <a:br>
              <a:rPr lang="en-US"/>
            </a:br>
            <a:br>
              <a:rPr lang="en-US"/>
            </a:br>
            <a:r>
              <a:rPr lang="en-US"/>
              <a:t>OPENING:</a:t>
            </a:r>
            <a:br>
              <a:rPr lang="en-US"/>
            </a:br>
            <a:r>
              <a:rPr lang="en-US"/>
              <a:t>  "G1GC and ZGC both manage the same heap. The difference is when they do the work.</a:t>
            </a:r>
            <a:br>
              <a:rPr lang="en-US"/>
            </a:br>
            <a:r>
              <a:rPr lang="en-US"/>
              <a:t>   G1GC stops your application threads to move objects. ZGC moves objects while your</a:t>
            </a:r>
            <a:br>
              <a:rPr lang="en-US"/>
            </a:br>
            <a:r>
              <a:rPr lang="en-US"/>
              <a:t>   application is running, using load barriers — tiny code snippets injected at every</a:t>
            </a:r>
            <a:br>
              <a:rPr lang="en-US"/>
            </a:br>
            <a:r>
              <a:rPr lang="en-US"/>
              <a:t>   object read that transparently update references if the object was moved."</a:t>
            </a:r>
            <a:br>
              <a:rPr lang="en-US"/>
            </a:br>
            <a:br>
              <a:rPr lang="en-US"/>
            </a:br>
            <a:r>
              <a:rPr lang="en-US"/>
              <a:t>ON THE NUMBERS:</a:t>
            </a:r>
            <a:br>
              <a:rPr lang="en-US"/>
            </a:br>
            <a:r>
              <a:rPr lang="en-US"/>
              <a:t>  "G1GC's Young GC pauses are 10-200ms. That sounds small. But if your p99 SLA is 20ms,</a:t>
            </a:r>
            <a:br>
              <a:rPr lang="en-US"/>
            </a:br>
            <a:r>
              <a:rPr lang="en-US"/>
              <a:t>   and GC pauses for 150ms every 30 seconds, you will breach it on schedule.</a:t>
            </a:r>
            <a:br>
              <a:rPr lang="en-US"/>
            </a:br>
            <a:r>
              <a:rPr lang="en-US"/>
              <a:t>   ZGC's pauses are consistently under 1ms regardless of heap size. A 1TB heap and a 1GB</a:t>
            </a:r>
            <a:br>
              <a:rPr lang="en-US"/>
            </a:br>
            <a:r>
              <a:rPr lang="en-US"/>
              <a:t>   heap pause for the same duration. That's the design guarantee."</a:t>
            </a:r>
            <a:br>
              <a:rPr lang="en-US"/>
            </a:br>
            <a:br>
              <a:rPr lang="en-US"/>
            </a:br>
            <a:r>
              <a:rPr lang="en-US"/>
              <a:t>ON HPA:</a:t>
            </a:r>
            <a:br>
              <a:rPr lang="en-US"/>
            </a:br>
            <a:r>
              <a:rPr lang="en-US"/>
              <a:t>  "G1GC's CPU burst during a pause looks like a traffic spike to CPU-based HPA.</a:t>
            </a:r>
            <a:br>
              <a:rPr lang="en-US"/>
            </a:br>
            <a:r>
              <a:rPr lang="en-US"/>
              <a:t>   It scales out, spins up a new pod, JIT warms up, scales back in. Thrash.</a:t>
            </a:r>
            <a:br>
              <a:rPr lang="en-US"/>
            </a:br>
            <a:r>
              <a:rPr lang="en-US"/>
              <a:t>   ZGC's CPU profile is smooth — load barriers add a small constant overhead,</a:t>
            </a:r>
            <a:br>
              <a:rPr lang="en-US"/>
            </a:br>
            <a:r>
              <a:rPr lang="en-US"/>
              <a:t>   but there are no spikes. HPA stays quiet."</a:t>
            </a:r>
            <a:br>
              <a:rPr lang="en-US"/>
            </a:br>
            <a:br>
              <a:rPr lang="en-US"/>
            </a:br>
            <a:r>
              <a:rPr lang="en-US"/>
              <a:t>TRANSITION: "Let's see the actual numbers from the demo."</a:t>
            </a:r>
            <a:endParaRPr/>
          </a:p>
        </p:txBody>
      </p:sp>
      <p:sp>
        <p:nvSpPr>
          <p:cNvPr id="1072" name="Google Shape;1072;g3d8376bfa8d_0_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g3d8376bfa8d_0_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7" name="Google Shape;1117;g3d8376bfa8d_0_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TUNING LADDER — SLIDE</a:t>
            </a:r>
            <a:br>
              <a:rPr lang="en-US"/>
            </a:br>
            <a:br>
              <a:rPr lang="en-US"/>
            </a:br>
            <a:r>
              <a:rPr lang="en-US"/>
              <a:t>PACE: Work through this top to bottom. Items 1-2 are worth doing for any latency-sensitive service.</a:t>
            </a:r>
            <a:br>
              <a:rPr lang="en-US"/>
            </a:br>
            <a:r>
              <a:rPr lang="en-US"/>
              <a:t>Items 3-4 require cluster config changes. Items 5-6 are specialist territory.</a:t>
            </a:r>
            <a:br>
              <a:rPr lang="en-US"/>
            </a:br>
            <a:br>
              <a:rPr lang="en-US"/>
            </a:br>
            <a:r>
              <a:rPr lang="en-US"/>
              <a:t>ITEM 1 — ZGC:</a:t>
            </a:r>
            <a:br>
              <a:rPr lang="en-US"/>
            </a:br>
            <a:r>
              <a:rPr lang="en-US"/>
              <a:t>  "This is the single most impactful change. One flag swap. Demo shows the before/after."</a:t>
            </a:r>
            <a:br>
              <a:rPr lang="en-US"/>
            </a:br>
            <a:br>
              <a:rPr lang="en-US"/>
            </a:br>
            <a:r>
              <a:rPr lang="en-US"/>
              <a:t>ITEM 2 — Thread counts:</a:t>
            </a:r>
            <a:br>
              <a:rPr lang="en-US"/>
            </a:br>
            <a:r>
              <a:rPr lang="en-US"/>
              <a:t>  "Without explicit counts, the JVM sizes GC/JIT threads from the cgroup CPU quota when a limit is set.</a:t>
            </a:r>
            <a:br>
              <a:rPr lang="en-US"/>
            </a:br>
            <a:r>
              <a:rPr lang="en-US"/>
              <a:t>   With only a CPU request and no limit (or an old JDK), it can read the full node — 64 cores could spin up dozens of GC threads</a:t>
            </a:r>
            <a:br>
              <a:rPr lang="en-US"/>
            </a:br>
            <a:r>
              <a:rPr lang="en-US"/>
              <a:t>   for a 2-CPU workload. -XX:ParallelGCThreads=2 and -XX:ActiveProcessorCount=2 pin it explicitly."</a:t>
            </a:r>
            <a:br>
              <a:rPr lang="en-US"/>
            </a:br>
            <a:br>
              <a:rPr lang="en-US"/>
            </a:br>
            <a:r>
              <a:rPr lang="en-US"/>
              <a:t>ITEM 3 — Huge pages:</a:t>
            </a:r>
            <a:br>
              <a:rPr lang="en-US"/>
            </a:br>
            <a:r>
              <a:rPr lang="en-US"/>
              <a:t>  "Reduces TLB pressure — the CPU's address translation cache covers more heap per entry.</a:t>
            </a:r>
            <a:br>
              <a:rPr lang="en-US"/>
            </a:br>
            <a:r>
              <a:rPr lang="en-US"/>
              <a:t>   AlwaysPreTouch eliminates page fault spikes on first GC cycle."</a:t>
            </a:r>
            <a:br>
              <a:rPr lang="en-US"/>
            </a:br>
            <a:br>
              <a:rPr lang="en-US"/>
            </a:br>
            <a:r>
              <a:rPr lang="en-US"/>
              <a:t>ITEM 4 — CPU Manager + Topology Manager:</a:t>
            </a:r>
            <a:br>
              <a:rPr lang="en-US"/>
            </a:br>
            <a:r>
              <a:rPr lang="en-US"/>
              <a:t>  "Guarantees your pod's CPUs and memory are on the same NUMA node. Cross-socket</a:t>
            </a:r>
            <a:br>
              <a:rPr lang="en-US"/>
            </a:br>
            <a:r>
              <a:rPr lang="en-US"/>
              <a:t>   memory access is 2-3x slower. -XX:+UseNUMA only helps if paired with this."</a:t>
            </a:r>
            <a:br>
              <a:rPr lang="en-US"/>
            </a:br>
            <a:br>
              <a:rPr lang="en-US"/>
            </a:br>
            <a:r>
              <a:rPr lang="en-US"/>
              <a:t>ITEM 5 — Kernel isolation:</a:t>
            </a:r>
            <a:br>
              <a:rPr lang="en-US"/>
            </a:br>
            <a:r>
              <a:rPr lang="en-US"/>
              <a:t>  "Removes the kernel timer tick from your application CPUs. That tick fires every</a:t>
            </a:r>
            <a:br>
              <a:rPr lang="en-US"/>
            </a:br>
            <a:r>
              <a:rPr lang="en-US"/>
              <a:t>   1ms by default and causes ~250 microsecond interruptions. Invisible on most</a:t>
            </a:r>
            <a:br>
              <a:rPr lang="en-US"/>
            </a:br>
            <a:r>
              <a:rPr lang="en-US"/>
              <a:t>   workloads, visible when you're trying to guarantee sub-millisecond p999."</a:t>
            </a:r>
            <a:br>
              <a:rPr lang="en-US"/>
            </a:br>
            <a:br>
              <a:rPr lang="en-US"/>
            </a:br>
            <a:r>
              <a:rPr lang="en-US"/>
              <a:t>ITEM 6 — RT kernel:</a:t>
            </a:r>
            <a:br>
              <a:rPr lang="en-US"/>
            </a:br>
            <a:r>
              <a:rPr lang="en-US"/>
              <a:t>  "The JVM is not a hard real-time application. RT kernel + ZGC gets you to</a:t>
            </a:r>
            <a:br>
              <a:rPr lang="en-US"/>
            </a:br>
            <a:r>
              <a:rPr lang="en-US"/>
              <a:t>   consistent sub-millisecond with rare 1-5ms outliers. True hard real-time</a:t>
            </a:r>
            <a:br>
              <a:rPr lang="en-US"/>
            </a:br>
            <a:r>
              <a:rPr lang="en-US"/>
              <a:t>   requires native code without GC."</a:t>
            </a:r>
            <a:br>
              <a:rPr lang="en-US"/>
            </a:br>
            <a:endParaRPr/>
          </a:p>
        </p:txBody>
      </p:sp>
      <p:sp>
        <p:nvSpPr>
          <p:cNvPr id="1118" name="Google Shape;1118;g3d8376bfa8d_0_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g3d8376bfa8d_0_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4" name="Google Shape;1174;g3d8376bfa8d_0_1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KUBERNETES &amp; OPENSHIFT CONFIG — SLIDE</a:t>
            </a:r>
            <a:br>
              <a:rPr lang="en-US"/>
            </a:br>
            <a:br>
              <a:rPr lang="en-US"/>
            </a:br>
            <a:r>
              <a:rPr lang="en-US"/>
              <a:t>KEY MESSAGE:</a:t>
            </a:r>
            <a:br>
              <a:rPr lang="en-US"/>
            </a:br>
            <a:r>
              <a:rPr lang="en-US"/>
              <a:t>  "On vanilla Kubernetes, each of these settings is configured separately:</a:t>
            </a:r>
            <a:br>
              <a:rPr lang="en-US"/>
            </a:br>
            <a:r>
              <a:rPr lang="en-US"/>
              <a:t>   kubelet config for CPU Manager, node labels for huge pages, kernel cmdline</a:t>
            </a:r>
            <a:br>
              <a:rPr lang="en-US"/>
            </a:br>
            <a:r>
              <a:rPr lang="en-US"/>
              <a:t>   for CPU isolation. On OpenShift, the Node Tuning Operator lets you express</a:t>
            </a:r>
            <a:br>
              <a:rPr lang="en-US"/>
            </a:br>
            <a:r>
              <a:rPr lang="en-US"/>
              <a:t>   all of it in a single PerformanceProfile CR. One apply, cluster handles the rest."</a:t>
            </a:r>
            <a:br>
              <a:rPr lang="en-US"/>
            </a:br>
            <a:br>
              <a:rPr lang="en-US"/>
            </a:br>
            <a:r>
              <a:rPr lang="en-US"/>
              <a:t>ON CPU MANAGER static policy:</a:t>
            </a:r>
            <a:br>
              <a:rPr lang="en-US"/>
            </a:br>
            <a:r>
              <a:rPr lang="en-US"/>
              <a:t>  "Critical: CPU requests must be integers for static allocation to work.</a:t>
            </a:r>
            <a:br>
              <a:rPr lang="en-US"/>
            </a:br>
            <a:r>
              <a:rPr lang="en-US"/>
              <a:t>   cpu: '500m' gets shared CPUs. cpu: '4' gets 4 exclusively pinned CPUs.</a:t>
            </a:r>
            <a:br>
              <a:rPr lang="en-US"/>
            </a:br>
            <a:r>
              <a:rPr lang="en-US"/>
              <a:t>   This is what makes -XX:+UseNUMA actually work — the JVM can trust its CPUs</a:t>
            </a:r>
            <a:br>
              <a:rPr lang="en-US"/>
            </a:br>
            <a:r>
              <a:rPr lang="en-US"/>
              <a:t>   are co-located."</a:t>
            </a:r>
            <a:br>
              <a:rPr lang="en-US"/>
            </a:br>
            <a:br>
              <a:rPr lang="en-US"/>
            </a:br>
            <a:r>
              <a:rPr lang="en-US"/>
              <a:t>ON GUARANTEED QOS:</a:t>
            </a:r>
            <a:br>
              <a:rPr lang="en-US"/>
            </a:br>
            <a:r>
              <a:rPr lang="en-US"/>
              <a:t>  "requests == limits is required for static CPU allocation. If they differ,</a:t>
            </a:r>
            <a:br>
              <a:rPr lang="en-US"/>
            </a:br>
            <a:r>
              <a:rPr lang="en-US"/>
              <a:t>   the pod gets Burstable QoS and CPU Manager won't pin it."</a:t>
            </a:r>
            <a:br>
              <a:rPr lang="en-US"/>
            </a:br>
            <a:br>
              <a:rPr lang="en-US"/>
            </a:br>
            <a:r>
              <a:rPr lang="en-US"/>
              <a:t>ON hugepages-2Mi:</a:t>
            </a:r>
            <a:br>
              <a:rPr lang="en-US"/>
            </a:br>
            <a:r>
              <a:rPr lang="en-US"/>
              <a:t>  "Huge pages are a Kubernetes first-class resource since 1.14.</a:t>
            </a:r>
            <a:br>
              <a:rPr lang="en-US"/>
            </a:br>
            <a:r>
              <a:rPr lang="en-US"/>
              <a:t>   You must request them AND specify them as limits, and the memory request</a:t>
            </a:r>
            <a:br>
              <a:rPr lang="en-US"/>
            </a:br>
            <a:r>
              <a:rPr lang="en-US"/>
              <a:t>   must equal the hugepage request total."</a:t>
            </a:r>
            <a:br>
              <a:rPr lang="en-US"/>
            </a:br>
            <a:br>
              <a:rPr lang="en-US"/>
            </a:br>
            <a:r>
              <a:rPr lang="en-US"/>
              <a:t>ON RT KERNEL:</a:t>
            </a:r>
            <a:br>
              <a:rPr lang="en-US"/>
            </a:br>
            <a:r>
              <a:rPr lang="en-US"/>
              <a:t>  "realTimeKernel: enabled: true installs the PREEMPT_RT patched kernel,</a:t>
            </a:r>
            <a:br>
              <a:rPr lang="en-US"/>
            </a:br>
            <a:r>
              <a:rPr lang="en-US"/>
              <a:t>   which has been upstreamed into Linux 6.12. It gives deterministic</a:t>
            </a:r>
            <a:br>
              <a:rPr lang="en-US"/>
            </a:br>
            <a:r>
              <a:rPr lang="en-US"/>
              <a:t>   worst-case scheduling. Pair with ZGC. The JVM still has its own</a:t>
            </a:r>
            <a:br>
              <a:rPr lang="en-US"/>
            </a:br>
            <a:r>
              <a:rPr lang="en-US"/>
              <a:t>   non-determinism (safepoints, deoptimisation) — this gets you to</a:t>
            </a:r>
            <a:br>
              <a:rPr lang="en-US"/>
            </a:br>
            <a:r>
              <a:rPr lang="en-US"/>
              <a:t>   soft realtime, not hard realtime."</a:t>
            </a:r>
            <a:endParaRPr/>
          </a:p>
        </p:txBody>
      </p:sp>
      <p:sp>
        <p:nvSpPr>
          <p:cNvPr id="1175" name="Google Shape;1175;g3d8376bfa8d_0_1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g3d8c134f9ee_0_2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4" name="Google Shape;1194;g3d8c134f9ee_0_2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GC VENDOR DEFAULTS — SLIDE</a:t>
            </a:r>
            <a:br>
              <a:rPr lang="en-US"/>
            </a:br>
            <a:br>
              <a:rPr lang="en-US"/>
            </a:br>
            <a:r>
              <a:rPr lang="en-US"/>
              <a:t>KEY OPENING LINE:</a:t>
            </a:r>
            <a:br>
              <a:rPr lang="en-US"/>
            </a:br>
            <a:r>
              <a:rPr lang="en-US"/>
              <a:t>  "If you're deploying on OpenShift using the standard UBI 10 OpenJDK 25</a:t>
            </a:r>
            <a:br>
              <a:rPr lang="en-US"/>
            </a:br>
            <a:r>
              <a:rPr lang="en-US"/>
              <a:t>   runtime image — which is what all these demos use — you're already</a:t>
            </a:r>
            <a:br>
              <a:rPr lang="en-US"/>
            </a:br>
            <a:r>
              <a:rPr lang="en-US"/>
              <a:t>   getting Shenandoah out of the box, without any configuration.</a:t>
            </a:r>
            <a:br>
              <a:rPr lang="en-US"/>
            </a:br>
            <a:r>
              <a:rPr lang="en-US"/>
              <a:t>   That gets you to 1-20ms pauses before you've changed a single flag.</a:t>
            </a:r>
            <a:br>
              <a:rPr lang="en-US"/>
            </a:br>
            <a:r>
              <a:rPr lang="en-US"/>
              <a:t>   The question is whether you need to go further."</a:t>
            </a:r>
            <a:br>
              <a:rPr lang="en-US"/>
            </a:br>
            <a:br>
              <a:rPr lang="en-US"/>
            </a:br>
            <a:r>
              <a:rPr lang="en-US"/>
              <a:t>WHY SHENANDOAH IS THE UBI 10 DEFAULT:</a:t>
            </a:r>
            <a:br>
              <a:rPr lang="en-US"/>
            </a:br>
            <a:r>
              <a:rPr lang="en-US"/>
              <a:t>  Red Hat created Shenandoah and contributed it to OpenJDK via JEP 189.</a:t>
            </a:r>
            <a:br>
              <a:rPr lang="en-US"/>
            </a:br>
            <a:r>
              <a:rPr lang="en-US"/>
              <a:t>  It's been in Red Hat builds since JDK 8 — longer than ZGC has existed.</a:t>
            </a:r>
            <a:br>
              <a:rPr lang="en-US"/>
            </a:br>
            <a:r>
              <a:rPr lang="en-US"/>
              <a:t>  When Red Hat builds the UBI 10 container image, they default to their</a:t>
            </a:r>
            <a:br>
              <a:rPr lang="en-US"/>
            </a:br>
            <a:r>
              <a:rPr lang="en-US"/>
              <a:t>  own battle-tested concurrent GC rather than the upstream G1GC default.</a:t>
            </a:r>
            <a:br>
              <a:rPr lang="en-US"/>
            </a:br>
            <a:r>
              <a:rPr lang="en-US"/>
              <a:t>  This is a deliberate, well-reasoned choice — not arbitrary.</a:t>
            </a:r>
            <a:br>
              <a:rPr lang="en-US"/>
            </a:br>
            <a:br>
              <a:rPr lang="en-US"/>
            </a:br>
            <a:r>
              <a:rPr lang="en-US"/>
              <a:t>THE BARRIER TYPE DISTINCTION:</a:t>
            </a:r>
            <a:br>
              <a:rPr lang="en-US"/>
            </a:br>
            <a:r>
              <a:rPr lang="en-US"/>
              <a:t>  "The key technical difference between Shenandoah and ZGC is when the</a:t>
            </a:r>
            <a:br>
              <a:rPr lang="en-US"/>
            </a:br>
            <a:r>
              <a:rPr lang="en-US"/>
              <a:t>   barrier fires. Since JDK 13 Shenandoah uses a load-reference barrier — it fires when your</a:t>
            </a:r>
            <a:br>
              <a:rPr lang="en-US"/>
            </a:br>
            <a:r>
              <a:rPr lang="en-US"/>
              <a:t>   code reads a reference, like ZGC's load barrier — both fire</a:t>
            </a:r>
            <a:br>
              <a:rPr lang="en-US"/>
            </a:br>
            <a:r>
              <a:rPr lang="en-US"/>
              <a:t>   when your code reads an object reference. Reads vastly outnumber writes</a:t>
            </a:r>
            <a:br>
              <a:rPr lang="en-US"/>
            </a:br>
            <a:r>
              <a:rPr lang="en-US"/>
              <a:t>   in most Java applications, so ZGC pays a higher constant overhead per</a:t>
            </a:r>
            <a:br>
              <a:rPr lang="en-US"/>
            </a:br>
            <a:r>
              <a:rPr lang="en-US"/>
              <a:t>   operation. In exchange, ZGC can give you stricter pause guarantees</a:t>
            </a:r>
            <a:br>
              <a:rPr lang="en-US"/>
            </a:br>
            <a:r>
              <a:rPr lang="en-US"/>
              <a:t>   — consistently under 1ms — because it has more information available</a:t>
            </a:r>
            <a:br>
              <a:rPr lang="en-US"/>
            </a:br>
            <a:r>
              <a:rPr lang="en-US"/>
              <a:t>   at read time to make relocation decisions."</a:t>
            </a:r>
            <a:br>
              <a:rPr lang="en-US"/>
            </a:br>
            <a:br>
              <a:rPr lang="en-US"/>
            </a:br>
            <a:r>
              <a:rPr lang="en-US"/>
              <a:t>WHY THE DEMOS OVERRIDE IT:</a:t>
            </a:r>
            <a:br>
              <a:rPr lang="en-US"/>
            </a:br>
            <a:r>
              <a:rPr lang="en-US"/>
              <a:t>  "Demo 06 explicitly sets -XX:+UseG1GC on one container and</a:t>
            </a:r>
            <a:br>
              <a:rPr lang="en-US"/>
            </a:br>
            <a:r>
              <a:rPr lang="en-US"/>
              <a:t>   -XX:+UseZGC on the other because we want a clean comparison.</a:t>
            </a:r>
            <a:br>
              <a:rPr lang="en-US"/>
            </a:br>
            <a:r>
              <a:rPr lang="en-US"/>
              <a:t>   If we left it at defaults, both containers would run Shenandoah</a:t>
            </a:r>
            <a:br>
              <a:rPr lang="en-US"/>
            </a:br>
            <a:r>
              <a:rPr lang="en-US"/>
              <a:t>   and show identical behaviour. For production — unless you have a</a:t>
            </a:r>
            <a:br>
              <a:rPr lang="en-US"/>
            </a:br>
            <a:r>
              <a:rPr lang="en-US"/>
              <a:t>   strict sub-millisecond SLA — Shenandoah is perfectly fine."</a:t>
            </a:r>
            <a:br>
              <a:rPr lang="en-US"/>
            </a:br>
            <a:br>
              <a:rPr lang="en-US"/>
            </a:br>
            <a:r>
              <a:rPr lang="en-US"/>
              <a:t>THE DECISION TREE FOR YOUR AUDIENCE:</a:t>
            </a:r>
            <a:br>
              <a:rPr lang="en-US"/>
            </a:br>
            <a:r>
              <a:rPr lang="en-US"/>
              <a:t>  • Deploying on UBI 10/OpenShift: Shenandoah already — no action needed</a:t>
            </a:r>
            <a:br>
              <a:rPr lang="en-US"/>
            </a:br>
            <a:r>
              <a:rPr lang="en-US"/>
              <a:t>    unless your SLA requires sub-millisecond</a:t>
            </a:r>
            <a:br>
              <a:rPr lang="en-US"/>
            </a:br>
            <a:r>
              <a:rPr lang="en-US"/>
              <a:t>  • Deploying on Temurin/Corretto/Azul (G1GC default): consider</a:t>
            </a:r>
            <a:br>
              <a:rPr lang="en-US"/>
            </a:br>
            <a:r>
              <a:rPr lang="en-US"/>
              <a:t>    adding -XX:+UseShenandoahGC or -XX:+UseZGC for latency-sensitive services</a:t>
            </a:r>
            <a:br>
              <a:rPr lang="en-US"/>
            </a:br>
            <a:r>
              <a:rPr lang="en-US"/>
              <a:t>  • Need &lt; 1ms p99 guarantee: ZGC — the load barrier cost is worth it</a:t>
            </a:r>
            <a:br>
              <a:rPr lang="en-US"/>
            </a:br>
            <a:r>
              <a:rPr lang="en-US"/>
              <a:t>  • Large heap (&gt; 32GB): ZGC or Shenandoah — G1GC pauses scale with heap</a:t>
            </a:r>
            <a:br>
              <a:rPr lang="en-US"/>
            </a:br>
            <a:br>
              <a:rPr lang="en-US"/>
            </a:br>
            <a:r>
              <a:rPr lang="en-US"/>
              <a:t>WHAT OTHER VENDORS SHIP:</a:t>
            </a:r>
            <a:br>
              <a:rPr lang="en-US"/>
            </a:br>
            <a:r>
              <a:rPr lang="en-US"/>
              <a:t>  • eclipse-temurin:21 (Adoptium/Eclipse): G1GC — upstream default</a:t>
            </a:r>
            <a:br>
              <a:rPr lang="en-US"/>
            </a:br>
            <a:r>
              <a:rPr lang="en-US"/>
              <a:t>  • amazoncorretto:21 (Amazon): G1GC default, Shenandoah available</a:t>
            </a:r>
            <a:br>
              <a:rPr lang="en-US"/>
            </a:br>
            <a:r>
              <a:rPr lang="en-US"/>
              <a:t>  • mcr.microsoft.com/openjdk/jdk:21 (Microsoft): G1GC — upstream default</a:t>
            </a:r>
            <a:br>
              <a:rPr lang="en-US"/>
            </a:br>
            <a:r>
              <a:rPr lang="en-US"/>
              <a:t>  • azul/zulu-openjdk:21 (Azul): G1GC default, all GCs available</a:t>
            </a:r>
            <a:br>
              <a:rPr lang="en-US"/>
            </a:br>
            <a:r>
              <a:rPr lang="en-US"/>
              <a:t>  • ibm-semeru-runtime-open-21 (IBM): Eclipse OpenJ9 JVM — completely</a:t>
            </a:r>
            <a:br>
              <a:rPr lang="en-US"/>
            </a:br>
            <a:r>
              <a:rPr lang="en-US"/>
              <a:t>    different JVM with its own Balanced GC policy, not HotSpot at all</a:t>
            </a:r>
            <a:br>
              <a:rPr lang="en-US"/>
            </a:br>
            <a:br>
              <a:rPr lang="en-US"/>
            </a:br>
            <a:r>
              <a:rPr lang="en-US"/>
              <a:t>IBM Semeru/OpenJ9 is worth a mention if IBM shop customers are in the audience —</a:t>
            </a:r>
            <a:br>
              <a:rPr lang="en-US"/>
            </a:br>
            <a:r>
              <a:rPr lang="en-US"/>
              <a:t>it's a different JVM entirely, not HotSpot, with different performance</a:t>
            </a:r>
            <a:br>
              <a:rPr lang="en-US"/>
            </a:br>
            <a:r>
              <a:rPr lang="en-US"/>
              <a:t>characteristics and different tuning flags. Everything in this talk applies to</a:t>
            </a:r>
            <a:br>
              <a:rPr lang="en-US"/>
            </a:br>
            <a:r>
              <a:rPr lang="en-US"/>
              <a:t>HotSpot-based JVMs (Red Hat, Temurin, Corretto, Microsoft, Azul).</a:t>
            </a:r>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main difference between Shenandoah and ZGC is barrier implementation. Both use load (read) barriers to keep references consistent during relocation; since JDK 13 (JEP 189) Shenandoah uses load-reference barriers, not the old Brooks-pointer write barrier.</a:t>
            </a:r>
            <a:r>
              <a:rPr lang="en-US" sz="1100">
                <a:uFill>
                  <a:noFill/>
                </a:uFill>
                <a:latin typeface="Arial"/>
                <a:ea typeface="Arial"/>
                <a:cs typeface="Arial"/>
                <a:sym typeface="Arial"/>
                <a:hlinkClick r:id="rId2"/>
              </a:rPr>
              <a:t> </a:t>
            </a:r>
            <a:r>
              <a:rPr lang="en-US" sz="1100" u="sng">
                <a:solidFill>
                  <a:schemeClr val="hlink"/>
                </a:solidFill>
                <a:latin typeface="Arial"/>
                <a:ea typeface="Arial"/>
                <a:cs typeface="Arial"/>
                <a:sym typeface="Arial"/>
                <a:hlinkClick r:id="rId3"/>
              </a:rPr>
              <a:t>Quarkus</a:t>
            </a:r>
            <a:r>
              <a:rPr lang="en-US" sz="1100">
                <a:latin typeface="Arial"/>
                <a:ea typeface="Arial"/>
                <a:cs typeface="Arial"/>
                <a:sym typeface="Arial"/>
              </a:rPr>
              <a:t> This means Shenandoah offers better throughput in mixed workloads — balancing latency and throughput — while ZGC targets stricter sub-millisecond pauses.</a:t>
            </a:r>
            <a:r>
              <a:rPr lang="en-US" sz="1100">
                <a:uFill>
                  <a:noFill/>
                </a:uFill>
                <a:latin typeface="Arial"/>
                <a:ea typeface="Arial"/>
                <a:cs typeface="Arial"/>
                <a:sym typeface="Arial"/>
                <a:hlinkClick r:id="rId4"/>
              </a:rPr>
              <a:t> </a:t>
            </a:r>
            <a:r>
              <a:rPr lang="en-US" sz="1100" u="sng">
                <a:solidFill>
                  <a:schemeClr val="hlink"/>
                </a:solidFill>
                <a:latin typeface="Arial"/>
                <a:ea typeface="Arial"/>
                <a:cs typeface="Arial"/>
                <a:sym typeface="Arial"/>
                <a:hlinkClick r:id="rId5"/>
              </a:rPr>
              <a:t>Grafana</a:t>
            </a:r>
            <a:endParaRPr sz="1100" u="sng">
              <a:solidFill>
                <a:schemeClr val="hlink"/>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In plain terms: a load barrier fires on every object </a:t>
            </a:r>
            <a:r>
              <a:rPr i="1" lang="en-US" sz="1100">
                <a:latin typeface="Arial"/>
                <a:ea typeface="Arial"/>
                <a:cs typeface="Arial"/>
                <a:sym typeface="Arial"/>
              </a:rPr>
              <a:t>read</a:t>
            </a:r>
            <a:r>
              <a:rPr lang="en-US" sz="1100">
                <a:latin typeface="Arial"/>
                <a:ea typeface="Arial"/>
                <a:cs typeface="Arial"/>
                <a:sym typeface="Arial"/>
              </a:rPr>
              <a:t>. A write barrier fires only on object </a:t>
            </a:r>
            <a:r>
              <a:rPr i="1" lang="en-US" sz="1100">
                <a:latin typeface="Arial"/>
                <a:ea typeface="Arial"/>
                <a:cs typeface="Arial"/>
                <a:sym typeface="Arial"/>
              </a:rPr>
              <a:t>writes</a:t>
            </a:r>
            <a:r>
              <a:rPr lang="en-US" sz="1100">
                <a:latin typeface="Arial"/>
                <a:ea typeface="Arial"/>
                <a:cs typeface="Arial"/>
                <a:sym typeface="Arial"/>
              </a:rPr>
              <a:t>. Reads vastly outnumber writes in most Java applications, so ZGC's colored-pointer load barrier costs more than Shenandoah's load-reference barrier — but ZGC's pause guarantees are correspondingly tighter.</a:t>
            </a:r>
            <a:endParaRPr sz="1100">
              <a:latin typeface="Arial"/>
              <a:ea typeface="Arial"/>
              <a:cs typeface="Arial"/>
              <a:sym typeface="Arial"/>
            </a:endParaRPr>
          </a:p>
          <a:p>
            <a:pPr indent="0" lvl="0" marL="0" rtl="0" algn="l">
              <a:spcBef>
                <a:spcPts val="1200"/>
              </a:spcBef>
              <a:spcAft>
                <a:spcPts val="0"/>
              </a:spcAft>
              <a:buNone/>
            </a:pPr>
            <a:br>
              <a:rPr lang="en-US"/>
            </a:br>
            <a:endParaRPr/>
          </a:p>
        </p:txBody>
      </p:sp>
      <p:sp>
        <p:nvSpPr>
          <p:cNvPr id="1195" name="Google Shape;1195;g3d8c134f9ee_0_2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4" name="Shape 1264"/>
        <p:cNvGrpSpPr/>
        <p:nvPr/>
      </p:nvGrpSpPr>
      <p:grpSpPr>
        <a:xfrm>
          <a:off x="0" y="0"/>
          <a:ext cx="0" cy="0"/>
          <a:chOff x="0" y="0"/>
          <a:chExt cx="0" cy="0"/>
        </a:xfrm>
      </p:grpSpPr>
      <p:sp>
        <p:nvSpPr>
          <p:cNvPr id="1265" name="Google Shape;1265;g3d8c134f9ee_0_5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6" name="Google Shape;1266;g3d8c134f9ee_0_5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DEMO 06 INTRO — Low-Latency JVM Tuning</a:t>
            </a:r>
            <a:br>
              <a:rPr lang="en-US"/>
            </a:br>
            <a:br>
              <a:rPr lang="en-US"/>
            </a:br>
            <a:r>
              <a:rPr lang="en-US"/>
              <a:t>CONTEXT: This is a bonus section for audiences who manage latency-sensitive services — financial, gaming, real-time bidding, anything with a p99 SLA tighter than 50ms.</a:t>
            </a:r>
            <a:br>
              <a:rPr lang="en-US"/>
            </a:br>
            <a:br>
              <a:rPr lang="en-US"/>
            </a:br>
            <a:r>
              <a:rPr lang="en-US"/>
              <a:t>KEY SETUP: Two identical Quarkus apps behind hey load generator.</a:t>
            </a:r>
            <a:br>
              <a:rPr lang="en-US"/>
            </a:br>
            <a:r>
              <a:rPr lang="en-US"/>
              <a:t>  - App 1 (port 8080): G1GC — default, most teams run this</a:t>
            </a:r>
            <a:br>
              <a:rPr lang="en-US"/>
            </a:br>
            <a:r>
              <a:rPr lang="en-US"/>
              <a:t>  - App 2 (port 8081): ZGC generational — opt-in, JDK 21+</a:t>
            </a:r>
            <a:br>
              <a:rPr lang="en-US"/>
            </a:br>
            <a:br>
              <a:rPr lang="en-US"/>
            </a:br>
            <a:r>
              <a:rPr lang="en-US"/>
              <a:t>WHAT TO SAY:</a:t>
            </a:r>
            <a:br>
              <a:rPr lang="en-US"/>
            </a:br>
            <a:r>
              <a:rPr lang="en-US"/>
              <a:t>  "G1GC is the right default for most workloads — high throughput, well understood.</a:t>
            </a:r>
            <a:br>
              <a:rPr lang="en-US"/>
            </a:br>
            <a:r>
              <a:rPr lang="en-US"/>
              <a:t>   But if your service has a p99 SLA of 20ms, and G1GC pauses for 150ms every</a:t>
            </a:r>
            <a:br>
              <a:rPr lang="en-US"/>
            </a:br>
            <a:r>
              <a:rPr lang="en-US"/>
              <a:t>   few seconds, you will breach it. ZGC trades a small throughput margin for</a:t>
            </a:r>
            <a:br>
              <a:rPr lang="en-US"/>
            </a:br>
            <a:r>
              <a:rPr lang="en-US"/>
              <a:t>   consistently sub-millisecond pauses. Let's see the difference."</a:t>
            </a:r>
            <a:br>
              <a:rPr lang="en-US"/>
            </a:br>
            <a:br>
              <a:rPr lang="en-US"/>
            </a:br>
            <a:r>
              <a:rPr lang="en-US"/>
              <a:t>IMPORTANT: The Kubernetes tuning (CPU Manager, Topology Manager, huge pages)</a:t>
            </a:r>
            <a:br>
              <a:rPr lang="en-US"/>
            </a:br>
            <a:r>
              <a:rPr lang="en-US"/>
              <a:t>  is configuration-only — show the slides, don't try to demo those live.</a:t>
            </a:r>
            <a:br>
              <a:rPr lang="en-US"/>
            </a:br>
            <a:r>
              <a:rPr lang="en-US"/>
              <a:t>  The demo focuses purely on the GC difference which IS visible locally.</a:t>
            </a:r>
            <a:endParaRPr/>
          </a:p>
        </p:txBody>
      </p:sp>
      <p:sp>
        <p:nvSpPr>
          <p:cNvPr id="1267" name="Google Shape;1267;g3d8c134f9ee_0_5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g3d8c134f9e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1" name="Google Shape;1291;g3d8c134f9ee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OVER-PROVISIONING PROBLEM</a:t>
            </a:r>
            <a:br>
              <a:rPr lang="en-US"/>
            </a:br>
            <a:br>
              <a:rPr lang="en-US"/>
            </a:br>
            <a:r>
              <a:rPr lang="en-US"/>
              <a:t>Opening: "Who set memory requests based on Xmx plus a safety buffer? Who reviewed them in the last 6 months?"</a:t>
            </a:r>
            <a:br>
              <a:rPr lang="en-US"/>
            </a:br>
            <a:br>
              <a:rPr lang="en-US"/>
            </a:br>
            <a:r>
              <a:rPr lang="en-US"/>
              <a:t>GC CPU spikes: Teams set CPU to the peak they saw once during GC. GC spikes last milliseconds — they pay for it every hour.</a:t>
            </a:r>
            <a:br>
              <a:rPr lang="en-US"/>
            </a:br>
            <a:br>
              <a:rPr lang="en-US"/>
            </a:br>
            <a:r>
              <a:rPr lang="en-US"/>
              <a:t>Outcome numbers come from bundled sample Prometheus data modelling a 7-service cluster. 30-40% node waste is consistent across customer environments.</a:t>
            </a:r>
            <a:br>
              <a:rPr lang="en-US"/>
            </a:br>
            <a:br>
              <a:rPr lang="en-US"/>
            </a:br>
            <a:r>
              <a:rPr lang="en-US"/>
              <a:t>Transition: "The fix is data, not guesswork."</a:t>
            </a:r>
            <a:endParaRPr/>
          </a:p>
        </p:txBody>
      </p:sp>
      <p:sp>
        <p:nvSpPr>
          <p:cNvPr id="1292" name="Google Shape;1292;g3d8c134f9ee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7" name="Shape 1337"/>
        <p:cNvGrpSpPr/>
        <p:nvPr/>
      </p:nvGrpSpPr>
      <p:grpSpPr>
        <a:xfrm>
          <a:off x="0" y="0"/>
          <a:ext cx="0" cy="0"/>
          <a:chOff x="0" y="0"/>
          <a:chExt cx="0" cy="0"/>
        </a:xfrm>
      </p:grpSpPr>
      <p:sp>
        <p:nvSpPr>
          <p:cNvPr id="1338" name="Google Shape;1338;g3d8c134f9ee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9" name="Google Shape;1339;g3d8c134f9ee_0_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RIGHT-SIZING TABLE</a:t>
            </a:r>
            <a:br>
              <a:rPr lang="en-US"/>
            </a:br>
            <a:br>
              <a:rPr lang="en-US"/>
            </a:br>
            <a:r>
              <a:rPr lang="en-US"/>
              <a:t>Key points:</a:t>
            </a:r>
            <a:br>
              <a:rPr lang="en-US"/>
            </a:br>
            <a:r>
              <a:rPr lang="en-US"/>
              <a:t>- payment-service CPU: 2000m→550m. Request was set to GC spike peak. We use p95 (GC excluded) × 1.30 = 546m, rounded to 550m. Still 33% above non-GC p95.</a:t>
            </a:r>
            <a:br>
              <a:rPr lang="en-US"/>
            </a:br>
            <a:r>
              <a:rPr lang="en-US"/>
              <a:t>- fraud-detection: copied from Spring Boot, never revisited. Quarkus uses far less.</a:t>
            </a:r>
            <a:br>
              <a:rPr lang="en-US"/>
            </a:br>
            <a:r>
              <a:rPr lang="en-US"/>
              <a:t>- report-generator: CPU cut 78% (4000m→900m) but memory stays near limit — batch workload, real CPU. A data-driven exception.</a:t>
            </a:r>
            <a:br>
              <a:rPr lang="en-US"/>
            </a:br>
            <a:r>
              <a:rPr lang="en-US"/>
              <a:t>- GC p99 column shows who needs ZGC: token-service 4ms (already fine), report-generator 850ms (urgent).</a:t>
            </a:r>
            <a:br>
              <a:rPr lang="en-US"/>
            </a:br>
            <a:br>
              <a:rPr lang="en-US"/>
            </a:br>
            <a:r>
              <a:rPr lang="en-US"/>
              <a:t>Methodology: "We're not guessing. 14 days of Prometheus data, p99 + 30% headroom. That's more conservative than the actual variance."</a:t>
            </a:r>
            <a:endParaRPr/>
          </a:p>
        </p:txBody>
      </p:sp>
      <p:sp>
        <p:nvSpPr>
          <p:cNvPr id="1340" name="Google Shape;1340;g3d8c134f9ee_0_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5" name="Shape 1425"/>
        <p:cNvGrpSpPr/>
        <p:nvPr/>
      </p:nvGrpSpPr>
      <p:grpSpPr>
        <a:xfrm>
          <a:off x="0" y="0"/>
          <a:ext cx="0" cy="0"/>
          <a:chOff x="0" y="0"/>
          <a:chExt cx="0" cy="0"/>
        </a:xfrm>
      </p:grpSpPr>
      <p:sp>
        <p:nvSpPr>
          <p:cNvPr id="1426" name="Google Shape;1426;g3d8c134f9ee_0_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7" name="Google Shape;1427;g3d8c134f9ee_0_1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BIN-PACKING SLIDE</a:t>
            </a:r>
            <a:br>
              <a:rPr lang="en-US"/>
            </a:br>
            <a:br>
              <a:rPr lang="en-US"/>
            </a:br>
            <a:r>
              <a:rPr lang="en-US"/>
              <a:t>Key message: "Same workloads, same cluster, 2 nodes instead of 6. We just stopped over-requesting from the scheduler."</a:t>
            </a:r>
            <a:br>
              <a:rPr lang="en-US"/>
            </a:br>
            <a:br>
              <a:rPr lang="en-US"/>
            </a:br>
            <a:r>
              <a:rPr lang="en-US"/>
              <a:t>Before: 33,000m CPU / 70,656Mi requested across 6 nodes. CPU is the binding constraint (~92%), so memory sits idle (~43%).</a:t>
            </a:r>
            <a:br>
              <a:rPr lang="en-US"/>
            </a:br>
            <a:r>
              <a:rPr lang="en-US"/>
              <a:t>After: 10,800m CPU / 50,624Mi requested. Same pods fit into 2 nodes — now memory-bound (~92%).</a:t>
            </a:r>
            <a:br>
              <a:rPr lang="en-US"/>
            </a:br>
            <a:br>
              <a:rPr lang="en-US"/>
            </a:br>
            <a:r>
              <a:rPr lang="en-US"/>
              <a:t>On safety: "We went from 2000m to 550m CPU — that's still 33% above observed p95. Real headroom, not imaginary headroom."</a:t>
            </a:r>
            <a:endParaRPr/>
          </a:p>
        </p:txBody>
      </p:sp>
      <p:sp>
        <p:nvSpPr>
          <p:cNvPr id="1428" name="Google Shape;1428;g3d8c134f9ee_0_1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9" name="Shape 1479"/>
        <p:cNvGrpSpPr/>
        <p:nvPr/>
      </p:nvGrpSpPr>
      <p:grpSpPr>
        <a:xfrm>
          <a:off x="0" y="0"/>
          <a:ext cx="0" cy="0"/>
          <a:chOff x="0" y="0"/>
          <a:chExt cx="0" cy="0"/>
        </a:xfrm>
      </p:grpSpPr>
      <p:sp>
        <p:nvSpPr>
          <p:cNvPr id="1480" name="Google Shape;1480;g3d8c134f9ee_0_1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1" name="Google Shape;1481;g3d8c134f9ee_0_1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COST IMPACT SLIDE</a:t>
            </a:r>
            <a:br>
              <a:rPr lang="en-US"/>
            </a:br>
            <a:br>
              <a:rPr lang="en-US"/>
            </a:br>
            <a:r>
              <a:rPr lang="en-US"/>
              <a:t>Lead with the number: "$13,455/year from one cluster, one afternoon of analysis."</a:t>
            </a:r>
            <a:br>
              <a:rPr lang="en-US"/>
            </a:br>
            <a:br>
              <a:rPr lang="en-US"/>
            </a:br>
            <a:r>
              <a:rPr lang="en-US"/>
              <a:t>Business case: 3 things leadership needs:</a:t>
            </a:r>
            <a:br>
              <a:rPr lang="en-US"/>
            </a:br>
            <a:r>
              <a:rPr lang="en-US"/>
              <a:t>1. Saving is quantifiable — here it is</a:t>
            </a:r>
            <a:br>
              <a:rPr lang="en-US"/>
            </a:br>
            <a:r>
              <a:rPr lang="en-US"/>
              <a:t>2. Risk is low — rolling restarts, no code changes</a:t>
            </a:r>
            <a:br>
              <a:rPr lang="en-US"/>
            </a:br>
            <a:r>
              <a:rPr lang="en-US"/>
              <a:t>3. Effort is proportionate — ~$269 for $13,455 = ~50x ROI</a:t>
            </a:r>
            <a:br>
              <a:rPr lang="en-US"/>
            </a:br>
            <a:br>
              <a:rPr lang="en-US"/>
            </a:br>
            <a:r>
              <a:rPr lang="en-US"/>
              <a:t>OpenShift Cost Management: shows this analysis automatically, integrates with cloud billing, gives per-namespace chargeback.</a:t>
            </a:r>
            <a:br>
              <a:rPr lang="en-US"/>
            </a:br>
            <a:br>
              <a:rPr lang="en-US"/>
            </a:br>
            <a:r>
              <a:rPr lang="en-US"/>
              <a:t>Sustainable version: CI gate that fails PRs where requests &gt; 2× last-30-day p99. Bake right-sizing into delivery.</a:t>
            </a:r>
            <a:endParaRPr/>
          </a:p>
        </p:txBody>
      </p:sp>
      <p:sp>
        <p:nvSpPr>
          <p:cNvPr id="1482" name="Google Shape;1482;g3d8c134f9ee_0_1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4" name="Shape 1534"/>
        <p:cNvGrpSpPr/>
        <p:nvPr/>
      </p:nvGrpSpPr>
      <p:grpSpPr>
        <a:xfrm>
          <a:off x="0" y="0"/>
          <a:ext cx="0" cy="0"/>
          <a:chOff x="0" y="0"/>
          <a:chExt cx="0" cy="0"/>
        </a:xfrm>
      </p:grpSpPr>
      <p:sp>
        <p:nvSpPr>
          <p:cNvPr id="1535" name="Google Shape;1535;g3d8c134f9ee_0_4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6" name="Google Shape;1536;g3d8c134f9ee_0_4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DEMO 07 INTRO — Right-Sizing &amp; Cost Impact Analysis</a:t>
            </a:r>
            <a:br>
              <a:rPr lang="en-US"/>
            </a:br>
            <a:br>
              <a:rPr lang="en-US"/>
            </a:br>
            <a:r>
              <a:rPr lang="en-US"/>
              <a:t>CONTEXT:</a:t>
            </a:r>
            <a:br>
              <a:rPr lang="en-US"/>
            </a:br>
            <a:r>
              <a:rPr lang="en-US"/>
              <a:t>  This demo requires no containers, no cluster, and no network access.</a:t>
            </a:r>
            <a:br>
              <a:rPr lang="en-US"/>
            </a:br>
            <a:r>
              <a:rPr lang="en-US"/>
              <a:t>  It runs entirely from Python stdlib against bundled sample data — 14 days</a:t>
            </a:r>
            <a:br>
              <a:rPr lang="en-US"/>
            </a:br>
            <a:r>
              <a:rPr lang="en-US"/>
              <a:t>  of representative Prometheus metrics from a 7-service cluster.</a:t>
            </a:r>
            <a:br>
              <a:rPr lang="en-US"/>
            </a:br>
            <a:r>
              <a:rPr lang="en-US"/>
              <a:t>  Runtime: about 3 seconds.</a:t>
            </a:r>
            <a:br>
              <a:rPr lang="en-US"/>
            </a:br>
            <a:br>
              <a:rPr lang="en-US"/>
            </a:br>
            <a:r>
              <a:rPr lang="en-US"/>
              <a:t>OPENING:</a:t>
            </a:r>
            <a:br>
              <a:rPr lang="en-US"/>
            </a:br>
            <a:r>
              <a:rPr lang="en-US"/>
              <a:t>  "Before we talk about optimising Java workloads, we need to acknowledge</a:t>
            </a:r>
            <a:br>
              <a:rPr lang="en-US"/>
            </a:br>
            <a:r>
              <a:rPr lang="en-US"/>
              <a:t>   that most clusters are running Java pods that are dramatically over-</a:t>
            </a:r>
            <a:br>
              <a:rPr lang="en-US"/>
            </a:br>
            <a:r>
              <a:rPr lang="en-US"/>
              <a:t>   provisioned. The resource requests were set once, probably based on</a:t>
            </a:r>
            <a:br>
              <a:rPr lang="en-US"/>
            </a:br>
            <a:r>
              <a:rPr lang="en-US"/>
              <a:t>   fear or a GC spike someone saw once, and never revisited.</a:t>
            </a:r>
            <a:br>
              <a:rPr lang="en-US"/>
            </a:br>
            <a:r>
              <a:rPr lang="en-US"/>
              <a:t>   This demo quantifies that waste and builds the business case for fixing it."</a:t>
            </a:r>
            <a:br>
              <a:rPr lang="en-US"/>
            </a:br>
            <a:br>
              <a:rPr lang="en-US"/>
            </a:br>
            <a:r>
              <a:rPr lang="en-US"/>
              <a:t>WHAT TO POINT OUT DURING THE DEMO:</a:t>
            </a:r>
            <a:br>
              <a:rPr lang="en-US"/>
            </a:br>
            <a:r>
              <a:rPr lang="en-US"/>
              <a:t>  1. The GC spike detection — when CPU p99 is 3× the median, it's a GC event,</a:t>
            </a:r>
            <a:br>
              <a:rPr lang="en-US"/>
            </a:br>
            <a:r>
              <a:rPr lang="en-US"/>
              <a:t>     not application load. The tool switches to p95 as the basis automatically.</a:t>
            </a:r>
            <a:br>
              <a:rPr lang="en-US"/>
            </a:br>
            <a:r>
              <a:rPr lang="en-US"/>
              <a:t>  2. The report-generator's memory staying near limit — not everything should be cut.</a:t>
            </a:r>
            <a:br>
              <a:rPr lang="en-US"/>
            </a:br>
            <a:r>
              <a:rPr lang="en-US"/>
              <a:t>     The exception shows the tool is data-driven, not aggressive.</a:t>
            </a:r>
            <a:br>
              <a:rPr lang="en-US"/>
            </a:br>
            <a:r>
              <a:rPr lang="en-US"/>
              <a:t>  3. The node count: 6 → 2 is the headline (4 nodes eliminated). Same workloads, zero changes to</a:t>
            </a:r>
            <a:br>
              <a:rPr lang="en-US"/>
            </a:br>
            <a:r>
              <a:rPr lang="en-US"/>
              <a:t>     application code, half the infrastructure bill.</a:t>
            </a:r>
            <a:br>
              <a:rPr lang="en-US"/>
            </a:br>
            <a:r>
              <a:rPr lang="en-US"/>
              <a:t>  4. The kubectl commands at the end — this isn't a recommendation document,</a:t>
            </a:r>
            <a:br>
              <a:rPr lang="en-US"/>
            </a:br>
            <a:r>
              <a:rPr lang="en-US"/>
              <a:t>     it's an actionable output ready to apply.</a:t>
            </a:r>
            <a:br>
              <a:rPr lang="en-US"/>
            </a:br>
            <a:br>
              <a:rPr lang="en-US"/>
            </a:br>
            <a:r>
              <a:rPr lang="en-US"/>
              <a:t>ON OPENSHIFT COST MANAGEMENT:</a:t>
            </a:r>
            <a:br>
              <a:rPr lang="en-US"/>
            </a:br>
            <a:r>
              <a:rPr lang="en-US"/>
              <a:t>  "If you're on OpenShift, the Cost Management operator provides this</a:t>
            </a:r>
            <a:br>
              <a:rPr lang="en-US"/>
            </a:br>
            <a:r>
              <a:rPr lang="en-US"/>
              <a:t>   analysis continuously, not just on demand. It integrates with your cloud</a:t>
            </a:r>
            <a:br>
              <a:rPr lang="en-US"/>
            </a:br>
            <a:r>
              <a:rPr lang="en-US"/>
              <a:t>   billing data and generates the same kubectl recommendations automatically.</a:t>
            </a:r>
            <a:br>
              <a:rPr lang="en-US"/>
            </a:br>
            <a:r>
              <a:rPr lang="en-US"/>
              <a:t>   This demo shows you exactly what it's doing under the covers."</a:t>
            </a:r>
            <a:br>
              <a:rPr lang="en-US"/>
            </a:br>
            <a:br>
              <a:rPr lang="en-US"/>
            </a:br>
            <a:r>
              <a:rPr lang="en-US"/>
              <a:t>THE BUSINESS CASE FRAMING:</a:t>
            </a:r>
            <a:br>
              <a:rPr lang="en-US"/>
            </a:br>
            <a:r>
              <a:rPr lang="en-US"/>
              <a:t>  "$13,455/year saving for ~$269 of engineering time = ~50x ROI.</a:t>
            </a:r>
            <a:br>
              <a:rPr lang="en-US"/>
            </a:br>
            <a:r>
              <a:rPr lang="en-US"/>
              <a:t>   That's before you account for the indirect benefits: better HPA behaviour</a:t>
            </a:r>
            <a:br>
              <a:rPr lang="en-US"/>
            </a:br>
            <a:r>
              <a:rPr lang="en-US"/>
              <a:t>   because CPU requests actually match usage, faster pod scheduling because</a:t>
            </a:r>
            <a:br>
              <a:rPr lang="en-US"/>
            </a:br>
            <a:r>
              <a:rPr lang="en-US"/>
              <a:t>   the scheduler has a more accurate picture of available capacity,</a:t>
            </a:r>
            <a:br>
              <a:rPr lang="en-US"/>
            </a:br>
            <a:r>
              <a:rPr lang="en-US"/>
              <a:t>   and VPA recommendations you can rely on."</a:t>
            </a:r>
            <a:br>
              <a:rPr lang="en-US"/>
            </a:br>
            <a:endParaRPr/>
          </a:p>
        </p:txBody>
      </p:sp>
      <p:sp>
        <p:nvSpPr>
          <p:cNvPr id="1537" name="Google Shape;1537;g3d8c134f9ee_0_4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3" name="Shape 1563"/>
        <p:cNvGrpSpPr/>
        <p:nvPr/>
      </p:nvGrpSpPr>
      <p:grpSpPr>
        <a:xfrm>
          <a:off x="0" y="0"/>
          <a:ext cx="0" cy="0"/>
          <a:chOff x="0" y="0"/>
          <a:chExt cx="0" cy="0"/>
        </a:xfrm>
      </p:grpSpPr>
      <p:sp>
        <p:nvSpPr>
          <p:cNvPr id="1564" name="Google Shape;1564;g3d8c134f9ee_0_3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5" name="Google Shape;1565;g3d8c134f9ee_0_3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PROJECT PANAMA — INTRO SLIDE</a:t>
            </a:r>
            <a:br>
              <a:rPr lang="en-US"/>
            </a:br>
            <a:br>
              <a:rPr lang="en-US"/>
            </a:br>
            <a:r>
              <a:rPr lang="en-US"/>
              <a:t>OPENING LINE:</a:t>
            </a:r>
            <a:br>
              <a:rPr lang="en-US"/>
            </a:br>
            <a:r>
              <a:rPr lang="en-US"/>
              <a:t>  "JNI has been how Java calls native code since 1996. Project Panama is its</a:t>
            </a:r>
            <a:br>
              <a:rPr lang="en-US"/>
            </a:br>
            <a:r>
              <a:rPr lang="en-US"/>
              <a:t>   replacement — and it's production-ready as of JDK 22."</a:t>
            </a:r>
            <a:br>
              <a:rPr lang="en-US"/>
            </a:br>
            <a:br>
              <a:rPr lang="en-US"/>
            </a:br>
            <a:r>
              <a:rPr lang="en-US"/>
              <a:t>ON JNI PAIN:</a:t>
            </a:r>
            <a:br>
              <a:rPr lang="en-US"/>
            </a:br>
            <a:r>
              <a:rPr lang="en-US"/>
              <a:t>  "The fundamental problem with JNI is that it requires three languages for one</a:t>
            </a:r>
            <a:br>
              <a:rPr lang="en-US"/>
            </a:br>
            <a:r>
              <a:rPr lang="en-US"/>
              <a:t>   call: Java, a C header, and C wrapper code. That wrapper has to be compiled</a:t>
            </a:r>
            <a:br>
              <a:rPr lang="en-US"/>
            </a:br>
            <a:r>
              <a:rPr lang="en-US"/>
              <a:t>   per-platform. If it segfaults, it takes the entire JVM down with no Java</a:t>
            </a:r>
            <a:br>
              <a:rPr lang="en-US"/>
            </a:br>
            <a:r>
              <a:rPr lang="en-US"/>
              <a:t>   stack trace — you get a hs_err_pid file and a cryptic memory address."</a:t>
            </a:r>
            <a:br>
              <a:rPr lang="en-US"/>
            </a:br>
            <a:br>
              <a:rPr lang="en-US"/>
            </a:br>
            <a:r>
              <a:rPr lang="en-US"/>
              <a:t>ON sun.misc.Unsafe:</a:t>
            </a:r>
            <a:br>
              <a:rPr lang="en-US"/>
            </a:br>
            <a:r>
              <a:rPr lang="en-US"/>
              <a:t>  "Almost every high-performance Java library you depend on uses Unsafe —</a:t>
            </a:r>
            <a:br>
              <a:rPr lang="en-US"/>
            </a:br>
            <a:r>
              <a:rPr lang="en-US"/>
              <a:t>   Netty, Chronicle Map, Agrona, most JDBC drivers. It's private API that</a:t>
            </a:r>
            <a:br>
              <a:rPr lang="en-US"/>
            </a:br>
            <a:r>
              <a:rPr lang="en-US"/>
              <a:t>   technically breaks with every JDK release. JDK 23 started restricting it.</a:t>
            </a:r>
            <a:br>
              <a:rPr lang="en-US"/>
            </a:br>
            <a:r>
              <a:rPr lang="en-US"/>
              <a:t>   MemorySegment is the official replacement and the ecosystem is migrating."</a:t>
            </a:r>
            <a:br>
              <a:rPr lang="en-US"/>
            </a:br>
            <a:br>
              <a:rPr lang="en-US"/>
            </a:br>
            <a:r>
              <a:rPr lang="en-US"/>
              <a:t>ON PANAMA:</a:t>
            </a:r>
            <a:br>
              <a:rPr lang="en-US"/>
            </a:br>
            <a:r>
              <a:rPr lang="en-US"/>
              <a:t>  "The Foreign Function &amp; Memory API gives you C interop from pure Java.</a:t>
            </a:r>
            <a:br>
              <a:rPr lang="en-US"/>
            </a:br>
            <a:r>
              <a:rPr lang="en-US"/>
              <a:t>   No C code, no compilation pipeline, no platform-specific artifacts.</a:t>
            </a:r>
            <a:br>
              <a:rPr lang="en-US"/>
            </a:br>
            <a:r>
              <a:rPr lang="en-US"/>
              <a:t>   The Arena model gives you deterministic native memory lifetimes — when</a:t>
            </a:r>
            <a:br>
              <a:rPr lang="en-US"/>
            </a:br>
            <a:r>
              <a:rPr lang="en-US"/>
              <a:t>   the arena closes, everything in it is freed. You can't leak if you</a:t>
            </a:r>
            <a:br>
              <a:rPr lang="en-US"/>
            </a:br>
            <a:r>
              <a:rPr lang="en-US"/>
              <a:t>   use try-with-resources."</a:t>
            </a:r>
            <a:br>
              <a:rPr lang="en-US"/>
            </a:br>
            <a:br>
              <a:rPr lang="en-US"/>
            </a:br>
            <a:r>
              <a:rPr lang="en-US"/>
              <a:t>JDK STATUS:</a:t>
            </a:r>
            <a:br>
              <a:rPr lang="en-US"/>
            </a:br>
            <a:r>
              <a:rPr lang="en-US"/>
              <a:t>  JDK 21 LTS — FFM as 3rd preview (--enable-preview required)</a:t>
            </a:r>
            <a:br>
              <a:rPr lang="en-US"/>
            </a:br>
            <a:r>
              <a:rPr lang="en-US"/>
              <a:t>  JDK 22     — FFM finalized, production-ready</a:t>
            </a:r>
            <a:br>
              <a:rPr lang="en-US"/>
            </a:br>
            <a:r>
              <a:rPr lang="en-US"/>
              <a:t>  JDK 25 LTS — FFM stable, Vector API still incubating</a:t>
            </a:r>
            <a:br>
              <a:rPr lang="en-US"/>
            </a:br>
            <a:r>
              <a:rPr lang="en-US"/>
              <a:t>  Quarkus 3.33.1 — supports FFM via JDK 25 without preview flag</a:t>
            </a:r>
            <a:br>
              <a:rPr lang="en-US"/>
            </a:br>
            <a:endParaRPr/>
          </a:p>
        </p:txBody>
      </p:sp>
      <p:sp>
        <p:nvSpPr>
          <p:cNvPr id="1566" name="Google Shape;1566;g3d8c134f9ee_0_3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7" name="Shape 1607"/>
        <p:cNvGrpSpPr/>
        <p:nvPr/>
      </p:nvGrpSpPr>
      <p:grpSpPr>
        <a:xfrm>
          <a:off x="0" y="0"/>
          <a:ext cx="0" cy="0"/>
          <a:chOff x="0" y="0"/>
          <a:chExt cx="0" cy="0"/>
        </a:xfrm>
      </p:grpSpPr>
      <p:sp>
        <p:nvSpPr>
          <p:cNvPr id="1608" name="Google Shape;1608;g3d8c134f9ee_0_3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9" name="Google Shape;1609;g3d8c134f9ee_0_3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DEMO 08 — FFM + C++ SLIDE</a:t>
            </a:r>
            <a:br>
              <a:rPr lang="en-US"/>
            </a:br>
            <a:br>
              <a:rPr lang="en-US"/>
            </a:br>
            <a:r>
              <a:rPr lang="en-US"/>
              <a:t>WHAT THE DEMO DOES:</a:t>
            </a:r>
            <a:br>
              <a:rPr lang="en-US"/>
            </a:br>
            <a:r>
              <a:rPr lang="en-US"/>
              <a:t>  A Quarkus 3.33.1 REST service running on JDK 25 calls a C++20 shared</a:t>
            </a:r>
            <a:br>
              <a:rPr lang="en-US"/>
            </a:br>
            <a:r>
              <a:rPr lang="en-US"/>
              <a:t>  library that analyses arrays of GC pause measurements and recommends</a:t>
            </a:r>
            <a:br>
              <a:rPr lang="en-US"/>
            </a:br>
            <a:r>
              <a:rPr lang="en-US"/>
              <a:t>  a GC algorithm. The C++ code uses std::span, std::ranges::sort, and</a:t>
            </a:r>
            <a:br>
              <a:rPr lang="en-US"/>
            </a:br>
            <a:r>
              <a:rPr lang="en-US"/>
              <a:t>  percentile calculation — modern C++ features that would be painful to</a:t>
            </a:r>
            <a:br>
              <a:rPr lang="en-US"/>
            </a:br>
            <a:r>
              <a:rPr lang="en-US"/>
              <a:t>  replicate in Java without the SIMD / native math benefits.</a:t>
            </a:r>
            <a:br>
              <a:rPr lang="en-US"/>
            </a:br>
            <a:br>
              <a:rPr lang="en-US"/>
            </a:br>
            <a:r>
              <a:rPr lang="en-US"/>
              <a:t>WHY C++ FOR THIS:</a:t>
            </a:r>
            <a:br>
              <a:rPr lang="en-US"/>
            </a:br>
            <a:r>
              <a:rPr lang="en-US"/>
              <a:t>  "This is a contrived example to show the mechanism — in production</a:t>
            </a:r>
            <a:br>
              <a:rPr lang="en-US"/>
            </a:br>
            <a:r>
              <a:rPr lang="en-US"/>
              <a:t>   you'd use Panama to call things like BLAS for matrix math, Intel MKL</a:t>
            </a:r>
            <a:br>
              <a:rPr lang="en-US"/>
            </a:br>
            <a:r>
              <a:rPr lang="en-US"/>
              <a:t>   for FFT, LibreOffice for document conversion, or OpenSSL for custom</a:t>
            </a:r>
            <a:br>
              <a:rPr lang="en-US"/>
            </a:br>
            <a:r>
              <a:rPr lang="en-US"/>
              <a:t>   crypto. The point is the calling convention: pure Java, type-safe,</a:t>
            </a:r>
            <a:br>
              <a:rPr lang="en-US"/>
            </a:br>
            <a:r>
              <a:rPr lang="en-US"/>
              <a:t>   arena-managed memory, no C wrapper code."</a:t>
            </a:r>
            <a:br>
              <a:rPr lang="en-US"/>
            </a:br>
            <a:br>
              <a:rPr lang="en-US"/>
            </a:br>
            <a:r>
              <a:rPr lang="en-US"/>
              <a:t>ON jextract:</a:t>
            </a:r>
            <a:br>
              <a:rPr lang="en-US"/>
            </a:br>
            <a:r>
              <a:rPr lang="en-US"/>
              <a:t>  "jextract reads jvmstats.h and generates JvmStats.java. That generated</a:t>
            </a:r>
            <a:br>
              <a:rPr lang="en-US"/>
            </a:br>
            <a:r>
              <a:rPr lang="en-US"/>
              <a:t>   class has a static MethodHandle for every exported C function and a</a:t>
            </a:r>
            <a:br>
              <a:rPr lang="en-US"/>
            </a:br>
            <a:r>
              <a:rPr lang="en-US"/>
              <a:t>   MemoryLayout for every struct. You call recommend_gc via its MethodHandle.</a:t>
            </a:r>
            <a:br>
              <a:rPr lang="en-US"/>
            </a:br>
            <a:r>
              <a:rPr lang="en-US"/>
              <a:t>   The generated code is boilerplate — you never write it, you call it."</a:t>
            </a:r>
            <a:br>
              <a:rPr lang="en-US"/>
            </a:br>
            <a:br>
              <a:rPr lang="en-US"/>
            </a:br>
            <a:r>
              <a:rPr lang="en-US"/>
              <a:t>ON ARENAS:</a:t>
            </a:r>
            <a:br>
              <a:rPr lang="en-US"/>
            </a:br>
            <a:r>
              <a:rPr lang="en-US"/>
              <a:t>  "The Arena is the key safety feature. Everything allocated in a confined</a:t>
            </a:r>
            <a:br>
              <a:rPr lang="en-US"/>
            </a:br>
            <a:r>
              <a:rPr lang="en-US"/>
              <a:t>   arena is freed when the arena closes — try-with-resources makes this</a:t>
            </a:r>
            <a:br>
              <a:rPr lang="en-US"/>
            </a:br>
            <a:r>
              <a:rPr lang="en-US"/>
              <a:t>   deterministic. You cannot leak native memory if you use arenas correctly.</a:t>
            </a:r>
            <a:br>
              <a:rPr lang="en-US"/>
            </a:br>
            <a:r>
              <a:rPr lang="en-US"/>
              <a:t>   Compare this to JNI where forgetting to call DeleteLocalRef or free()</a:t>
            </a:r>
            <a:br>
              <a:rPr lang="en-US"/>
            </a:br>
            <a:r>
              <a:rPr lang="en-US"/>
              <a:t>   causes unbounded native heap growth."</a:t>
            </a:r>
            <a:br>
              <a:rPr lang="en-US"/>
            </a:br>
            <a:br>
              <a:rPr lang="en-US"/>
            </a:br>
            <a:r>
              <a:rPr lang="en-US"/>
              <a:t>ON PERFORMANCE:</a:t>
            </a:r>
            <a:br>
              <a:rPr lang="en-US"/>
            </a:br>
            <a:r>
              <a:rPr lang="en-US"/>
              <a:t>  "FFM downcalls are significantly faster than JNI. The JVM can inline</a:t>
            </a:r>
            <a:br>
              <a:rPr lang="en-US"/>
            </a:br>
            <a:r>
              <a:rPr lang="en-US"/>
              <a:t>   the transition for simple call patterns. For hot paths that call native</a:t>
            </a:r>
            <a:br>
              <a:rPr lang="en-US"/>
            </a:br>
            <a:r>
              <a:rPr lang="en-US"/>
              <a:t>   code thousands of times per second — crypto, compression, ML preprocessing</a:t>
            </a:r>
            <a:br>
              <a:rPr lang="en-US"/>
            </a:br>
            <a:r>
              <a:rPr lang="en-US"/>
              <a:t>   — this is a meaningful improvement."</a:t>
            </a:r>
            <a:br>
              <a:rPr lang="en-US"/>
            </a:br>
            <a:endParaRPr/>
          </a:p>
        </p:txBody>
      </p:sp>
      <p:sp>
        <p:nvSpPr>
          <p:cNvPr id="1610" name="Google Shape;1610;g3d8c134f9ee_0_3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0" name="Shape 1650"/>
        <p:cNvGrpSpPr/>
        <p:nvPr/>
      </p:nvGrpSpPr>
      <p:grpSpPr>
        <a:xfrm>
          <a:off x="0" y="0"/>
          <a:ext cx="0" cy="0"/>
          <a:chOff x="0" y="0"/>
          <a:chExt cx="0" cy="0"/>
        </a:xfrm>
      </p:grpSpPr>
      <p:sp>
        <p:nvSpPr>
          <p:cNvPr id="1651" name="Google Shape;1651;g3d8c134f9ee_0_4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2" name="Google Shape;1652;g3d8c134f9ee_0_4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DEMO 09 — LANGCHAIN4J ONNX SLIDE</a:t>
            </a:r>
            <a:br>
              <a:rPr lang="en-US"/>
            </a:br>
            <a:br>
              <a:rPr lang="en-US"/>
            </a:br>
            <a:r>
              <a:rPr lang="en-US"/>
              <a:t>WHAT THE DEMO DOES:</a:t>
            </a:r>
            <a:br>
              <a:rPr lang="en-US"/>
            </a:br>
            <a:r>
              <a:rPr lang="en-US"/>
              <a:t>  A Quarkus service uses LangChain4j's ONNX embedding integration to run</a:t>
            </a:r>
            <a:br>
              <a:rPr lang="en-US"/>
            </a:br>
            <a:r>
              <a:rPr lang="en-US"/>
              <a:t>  the all-MiniLM-L6-v2 sentence transformer model in-process. It exposes</a:t>
            </a:r>
            <a:br>
              <a:rPr lang="en-US"/>
            </a:br>
            <a:r>
              <a:rPr lang="en-US"/>
              <a:t>  three endpoints:</a:t>
            </a:r>
            <a:br>
              <a:rPr lang="en-US"/>
            </a:br>
            <a:r>
              <a:rPr lang="en-US"/>
              <a:t>    /embed?text=...        — returns a 384-dimension float vector</a:t>
            </a:r>
            <a:br>
              <a:rPr lang="en-US"/>
            </a:br>
            <a:r>
              <a:rPr lang="en-US"/>
              <a:t>    /similarity?a=...&amp;b=...— cosine similarity between two sentences</a:t>
            </a:r>
            <a:br>
              <a:rPr lang="en-US"/>
            </a:br>
            <a:r>
              <a:rPr lang="en-US"/>
              <a:t>    /classify?text=...     — maps input to a workload category using embeddings</a:t>
            </a:r>
            <a:br>
              <a:rPr lang="en-US"/>
            </a:br>
            <a:br>
              <a:rPr lang="en-US"/>
            </a:br>
            <a:r>
              <a:rPr lang="en-US"/>
              <a:t>THE PANAMA CONNECTION:</a:t>
            </a:r>
            <a:br>
              <a:rPr lang="en-US"/>
            </a:br>
            <a:r>
              <a:rPr lang="en-US"/>
              <a:t>  "LangChain4j's ONNX integration uses ONNX Runtime Java, which uses Panama</a:t>
            </a:r>
            <a:br>
              <a:rPr lang="en-US"/>
            </a:br>
            <a:r>
              <a:rPr lang="en-US"/>
              <a:t>   FFM under the covers to call into the native ONNX Runtime shared library.</a:t>
            </a:r>
            <a:br>
              <a:rPr lang="en-US"/>
            </a:br>
            <a:r>
              <a:rPr lang="en-US"/>
              <a:t>   You don't write any Panama code — but Panama is what makes this possible</a:t>
            </a:r>
            <a:br>
              <a:rPr lang="en-US"/>
            </a:br>
            <a:r>
              <a:rPr lang="en-US"/>
              <a:t>   without a Python sidecar, without gRPC, without a subprocess. The model</a:t>
            </a:r>
            <a:br>
              <a:rPr lang="en-US"/>
            </a:br>
            <a:r>
              <a:rPr lang="en-US"/>
              <a:t>   runs in the same JVM, in the same heap space, with Panama bridging to the</a:t>
            </a:r>
            <a:br>
              <a:rPr lang="en-US"/>
            </a:br>
            <a:r>
              <a:rPr lang="en-US"/>
              <a:t>   native inference kernels."</a:t>
            </a:r>
            <a:br>
              <a:rPr lang="en-US"/>
            </a:br>
            <a:br>
              <a:rPr lang="en-US"/>
            </a:br>
            <a:r>
              <a:rPr lang="en-US"/>
              <a:t>ON THE MODEL CHOICE:</a:t>
            </a:r>
            <a:br>
              <a:rPr lang="en-US"/>
            </a:br>
            <a:r>
              <a:rPr lang="en-US"/>
              <a:t>  "MiniLM-L6-v2 is small — about 25MB — and produces 384-dimension embeddings</a:t>
            </a:r>
            <a:br>
              <a:rPr lang="en-US"/>
            </a:br>
            <a:r>
              <a:rPr lang="en-US"/>
              <a:t>   that are good enough for semantic similarity, RAG retrieval, and intent</a:t>
            </a:r>
            <a:br>
              <a:rPr lang="en-US"/>
            </a:br>
            <a:r>
              <a:rPr lang="en-US"/>
              <a:t>   classification. It ships bundled in the LangChain4j Maven dependency so</a:t>
            </a:r>
            <a:br>
              <a:rPr lang="en-US"/>
            </a:br>
            <a:r>
              <a:rPr lang="en-US"/>
              <a:t>   there's no model download at runtime. For production you'd use a larger</a:t>
            </a:r>
            <a:br>
              <a:rPr lang="en-US"/>
            </a:br>
            <a:r>
              <a:rPr lang="en-US"/>
              <a:t>   model or a dedicated embedding service, but this is sufficient to show</a:t>
            </a:r>
            <a:br>
              <a:rPr lang="en-US"/>
            </a:br>
            <a:r>
              <a:rPr lang="en-US"/>
              <a:t>   the pattern."</a:t>
            </a:r>
            <a:br>
              <a:rPr lang="en-US"/>
            </a:br>
            <a:br>
              <a:rPr lang="en-US"/>
            </a:br>
            <a:r>
              <a:rPr lang="en-US"/>
              <a:t>RELEVANT USE CASES FOR THE AUDIENCE:</a:t>
            </a:r>
            <a:br>
              <a:rPr lang="en-US"/>
            </a:br>
            <a:r>
              <a:rPr lang="en-US"/>
              <a:t>  "Think about what your operations team does today — they have runbooks,</a:t>
            </a:r>
            <a:br>
              <a:rPr lang="en-US"/>
            </a:br>
            <a:r>
              <a:rPr lang="en-US"/>
              <a:t>   incident descriptions, past post-mortems. An embedding model lets you</a:t>
            </a:r>
            <a:br>
              <a:rPr lang="en-US"/>
            </a:br>
            <a:r>
              <a:rPr lang="en-US"/>
              <a:t>   find semantically similar incidents in real time. A new alert fires;</a:t>
            </a:r>
            <a:br>
              <a:rPr lang="en-US"/>
            </a:br>
            <a:r>
              <a:rPr lang="en-US"/>
              <a:t>   the system embeds the alert description and finds the three most similar</a:t>
            </a:r>
            <a:br>
              <a:rPr lang="en-US"/>
            </a:br>
            <a:r>
              <a:rPr lang="en-US"/>
              <a:t>   past incidents from your knowledge base. That's a practical RAG pipeline,</a:t>
            </a:r>
            <a:br>
              <a:rPr lang="en-US"/>
            </a:br>
            <a:r>
              <a:rPr lang="en-US"/>
              <a:t>   running in a Quarkus microservice, on JDK 25, with no Python."</a:t>
            </a:r>
            <a:br>
              <a:rPr lang="en-US"/>
            </a:br>
            <a:br>
              <a:rPr lang="en-US"/>
            </a:br>
            <a:r>
              <a:rPr lang="en-US"/>
              <a:t>ON NATIVE IMAGE:</a:t>
            </a:r>
            <a:br>
              <a:rPr lang="en-US"/>
            </a:br>
            <a:r>
              <a:rPr lang="en-US"/>
              <a:t>  "Quarkus + LangChain4j ONNX builds to a native binary via Mandrel/GraalVM.</a:t>
            </a:r>
            <a:br>
              <a:rPr lang="en-US"/>
            </a:br>
            <a:r>
              <a:rPr lang="en-US"/>
              <a:t>   The ONNX Runtime native library is bundled. (Native is a separate tool — out of scope for JVM sizing.)</a:t>
            </a:r>
            <a:br>
              <a:rPr lang="en-US"/>
            </a:br>
            <a:r>
              <a:rPr lang="en-US"/>
              <a:t>   You get AI inference in a pod that starts faster than most databases</a:t>
            </a:r>
            <a:br>
              <a:rPr lang="en-US"/>
            </a:br>
            <a:r>
              <a:rPr lang="en-US"/>
              <a:t>   finish their TCP handshake."</a:t>
            </a:r>
            <a:br>
              <a:rPr lang="en-US"/>
            </a:br>
            <a:br>
              <a:rPr lang="en-US"/>
            </a:br>
            <a:r>
              <a:rPr lang="en-US"/>
              <a:t>LANGCHAIN4J DEPENDENCY:</a:t>
            </a:r>
            <a:br>
              <a:rPr lang="en-US"/>
            </a:br>
            <a:r>
              <a:rPr lang="en-US"/>
              <a:t>  &lt;dependency&gt;</a:t>
            </a:r>
            <a:br>
              <a:rPr lang="en-US"/>
            </a:br>
            <a:r>
              <a:rPr lang="en-US"/>
              <a:t>    &lt;groupId&gt;dev.langchain4j&lt;/groupId&gt;</a:t>
            </a:r>
            <a:br>
              <a:rPr lang="en-US"/>
            </a:br>
            <a:r>
              <a:rPr lang="en-US"/>
              <a:t>    &lt;artifactId&gt;langchain4j-embeddings-all-minilm-l6-v2&lt;/artifactId&gt;</a:t>
            </a:r>
            <a:br>
              <a:rPr lang="en-US"/>
            </a:br>
            <a:r>
              <a:rPr lang="en-US"/>
              <a:t>  &lt;/dependency&gt;</a:t>
            </a:r>
            <a:br>
              <a:rPr lang="en-US"/>
            </a:br>
            <a:r>
              <a:rPr lang="en-US"/>
              <a:t>  This single dependency bundles the model + ONNX Runtime + Panama bindings.</a:t>
            </a:r>
            <a:br>
              <a:rPr lang="en-US"/>
            </a:br>
            <a:endParaRPr/>
          </a:p>
        </p:txBody>
      </p:sp>
      <p:sp>
        <p:nvSpPr>
          <p:cNvPr id="1653" name="Google Shape;1653;g3d8c134f9ee_0_4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7" name="Shape 1697"/>
        <p:cNvGrpSpPr/>
        <p:nvPr/>
      </p:nvGrpSpPr>
      <p:grpSpPr>
        <a:xfrm>
          <a:off x="0" y="0"/>
          <a:ext cx="0" cy="0"/>
          <a:chOff x="0" y="0"/>
          <a:chExt cx="0" cy="0"/>
        </a:xfrm>
      </p:grpSpPr>
      <p:sp>
        <p:nvSpPr>
          <p:cNvPr id="1698" name="Google Shape;1698;g3d8c134f9ee_0_4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9" name="Google Shape;1699;g3d8c134f9ee_0_4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VALHALLA SLIDE 1 — THE 30-YEAR GAP</a:t>
            </a:r>
            <a:br>
              <a:rPr lang="en-US"/>
            </a:br>
            <a:br>
              <a:rPr lang="en-US"/>
            </a:br>
            <a:r>
              <a:rPr lang="en-US"/>
              <a:t>OPENING:</a:t>
            </a:r>
            <a:br>
              <a:rPr lang="en-US"/>
            </a:br>
            <a:r>
              <a:rPr lang="en-US"/>
              <a:t>  "Java has had two incompatible worlds since 1995. Primitives are fast but</a:t>
            </a:r>
            <a:br>
              <a:rPr lang="en-US"/>
            </a:br>
            <a:r>
              <a:rPr lang="en-US"/>
              <a:t>   can't be used with generics. Objects work with generics but pay a heap</a:t>
            </a:r>
            <a:br>
              <a:rPr lang="en-US"/>
            </a:br>
            <a:r>
              <a:rPr lang="en-US"/>
              <a:t>   allocation and GC tracking cost for every value. Valhalla closes that gap."</a:t>
            </a:r>
            <a:br>
              <a:rPr lang="en-US"/>
            </a:br>
            <a:br>
              <a:rPr lang="en-US"/>
            </a:br>
            <a:r>
              <a:rPr lang="en-US"/>
              <a:t>ON THE COST (the orange callout):</a:t>
            </a:r>
            <a:br>
              <a:rPr lang="en-US"/>
            </a:br>
            <a:r>
              <a:rPr lang="en-US"/>
              <a:t>  "This is why the Java standard library has IntStream alongside Stream,</a:t>
            </a:r>
            <a:br>
              <a:rPr lang="en-US"/>
            </a:br>
            <a:r>
              <a:rPr lang="en-US"/>
              <a:t>   OptionalInt alongside Optional, and LongFunction alongside Function.</a:t>
            </a:r>
            <a:br>
              <a:rPr lang="en-US"/>
            </a:br>
            <a:r>
              <a:rPr lang="en-US"/>
              <a:t>   These aren't API design choices — they're workarounds for a type system</a:t>
            </a:r>
            <a:br>
              <a:rPr lang="en-US"/>
            </a:br>
            <a:r>
              <a:rPr lang="en-US"/>
              <a:t>   limitation. Valhalla makes them unnecessary."</a:t>
            </a:r>
            <a:br>
              <a:rPr lang="en-US"/>
            </a:br>
            <a:br>
              <a:rPr lang="en-US"/>
            </a:br>
            <a:r>
              <a:rPr lang="en-US"/>
              <a:t>ON MEMORY LAYOUT:</a:t>
            </a:r>
            <a:br>
              <a:rPr lang="en-US"/>
            </a:br>
            <a:r>
              <a:rPr lang="en-US"/>
              <a:t>  "If you have 1 million Points in a List today, you have 1 million heap</a:t>
            </a:r>
            <a:br>
              <a:rPr lang="en-US"/>
            </a:br>
            <a:r>
              <a:rPr lang="en-US"/>
              <a:t>   objects, each with an 8-byte header, plus 1 million pointers in the list.</a:t>
            </a:r>
            <a:br>
              <a:rPr lang="en-US"/>
            </a:br>
            <a:r>
              <a:rPr lang="en-US"/>
              <a:t>   With Valhalla value classes, the same list is 16MB of densely packed</a:t>
            </a:r>
            <a:br>
              <a:rPr lang="en-US"/>
            </a:br>
            <a:r>
              <a:rPr lang="en-US"/>
              <a:t>   doubles. Your L2 cache can hold more of it. Every access is faster."</a:t>
            </a:r>
            <a:br>
              <a:rPr lang="en-US"/>
            </a:br>
            <a:br>
              <a:rPr lang="en-US"/>
            </a:br>
            <a:r>
              <a:rPr lang="en-US"/>
              <a:t>ON GC:</a:t>
            </a:r>
            <a:br>
              <a:rPr lang="en-US"/>
            </a:br>
            <a:r>
              <a:rPr lang="en-US"/>
              <a:t>  "Every boxed Integer, Double, Point in a collection today is a heap object</a:t>
            </a:r>
            <a:br>
              <a:rPr lang="en-US"/>
            </a:br>
            <a:r>
              <a:rPr lang="en-US"/>
              <a:t>   the GC has to find, mark, and potentially move. For a service processing</a:t>
            </a:r>
            <a:br>
              <a:rPr lang="en-US"/>
            </a:br>
            <a:r>
              <a:rPr lang="en-US"/>
              <a:t>   millions of metrics or events, this is a significant fraction of your GC</a:t>
            </a:r>
            <a:br>
              <a:rPr lang="en-US"/>
            </a:br>
            <a:r>
              <a:rPr lang="en-US"/>
              <a:t>   pause budget. Value types eliminate this category of allocation entirely."</a:t>
            </a:r>
            <a:br>
              <a:rPr lang="en-US"/>
            </a:br>
            <a:br>
              <a:rPr lang="en-US"/>
            </a:br>
            <a:r>
              <a:rPr lang="en-US"/>
              <a:t>STATUS:</a:t>
            </a:r>
            <a:br>
              <a:rPr lang="en-US"/>
            </a:br>
            <a:r>
              <a:rPr lang="en-US"/>
              <a:t>  Upcoming JDK — value classes, first preview (JEP 401, --enable-preview)</a:t>
            </a:r>
            <a:br>
              <a:rPr lang="en-US"/>
            </a:br>
            <a:r>
              <a:rPr lang="en-US"/>
              <a:t>  Later JDKs — further previews, then universal generics</a:t>
            </a:r>
            <a:br>
              <a:rPr lang="en-US"/>
            </a:br>
            <a:r>
              <a:rPr lang="en-US"/>
              <a:t>  Universal generics (List&lt;int&gt;) — after primitive classes</a:t>
            </a:r>
            <a:br>
              <a:rPr lang="en-US"/>
            </a:br>
            <a:r>
              <a:rPr lang="en-US"/>
              <a:t>  Stable API — several releases later (after the preview cycle)</a:t>
            </a:r>
            <a:br>
              <a:rPr lang="en-US"/>
            </a:br>
            <a:endParaRPr/>
          </a:p>
        </p:txBody>
      </p:sp>
      <p:sp>
        <p:nvSpPr>
          <p:cNvPr id="1700" name="Google Shape;1700;g3d8c134f9ee_0_4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2" name="Shape 1742"/>
        <p:cNvGrpSpPr/>
        <p:nvPr/>
      </p:nvGrpSpPr>
      <p:grpSpPr>
        <a:xfrm>
          <a:off x="0" y="0"/>
          <a:ext cx="0" cy="0"/>
          <a:chOff x="0" y="0"/>
          <a:chExt cx="0" cy="0"/>
        </a:xfrm>
      </p:grpSpPr>
      <p:sp>
        <p:nvSpPr>
          <p:cNvPr id="1743" name="Google Shape;1743;g3d8c134f9ee_0_5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4" name="Google Shape;1744;g3d8c134f9ee_0_5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VALHALLA SLIDE 2 — KUBERNETES IMPACT</a:t>
            </a:r>
            <a:br>
              <a:rPr lang="en-US"/>
            </a:br>
            <a:br>
              <a:rPr lang="en-US"/>
            </a:br>
            <a:r>
              <a:rPr lang="en-US"/>
              <a:t>KEY MESSAGE:</a:t>
            </a:r>
            <a:br>
              <a:rPr lang="en-US"/>
            </a:br>
            <a:r>
              <a:rPr lang="en-US"/>
              <a:t>  "Valhalla doesn't change how you write code — it changes what the JVM does</a:t>
            </a:r>
            <a:br>
              <a:rPr lang="en-US"/>
            </a:br>
            <a:r>
              <a:rPr lang="en-US"/>
              <a:t>   with your code. A List&lt;Point&gt; written today will automatically get better</a:t>
            </a:r>
            <a:br>
              <a:rPr lang="en-US"/>
            </a:br>
            <a:r>
              <a:rPr lang="en-US"/>
              <a:t>   memory layout on a Valhalla JVM if Point is a value class. No rewrite needed."</a:t>
            </a:r>
            <a:br>
              <a:rPr lang="en-US"/>
            </a:br>
            <a:br>
              <a:rPr lang="en-US"/>
            </a:br>
            <a:r>
              <a:rPr lang="en-US"/>
              <a:t>ON MEMORY FOOTPRINT (column 1):</a:t>
            </a:r>
            <a:br>
              <a:rPr lang="en-US"/>
            </a:br>
            <a:r>
              <a:rPr lang="en-US"/>
              <a:t>  "The most direct Kubernetes impact. If your service processes millions of</a:t>
            </a:r>
            <a:br>
              <a:rPr lang="en-US"/>
            </a:br>
            <a:r>
              <a:rPr lang="en-US"/>
              <a:t>   events and stores them in collections of typed objects, your heap is currently</a:t>
            </a:r>
            <a:br>
              <a:rPr lang="en-US"/>
            </a:br>
            <a:r>
              <a:rPr lang="en-US"/>
              <a:t>   3-4× larger than it needs to be due to boxing overhead. Smaller heap = smaller</a:t>
            </a:r>
            <a:br>
              <a:rPr lang="en-US"/>
            </a:br>
            <a:r>
              <a:rPr lang="en-US"/>
              <a:t>   memory request = better bin-packing = fewer nodes = lower infrastructure bill.</a:t>
            </a:r>
            <a:br>
              <a:rPr lang="en-US"/>
            </a:br>
            <a:r>
              <a:rPr lang="en-US"/>
              <a:t>   This is the Valhalla pitch for the platform team."</a:t>
            </a:r>
            <a:br>
              <a:rPr lang="en-US"/>
            </a:br>
            <a:br>
              <a:rPr lang="en-US"/>
            </a:br>
            <a:r>
              <a:rPr lang="en-US"/>
              <a:t>ON GC PRESSURE (column 2):</a:t>
            </a:r>
            <a:br>
              <a:rPr lang="en-US"/>
            </a:br>
            <a:r>
              <a:rPr lang="en-US"/>
              <a:t>  "This is the GC monitoring story from Demo 02, but solved at the type system</a:t>
            </a:r>
            <a:br>
              <a:rPr lang="en-US"/>
            </a:br>
            <a:r>
              <a:rPr lang="en-US"/>
              <a:t>   level rather than the configuration level. If your hot path allocates millions</a:t>
            </a:r>
            <a:br>
              <a:rPr lang="en-US"/>
            </a:br>
            <a:r>
              <a:rPr lang="en-US"/>
              <a:t>   of boxed Integers or Doubles per second — event timestamps, metric values,</a:t>
            </a:r>
            <a:br>
              <a:rPr lang="en-US"/>
            </a:br>
            <a:r>
              <a:rPr lang="en-US"/>
              <a:t>   prices — those are all GC-tracked heap objects today. Valhalla makes them</a:t>
            </a:r>
            <a:br>
              <a:rPr lang="en-US"/>
            </a:br>
            <a:r>
              <a:rPr lang="en-US"/>
              <a:t>   stack or inline allocations that the GC never sees. Fewer objects = fewer</a:t>
            </a:r>
            <a:br>
              <a:rPr lang="en-US"/>
            </a:br>
            <a:r>
              <a:rPr lang="en-US"/>
              <a:t>   pauses = smoother CPU = HPA stays stable without ZGC."</a:t>
            </a:r>
            <a:br>
              <a:rPr lang="en-US"/>
            </a:br>
            <a:br>
              <a:rPr lang="en-US"/>
            </a:br>
            <a:r>
              <a:rPr lang="en-US"/>
              <a:t>ON CACHE PERFORMANCE (column 3):</a:t>
            </a:r>
            <a:br>
              <a:rPr lang="en-US"/>
            </a:br>
            <a:r>
              <a:rPr lang="en-US"/>
              <a:t>  "This is where you start competing with C++ and Rust for data-intensive</a:t>
            </a:r>
            <a:br>
              <a:rPr lang="en-US"/>
            </a:br>
            <a:r>
              <a:rPr lang="en-US"/>
              <a:t>   workloads. When your data is laid out sequentially in memory, the CPU</a:t>
            </a:r>
            <a:br>
              <a:rPr lang="en-US"/>
            </a:br>
            <a:r>
              <a:rPr lang="en-US"/>
              <a:t>   prefetcher can load the next values before you need them. Pointer-chasing</a:t>
            </a:r>
            <a:br>
              <a:rPr lang="en-US"/>
            </a:br>
            <a:r>
              <a:rPr lang="en-US"/>
              <a:t>   through heap objects defeats this completely. The Vector API needs Valhalla</a:t>
            </a:r>
            <a:br>
              <a:rPr lang="en-US"/>
            </a:br>
            <a:r>
              <a:rPr lang="en-US"/>
              <a:t>   for its final form — dense value arrays are what SIMD instructions operate on."</a:t>
            </a:r>
            <a:br>
              <a:rPr lang="en-US"/>
            </a:br>
            <a:br>
              <a:rPr lang="en-US"/>
            </a:br>
            <a:r>
              <a:rPr lang="en-US"/>
              <a:t>THE TIMELINE QUESTION:</a:t>
            </a:r>
            <a:br>
              <a:rPr lang="en-US"/>
            </a:br>
            <a:r>
              <a:rPr lang="en-US"/>
              <a:t>  "When do you get this? Value classes reach first preview in an upcoming JDK (JEP 401) — you can</a:t>
            </a:r>
            <a:br>
              <a:rPr lang="en-US"/>
            </a:br>
            <a:r>
              <a:rPr lang="en-US"/>
              <a:t>   experiment with --enable-preview. Universal generics (List&lt;int&gt;) need primitive</a:t>
            </a:r>
            <a:br>
              <a:rPr lang="en-US"/>
            </a:br>
            <a:r>
              <a:rPr lang="en-US"/>
              <a:t>   classes which come after. Stable API is realistically several releases after that.</a:t>
            </a:r>
            <a:br>
              <a:rPr lang="en-US"/>
            </a:br>
            <a:r>
              <a:rPr lang="en-US"/>
              <a:t>   This is relevant to anyone planning JDK version strategy today."</a:t>
            </a:r>
            <a:br>
              <a:rPr lang="en-US"/>
            </a:br>
            <a:br>
              <a:rPr lang="en-US"/>
            </a:br>
            <a:r>
              <a:rPr lang="en-US"/>
              <a:t>THE RECORDS CONNECTION:</a:t>
            </a:r>
            <a:br>
              <a:rPr lang="en-US"/>
            </a:br>
            <a:r>
              <a:rPr lang="en-US"/>
              <a:t>  "Records in Java 16 were Valhalla's first step. They express the same intent:</a:t>
            </a:r>
            <a:br>
              <a:rPr lang="en-US"/>
            </a:br>
            <a:r>
              <a:rPr lang="en-US"/>
              <a:t>   a type whose identity is its content, not its heap address. When value classes</a:t>
            </a:r>
            <a:br>
              <a:rPr lang="en-US"/>
            </a:br>
            <a:r>
              <a:rPr lang="en-US"/>
              <a:t>   ship stably, records will be natural candidates for the value modifier —</a:t>
            </a:r>
            <a:br>
              <a:rPr lang="en-US"/>
            </a:br>
            <a:r>
              <a:rPr lang="en-US"/>
              <a:t>   effectively giving every record the inline storage benefit automatically."</a:t>
            </a:r>
            <a:br>
              <a:rPr lang="en-US"/>
            </a:br>
            <a:endParaRPr/>
          </a:p>
        </p:txBody>
      </p:sp>
      <p:sp>
        <p:nvSpPr>
          <p:cNvPr id="1745" name="Google Shape;1745;g3d8c134f9ee_0_5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6" name="Shape 1786"/>
        <p:cNvGrpSpPr/>
        <p:nvPr/>
      </p:nvGrpSpPr>
      <p:grpSpPr>
        <a:xfrm>
          <a:off x="0" y="0"/>
          <a:ext cx="0" cy="0"/>
          <a:chOff x="0" y="0"/>
          <a:chExt cx="0" cy="0"/>
        </a:xfrm>
      </p:grpSpPr>
      <p:sp>
        <p:nvSpPr>
          <p:cNvPr id="1787" name="Google Shape;1787;g3d8376bfa8d_0_1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8" name="Google Shape;1788;g3d8376bfa8d_0_1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JVM ANTI-PATTERNS — BONUS SLIDE</a:t>
            </a:r>
            <a:br>
              <a:rPr lang="en-US"/>
            </a:br>
            <a:r>
              <a:rPr lang="en-US"/>
              <a:t>Use this slide before the takeaways as a rapid-fire "don't do this" summary, or during Q&amp;A when someone says "we keep getting OOMKills and can't figure out why."</a:t>
            </a:r>
            <a:br>
              <a:rPr lang="en-US"/>
            </a:br>
            <a:br>
              <a:rPr lang="en-US"/>
            </a:br>
            <a:r>
              <a:rPr lang="en-US"/>
              <a:t>MEMORY ANTI-PATTERNS — walk the two most damaging ones:</a:t>
            </a:r>
            <a:br>
              <a:rPr lang="en-US"/>
            </a:br>
            <a:br>
              <a:rPr lang="en-US"/>
            </a:br>
            <a:r>
              <a:rPr lang="en-US"/>
              <a:t>1. Hardcoded -Xmx/-Xms</a:t>
            </a:r>
            <a:br>
              <a:rPr lang="en-US"/>
            </a:br>
            <a:r>
              <a:rPr lang="en-US"/>
              <a:t>  "This is the most common one I see. Someone set -Xmx2g in 2019, it got copy-pasted into every Dockerfile since, and nobody noticed when the container limit was changed to 1.5g. The JVM claims 2g, Kubernetes enforces 1.5g, OOMKill at the first GC attempt to grow the heap. UseContainerSupport + MaxRAMPercentage reads the actual limit at startup — it works correctly regardless of what size instance you deploy to."</a:t>
            </a:r>
            <a:br>
              <a:rPr lang="en-US"/>
            </a:br>
            <a:br>
              <a:rPr lang="en-US"/>
            </a:br>
            <a:r>
              <a:rPr lang="en-US"/>
              <a:t>2. MaxRAMPercentage=90</a:t>
            </a:r>
            <a:br>
              <a:rPr lang="en-US"/>
            </a:br>
            <a:r>
              <a:rPr lang="en-US"/>
              <a:t>  "People think 'more heap = better performance'. But heap is one of six memory regions. Setting 90% leaves only 200 MB for Metaspace, thread stacks, JIT code cache, and Netty direct buffers. For a Quarkus app using Vert.x, Netty alone can need 100 MB. One framework dependency that loads extra classes can push Metaspace past the remaining budget. OOMKill, no warning."</a:t>
            </a:r>
            <a:br>
              <a:rPr lang="en-US"/>
            </a:br>
            <a:br>
              <a:rPr lang="en-US"/>
            </a:br>
            <a:r>
              <a:rPr lang="en-US"/>
              <a:t>GC &amp; CPU ANTI-PATTERNS:</a:t>
            </a:r>
            <a:br>
              <a:rPr lang="en-US"/>
            </a:br>
            <a:br>
              <a:rPr lang="en-US"/>
            </a:br>
            <a:r>
              <a:rPr lang="en-US"/>
              <a:t>ParallelGCThreads: "I have found this bug in almost every production cluster I've reviewed. The JVM defaults ParallelGCThreads to the host CPU count. On a 64-core node with a 2-CPU container limit, you get 64 GC threads competing for 2 CPUs. GC takes 10x longer because the threads are starved. Fix: -XX:ParallelGCThreads=2 (match your CPU request)."</a:t>
            </a:r>
            <a:br>
              <a:rPr lang="en-US"/>
            </a:br>
            <a:br>
              <a:rPr lang="en-US"/>
            </a:br>
            <a:r>
              <a:rPr lang="en-US"/>
              <a:t>minReplicas=1: "Never run a single replica of a Java service behind HPA. When GC fires a stop-the-world pause, 100% of requests in flight get an error. With 2 replicas, load balancer routes around the pausing pod. This is the single cheapest reliability improvement in the entire talk."</a:t>
            </a:r>
            <a:br>
              <a:rPr lang="en-US"/>
            </a:br>
            <a:br>
              <a:rPr lang="en-US"/>
            </a:br>
            <a:r>
              <a:rPr lang="en-US"/>
              <a:t>AOT ANTI-PATTERNS:</a:t>
            </a:r>
            <a:br>
              <a:rPr lang="en-US"/>
            </a:br>
            <a:r>
              <a:rPr lang="en-US"/>
              <a:t>"The @QuarkusIntegrationTest one is a gotcha that trips people up when they first try AOT. @QuarkusTest is for dev mode — fast feedback. @QuarkusIntegrationTest is for the packaged JAR. Only IT tests contribute to the training run. If your test suite is all @QuarkusTest, mvn verify will produce a minimal cache with almost no benefit."</a:t>
            </a:r>
            <a:br>
              <a:rPr lang="en-US"/>
            </a:br>
            <a:br>
              <a:rPr lang="en-US"/>
            </a:br>
            <a:r>
              <a:rPr lang="en-US"/>
              <a:t>OBSERVABILITY ANTI-PATTERNS:</a:t>
            </a:r>
            <a:br>
              <a:rPr lang="en-US"/>
            </a:br>
            <a:r>
              <a:rPr lang="en-US"/>
              <a:t>"No GC pause histogram means you can't distinguish 'my app is slow because of GC' from 'my app is slow because of a real bug'. jvm_gc_pause_seconds without histogram=true gives you counts and sums but no P99. Enable the histogram. Set the alert. Then you'll know in 30 seconds whether a latency incident is GC-induced or not."</a:t>
            </a:r>
            <a:br>
              <a:rPr lang="en-US"/>
            </a:br>
            <a:br>
              <a:rPr lang="en-US"/>
            </a:br>
            <a:r>
              <a:rPr lang="en-US"/>
              <a:t>→ Next slide shows every fix.</a:t>
            </a:r>
            <a:endParaRPr/>
          </a:p>
        </p:txBody>
      </p:sp>
      <p:sp>
        <p:nvSpPr>
          <p:cNvPr id="1789" name="Google Shape;1789;g3d8376bfa8d_0_1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7" name="Shape 1857"/>
        <p:cNvGrpSpPr/>
        <p:nvPr/>
      </p:nvGrpSpPr>
      <p:grpSpPr>
        <a:xfrm>
          <a:off x="0" y="0"/>
          <a:ext cx="0" cy="0"/>
          <a:chOff x="0" y="0"/>
          <a:chExt cx="0" cy="0"/>
        </a:xfrm>
      </p:grpSpPr>
      <p:sp>
        <p:nvSpPr>
          <p:cNvPr id="1858" name="Google Shape;1858;g3d8376bfa8d_0_2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9" name="Google Shape;1859;g3d8376bfa8d_0_2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ANTI-PATTERN REMEDIATION — BONUS SLIDE</a:t>
            </a:r>
            <a:br>
              <a:rPr lang="en-US"/>
            </a:br>
            <a:r>
              <a:rPr lang="en-US"/>
              <a:t>This slide pairs with slide 29 — show them together or flip between them during Q&amp;A.</a:t>
            </a:r>
            <a:br>
              <a:rPr lang="en-US"/>
            </a:br>
            <a:br>
              <a:rPr lang="en-US"/>
            </a:br>
            <a:r>
              <a:rPr lang="en-US"/>
              <a:t>PACE: This slide is dense. You do NOT need to read every bullet. Pick the two or three most relevant to your audience and go deep. Common approaches:</a:t>
            </a:r>
            <a:br>
              <a:rPr lang="en-US"/>
            </a:br>
            <a:br>
              <a:rPr lang="en-US"/>
            </a:br>
            <a:r>
              <a:rPr lang="en-US"/>
              <a:t>FOR A MIXED AUDIENCE (ops + dev):</a:t>
            </a:r>
            <a:br>
              <a:rPr lang="en-US"/>
            </a:br>
            <a:r>
              <a:rPr lang="en-US"/>
              <a:t>  - Lead with the memory fixes (hardcoded -Xmx → MaxRAMPercentage)</a:t>
            </a:r>
            <a:br>
              <a:rPr lang="en-US"/>
            </a:br>
            <a:r>
              <a:rPr lang="en-US"/>
              <a:t>  - Spend time on the HPA fix (minReplicas: 2, stabilizationWindowSeconds: 120)</a:t>
            </a:r>
            <a:br>
              <a:rPr lang="en-US"/>
            </a:br>
            <a:r>
              <a:rPr lang="en-US"/>
              <a:t>  - Close on observability (you can't fix what you can't see)</a:t>
            </a:r>
            <a:br>
              <a:rPr lang="en-US"/>
            </a:br>
            <a:br>
              <a:rPr lang="en-US"/>
            </a:br>
            <a:r>
              <a:rPr lang="en-US"/>
              <a:t>FOR A QUARKUS-FOCUSED AUDIENCE:</a:t>
            </a:r>
            <a:br>
              <a:rPr lang="en-US"/>
            </a:br>
            <a:r>
              <a:rPr lang="en-US"/>
              <a:t>  - AOT fixes are the most Quarkus-specific — cover @QuarkusIntegrationTest thoroughly</a:t>
            </a:r>
            <a:br>
              <a:rPr lang="en-US"/>
            </a:br>
            <a:r>
              <a:rPr lang="en-US"/>
              <a:t>  - quarkus-micrometer-opentelemetry consolidation is a meaningful dependency cleanup</a:t>
            </a:r>
            <a:br>
              <a:rPr lang="en-US"/>
            </a:br>
            <a:r>
              <a:rPr lang="en-US"/>
              <a:t>  - The GC histogram property is one line they can add today</a:t>
            </a:r>
            <a:br>
              <a:rPr lang="en-US"/>
            </a:br>
            <a:br>
              <a:rPr lang="en-US"/>
            </a:br>
            <a:r>
              <a:rPr lang="en-US"/>
              <a:t>MEMORY FIXES — the key message:</a:t>
            </a:r>
            <a:br>
              <a:rPr lang="en-US"/>
            </a:br>
            <a:r>
              <a:rPr lang="en-US"/>
              <a:t>  "The first fix is the most important: replace every hardcoded -Xmx in your Dockerfiles with UseContainerSupport and MaxRAMPercentage=75. Right now. Today. This one change will prevent more OOMKills than anything else in this entire talk."</a:t>
            </a:r>
            <a:br>
              <a:rPr lang="en-US"/>
            </a:br>
            <a:br>
              <a:rPr lang="en-US"/>
            </a:br>
            <a:r>
              <a:rPr lang="en-US"/>
              <a:t>GC/CPU FIXES:</a:t>
            </a:r>
            <a:br>
              <a:rPr lang="en-US"/>
            </a:br>
            <a:r>
              <a:rPr lang="en-US"/>
              <a:t>  "minReplicas: 2 is the cheapest high-availability improvement available to you. It costs exactly one extra pod. It eliminates the 100% error rate during GC pause scenario. There is no reason not to do this."</a:t>
            </a:r>
            <a:br>
              <a:rPr lang="en-US"/>
            </a:br>
            <a:br>
              <a:rPr lang="en-US"/>
            </a:br>
            <a:r>
              <a:rPr lang="en-US"/>
              <a:t>  "The stabilizationWindowSeconds fix is counterintuitive — you're slowing HPA DOWN. But for Java workloads, a fast-reacting HPA is actively harmful. GC spikes are short-lived. Let them pass. 120 seconds on scale-up means HPA will only act on sustained load, not transient GC spikes."</a:t>
            </a:r>
            <a:br>
              <a:rPr lang="en-US"/>
            </a:br>
            <a:br>
              <a:rPr lang="en-US"/>
            </a:br>
            <a:r>
              <a:rPr lang="en-US"/>
              <a:t>AOT/STARTUP FIXES:</a:t>
            </a:r>
            <a:br>
              <a:rPr lang="en-US"/>
            </a:br>
            <a:r>
              <a:rPr lang="en-US"/>
              <a:t>  "Pin your JDK version in your FROM line. app.aot is tied to the exact JDK version that generated it. If your CI builds with eclipse-temurin:25.0.1 and your runtime is 25.0.2, the JVM detects the mismatch and quietly rebuilds the cache on first start — giving you zero benefit on that deployment. FROM eclipse-temurin:25.0.1-jre not 25-jre."</a:t>
            </a:r>
            <a:br>
              <a:rPr lang="en-US"/>
            </a:br>
            <a:br>
              <a:rPr lang="en-US"/>
            </a:br>
            <a:r>
              <a:rPr lang="en-US"/>
              <a:t>OBSERVABILITY FIXES:</a:t>
            </a:r>
            <a:br>
              <a:rPr lang="en-US"/>
            </a:br>
            <a:r>
              <a:rPr lang="en-US"/>
              <a:t>  "The baseline rule is the most important professional discipline: measure before you change anything. If you tune -XX:MaxGCPauseMillis from 200 to 100 and your P99 improves by 30%, you need a before/after measurement to know that. Without a baseline, every JVM tuning change is a guess. With a baseline, it's an experiment with a result."</a:t>
            </a:r>
            <a:br>
              <a:rPr lang="en-US"/>
            </a:br>
            <a:br>
              <a:rPr lang="en-US"/>
            </a:br>
            <a:r>
              <a:rPr lang="en-US"/>
              <a:t>→ The next slide shows the anti-pattern → fix mapping as a visual diagram.</a:t>
            </a:r>
            <a:endParaRPr/>
          </a:p>
        </p:txBody>
      </p:sp>
      <p:sp>
        <p:nvSpPr>
          <p:cNvPr id="1860" name="Google Shape;1860;g3d8376bfa8d_0_2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0" name="Shape 5200"/>
        <p:cNvGrpSpPr/>
        <p:nvPr/>
      </p:nvGrpSpPr>
      <p:grpSpPr>
        <a:xfrm>
          <a:off x="0" y="0"/>
          <a:ext cx="0" cy="0"/>
          <a:chOff x="0" y="0"/>
          <a:chExt cx="0" cy="0"/>
        </a:xfrm>
      </p:grpSpPr>
      <p:sp>
        <p:nvSpPr>
          <p:cNvPr id="5201" name="Google Shape;5201;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02" name="Google Shape;5202;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Show this before any number lands — it sets the methodology. Evans names "tuning by folklore" as the anti-pattern, and his book is the basis of this talk. Micro-benchmarks use JMH so the JIT is warm before measuring — timing a cold JVM is the classic mistake. Every number is an average over several runs. About the rig: these demos run on a laptop (Fedora 41 / macOS on Podman), not a tuned server. Shirazi #308: laptops thermal-throttle and boost, so results drift; pin the governor to performance, disable Turbo Boost, run one thing at a time. Localhost is not production — no network, no scheduler, no neighbours. The deal for the rest of the talk: a demo number is a real measurement on this hardware; a production number is a projection and I'll say so.</a:t>
            </a:r>
            <a:endParaRPr/>
          </a:p>
        </p:txBody>
      </p:sp>
      <p:sp>
        <p:nvSpPr>
          <p:cNvPr id="5203" name="Google Shape;5203;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0" name="Shape 5210"/>
        <p:cNvGrpSpPr/>
        <p:nvPr/>
      </p:nvGrpSpPr>
      <p:grpSpPr>
        <a:xfrm>
          <a:off x="0" y="0"/>
          <a:ext cx="0" cy="0"/>
          <a:chOff x="0" y="0"/>
          <a:chExt cx="0" cy="0"/>
        </a:xfrm>
      </p:grpSpPr>
      <p:sp>
        <p:nvSpPr>
          <p:cNvPr id="5211" name="Google Shape;5211;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12" name="Google Shape;5212;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gives virtual threads their conceptual home and defuses "rewrite everything to reactive and it'll be faster." Three paths on the Quarkus REST stack, a trade-off not a ladder. Blocking imperative: Quarkus REST + Hibernate ORM on the worker pool — the default, easiest to debug, scales until the pool is exhausted. @RunOnVirtualThread: same blocking code + Hibernate ORM, one annotation, each request on a cheap virtual thread. Two currency notes: JEP 491 (JDK 24, in 25 LTS) means synchronized no longer pins, so "use ReentrantLock" is obsolete; and your real limit moves to the Agroal pool — size that. Reactive: Mutiny Uni/Multi on the Vert.x event loop + Hibernate Reactive — highest per-core throughput, natural for streaming (the Multi from the gRPC service), but steeper and one blocking call stalls the loop. Bottom line: virtual threads give most of reactive's scalability with imperative code; reach for reactive when you need streaming or per-core density, not by default.</a:t>
            </a:r>
            <a:endParaRPr/>
          </a:p>
        </p:txBody>
      </p:sp>
      <p:sp>
        <p:nvSpPr>
          <p:cNvPr id="5213" name="Google Shape;5213;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0" name="Shape 9500"/>
        <p:cNvGrpSpPr/>
        <p:nvPr/>
      </p:nvGrpSpPr>
      <p:grpSpPr>
        <a:xfrm>
          <a:off x="0" y="0"/>
          <a:ext cx="0" cy="0"/>
          <a:chOff x="0" y="0"/>
          <a:chExt cx="0" cy="0"/>
        </a:xfrm>
      </p:grpSpPr>
      <p:sp>
        <p:nvSpPr>
          <p:cNvPr id="9501" name="Google Shape;9501;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02" name="Google Shape;9502;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marks the end of the committed 60-minute talk. Everything after is optional deep-dive / backup material — pull individual slides as time and audience allow.</a:t>
            </a:r>
            <a:endParaRPr/>
          </a:p>
        </p:txBody>
      </p:sp>
      <p:sp>
        <p:nvSpPr>
          <p:cNvPr id="9503" name="Google Shape;9503;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Take it with you. On the left, the site: the chapters, the runnable examples, and the tuning labs. On the right, the Workshops and Tutorials hub: every workshop, tutorial, and deck in the series in one place. Both are public on the Pattern Catalyst GitHub organization.</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
        <p:nvSpPr>
          <p:cNvPr id="12" name="Google Shape;12;p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tx1"/>
                </a:solidFill>
              </a:defRPr>
            </a:lvl1pPr>
            <a:lvl2pPr lvl="1" algn="r">
              <a:buNone/>
              <a:defRPr sz="1300">
                <a:solidFill>
                  <a:schemeClr val="tx1"/>
                </a:solidFill>
              </a:defRPr>
            </a:lvl2pPr>
            <a:lvl3pPr lvl="2" algn="r">
              <a:buNone/>
              <a:defRPr sz="1300">
                <a:solidFill>
                  <a:schemeClr val="tx1"/>
                </a:solidFill>
              </a:defRPr>
            </a:lvl3pPr>
            <a:lvl4pPr lvl="3" algn="r">
              <a:buNone/>
              <a:defRPr sz="1300">
                <a:solidFill>
                  <a:schemeClr val="tx1"/>
                </a:solidFill>
              </a:defRPr>
            </a:lvl4pPr>
            <a:lvl5pPr lvl="4" algn="r">
              <a:buNone/>
              <a:defRPr sz="1300">
                <a:solidFill>
                  <a:schemeClr val="tx1"/>
                </a:solidFill>
              </a:defRPr>
            </a:lvl5pPr>
            <a:lvl6pPr lvl="5" algn="r">
              <a:buNone/>
              <a:defRPr sz="1300">
                <a:solidFill>
                  <a:schemeClr val="tx1"/>
                </a:solidFill>
              </a:defRPr>
            </a:lvl6pPr>
            <a:lvl7pPr lvl="6" algn="r">
              <a:buNone/>
              <a:defRPr sz="1300">
                <a:solidFill>
                  <a:schemeClr val="tx1"/>
                </a:solidFill>
              </a:defRPr>
            </a:lvl7pPr>
            <a:lvl8pPr lvl="7" algn="r">
              <a:buNone/>
              <a:defRPr sz="1300">
                <a:solidFill>
                  <a:schemeClr val="tx1"/>
                </a:solidFill>
              </a:defRPr>
            </a:lvl8pPr>
            <a:lvl9pPr lvl="8" algn="r">
              <a:buNone/>
              <a:defRPr sz="1300">
                <a:solidFill>
                  <a:schemeClr val="tx1"/>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7" name="Shape 17"/>
        <p:cNvGrpSpPr/>
        <p:nvPr/>
      </p:nvGrpSpPr>
      <p:grpSpPr>
        <a:xfrm>
          <a:off x="0" y="0"/>
          <a:ext cx="0" cy="0"/>
          <a:chOff x="0" y="0"/>
          <a:chExt cx="0" cy="0"/>
        </a:xfrm>
      </p:grpSpPr>
      <p:sp>
        <p:nvSpPr>
          <p:cNvPr id="18" name="Google Shape;18;p3"/>
          <p:cNvSpPr/>
          <p:nvPr/>
        </p:nvSpPr>
        <p:spPr>
          <a:xfrm>
            <a:off x="0" y="0"/>
            <a:ext cx="228600" cy="5143500"/>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0" y="0"/>
            <a:ext cx="9144000" cy="109728"/>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6858000" y="2926080"/>
            <a:ext cx="3200400" cy="3200400"/>
          </a:xfrm>
          <a:prstGeom prst="ellipse">
            <a:avLst/>
          </a:prstGeom>
          <a:solidFill>
            <a:srgbClr val="1E6FC8">
              <a:alpha val="18039"/>
            </a:srgbClr>
          </a:solidFill>
          <a:ln cap="flat" cmpd="sng" w="12700">
            <a:solidFill>
              <a:srgbClr val="1E6F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7498080" y="182880"/>
            <a:ext cx="2011680" cy="2011680"/>
          </a:xfrm>
          <a:prstGeom prst="ellipse">
            <a:avLst/>
          </a:prstGeom>
          <a:solidFill>
            <a:srgbClr val="00BCD4">
              <a:alpha val="12156"/>
            </a:srgbClr>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a:off x="457200" y="640080"/>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400"/>
              <a:buFont typeface="Calibri"/>
              <a:buNone/>
            </a:pPr>
            <a:r>
              <a:rPr b="1" i="0" lang="en-US" sz="1400" u="none" cap="none" strike="noStrike">
                <a:solidFill>
                  <a:srgbClr val="00BCD4"/>
                </a:solidFill>
                <a:latin typeface="Calibri"/>
                <a:ea typeface="Calibri"/>
                <a:cs typeface="Calibri"/>
                <a:sym typeface="Calibri"/>
              </a:rPr>
              <a:t>TAMING THE JVM</a:t>
            </a:r>
            <a:endParaRPr b="0" i="0" sz="1400" u="none" cap="none" strike="noStrike">
              <a:solidFill>
                <a:schemeClr val="dk1"/>
              </a:solidFill>
              <a:latin typeface="Calibri"/>
              <a:ea typeface="Calibri"/>
              <a:cs typeface="Calibri"/>
              <a:sym typeface="Calibri"/>
            </a:endParaRPr>
          </a:p>
        </p:txBody>
      </p:sp>
      <p:sp>
        <p:nvSpPr>
          <p:cNvPr id="23" name="Google Shape;23;p3"/>
          <p:cNvSpPr/>
          <p:nvPr/>
        </p:nvSpPr>
        <p:spPr>
          <a:xfrm>
            <a:off x="457200" y="1234440"/>
            <a:ext cx="7772400" cy="1554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4000"/>
              <a:buFont typeface="Calibri"/>
              <a:buNone/>
            </a:pPr>
            <a:r>
              <a:rPr b="1" i="0" lang="en-US" sz="4000" u="none" cap="none" strike="noStrike">
                <a:solidFill>
                  <a:srgbClr val="ECF0F1"/>
                </a:solidFill>
                <a:latin typeface="Calibri"/>
                <a:ea typeface="Calibri"/>
                <a:cs typeface="Calibri"/>
                <a:sym typeface="Calibri"/>
              </a:rPr>
              <a:t>Optimizing Java Workloads</a:t>
            </a:r>
            <a:endParaRPr b="0" i="0" sz="4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4000"/>
              <a:buFont typeface="Calibri"/>
              <a:buNone/>
            </a:pPr>
            <a:r>
              <a:rPr b="1" i="0" lang="en-US" sz="4000" u="none" cap="none" strike="noStrike">
                <a:solidFill>
                  <a:srgbClr val="ECF0F1"/>
                </a:solidFill>
                <a:latin typeface="Calibri"/>
                <a:ea typeface="Calibri"/>
                <a:cs typeface="Calibri"/>
                <a:sym typeface="Calibri"/>
              </a:rPr>
              <a:t>on OpenShift &amp; Kubernetes</a:t>
            </a:r>
            <a:endParaRPr b="0" i="0" sz="4000" u="none" cap="none" strike="noStrike">
              <a:solidFill>
                <a:schemeClr val="dk1"/>
              </a:solidFill>
              <a:latin typeface="Calibri"/>
              <a:ea typeface="Calibri"/>
              <a:cs typeface="Calibri"/>
              <a:sym typeface="Calibri"/>
            </a:endParaRPr>
          </a:p>
        </p:txBody>
      </p:sp>
      <p:sp>
        <p:nvSpPr>
          <p:cNvPr id="24" name="Google Shape;24;p3"/>
          <p:cNvSpPr/>
          <p:nvPr/>
        </p:nvSpPr>
        <p:spPr>
          <a:xfrm>
            <a:off x="457200" y="2834640"/>
            <a:ext cx="7772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300"/>
              <a:buFont typeface="Calibri"/>
              <a:buNone/>
            </a:pPr>
            <a:r>
              <a:rPr b="0" i="0" lang="en-US" sz="1300" u="none" cap="none" strike="noStrike">
                <a:solidFill>
                  <a:srgbClr val="90A4AE"/>
                </a:solidFill>
                <a:latin typeface="Calibri"/>
                <a:ea typeface="Calibri"/>
                <a:cs typeface="Calibri"/>
                <a:sym typeface="Calibri"/>
              </a:rPr>
              <a:t>Quarkus 3.33.1 LTS  •  Java 25  •  Container-aware JVM  •  G1GC / ZGC / Shenandoah  •  AppCDS  •  Virtual Threads  •  Observability</a:t>
            </a:r>
            <a:endParaRPr b="0" i="0" sz="1300" u="none" cap="none" strike="noStrike">
              <a:solidFill>
                <a:schemeClr val="dk1"/>
              </a:solidFill>
              <a:latin typeface="Calibri"/>
              <a:ea typeface="Calibri"/>
              <a:cs typeface="Calibri"/>
              <a:sym typeface="Calibri"/>
            </a:endParaRPr>
          </a:p>
        </p:txBody>
      </p:sp>
      <p:sp>
        <p:nvSpPr>
          <p:cNvPr id="25" name="Google Shape;25;p3"/>
          <p:cNvSpPr/>
          <p:nvPr/>
        </p:nvSpPr>
        <p:spPr>
          <a:xfrm>
            <a:off x="457200" y="3291840"/>
            <a:ext cx="4114800" cy="27432"/>
          </a:xfrm>
          <a:prstGeom prst="rect">
            <a:avLst/>
          </a:prstGeom>
          <a:solidFill>
            <a:srgbClr val="F5A6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a:off x="457200" y="342900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A623"/>
              </a:buClr>
              <a:buSzPts val="1200"/>
              <a:buFont typeface="Calibri"/>
              <a:buNone/>
            </a:pPr>
            <a:r>
              <a:rPr b="0" i="1" lang="en-US" sz="1200" u="none" cap="none" strike="noStrike">
                <a:solidFill>
                  <a:srgbClr val="F5A623"/>
                </a:solidFill>
                <a:latin typeface="Calibri"/>
                <a:ea typeface="Calibri"/>
                <a:cs typeface="Calibri"/>
                <a:sym typeface="Calibri"/>
              </a:rPr>
              <a:t>Based on: Optimizing Cloud Native Java  |  SRE with Java Microservices  |  Quarkus 3.33.1 LTS</a:t>
            </a:r>
            <a:endParaRPr b="0" i="0" sz="1200" u="none" cap="none" strike="noStrike">
              <a:solidFill>
                <a:schemeClr val="dk1"/>
              </a:solidFill>
              <a:latin typeface="Calibri"/>
              <a:ea typeface="Calibri"/>
              <a:cs typeface="Calibri"/>
              <a:sym typeface="Calibri"/>
            </a:endParaRPr>
          </a:p>
        </p:txBody>
      </p:sp>
      <p:sp>
        <p:nvSpPr>
          <p:cNvPr id="27" name="Google Shape;27;p3"/>
          <p:cNvSpPr/>
          <p:nvPr/>
        </p:nvSpPr>
        <p:spPr>
          <a:xfrm>
            <a:off x="457200" y="384048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100"/>
              <a:buFont typeface="Calibri"/>
              <a:buNone/>
            </a:pPr>
            <a:r>
              <a:rPr lang="en-US" sz="1100">
                <a:solidFill>
                  <a:srgbClr val="90A4AE"/>
                </a:solidFill>
                <a:latin typeface="Calibri"/>
                <a:ea typeface="Calibri"/>
                <a:cs typeface="Calibri"/>
                <a:sym typeface="Calibri"/>
              </a:rPr>
              <a:t> •  </a:t>
            </a:r>
            <a:r>
              <a:rPr b="0" i="0" lang="en-US" sz="1100" u="none" cap="none" strike="noStrike">
                <a:solidFill>
                  <a:srgbClr val="90A4AE"/>
                </a:solidFill>
                <a:latin typeface="Calibri"/>
                <a:ea typeface="Calibri"/>
                <a:cs typeface="Calibri"/>
                <a:sym typeface="Calibri"/>
              </a:rPr>
              <a:t>60-Minute Deep Dive </a:t>
            </a:r>
            <a:endParaRPr b="0" i="0" sz="1100" u="none" cap="none" strike="noStrike">
              <a:solidFill>
                <a:schemeClr val="dk1"/>
              </a:solidFill>
              <a:latin typeface="Calibri"/>
              <a:ea typeface="Calibri"/>
              <a:cs typeface="Calibri"/>
              <a:sym typeface="Calibri"/>
            </a:endParaRPr>
          </a:p>
        </p:txBody>
      </p:sp>
      <p:sp>
        <p:nvSpPr>
          <p:cNvPr id="28" name="Google Shape;28;p3"/>
          <p:cNvSpPr/>
          <p:nvPr/>
        </p:nvSpPr>
        <p:spPr>
          <a:xfrm>
            <a:off x="0" y="4846320"/>
            <a:ext cx="9144000" cy="29718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a:off x="365760" y="4846320"/>
            <a:ext cx="8412480" cy="2971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0A4AE"/>
              </a:buClr>
              <a:buSzPts val="1000"/>
              <a:buFont typeface="Calibri"/>
              <a:buNone/>
            </a:pPr>
            <a:r>
              <a:rPr b="0" i="0" lang="en-US" sz="1000" u="none" cap="none" strike="noStrike">
                <a:solidFill>
                  <a:srgbClr val="90A4AE"/>
                </a:solidFill>
                <a:latin typeface="Calibri"/>
                <a:ea typeface="Calibri"/>
                <a:cs typeface="Calibri"/>
                <a:sym typeface="Calibri"/>
              </a:rPr>
              <a:t>github.com/</a:t>
            </a:r>
            <a:r>
              <a:rPr lang="en-US" sz="1000">
                <a:solidFill>
                  <a:srgbClr val="90A4AE"/>
                </a:solidFill>
                <a:latin typeface="Calibri"/>
                <a:ea typeface="Calibri"/>
                <a:cs typeface="Calibri"/>
                <a:sym typeface="Calibri"/>
              </a:rPr>
              <a:t>patterncatalyst/quarkus-optimization</a:t>
            </a:r>
            <a:endParaRPr b="0" i="0" sz="1000" u="none" cap="none" strike="noStrike">
              <a:solidFill>
                <a:schemeClr val="dk1"/>
              </a:solidFill>
              <a:latin typeface="Calibri"/>
              <a:ea typeface="Calibri"/>
              <a:cs typeface="Calibri"/>
              <a:sym typeface="Calibri"/>
            </a:endParaRPr>
          </a:p>
        </p:txBody>
      </p:sp>
      <p:sp>
        <p:nvSpPr>
          <p:cNvPr id="30" name="Google Shape;30;p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F0F7"/>
        </a:solidFill>
      </p:bgPr>
    </p:bg>
    <p:spTree>
      <p:nvGrpSpPr>
        <p:cNvPr id="35" name="Shape 35"/>
        <p:cNvGrpSpPr/>
        <p:nvPr/>
      </p:nvGrpSpPr>
      <p:grpSpPr>
        <a:xfrm>
          <a:off x="0" y="0"/>
          <a:ext cx="0" cy="0"/>
          <a:chOff x="0" y="0"/>
          <a:chExt cx="0" cy="0"/>
        </a:xfrm>
      </p:grpSpPr>
      <p:sp>
        <p:nvSpPr>
          <p:cNvPr id="36" name="Google Shape;36;p4"/>
          <p:cNvSpPr/>
          <p:nvPr/>
        </p:nvSpPr>
        <p:spPr>
          <a:xfrm>
            <a:off x="0" y="0"/>
            <a:ext cx="9144000" cy="64008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365760" y="0"/>
            <a:ext cx="6858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000"/>
              <a:buFont typeface="Calibri"/>
              <a:buNone/>
            </a:pPr>
            <a:r>
              <a:rPr b="1" i="0" lang="en-US" sz="2000" u="none" cap="none" strike="noStrike">
                <a:solidFill>
                  <a:srgbClr val="00BCD4"/>
                </a:solidFill>
                <a:latin typeface="Calibri"/>
                <a:ea typeface="Calibri"/>
                <a:cs typeface="Calibri"/>
                <a:sym typeface="Calibri"/>
              </a:rPr>
              <a:t>Agenda</a:t>
            </a:r>
            <a:endParaRPr b="0" i="0" sz="2000" u="none" cap="none" strike="noStrike">
              <a:solidFill>
                <a:schemeClr val="dk1"/>
              </a:solidFill>
              <a:latin typeface="Calibri"/>
              <a:ea typeface="Calibri"/>
              <a:cs typeface="Calibri"/>
              <a:sym typeface="Calibri"/>
            </a:endParaRPr>
          </a:p>
        </p:txBody>
      </p:sp>
      <p:sp>
        <p:nvSpPr>
          <p:cNvPr id="38" name="Google Shape;38;p4"/>
          <p:cNvSpPr/>
          <p:nvPr/>
        </p:nvSpPr>
        <p:spPr>
          <a:xfrm>
            <a:off x="7315200" y="73152"/>
            <a:ext cx="1645920" cy="502920"/>
          </a:xfrm>
          <a:prstGeom prst="rect">
            <a:avLst/>
          </a:prstGeom>
          <a:solidFill>
            <a:srgbClr val="1E6FC8"/>
          </a:solidFill>
          <a:ln>
            <a:noFill/>
          </a:ln>
        </p:spPr>
        <p:txBody>
          <a:bodyPr anchorCtr="0" anchor="ctr" bIns="0" lIns="0" spcFirstLastPara="1" rIns="76200" wrap="square" tIns="76200">
            <a:noAutofit/>
          </a:bodyPr>
          <a:lstStyle/>
          <a:p>
            <a:pPr indent="0" lvl="0" marL="0" marR="0" rtl="0" algn="r">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Overview</a:t>
            </a:r>
            <a:endParaRPr b="0" i="0" sz="1000" u="none" cap="none" strike="noStrike">
              <a:solidFill>
                <a:schemeClr val="dk1"/>
              </a:solidFill>
              <a:latin typeface="Calibri"/>
              <a:ea typeface="Calibri"/>
              <a:cs typeface="Calibri"/>
              <a:sym typeface="Calibri"/>
            </a:endParaRPr>
          </a:p>
        </p:txBody>
      </p:sp>
      <p:sp>
        <p:nvSpPr>
          <p:cNvPr id="39" name="Google Shape;39;p4"/>
          <p:cNvSpPr/>
          <p:nvPr/>
        </p:nvSpPr>
        <p:spPr>
          <a:xfrm>
            <a:off x="0" y="4960620"/>
            <a:ext cx="9144000" cy="18288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365760" y="4956048"/>
            <a:ext cx="841248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00"/>
              <a:buFont typeface="Calibri"/>
              <a:buNone/>
            </a:pPr>
            <a:r>
              <a:rPr b="0" i="0" lang="en-US" sz="900" u="none" cap="none" strike="noStrike">
                <a:solidFill>
                  <a:srgbClr val="ECF0F1"/>
                </a:solidFill>
                <a:latin typeface="Calibri"/>
                <a:ea typeface="Calibri"/>
                <a:cs typeface="Calibri"/>
                <a:sym typeface="Calibri"/>
              </a:rPr>
              <a:t>Taming the JVM: Java Optimization on OpenShift</a:t>
            </a:r>
            <a:endParaRPr b="0" i="0" sz="900" u="none" cap="none" strike="noStrike">
              <a:solidFill>
                <a:schemeClr val="dk1"/>
              </a:solidFill>
              <a:latin typeface="Calibri"/>
              <a:ea typeface="Calibri"/>
              <a:cs typeface="Calibri"/>
              <a:sym typeface="Calibri"/>
            </a:endParaRPr>
          </a:p>
        </p:txBody>
      </p:sp>
      <p:sp>
        <p:nvSpPr>
          <p:cNvPr id="41" name="Google Shape;41;p4"/>
          <p:cNvSpPr/>
          <p:nvPr/>
        </p:nvSpPr>
        <p:spPr>
          <a:xfrm>
            <a:off x="320040" y="804672"/>
            <a:ext cx="4206240" cy="86868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a:off x="320040" y="804672"/>
            <a:ext cx="502920" cy="86868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320040" y="804672"/>
            <a:ext cx="50292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01</a:t>
            </a:r>
            <a:endParaRPr b="0" i="0" sz="1600" u="none" cap="none" strike="noStrike">
              <a:solidFill>
                <a:schemeClr val="dk1"/>
              </a:solidFill>
              <a:latin typeface="Calibri"/>
              <a:ea typeface="Calibri"/>
              <a:cs typeface="Calibri"/>
              <a:sym typeface="Calibri"/>
            </a:endParaRPr>
          </a:p>
        </p:txBody>
      </p:sp>
      <p:sp>
        <p:nvSpPr>
          <p:cNvPr id="44" name="Google Shape;44;p4"/>
          <p:cNvSpPr/>
          <p:nvPr/>
        </p:nvSpPr>
        <p:spPr>
          <a:xfrm>
            <a:off x="914400" y="896112"/>
            <a:ext cx="30632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C"/>
              </a:buClr>
              <a:buSzPts val="1200"/>
              <a:buFont typeface="Calibri"/>
              <a:buNone/>
            </a:pPr>
            <a:r>
              <a:rPr b="1" i="0" lang="en-US" sz="1200" u="none" cap="none" strike="noStrike">
                <a:solidFill>
                  <a:srgbClr val="1A2B3C"/>
                </a:solidFill>
                <a:latin typeface="Calibri"/>
                <a:ea typeface="Calibri"/>
                <a:cs typeface="Calibri"/>
                <a:sym typeface="Calibri"/>
              </a:rPr>
              <a:t>Container-Native JVM Fundamentals</a:t>
            </a:r>
            <a:endParaRPr b="0" i="0" sz="1200" u="none" cap="none" strike="noStrike">
              <a:solidFill>
                <a:schemeClr val="dk1"/>
              </a:solidFill>
              <a:latin typeface="Calibri"/>
              <a:ea typeface="Calibri"/>
              <a:cs typeface="Calibri"/>
              <a:sym typeface="Calibri"/>
            </a:endParaRPr>
          </a:p>
        </p:txBody>
      </p:sp>
      <p:sp>
        <p:nvSpPr>
          <p:cNvPr id="45" name="Google Shape;45;p4"/>
          <p:cNvSpPr/>
          <p:nvPr/>
        </p:nvSpPr>
        <p:spPr>
          <a:xfrm>
            <a:off x="4800600" y="804672"/>
            <a:ext cx="4206240" cy="86868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4800600" y="804672"/>
            <a:ext cx="502920" cy="868680"/>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a:off x="4800600" y="804672"/>
            <a:ext cx="50292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02</a:t>
            </a:r>
            <a:endParaRPr b="0" i="0" sz="1600" u="none" cap="none" strike="noStrike">
              <a:solidFill>
                <a:schemeClr val="dk1"/>
              </a:solidFill>
              <a:latin typeface="Calibri"/>
              <a:ea typeface="Calibri"/>
              <a:cs typeface="Calibri"/>
              <a:sym typeface="Calibri"/>
            </a:endParaRPr>
          </a:p>
        </p:txBody>
      </p:sp>
      <p:sp>
        <p:nvSpPr>
          <p:cNvPr id="48" name="Google Shape;48;p4"/>
          <p:cNvSpPr/>
          <p:nvPr/>
        </p:nvSpPr>
        <p:spPr>
          <a:xfrm>
            <a:off x="5394960" y="896112"/>
            <a:ext cx="30632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C"/>
              </a:buClr>
              <a:buSzPts val="1200"/>
              <a:buFont typeface="Calibri"/>
              <a:buNone/>
            </a:pPr>
            <a:r>
              <a:rPr b="1" i="0" lang="en-US" sz="1200" u="none" cap="none" strike="noStrike">
                <a:solidFill>
                  <a:srgbClr val="1A2B3C"/>
                </a:solidFill>
                <a:latin typeface="Calibri"/>
                <a:ea typeface="Calibri"/>
                <a:cs typeface="Calibri"/>
                <a:sym typeface="Calibri"/>
              </a:rPr>
              <a:t>Right-Sizing Java Workloads</a:t>
            </a:r>
            <a:endParaRPr b="0" i="0" sz="1200" u="none" cap="none" strike="noStrike">
              <a:solidFill>
                <a:schemeClr val="dk1"/>
              </a:solidFill>
              <a:latin typeface="Calibri"/>
              <a:ea typeface="Calibri"/>
              <a:cs typeface="Calibri"/>
              <a:sym typeface="Calibri"/>
            </a:endParaRPr>
          </a:p>
        </p:txBody>
      </p:sp>
      <p:sp>
        <p:nvSpPr>
          <p:cNvPr id="49" name="Google Shape;49;p4"/>
          <p:cNvSpPr/>
          <p:nvPr/>
        </p:nvSpPr>
        <p:spPr>
          <a:xfrm>
            <a:off x="320040" y="1792224"/>
            <a:ext cx="4206240" cy="86868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a:off x="320040" y="1792224"/>
            <a:ext cx="502920" cy="868680"/>
          </a:xfrm>
          <a:prstGeom prst="rect">
            <a:avLst/>
          </a:prstGeom>
          <a:solidFill>
            <a:srgbClr val="F5A6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20040" y="1792224"/>
            <a:ext cx="50292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03</a:t>
            </a:r>
            <a:endParaRPr b="0" i="0" sz="1600" u="none" cap="none" strike="noStrike">
              <a:solidFill>
                <a:schemeClr val="dk1"/>
              </a:solidFill>
              <a:latin typeface="Calibri"/>
              <a:ea typeface="Calibri"/>
              <a:cs typeface="Calibri"/>
              <a:sym typeface="Calibri"/>
            </a:endParaRPr>
          </a:p>
        </p:txBody>
      </p:sp>
      <p:sp>
        <p:nvSpPr>
          <p:cNvPr id="52" name="Google Shape;52;p4"/>
          <p:cNvSpPr/>
          <p:nvPr/>
        </p:nvSpPr>
        <p:spPr>
          <a:xfrm>
            <a:off x="914400" y="1883664"/>
            <a:ext cx="30632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C"/>
              </a:buClr>
              <a:buSzPts val="1200"/>
              <a:buFont typeface="Calibri"/>
              <a:buNone/>
            </a:pPr>
            <a:r>
              <a:rPr b="1" i="0" lang="en-US" sz="1200" u="none" cap="none" strike="noStrike">
                <a:solidFill>
                  <a:srgbClr val="1A2B3C"/>
                </a:solidFill>
                <a:latin typeface="Calibri"/>
                <a:ea typeface="Calibri"/>
                <a:cs typeface="Calibri"/>
                <a:sym typeface="Calibri"/>
              </a:rPr>
              <a:t>Garbage Collection Optimization</a:t>
            </a:r>
            <a:endParaRPr b="0" i="0" sz="1200" u="none" cap="none" strike="noStrike">
              <a:solidFill>
                <a:schemeClr val="dk1"/>
              </a:solidFill>
              <a:latin typeface="Calibri"/>
              <a:ea typeface="Calibri"/>
              <a:cs typeface="Calibri"/>
              <a:sym typeface="Calibri"/>
            </a:endParaRPr>
          </a:p>
        </p:txBody>
      </p:sp>
      <p:sp>
        <p:nvSpPr>
          <p:cNvPr id="53" name="Google Shape;53;p4"/>
          <p:cNvSpPr/>
          <p:nvPr/>
        </p:nvSpPr>
        <p:spPr>
          <a:xfrm>
            <a:off x="4800600" y="1792224"/>
            <a:ext cx="4206240" cy="86868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4800600" y="1792224"/>
            <a:ext cx="502920" cy="868680"/>
          </a:xfrm>
          <a:prstGeom prst="rect">
            <a:avLst/>
          </a:prstGeom>
          <a:solidFill>
            <a:srgbClr val="27AE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a:off x="4800600" y="1792224"/>
            <a:ext cx="50292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04</a:t>
            </a:r>
            <a:endParaRPr b="0" i="0" sz="1600" u="none" cap="none" strike="noStrike">
              <a:solidFill>
                <a:schemeClr val="dk1"/>
              </a:solidFill>
              <a:latin typeface="Calibri"/>
              <a:ea typeface="Calibri"/>
              <a:cs typeface="Calibri"/>
              <a:sym typeface="Calibri"/>
            </a:endParaRPr>
          </a:p>
        </p:txBody>
      </p:sp>
      <p:sp>
        <p:nvSpPr>
          <p:cNvPr id="56" name="Google Shape;56;p4"/>
          <p:cNvSpPr/>
          <p:nvPr/>
        </p:nvSpPr>
        <p:spPr>
          <a:xfrm>
            <a:off x="5394960" y="1883664"/>
            <a:ext cx="30632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C"/>
              </a:buClr>
              <a:buSzPts val="1200"/>
              <a:buFont typeface="Calibri"/>
              <a:buNone/>
            </a:pPr>
            <a:r>
              <a:rPr b="1" i="0" lang="en-US" sz="1200" u="none" cap="none" strike="noStrike">
                <a:solidFill>
                  <a:srgbClr val="1A2B3C"/>
                </a:solidFill>
                <a:latin typeface="Calibri"/>
                <a:ea typeface="Calibri"/>
                <a:cs typeface="Calibri"/>
                <a:sym typeface="Calibri"/>
              </a:rPr>
              <a:t>Startup Time Reduction (CDS / AppCDS)</a:t>
            </a:r>
            <a:endParaRPr b="0" i="0" sz="1200" u="none" cap="none" strike="noStrike">
              <a:solidFill>
                <a:schemeClr val="dk1"/>
              </a:solidFill>
              <a:latin typeface="Calibri"/>
              <a:ea typeface="Calibri"/>
              <a:cs typeface="Calibri"/>
              <a:sym typeface="Calibri"/>
            </a:endParaRPr>
          </a:p>
        </p:txBody>
      </p:sp>
      <p:sp>
        <p:nvSpPr>
          <p:cNvPr id="57" name="Google Shape;57;p4"/>
          <p:cNvSpPr/>
          <p:nvPr/>
        </p:nvSpPr>
        <p:spPr>
          <a:xfrm>
            <a:off x="320040" y="2779776"/>
            <a:ext cx="4206240" cy="86868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4"/>
          <p:cNvSpPr/>
          <p:nvPr/>
        </p:nvSpPr>
        <p:spPr>
          <a:xfrm>
            <a:off x="320040" y="2779776"/>
            <a:ext cx="502920" cy="868680"/>
          </a:xfrm>
          <a:prstGeom prst="rect">
            <a:avLst/>
          </a:prstGeom>
          <a:solidFill>
            <a:srgbClr val="E848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a:off x="320040" y="2779776"/>
            <a:ext cx="50292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05</a:t>
            </a:r>
            <a:endParaRPr b="0" i="0" sz="1600" u="none" cap="none" strike="noStrike">
              <a:solidFill>
                <a:schemeClr val="dk1"/>
              </a:solidFill>
              <a:latin typeface="Calibri"/>
              <a:ea typeface="Calibri"/>
              <a:cs typeface="Calibri"/>
              <a:sym typeface="Calibri"/>
            </a:endParaRPr>
          </a:p>
        </p:txBody>
      </p:sp>
      <p:sp>
        <p:nvSpPr>
          <p:cNvPr id="60" name="Google Shape;60;p4"/>
          <p:cNvSpPr/>
          <p:nvPr/>
        </p:nvSpPr>
        <p:spPr>
          <a:xfrm>
            <a:off x="914400" y="2871216"/>
            <a:ext cx="30632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C"/>
              </a:buClr>
              <a:buSzPts val="1200"/>
              <a:buFont typeface="Calibri"/>
              <a:buNone/>
            </a:pPr>
            <a:r>
              <a:rPr b="1" i="0" lang="en-US" sz="1200" u="none" cap="none" strike="noStrike">
                <a:solidFill>
                  <a:srgbClr val="1A2B3C"/>
                </a:solidFill>
                <a:latin typeface="Calibri"/>
                <a:ea typeface="Calibri"/>
                <a:cs typeface="Calibri"/>
                <a:sym typeface="Calibri"/>
              </a:rPr>
              <a:t>Observability &amp; Instrumentation</a:t>
            </a:r>
            <a:endParaRPr b="0" i="0" sz="1200" u="none" cap="none" strike="noStrike">
              <a:solidFill>
                <a:schemeClr val="dk1"/>
              </a:solidFill>
              <a:latin typeface="Calibri"/>
              <a:ea typeface="Calibri"/>
              <a:cs typeface="Calibri"/>
              <a:sym typeface="Calibri"/>
            </a:endParaRPr>
          </a:p>
        </p:txBody>
      </p:sp>
      <p:sp>
        <p:nvSpPr>
          <p:cNvPr id="61" name="Google Shape;61;p4"/>
          <p:cNvSpPr/>
          <p:nvPr/>
        </p:nvSpPr>
        <p:spPr>
          <a:xfrm>
            <a:off x="4800600" y="2779776"/>
            <a:ext cx="4206240" cy="86868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
          <p:cNvSpPr/>
          <p:nvPr/>
        </p:nvSpPr>
        <p:spPr>
          <a:xfrm>
            <a:off x="4800600" y="2779776"/>
            <a:ext cx="502920" cy="868680"/>
          </a:xfrm>
          <a:prstGeom prst="rect">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
          <p:cNvSpPr/>
          <p:nvPr/>
        </p:nvSpPr>
        <p:spPr>
          <a:xfrm>
            <a:off x="4800600" y="2779776"/>
            <a:ext cx="50292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06</a:t>
            </a:r>
            <a:endParaRPr b="0" i="0" sz="1600" u="none" cap="none" strike="noStrike">
              <a:solidFill>
                <a:schemeClr val="dk1"/>
              </a:solidFill>
              <a:latin typeface="Calibri"/>
              <a:ea typeface="Calibri"/>
              <a:cs typeface="Calibri"/>
              <a:sym typeface="Calibri"/>
            </a:endParaRPr>
          </a:p>
        </p:txBody>
      </p:sp>
      <p:sp>
        <p:nvSpPr>
          <p:cNvPr id="64" name="Google Shape;64;p4"/>
          <p:cNvSpPr/>
          <p:nvPr/>
        </p:nvSpPr>
        <p:spPr>
          <a:xfrm>
            <a:off x="5394960" y="2871216"/>
            <a:ext cx="30632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C"/>
              </a:buClr>
              <a:buSzPts val="1200"/>
              <a:buFont typeface="Calibri"/>
              <a:buNone/>
            </a:pPr>
            <a:r>
              <a:rPr b="1" i="0" lang="en-US" sz="1200" u="none" cap="none" strike="noStrike">
                <a:solidFill>
                  <a:srgbClr val="1A2B3C"/>
                </a:solidFill>
                <a:latin typeface="Calibri"/>
                <a:ea typeface="Calibri"/>
                <a:cs typeface="Calibri"/>
                <a:sym typeface="Calibri"/>
              </a:rPr>
              <a:t>Autoscaling Integration</a:t>
            </a:r>
            <a:endParaRPr b="0" i="0" sz="1200" u="none" cap="none" strike="noStrike">
              <a:solidFill>
                <a:schemeClr val="dk1"/>
              </a:solidFill>
              <a:latin typeface="Calibri"/>
              <a:ea typeface="Calibri"/>
              <a:cs typeface="Calibri"/>
              <a:sym typeface="Calibri"/>
            </a:endParaRPr>
          </a:p>
        </p:txBody>
      </p:sp>
      <p:sp>
        <p:nvSpPr>
          <p:cNvPr id="65" name="Google Shape;65;p4"/>
          <p:cNvSpPr/>
          <p:nvPr/>
        </p:nvSpPr>
        <p:spPr>
          <a:xfrm>
            <a:off x="320040" y="3767328"/>
            <a:ext cx="4206240" cy="86868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4"/>
          <p:cNvSpPr/>
          <p:nvPr/>
        </p:nvSpPr>
        <p:spPr>
          <a:xfrm>
            <a:off x="320040" y="3767328"/>
            <a:ext cx="502920" cy="86868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4"/>
          <p:cNvSpPr/>
          <p:nvPr/>
        </p:nvSpPr>
        <p:spPr>
          <a:xfrm>
            <a:off x="320040" y="3767328"/>
            <a:ext cx="502800" cy="868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07</a:t>
            </a:r>
            <a:endParaRPr b="0" i="0" sz="1600" u="none" cap="none" strike="noStrike">
              <a:solidFill>
                <a:schemeClr val="dk1"/>
              </a:solidFill>
              <a:latin typeface="Calibri"/>
              <a:ea typeface="Calibri"/>
              <a:cs typeface="Calibri"/>
              <a:sym typeface="Calibri"/>
            </a:endParaRPr>
          </a:p>
        </p:txBody>
      </p:sp>
      <p:sp>
        <p:nvSpPr>
          <p:cNvPr id="68" name="Google Shape;68;p4"/>
          <p:cNvSpPr/>
          <p:nvPr/>
        </p:nvSpPr>
        <p:spPr>
          <a:xfrm>
            <a:off x="914400" y="3858768"/>
            <a:ext cx="30632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C"/>
              </a:buClr>
              <a:buSzPts val="1200"/>
              <a:buFont typeface="Calibri"/>
              <a:buNone/>
            </a:pPr>
            <a:r>
              <a:rPr b="1" i="0" lang="en-US" sz="1200" u="none" cap="none" strike="noStrike">
                <a:solidFill>
                  <a:srgbClr val="1A2B3C"/>
                </a:solidFill>
                <a:latin typeface="Calibri"/>
                <a:ea typeface="Calibri"/>
                <a:cs typeface="Calibri"/>
                <a:sym typeface="Calibri"/>
              </a:rPr>
              <a:t>Systematic Tuning Workflow &amp; Cost ROI</a:t>
            </a:r>
            <a:endParaRPr b="0" i="0" sz="1200" u="none" cap="none" strike="noStrike">
              <a:solidFill>
                <a:schemeClr val="dk1"/>
              </a:solidFill>
              <a:latin typeface="Calibri"/>
              <a:ea typeface="Calibri"/>
              <a:cs typeface="Calibri"/>
              <a:sym typeface="Calibri"/>
            </a:endParaRPr>
          </a:p>
        </p:txBody>
      </p:sp>
      <p:sp>
        <p:nvSpPr>
          <p:cNvPr id="69" name="Google Shape;69;p4"/>
          <p:cNvSpPr/>
          <p:nvPr/>
        </p:nvSpPr>
        <p:spPr>
          <a:xfrm>
            <a:off x="4800565" y="3763466"/>
            <a:ext cx="4206300" cy="86880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4"/>
          <p:cNvSpPr/>
          <p:nvPr/>
        </p:nvSpPr>
        <p:spPr>
          <a:xfrm>
            <a:off x="4800565" y="3763466"/>
            <a:ext cx="502800" cy="868800"/>
          </a:xfrm>
          <a:prstGeom prst="rect">
            <a:avLst/>
          </a:prstGeom>
          <a:solidFill>
            <a:srgbClr val="E848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4"/>
          <p:cNvSpPr/>
          <p:nvPr/>
        </p:nvSpPr>
        <p:spPr>
          <a:xfrm>
            <a:off x="4800565" y="3766041"/>
            <a:ext cx="502800" cy="868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100">
                <a:solidFill>
                  <a:srgbClr val="FFFFFF"/>
                </a:solidFill>
                <a:latin typeface="Calibri"/>
                <a:ea typeface="Calibri"/>
                <a:cs typeface="Calibri"/>
                <a:sym typeface="Calibri"/>
              </a:rPr>
              <a:t>Bonus</a:t>
            </a:r>
            <a:endParaRPr b="0" i="0" sz="1100" u="none" cap="none" strike="noStrike">
              <a:solidFill>
                <a:schemeClr val="dk1"/>
              </a:solidFill>
              <a:latin typeface="Calibri"/>
              <a:ea typeface="Calibri"/>
              <a:cs typeface="Calibri"/>
              <a:sym typeface="Calibri"/>
            </a:endParaRPr>
          </a:p>
        </p:txBody>
      </p:sp>
      <p:sp>
        <p:nvSpPr>
          <p:cNvPr id="72" name="Google Shape;72;p4"/>
          <p:cNvSpPr/>
          <p:nvPr/>
        </p:nvSpPr>
        <p:spPr>
          <a:xfrm>
            <a:off x="5394925" y="3854906"/>
            <a:ext cx="30633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C"/>
              </a:buClr>
              <a:buSzPts val="1200"/>
              <a:buFont typeface="Calibri"/>
              <a:buNone/>
            </a:pPr>
            <a:r>
              <a:rPr b="1" lang="en-US" sz="1200">
                <a:solidFill>
                  <a:srgbClr val="1A2B3C"/>
                </a:solidFill>
                <a:latin typeface="Calibri"/>
                <a:ea typeface="Calibri"/>
                <a:cs typeface="Calibri"/>
                <a:sym typeface="Calibri"/>
              </a:rPr>
              <a:t>Project Leyden, gRPC, Latency and Anti-Patterns</a:t>
            </a:r>
            <a:endParaRPr b="0" i="0" sz="1200" u="none" cap="none" strike="noStrike">
              <a:solidFill>
                <a:schemeClr val="dk1"/>
              </a:solidFill>
              <a:latin typeface="Calibri"/>
              <a:ea typeface="Calibri"/>
              <a:cs typeface="Calibri"/>
              <a:sym typeface="Calibri"/>
            </a:endParaRPr>
          </a:p>
        </p:txBody>
      </p:sp>
      <p:sp>
        <p:nvSpPr>
          <p:cNvPr id="73" name="Google Shape;73;p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78" name="Shape 78"/>
        <p:cNvGrpSpPr/>
        <p:nvPr/>
      </p:nvGrpSpPr>
      <p:grpSpPr>
        <a:xfrm>
          <a:off x="0" y="0"/>
          <a:ext cx="0" cy="0"/>
          <a:chOff x="0" y="0"/>
          <a:chExt cx="0" cy="0"/>
        </a:xfrm>
      </p:grpSpPr>
      <p:sp>
        <p:nvSpPr>
          <p:cNvPr id="79" name="Google Shape;79;p5"/>
          <p:cNvSpPr/>
          <p:nvPr/>
        </p:nvSpPr>
        <p:spPr>
          <a:xfrm>
            <a:off x="0" y="0"/>
            <a:ext cx="9144000" cy="64008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5"/>
          <p:cNvSpPr/>
          <p:nvPr/>
        </p:nvSpPr>
        <p:spPr>
          <a:xfrm>
            <a:off x="365760" y="0"/>
            <a:ext cx="6858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000"/>
              <a:buFont typeface="Calibri"/>
              <a:buNone/>
            </a:pPr>
            <a:r>
              <a:rPr b="1" i="0" lang="en-US" sz="2000" u="none" cap="none" strike="noStrike">
                <a:solidFill>
                  <a:srgbClr val="00BCD4"/>
                </a:solidFill>
                <a:latin typeface="Calibri"/>
                <a:ea typeface="Calibri"/>
                <a:cs typeface="Calibri"/>
                <a:sym typeface="Calibri"/>
              </a:rPr>
              <a:t>Why Java + Kubernetes = Complexity</a:t>
            </a:r>
            <a:endParaRPr b="0" i="0" sz="2000" u="none" cap="none" strike="noStrike">
              <a:solidFill>
                <a:schemeClr val="dk1"/>
              </a:solidFill>
              <a:latin typeface="Calibri"/>
              <a:ea typeface="Calibri"/>
              <a:cs typeface="Calibri"/>
              <a:sym typeface="Calibri"/>
            </a:endParaRPr>
          </a:p>
        </p:txBody>
      </p:sp>
      <p:sp>
        <p:nvSpPr>
          <p:cNvPr id="81" name="Google Shape;81;p5"/>
          <p:cNvSpPr/>
          <p:nvPr/>
        </p:nvSpPr>
        <p:spPr>
          <a:xfrm>
            <a:off x="7315200" y="73152"/>
            <a:ext cx="1645920" cy="502920"/>
          </a:xfrm>
          <a:prstGeom prst="rect">
            <a:avLst/>
          </a:prstGeom>
          <a:solidFill>
            <a:srgbClr val="1E6FC8"/>
          </a:solidFill>
          <a:ln>
            <a:noFill/>
          </a:ln>
        </p:spPr>
        <p:txBody>
          <a:bodyPr anchorCtr="0" anchor="ctr" bIns="0" lIns="0" spcFirstLastPara="1" rIns="76200" wrap="square" tIns="76200">
            <a:noAutofit/>
          </a:bodyPr>
          <a:lstStyle/>
          <a:p>
            <a:pPr indent="0" lvl="0" marL="0" marR="0" rtl="0" algn="r">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The Problem</a:t>
            </a:r>
            <a:endParaRPr b="0" i="0" sz="1000" u="none" cap="none" strike="noStrike">
              <a:solidFill>
                <a:schemeClr val="dk1"/>
              </a:solidFill>
              <a:latin typeface="Calibri"/>
              <a:ea typeface="Calibri"/>
              <a:cs typeface="Calibri"/>
              <a:sym typeface="Calibri"/>
            </a:endParaRPr>
          </a:p>
        </p:txBody>
      </p:sp>
      <p:sp>
        <p:nvSpPr>
          <p:cNvPr id="82" name="Google Shape;82;p5"/>
          <p:cNvSpPr/>
          <p:nvPr/>
        </p:nvSpPr>
        <p:spPr>
          <a:xfrm>
            <a:off x="0" y="4960620"/>
            <a:ext cx="9144000" cy="18288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5"/>
          <p:cNvSpPr/>
          <p:nvPr/>
        </p:nvSpPr>
        <p:spPr>
          <a:xfrm>
            <a:off x="365760" y="4956048"/>
            <a:ext cx="841248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00"/>
              <a:buFont typeface="Calibri"/>
              <a:buNone/>
            </a:pPr>
            <a:r>
              <a:rPr b="0" i="0" lang="en-US" sz="900" u="none" cap="none" strike="noStrike">
                <a:solidFill>
                  <a:srgbClr val="ECF0F1"/>
                </a:solidFill>
                <a:latin typeface="Calibri"/>
                <a:ea typeface="Calibri"/>
                <a:cs typeface="Calibri"/>
                <a:sym typeface="Calibri"/>
              </a:rPr>
              <a:t>Taming the JVM: Java Optimization on OpenShift</a:t>
            </a:r>
            <a:endParaRPr b="0" i="0" sz="900" u="none" cap="none" strike="noStrike">
              <a:solidFill>
                <a:schemeClr val="dk1"/>
              </a:solidFill>
              <a:latin typeface="Calibri"/>
              <a:ea typeface="Calibri"/>
              <a:cs typeface="Calibri"/>
              <a:sym typeface="Calibri"/>
            </a:endParaRPr>
          </a:p>
        </p:txBody>
      </p:sp>
      <p:sp>
        <p:nvSpPr>
          <p:cNvPr id="84" name="Google Shape;84;p5"/>
          <p:cNvSpPr/>
          <p:nvPr/>
        </p:nvSpPr>
        <p:spPr>
          <a:xfrm>
            <a:off x="274320" y="777240"/>
            <a:ext cx="2011680" cy="1188720"/>
          </a:xfrm>
          <a:prstGeom prst="rect">
            <a:avLst/>
          </a:prstGeom>
          <a:solidFill>
            <a:srgbClr val="122040"/>
          </a:solidFill>
          <a:ln>
            <a:noFill/>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5"/>
          <p:cNvSpPr/>
          <p:nvPr/>
        </p:nvSpPr>
        <p:spPr>
          <a:xfrm>
            <a:off x="274320" y="868680"/>
            <a:ext cx="2011680" cy="653796"/>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E84855"/>
              </a:buClr>
              <a:buSzPts val="3600"/>
              <a:buFont typeface="Calibri"/>
              <a:buNone/>
            </a:pPr>
            <a:r>
              <a:rPr b="1" i="0" lang="en-US" sz="3600" u="none" cap="none" strike="noStrike">
                <a:solidFill>
                  <a:srgbClr val="E84855"/>
                </a:solidFill>
                <a:latin typeface="Calibri"/>
                <a:ea typeface="Calibri"/>
                <a:cs typeface="Calibri"/>
                <a:sym typeface="Calibri"/>
              </a:rPr>
              <a:t>60%</a:t>
            </a:r>
            <a:endParaRPr b="0" i="0" sz="3600" u="none" cap="none" strike="noStrike">
              <a:solidFill>
                <a:schemeClr val="dk1"/>
              </a:solidFill>
              <a:latin typeface="Calibri"/>
              <a:ea typeface="Calibri"/>
              <a:cs typeface="Calibri"/>
              <a:sym typeface="Calibri"/>
            </a:endParaRPr>
          </a:p>
        </p:txBody>
      </p:sp>
      <p:sp>
        <p:nvSpPr>
          <p:cNvPr id="86" name="Google Shape;86;p5"/>
          <p:cNvSpPr/>
          <p:nvPr/>
        </p:nvSpPr>
        <p:spPr>
          <a:xfrm>
            <a:off x="274320" y="1431036"/>
            <a:ext cx="2011680" cy="47548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0A4AE"/>
              </a:buClr>
              <a:buSzPts val="1100"/>
              <a:buFont typeface="Calibri"/>
              <a:buNone/>
            </a:pPr>
            <a:r>
              <a:rPr b="0" i="0" lang="en-US" sz="1100" u="none" cap="none" strike="noStrike">
                <a:solidFill>
                  <a:srgbClr val="90A4AE"/>
                </a:solidFill>
                <a:latin typeface="Calibri"/>
                <a:ea typeface="Calibri"/>
                <a:cs typeface="Calibri"/>
                <a:sym typeface="Calibri"/>
              </a:rPr>
              <a:t>of Java apps</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0A4AE"/>
              </a:buClr>
              <a:buSzPts val="1100"/>
              <a:buFont typeface="Calibri"/>
              <a:buNone/>
            </a:pPr>
            <a:r>
              <a:rPr b="0" i="0" lang="en-US" sz="1100" u="none" cap="none" strike="noStrike">
                <a:solidFill>
                  <a:srgbClr val="90A4AE"/>
                </a:solidFill>
                <a:latin typeface="Calibri"/>
                <a:ea typeface="Calibri"/>
                <a:cs typeface="Calibri"/>
                <a:sym typeface="Calibri"/>
              </a:rPr>
              <a:t>overprovision memory</a:t>
            </a:r>
            <a:endParaRPr b="0" i="0" sz="1100" u="none" cap="none" strike="noStrike">
              <a:solidFill>
                <a:schemeClr val="dk1"/>
              </a:solidFill>
              <a:latin typeface="Calibri"/>
              <a:ea typeface="Calibri"/>
              <a:cs typeface="Calibri"/>
              <a:sym typeface="Calibri"/>
            </a:endParaRPr>
          </a:p>
        </p:txBody>
      </p:sp>
      <p:sp>
        <p:nvSpPr>
          <p:cNvPr id="87" name="Google Shape;87;p5"/>
          <p:cNvSpPr/>
          <p:nvPr/>
        </p:nvSpPr>
        <p:spPr>
          <a:xfrm>
            <a:off x="2441448" y="777240"/>
            <a:ext cx="2011680" cy="1188720"/>
          </a:xfrm>
          <a:prstGeom prst="rect">
            <a:avLst/>
          </a:prstGeom>
          <a:solidFill>
            <a:srgbClr val="122040"/>
          </a:solidFill>
          <a:ln>
            <a:noFill/>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5"/>
          <p:cNvSpPr/>
          <p:nvPr/>
        </p:nvSpPr>
        <p:spPr>
          <a:xfrm>
            <a:off x="2441448" y="868680"/>
            <a:ext cx="2011680" cy="653796"/>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F5A623"/>
              </a:buClr>
              <a:buSzPts val="3600"/>
              <a:buFont typeface="Calibri"/>
              <a:buNone/>
            </a:pPr>
            <a:r>
              <a:rPr b="1" i="0" lang="en-US" sz="3600" u="none" cap="none" strike="noStrike">
                <a:solidFill>
                  <a:srgbClr val="F5A623"/>
                </a:solidFill>
                <a:latin typeface="Calibri"/>
                <a:ea typeface="Calibri"/>
                <a:cs typeface="Calibri"/>
                <a:sym typeface="Calibri"/>
              </a:rPr>
              <a:t>2–5s</a:t>
            </a:r>
            <a:endParaRPr b="0" i="0" sz="3600" u="none" cap="none" strike="noStrike">
              <a:solidFill>
                <a:schemeClr val="dk1"/>
              </a:solidFill>
              <a:latin typeface="Calibri"/>
              <a:ea typeface="Calibri"/>
              <a:cs typeface="Calibri"/>
              <a:sym typeface="Calibri"/>
            </a:endParaRPr>
          </a:p>
        </p:txBody>
      </p:sp>
      <p:sp>
        <p:nvSpPr>
          <p:cNvPr id="89" name="Google Shape;89;p5"/>
          <p:cNvSpPr/>
          <p:nvPr/>
        </p:nvSpPr>
        <p:spPr>
          <a:xfrm>
            <a:off x="2441448" y="1431036"/>
            <a:ext cx="2011680" cy="47548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0A4AE"/>
              </a:buClr>
              <a:buSzPts val="1100"/>
              <a:buFont typeface="Calibri"/>
              <a:buNone/>
            </a:pPr>
            <a:r>
              <a:rPr b="0" i="0" lang="en-US" sz="1100" u="none" cap="none" strike="noStrike">
                <a:solidFill>
                  <a:srgbClr val="90A4AE"/>
                </a:solidFill>
                <a:latin typeface="Calibri"/>
                <a:ea typeface="Calibri"/>
                <a:cs typeface="Calibri"/>
                <a:sym typeface="Calibri"/>
              </a:rPr>
              <a:t>typical JVM cold</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0A4AE"/>
              </a:buClr>
              <a:buSzPts val="1100"/>
              <a:buFont typeface="Calibri"/>
              <a:buNone/>
            </a:pPr>
            <a:r>
              <a:rPr b="0" i="0" lang="en-US" sz="1100" u="none" cap="none" strike="noStrike">
                <a:solidFill>
                  <a:srgbClr val="90A4AE"/>
                </a:solidFill>
                <a:latin typeface="Calibri"/>
                <a:ea typeface="Calibri"/>
                <a:cs typeface="Calibri"/>
                <a:sym typeface="Calibri"/>
              </a:rPr>
              <a:t>start on Kubernetes</a:t>
            </a:r>
            <a:endParaRPr b="0" i="0" sz="1100" u="none" cap="none" strike="noStrike">
              <a:solidFill>
                <a:schemeClr val="dk1"/>
              </a:solidFill>
              <a:latin typeface="Calibri"/>
              <a:ea typeface="Calibri"/>
              <a:cs typeface="Calibri"/>
              <a:sym typeface="Calibri"/>
            </a:endParaRPr>
          </a:p>
        </p:txBody>
      </p:sp>
      <p:sp>
        <p:nvSpPr>
          <p:cNvPr id="90" name="Google Shape;90;p5"/>
          <p:cNvSpPr/>
          <p:nvPr/>
        </p:nvSpPr>
        <p:spPr>
          <a:xfrm>
            <a:off x="4608576" y="777240"/>
            <a:ext cx="2011680" cy="1188720"/>
          </a:xfrm>
          <a:prstGeom prst="rect">
            <a:avLst/>
          </a:prstGeom>
          <a:solidFill>
            <a:srgbClr val="122040"/>
          </a:solidFill>
          <a:ln>
            <a:noFill/>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
          <p:cNvSpPr/>
          <p:nvPr/>
        </p:nvSpPr>
        <p:spPr>
          <a:xfrm>
            <a:off x="4608576" y="868680"/>
            <a:ext cx="2011680" cy="653796"/>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E84855"/>
              </a:buClr>
              <a:buSzPts val="3600"/>
              <a:buFont typeface="Calibri"/>
              <a:buNone/>
            </a:pPr>
            <a:r>
              <a:rPr b="1" i="0" lang="en-US" sz="3600" u="none" cap="none" strike="noStrike">
                <a:solidFill>
                  <a:srgbClr val="E84855"/>
                </a:solidFill>
                <a:latin typeface="Calibri"/>
                <a:ea typeface="Calibri"/>
                <a:cs typeface="Calibri"/>
                <a:sym typeface="Calibri"/>
              </a:rPr>
              <a:t>2–3×</a:t>
            </a:r>
            <a:endParaRPr b="0" i="0" sz="3600" u="none" cap="none" strike="noStrike">
              <a:solidFill>
                <a:schemeClr val="dk1"/>
              </a:solidFill>
              <a:latin typeface="Calibri"/>
              <a:ea typeface="Calibri"/>
              <a:cs typeface="Calibri"/>
              <a:sym typeface="Calibri"/>
            </a:endParaRPr>
          </a:p>
        </p:txBody>
      </p:sp>
      <p:sp>
        <p:nvSpPr>
          <p:cNvPr id="92" name="Google Shape;92;p5"/>
          <p:cNvSpPr/>
          <p:nvPr/>
        </p:nvSpPr>
        <p:spPr>
          <a:xfrm>
            <a:off x="4608576" y="1431036"/>
            <a:ext cx="2011680" cy="47548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0A4AE"/>
              </a:buClr>
              <a:buSzPts val="1100"/>
              <a:buFont typeface="Calibri"/>
              <a:buNone/>
            </a:pPr>
            <a:r>
              <a:rPr b="0" i="0" lang="en-US" sz="1100" u="none" cap="none" strike="noStrike">
                <a:solidFill>
                  <a:srgbClr val="90A4AE"/>
                </a:solidFill>
                <a:latin typeface="Calibri"/>
                <a:ea typeface="Calibri"/>
                <a:cs typeface="Calibri"/>
                <a:sym typeface="Calibri"/>
              </a:rPr>
              <a:t>infrastructure waste</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0A4AE"/>
              </a:buClr>
              <a:buSzPts val="1100"/>
              <a:buFont typeface="Calibri"/>
              <a:buNone/>
            </a:pPr>
            <a:r>
              <a:rPr b="0" i="0" lang="en-US" sz="1100" u="none" cap="none" strike="noStrike">
                <a:solidFill>
                  <a:srgbClr val="90A4AE"/>
                </a:solidFill>
                <a:latin typeface="Calibri"/>
                <a:ea typeface="Calibri"/>
                <a:cs typeface="Calibri"/>
                <a:sym typeface="Calibri"/>
              </a:rPr>
              <a:t>from poor bin-packing</a:t>
            </a:r>
            <a:endParaRPr b="0" i="0" sz="1100" u="none" cap="none" strike="noStrike">
              <a:solidFill>
                <a:schemeClr val="dk1"/>
              </a:solidFill>
              <a:latin typeface="Calibri"/>
              <a:ea typeface="Calibri"/>
              <a:cs typeface="Calibri"/>
              <a:sym typeface="Calibri"/>
            </a:endParaRPr>
          </a:p>
        </p:txBody>
      </p:sp>
      <p:sp>
        <p:nvSpPr>
          <p:cNvPr id="93" name="Google Shape;93;p5"/>
          <p:cNvSpPr/>
          <p:nvPr/>
        </p:nvSpPr>
        <p:spPr>
          <a:xfrm>
            <a:off x="6775704" y="777240"/>
            <a:ext cx="2011680" cy="1188720"/>
          </a:xfrm>
          <a:prstGeom prst="rect">
            <a:avLst/>
          </a:prstGeom>
          <a:solidFill>
            <a:srgbClr val="122040"/>
          </a:solidFill>
          <a:ln>
            <a:noFill/>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a:off x="6775704" y="868680"/>
            <a:ext cx="2011680" cy="653796"/>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F5A623"/>
              </a:buClr>
              <a:buSzPts val="3600"/>
              <a:buFont typeface="Calibri"/>
              <a:buNone/>
            </a:pPr>
            <a:r>
              <a:rPr b="1" i="0" lang="en-US" sz="3600" u="none" cap="none" strike="noStrike">
                <a:solidFill>
                  <a:srgbClr val="F5A623"/>
                </a:solidFill>
                <a:latin typeface="Calibri"/>
                <a:ea typeface="Calibri"/>
                <a:cs typeface="Calibri"/>
                <a:sym typeface="Calibri"/>
              </a:rPr>
              <a:t>$$$</a:t>
            </a:r>
            <a:endParaRPr b="0" i="0" sz="3600" u="none" cap="none" strike="noStrike">
              <a:solidFill>
                <a:schemeClr val="dk1"/>
              </a:solidFill>
              <a:latin typeface="Calibri"/>
              <a:ea typeface="Calibri"/>
              <a:cs typeface="Calibri"/>
              <a:sym typeface="Calibri"/>
            </a:endParaRPr>
          </a:p>
        </p:txBody>
      </p:sp>
      <p:sp>
        <p:nvSpPr>
          <p:cNvPr id="95" name="Google Shape;95;p5"/>
          <p:cNvSpPr/>
          <p:nvPr/>
        </p:nvSpPr>
        <p:spPr>
          <a:xfrm>
            <a:off x="6775704" y="1431036"/>
            <a:ext cx="2011680" cy="47548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0A4AE"/>
              </a:buClr>
              <a:buSzPts val="1100"/>
              <a:buFont typeface="Calibri"/>
              <a:buNone/>
            </a:pPr>
            <a:r>
              <a:rPr b="0" i="0" lang="en-US" sz="1100" u="none" cap="none" strike="noStrike">
                <a:solidFill>
                  <a:srgbClr val="90A4AE"/>
                </a:solidFill>
                <a:latin typeface="Calibri"/>
                <a:ea typeface="Calibri"/>
                <a:cs typeface="Calibri"/>
                <a:sym typeface="Calibri"/>
              </a:rPr>
              <a:t>unnecessary cloud</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0A4AE"/>
              </a:buClr>
              <a:buSzPts val="1100"/>
              <a:buFont typeface="Calibri"/>
              <a:buNone/>
            </a:pPr>
            <a:r>
              <a:rPr b="0" i="0" lang="en-US" sz="1100" u="none" cap="none" strike="noStrike">
                <a:solidFill>
                  <a:srgbClr val="90A4AE"/>
                </a:solidFill>
                <a:latin typeface="Calibri"/>
                <a:ea typeface="Calibri"/>
                <a:cs typeface="Calibri"/>
                <a:sym typeface="Calibri"/>
              </a:rPr>
              <a:t>spend each month</a:t>
            </a:r>
            <a:endParaRPr b="0" i="0" sz="1100" u="none" cap="none" strike="noStrike">
              <a:solidFill>
                <a:schemeClr val="dk1"/>
              </a:solidFill>
              <a:latin typeface="Calibri"/>
              <a:ea typeface="Calibri"/>
              <a:cs typeface="Calibri"/>
              <a:sym typeface="Calibri"/>
            </a:endParaRPr>
          </a:p>
        </p:txBody>
      </p:sp>
      <p:sp>
        <p:nvSpPr>
          <p:cNvPr id="96" name="Google Shape;96;p5"/>
          <p:cNvSpPr/>
          <p:nvPr/>
        </p:nvSpPr>
        <p:spPr>
          <a:xfrm>
            <a:off x="365760" y="210312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400"/>
              <a:buFont typeface="Calibri"/>
              <a:buNone/>
            </a:pPr>
            <a:r>
              <a:rPr b="1" i="0" lang="en-US" sz="1400" u="none" cap="none" strike="noStrike">
                <a:solidFill>
                  <a:srgbClr val="ECF0F1"/>
                </a:solidFill>
                <a:latin typeface="Calibri"/>
                <a:ea typeface="Calibri"/>
                <a:cs typeface="Calibri"/>
                <a:sym typeface="Calibri"/>
              </a:rPr>
              <a:t>Common failure patterns:</a:t>
            </a:r>
            <a:endParaRPr b="0" i="0" sz="1400" u="none" cap="none" strike="noStrike">
              <a:solidFill>
                <a:schemeClr val="dk1"/>
              </a:solidFill>
              <a:latin typeface="Calibri"/>
              <a:ea typeface="Calibri"/>
              <a:cs typeface="Calibri"/>
              <a:sym typeface="Calibri"/>
            </a:endParaRPr>
          </a:p>
        </p:txBody>
      </p:sp>
      <p:sp>
        <p:nvSpPr>
          <p:cNvPr id="97" name="Google Shape;97;p5"/>
          <p:cNvSpPr/>
          <p:nvPr/>
        </p:nvSpPr>
        <p:spPr>
          <a:xfrm>
            <a:off x="320040" y="2560320"/>
            <a:ext cx="8503920" cy="402336"/>
          </a:xfrm>
          <a:prstGeom prst="rect">
            <a:avLst/>
          </a:prstGeom>
          <a:solidFill>
            <a:srgbClr val="122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5"/>
          <p:cNvSpPr/>
          <p:nvPr/>
        </p:nvSpPr>
        <p:spPr>
          <a:xfrm>
            <a:off x="320040" y="2560320"/>
            <a:ext cx="54864" cy="402336"/>
          </a:xfrm>
          <a:prstGeom prst="rect">
            <a:avLst/>
          </a:prstGeom>
          <a:solidFill>
            <a:srgbClr val="E848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5"/>
          <p:cNvSpPr/>
          <p:nvPr/>
        </p:nvSpPr>
        <p:spPr>
          <a:xfrm>
            <a:off x="475488" y="2578608"/>
            <a:ext cx="2194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855"/>
              </a:buClr>
              <a:buSzPts val="1100"/>
              <a:buFont typeface="Calibri"/>
              <a:buNone/>
            </a:pPr>
            <a:r>
              <a:rPr b="1" i="0" lang="en-US" sz="1100" u="none" cap="none" strike="noStrike">
                <a:solidFill>
                  <a:srgbClr val="E84855"/>
                </a:solidFill>
                <a:latin typeface="Calibri"/>
                <a:ea typeface="Calibri"/>
                <a:cs typeface="Calibri"/>
                <a:sym typeface="Calibri"/>
              </a:rPr>
              <a:t>Default JVM ignores cgroup limits</a:t>
            </a:r>
            <a:endParaRPr b="0" i="0" sz="1100" u="none" cap="none" strike="noStrike">
              <a:solidFill>
                <a:schemeClr val="dk1"/>
              </a:solidFill>
              <a:latin typeface="Calibri"/>
              <a:ea typeface="Calibri"/>
              <a:cs typeface="Calibri"/>
              <a:sym typeface="Calibri"/>
            </a:endParaRPr>
          </a:p>
        </p:txBody>
      </p:sp>
      <p:sp>
        <p:nvSpPr>
          <p:cNvPr id="100" name="Google Shape;100;p5"/>
          <p:cNvSpPr/>
          <p:nvPr/>
        </p:nvSpPr>
        <p:spPr>
          <a:xfrm>
            <a:off x="2788920" y="2578608"/>
            <a:ext cx="5943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Default JVM reads host RAM — claims 25% of 256 GB node = 64 GB heap per pod</a:t>
            </a:r>
            <a:endParaRPr b="0" i="0" sz="1050" u="none" cap="none" strike="noStrike">
              <a:solidFill>
                <a:schemeClr val="dk1"/>
              </a:solidFill>
              <a:latin typeface="Calibri"/>
              <a:ea typeface="Calibri"/>
              <a:cs typeface="Calibri"/>
              <a:sym typeface="Calibri"/>
            </a:endParaRPr>
          </a:p>
        </p:txBody>
      </p:sp>
      <p:sp>
        <p:nvSpPr>
          <p:cNvPr id="101" name="Google Shape;101;p5"/>
          <p:cNvSpPr/>
          <p:nvPr/>
        </p:nvSpPr>
        <p:spPr>
          <a:xfrm>
            <a:off x="320040" y="3017520"/>
            <a:ext cx="8503920" cy="402336"/>
          </a:xfrm>
          <a:prstGeom prst="rect">
            <a:avLst/>
          </a:prstGeom>
          <a:solidFill>
            <a:srgbClr val="122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5"/>
          <p:cNvSpPr/>
          <p:nvPr/>
        </p:nvSpPr>
        <p:spPr>
          <a:xfrm>
            <a:off x="320040" y="3017520"/>
            <a:ext cx="54864" cy="402336"/>
          </a:xfrm>
          <a:prstGeom prst="rect">
            <a:avLst/>
          </a:prstGeom>
          <a:solidFill>
            <a:srgbClr val="E848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5"/>
          <p:cNvSpPr/>
          <p:nvPr/>
        </p:nvSpPr>
        <p:spPr>
          <a:xfrm>
            <a:off x="475488" y="3035808"/>
            <a:ext cx="2194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855"/>
              </a:buClr>
              <a:buSzPts val="1100"/>
              <a:buFont typeface="Calibri"/>
              <a:buNone/>
            </a:pPr>
            <a:r>
              <a:rPr b="1" i="0" lang="en-US" sz="1100" u="none" cap="none" strike="noStrike">
                <a:solidFill>
                  <a:srgbClr val="E84855"/>
                </a:solidFill>
                <a:latin typeface="Calibri"/>
                <a:ea typeface="Calibri"/>
                <a:cs typeface="Calibri"/>
                <a:sym typeface="Calibri"/>
              </a:rPr>
              <a:t>OOMKill storms</a:t>
            </a:r>
            <a:endParaRPr b="0" i="0" sz="1100" u="none" cap="none" strike="noStrike">
              <a:solidFill>
                <a:schemeClr val="dk1"/>
              </a:solidFill>
              <a:latin typeface="Calibri"/>
              <a:ea typeface="Calibri"/>
              <a:cs typeface="Calibri"/>
              <a:sym typeface="Calibri"/>
            </a:endParaRPr>
          </a:p>
        </p:txBody>
      </p:sp>
      <p:sp>
        <p:nvSpPr>
          <p:cNvPr id="104" name="Google Shape;104;p5"/>
          <p:cNvSpPr/>
          <p:nvPr/>
        </p:nvSpPr>
        <p:spPr>
          <a:xfrm>
            <a:off x="2788920" y="3035808"/>
            <a:ext cx="5943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Container limit is 2 GB; JVM claimed 4 GB → Kubernetes terminates pod mid-request</a:t>
            </a:r>
            <a:endParaRPr b="0" i="0" sz="1050" u="none" cap="none" strike="noStrike">
              <a:solidFill>
                <a:schemeClr val="dk1"/>
              </a:solidFill>
              <a:latin typeface="Calibri"/>
              <a:ea typeface="Calibri"/>
              <a:cs typeface="Calibri"/>
              <a:sym typeface="Calibri"/>
            </a:endParaRPr>
          </a:p>
        </p:txBody>
      </p:sp>
      <p:sp>
        <p:nvSpPr>
          <p:cNvPr id="105" name="Google Shape;105;p5"/>
          <p:cNvSpPr/>
          <p:nvPr/>
        </p:nvSpPr>
        <p:spPr>
          <a:xfrm>
            <a:off x="320040" y="3474720"/>
            <a:ext cx="8503920" cy="402336"/>
          </a:xfrm>
          <a:prstGeom prst="rect">
            <a:avLst/>
          </a:prstGeom>
          <a:solidFill>
            <a:srgbClr val="122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
          <p:cNvSpPr/>
          <p:nvPr/>
        </p:nvSpPr>
        <p:spPr>
          <a:xfrm>
            <a:off x="320040" y="3474720"/>
            <a:ext cx="54864" cy="402336"/>
          </a:xfrm>
          <a:prstGeom prst="rect">
            <a:avLst/>
          </a:prstGeom>
          <a:solidFill>
            <a:srgbClr val="E848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
          <p:cNvSpPr/>
          <p:nvPr/>
        </p:nvSpPr>
        <p:spPr>
          <a:xfrm>
            <a:off x="475488" y="3493008"/>
            <a:ext cx="2194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855"/>
              </a:buClr>
              <a:buSzPts val="1100"/>
              <a:buFont typeface="Calibri"/>
              <a:buNone/>
            </a:pPr>
            <a:r>
              <a:rPr b="1" i="0" lang="en-US" sz="1100" u="none" cap="none" strike="noStrike">
                <a:solidFill>
                  <a:srgbClr val="E84855"/>
                </a:solidFill>
                <a:latin typeface="Calibri"/>
                <a:ea typeface="Calibri"/>
                <a:cs typeface="Calibri"/>
                <a:sym typeface="Calibri"/>
              </a:rPr>
              <a:t>GC pause autoscaling</a:t>
            </a:r>
            <a:endParaRPr b="0" i="0" sz="1100" u="none" cap="none" strike="noStrike">
              <a:solidFill>
                <a:schemeClr val="dk1"/>
              </a:solidFill>
              <a:latin typeface="Calibri"/>
              <a:ea typeface="Calibri"/>
              <a:cs typeface="Calibri"/>
              <a:sym typeface="Calibri"/>
            </a:endParaRPr>
          </a:p>
        </p:txBody>
      </p:sp>
      <p:sp>
        <p:nvSpPr>
          <p:cNvPr id="108" name="Google Shape;108;p5"/>
          <p:cNvSpPr/>
          <p:nvPr/>
        </p:nvSpPr>
        <p:spPr>
          <a:xfrm>
            <a:off x="2788920" y="3493008"/>
            <a:ext cx="5943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ZooKeeper-level GC pauses → CPU spikes → HPA scales out → waste × N replicas</a:t>
            </a:r>
            <a:endParaRPr b="0" i="0" sz="1050" u="none" cap="none" strike="noStrike">
              <a:solidFill>
                <a:schemeClr val="dk1"/>
              </a:solidFill>
              <a:latin typeface="Calibri"/>
              <a:ea typeface="Calibri"/>
              <a:cs typeface="Calibri"/>
              <a:sym typeface="Calibri"/>
            </a:endParaRPr>
          </a:p>
        </p:txBody>
      </p:sp>
      <p:sp>
        <p:nvSpPr>
          <p:cNvPr id="109" name="Google Shape;109;p5"/>
          <p:cNvSpPr/>
          <p:nvPr/>
        </p:nvSpPr>
        <p:spPr>
          <a:xfrm>
            <a:off x="320040" y="3931920"/>
            <a:ext cx="8503920" cy="402336"/>
          </a:xfrm>
          <a:prstGeom prst="rect">
            <a:avLst/>
          </a:prstGeom>
          <a:solidFill>
            <a:srgbClr val="122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5"/>
          <p:cNvSpPr/>
          <p:nvPr/>
        </p:nvSpPr>
        <p:spPr>
          <a:xfrm>
            <a:off x="320040" y="3931920"/>
            <a:ext cx="54864" cy="402336"/>
          </a:xfrm>
          <a:prstGeom prst="rect">
            <a:avLst/>
          </a:prstGeom>
          <a:solidFill>
            <a:srgbClr val="E848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5"/>
          <p:cNvSpPr/>
          <p:nvPr/>
        </p:nvSpPr>
        <p:spPr>
          <a:xfrm>
            <a:off x="475488" y="3950208"/>
            <a:ext cx="2194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855"/>
              </a:buClr>
              <a:buSzPts val="1100"/>
              <a:buFont typeface="Calibri"/>
              <a:buNone/>
            </a:pPr>
            <a:r>
              <a:rPr b="1" i="0" lang="en-US" sz="1100" u="none" cap="none" strike="noStrike">
                <a:solidFill>
                  <a:srgbClr val="E84855"/>
                </a:solidFill>
                <a:latin typeface="Calibri"/>
                <a:ea typeface="Calibri"/>
                <a:cs typeface="Calibri"/>
                <a:sym typeface="Calibri"/>
              </a:rPr>
              <a:t>Slow startup throttles</a:t>
            </a:r>
            <a:endParaRPr b="0" i="0" sz="1100" u="none" cap="none" strike="noStrike">
              <a:solidFill>
                <a:schemeClr val="dk1"/>
              </a:solidFill>
              <a:latin typeface="Calibri"/>
              <a:ea typeface="Calibri"/>
              <a:cs typeface="Calibri"/>
              <a:sym typeface="Calibri"/>
            </a:endParaRPr>
          </a:p>
        </p:txBody>
      </p:sp>
      <p:sp>
        <p:nvSpPr>
          <p:cNvPr id="112" name="Google Shape;112;p5"/>
          <p:cNvSpPr/>
          <p:nvPr/>
        </p:nvSpPr>
        <p:spPr>
          <a:xfrm>
            <a:off x="2788920" y="3950208"/>
            <a:ext cx="5943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2-5s JVM init delays scale-out during traffic bursts — SLAs breached</a:t>
            </a:r>
            <a:endParaRPr b="0" i="0" sz="1050" u="none" cap="none" strike="noStrike">
              <a:solidFill>
                <a:schemeClr val="dk1"/>
              </a:solidFill>
              <a:latin typeface="Calibri"/>
              <a:ea typeface="Calibri"/>
              <a:cs typeface="Calibri"/>
              <a:sym typeface="Calibri"/>
            </a:endParaRPr>
          </a:p>
        </p:txBody>
      </p:sp>
      <p:sp>
        <p:nvSpPr>
          <p:cNvPr id="113" name="Google Shape;113;p5"/>
          <p:cNvSpPr/>
          <p:nvPr/>
        </p:nvSpPr>
        <p:spPr>
          <a:xfrm>
            <a:off x="320040" y="4389120"/>
            <a:ext cx="8503920" cy="402336"/>
          </a:xfrm>
          <a:prstGeom prst="rect">
            <a:avLst/>
          </a:prstGeom>
          <a:solidFill>
            <a:srgbClr val="122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5"/>
          <p:cNvSpPr/>
          <p:nvPr/>
        </p:nvSpPr>
        <p:spPr>
          <a:xfrm>
            <a:off x="320040" y="4389120"/>
            <a:ext cx="54864" cy="402336"/>
          </a:xfrm>
          <a:prstGeom prst="rect">
            <a:avLst/>
          </a:prstGeom>
          <a:solidFill>
            <a:srgbClr val="E848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5"/>
          <p:cNvSpPr/>
          <p:nvPr/>
        </p:nvSpPr>
        <p:spPr>
          <a:xfrm>
            <a:off x="475488" y="4407408"/>
            <a:ext cx="2194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855"/>
              </a:buClr>
              <a:buSzPts val="1100"/>
              <a:buFont typeface="Calibri"/>
              <a:buNone/>
            </a:pPr>
            <a:r>
              <a:rPr b="1" i="0" lang="en-US" sz="1100" u="none" cap="none" strike="noStrike">
                <a:solidFill>
                  <a:srgbClr val="E84855"/>
                </a:solidFill>
                <a:latin typeface="Calibri"/>
                <a:ea typeface="Calibri"/>
                <a:cs typeface="Calibri"/>
                <a:sym typeface="Calibri"/>
              </a:rPr>
              <a:t>No observability</a:t>
            </a:r>
            <a:endParaRPr b="0" i="0" sz="1100" u="none" cap="none" strike="noStrike">
              <a:solidFill>
                <a:schemeClr val="dk1"/>
              </a:solidFill>
              <a:latin typeface="Calibri"/>
              <a:ea typeface="Calibri"/>
              <a:cs typeface="Calibri"/>
              <a:sym typeface="Calibri"/>
            </a:endParaRPr>
          </a:p>
        </p:txBody>
      </p:sp>
      <p:sp>
        <p:nvSpPr>
          <p:cNvPr id="116" name="Google Shape;116;p5"/>
          <p:cNvSpPr/>
          <p:nvPr/>
        </p:nvSpPr>
        <p:spPr>
          <a:xfrm>
            <a:off x="2788920" y="4407408"/>
            <a:ext cx="5943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JVM internals invisible to Prometheus → tuning is guesswork, not engineering</a:t>
            </a:r>
            <a:endParaRPr b="0" i="0" sz="1050" u="none" cap="none" strike="noStrike">
              <a:solidFill>
                <a:schemeClr val="dk1"/>
              </a:solidFill>
              <a:latin typeface="Calibri"/>
              <a:ea typeface="Calibri"/>
              <a:cs typeface="Calibri"/>
              <a:sym typeface="Calibri"/>
            </a:endParaRPr>
          </a:p>
        </p:txBody>
      </p:sp>
      <p:sp>
        <p:nvSpPr>
          <p:cNvPr id="117" name="Google Shape;117;p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F0F7"/>
        </a:solidFill>
      </p:bgPr>
    </p:bg>
    <p:spTree>
      <p:nvGrpSpPr>
        <p:cNvPr id="5000" name="Shape 5000"/>
        <p:cNvGrpSpPr/>
        <p:nvPr/>
      </p:nvGrpSpPr>
      <p:grpSpPr>
        <a:xfrm>
          <a:off x="0" y="0"/>
          <a:ext cx="0" cy="0"/>
          <a:chOff x="0" y="0"/>
          <a:chExt cx="0" cy="0"/>
        </a:xfrm>
      </p:grpSpPr>
      <p:sp>
        <p:nvSpPr>
          <p:cNvPr id="5001" name="Google Shape;5001;p55"/>
          <p:cNvSpPr/>
          <p:nvPr/>
        </p:nvSpPr>
        <p:spPr>
          <a:xfrm>
            <a:off x="0" y="0"/>
            <a:ext cx="9144000" cy="64008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2" name="Google Shape;5002;p55"/>
          <p:cNvSpPr/>
          <p:nvPr/>
        </p:nvSpPr>
        <p:spPr>
          <a:xfrm>
            <a:off x="365760" y="0"/>
            <a:ext cx="6858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000"/>
              <a:buFont typeface="Calibri"/>
              <a:buNone/>
            </a:pPr>
            <a:r>
              <a:rPr b="1" i="0" lang="en-US" sz="2000" u="none" cap="none" strike="noStrike">
                <a:solidFill>
                  <a:srgbClr val="00BCD4"/>
                </a:solidFill>
                <a:latin typeface="Calibri"/>
                <a:ea typeface="Calibri"/>
                <a:cs typeface="Calibri"/>
                <a:sym typeface="Calibri"/>
              </a:rPr>
              <a:t>How We Measured — Methodology &amp; Caveats</a:t>
            </a:r>
            <a:endParaRPr b="0" i="0" sz="2000" u="none" cap="none" strike="noStrike">
              <a:solidFill>
                <a:schemeClr val="dk1"/>
              </a:solidFill>
              <a:latin typeface="Calibri"/>
              <a:ea typeface="Calibri"/>
              <a:cs typeface="Calibri"/>
              <a:sym typeface="Calibri"/>
            </a:endParaRPr>
          </a:p>
        </p:txBody>
      </p:sp>
      <p:sp>
        <p:nvSpPr>
          <p:cNvPr id="5003" name="Google Shape;5003;p55"/>
          <p:cNvSpPr/>
          <p:nvPr/>
        </p:nvSpPr>
        <p:spPr>
          <a:xfrm>
            <a:off x="7315200" y="73152"/>
            <a:ext cx="1645920" cy="50292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4" name="Google Shape;5004;p55"/>
          <p:cNvSpPr/>
          <p:nvPr/>
        </p:nvSpPr>
        <p:spPr>
          <a:xfrm>
            <a:off x="7315200" y="73152"/>
            <a:ext cx="1645920" cy="502920"/>
          </a:xfrm>
          <a:prstGeom prst="rect">
            <a:avLst/>
          </a:prstGeom>
          <a:noFill/>
          <a:ln>
            <a:noFill/>
          </a:ln>
        </p:spPr>
        <p:txBody>
          <a:bodyPr anchorCtr="0" anchor="ctr" bIns="0" lIns="0" spcFirstLastPara="1" rIns="76200" wrap="square" tIns="76200">
            <a:noAutofit/>
          </a:bodyPr>
          <a:lstStyle/>
          <a:p>
            <a:pPr indent="0" lvl="0" marL="0" marR="0" rtl="0" algn="r">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Methodology</a:t>
            </a:r>
            <a:endParaRPr b="0" i="0" sz="1000" u="none" cap="none" strike="noStrike">
              <a:solidFill>
                <a:schemeClr val="dk1"/>
              </a:solidFill>
              <a:latin typeface="Calibri"/>
              <a:ea typeface="Calibri"/>
              <a:cs typeface="Calibri"/>
              <a:sym typeface="Calibri"/>
            </a:endParaRPr>
          </a:p>
        </p:txBody>
      </p:sp>
      <p:sp>
        <p:nvSpPr>
          <p:cNvPr id="5005" name="Google Shape;5005;p55"/>
          <p:cNvSpPr/>
          <p:nvPr/>
        </p:nvSpPr>
        <p:spPr>
          <a:xfrm>
            <a:off x="0" y="4960620"/>
            <a:ext cx="9144000" cy="18288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6" name="Google Shape;5006;p55"/>
          <p:cNvSpPr/>
          <p:nvPr/>
        </p:nvSpPr>
        <p:spPr>
          <a:xfrm>
            <a:off x="365760" y="4956048"/>
            <a:ext cx="841248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00"/>
              <a:buFont typeface="Calibri"/>
              <a:buNone/>
            </a:pPr>
            <a:r>
              <a:rPr b="0" i="0" lang="en-US" sz="900" u="none" cap="none" strike="noStrike">
                <a:solidFill>
                  <a:srgbClr val="ECF0F1"/>
                </a:solidFill>
                <a:latin typeface="Calibri"/>
                <a:ea typeface="Calibri"/>
                <a:cs typeface="Calibri"/>
                <a:sym typeface="Calibri"/>
              </a:rPr>
              <a:t>Taming the JVM: Java Optimization on OpenShift</a:t>
            </a:r>
            <a:endParaRPr b="0" i="0" sz="900" u="none" cap="none" strike="noStrike">
              <a:solidFill>
                <a:schemeClr val="dk1"/>
              </a:solidFill>
              <a:latin typeface="Calibri"/>
              <a:ea typeface="Calibri"/>
              <a:cs typeface="Calibri"/>
              <a:sym typeface="Calibri"/>
            </a:endParaRPr>
          </a:p>
        </p:txBody>
      </p:sp>
      <p:sp>
        <p:nvSpPr>
          <p:cNvPr id="5010" name="Google Shape;5010;p55"/>
          <p:cNvSpPr/>
          <p:nvPr/>
        </p:nvSpPr>
        <p:spPr>
          <a:xfrm>
            <a:off x="320040" y="1877108"/>
            <a:ext cx="4069080" cy="182880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1" name="Google Shape;5011;p55"/>
          <p:cNvSpPr/>
          <p:nvPr/>
        </p:nvSpPr>
        <p:spPr>
          <a:xfrm>
            <a:off x="320040" y="1877108"/>
            <a:ext cx="54864" cy="182880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2" name="Google Shape;5012;p55"/>
          <p:cNvSpPr/>
          <p:nvPr/>
        </p:nvSpPr>
        <p:spPr>
          <a:xfrm>
            <a:off x="457200" y="1950260"/>
            <a:ext cx="3886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FC8"/>
              </a:buClr>
              <a:buSzPts val="1200"/>
              <a:buFont typeface="Calibri"/>
              <a:buNone/>
            </a:pPr>
            <a:r>
              <a:rPr b="1" i="0" lang="en-US" sz="1200" u="none" cap="none" strike="noStrike">
                <a:solidFill>
                  <a:srgbClr val="1E6FC8"/>
                </a:solidFill>
                <a:latin typeface="Calibri"/>
                <a:ea typeface="Calibri"/>
                <a:cs typeface="Calibri"/>
                <a:sym typeface="Calibri"/>
              </a:rPr>
              <a:t>What the numbers are</a:t>
            </a:r>
            <a:endParaRPr b="0" i="0" sz="1200" u="none" cap="none" strike="noStrike">
              <a:solidFill>
                <a:schemeClr val="dk1"/>
              </a:solidFill>
              <a:latin typeface="Calibri"/>
              <a:ea typeface="Calibri"/>
              <a:cs typeface="Calibri"/>
              <a:sym typeface="Calibri"/>
            </a:endParaRPr>
          </a:p>
        </p:txBody>
      </p:sp>
      <p:sp>
        <p:nvSpPr>
          <p:cNvPr id="5013" name="Google Shape;5013;p55"/>
          <p:cNvSpPr/>
          <p:nvPr/>
        </p:nvSpPr>
        <p:spPr>
          <a:xfrm>
            <a:off x="484632" y="2260984"/>
            <a:ext cx="3813048" cy="1353312"/>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A2B3C"/>
              </a:buClr>
              <a:buSzPts val="1000"/>
              <a:buFont typeface="Calibri"/>
              <a:buChar char="•"/>
            </a:pPr>
            <a:r>
              <a:rPr b="0" i="0" lang="en-US" sz="1000" u="none" cap="none" strike="noStrike">
                <a:solidFill>
                  <a:srgbClr val="1A2B3C"/>
                </a:solidFill>
                <a:latin typeface="Calibri"/>
                <a:ea typeface="Calibri"/>
                <a:cs typeface="Calibri"/>
                <a:sym typeface="Calibri"/>
              </a:rPr>
              <a:t>Micro-benchmarks use JMH: warm the JIT first, then measure — never time the first run</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00"/>
              <a:buFont typeface="Calibri"/>
              <a:buChar char="•"/>
            </a:pPr>
            <a:r>
              <a:rPr b="0" i="0" lang="en-US" sz="1000" u="none" cap="none" strike="noStrike">
                <a:solidFill>
                  <a:srgbClr val="1A2B3C"/>
                </a:solidFill>
                <a:latin typeface="Calibri"/>
                <a:ea typeface="Calibri"/>
                <a:cs typeface="Calibri"/>
                <a:sym typeface="Calibri"/>
              </a:rPr>
              <a:t>Every figure is an average over multiple runs, not one lucky sample</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00"/>
              <a:buFont typeface="Calibri"/>
              <a:buChar char="•"/>
            </a:pPr>
            <a:r>
              <a:rPr b="0" i="0" lang="en-US" sz="1000" u="none" cap="none" strike="noStrike">
                <a:solidFill>
                  <a:srgbClr val="1A2B3C"/>
                </a:solidFill>
                <a:latin typeface="Calibri"/>
                <a:ea typeface="Calibri"/>
                <a:cs typeface="Calibri"/>
                <a:sym typeface="Calibri"/>
              </a:rPr>
              <a:t>Demo numbers are real measurements from these demos, on a laptop (Fedora 41 / macOS, Podman)</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00"/>
              <a:buFont typeface="Calibri"/>
              <a:buChar char="•"/>
            </a:pPr>
            <a:r>
              <a:rPr b="0" i="0" lang="en-US" sz="1000" u="none" cap="none" strike="noStrike">
                <a:solidFill>
                  <a:srgbClr val="1A2B3C"/>
                </a:solidFill>
                <a:latin typeface="Calibri"/>
                <a:ea typeface="Calibri"/>
                <a:cs typeface="Calibri"/>
                <a:sym typeface="Calibri"/>
              </a:rPr>
              <a:t>Production figures are labelled projections — localhost ≠ a real cluster</a:t>
            </a:r>
            <a:endParaRPr b="0" i="0" sz="1000" u="none" cap="none" strike="noStrike">
              <a:solidFill>
                <a:schemeClr val="dk1"/>
              </a:solidFill>
              <a:latin typeface="Calibri"/>
              <a:ea typeface="Calibri"/>
              <a:cs typeface="Calibri"/>
              <a:sym typeface="Calibri"/>
            </a:endParaRPr>
          </a:p>
        </p:txBody>
      </p:sp>
      <p:sp>
        <p:nvSpPr>
          <p:cNvPr id="5020" name="Google Shape;5020;p55"/>
          <p:cNvSpPr/>
          <p:nvPr/>
        </p:nvSpPr>
        <p:spPr>
          <a:xfrm>
            <a:off x="4709160" y="1877108"/>
            <a:ext cx="4069080" cy="182880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1" name="Google Shape;5021;p55"/>
          <p:cNvSpPr/>
          <p:nvPr/>
        </p:nvSpPr>
        <p:spPr>
          <a:xfrm>
            <a:off x="4709160" y="1877108"/>
            <a:ext cx="54864" cy="1828800"/>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2" name="Google Shape;5022;p55"/>
          <p:cNvSpPr/>
          <p:nvPr/>
        </p:nvSpPr>
        <p:spPr>
          <a:xfrm>
            <a:off x="4846320" y="1950260"/>
            <a:ext cx="3886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200"/>
              <a:buFont typeface="Calibri"/>
              <a:buNone/>
            </a:pPr>
            <a:r>
              <a:rPr b="1" i="0" lang="en-US" sz="1200" u="none" cap="none" strike="noStrike">
                <a:solidFill>
                  <a:srgbClr val="00BCD4"/>
                </a:solidFill>
                <a:latin typeface="Calibri"/>
                <a:ea typeface="Calibri"/>
                <a:cs typeface="Calibri"/>
                <a:sym typeface="Calibri"/>
              </a:rPr>
              <a:t>Why laptops lie (and the controls)</a:t>
            </a:r>
            <a:endParaRPr b="0" i="0" sz="1200" u="none" cap="none" strike="noStrike">
              <a:solidFill>
                <a:schemeClr val="dk1"/>
              </a:solidFill>
              <a:latin typeface="Calibri"/>
              <a:ea typeface="Calibri"/>
              <a:cs typeface="Calibri"/>
              <a:sym typeface="Calibri"/>
            </a:endParaRPr>
          </a:p>
        </p:txBody>
      </p:sp>
      <p:sp>
        <p:nvSpPr>
          <p:cNvPr id="5023" name="Google Shape;5023;p55"/>
          <p:cNvSpPr/>
          <p:nvPr/>
        </p:nvSpPr>
        <p:spPr>
          <a:xfrm>
            <a:off x="4873752" y="2260984"/>
            <a:ext cx="3813048" cy="1353312"/>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A2B3C"/>
              </a:buClr>
              <a:buSzPts val="1000"/>
              <a:buFont typeface="Calibri"/>
              <a:buChar char="•"/>
            </a:pPr>
            <a:r>
              <a:rPr b="0" i="0" lang="en-US" sz="1000" u="none" cap="none" strike="noStrike">
                <a:solidFill>
                  <a:srgbClr val="1A2B3C"/>
                </a:solidFill>
                <a:latin typeface="Calibri"/>
                <a:ea typeface="Calibri"/>
                <a:cs typeface="Calibri"/>
                <a:sym typeface="Calibri"/>
              </a:rPr>
              <a:t>Laptops thermal-throttle and Turbo-Boost unpredictably — runs can drift 20%+</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00"/>
              <a:buFont typeface="Calibri"/>
              <a:buChar char="•"/>
            </a:pPr>
            <a:r>
              <a:rPr b="0" i="0" lang="en-US" sz="1000" u="none" cap="none" strike="noStrike">
                <a:solidFill>
                  <a:srgbClr val="1A2B3C"/>
                </a:solidFill>
                <a:latin typeface="Calibri"/>
                <a:ea typeface="Calibri"/>
                <a:cs typeface="Calibri"/>
                <a:sym typeface="Calibri"/>
              </a:rPr>
              <a:t>Controls: pin the CPU governor to "performance", disable Turbo Boost, one workload at a time</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00"/>
              <a:buFont typeface="Calibri"/>
              <a:buChar char="•"/>
            </a:pPr>
            <a:r>
              <a:rPr b="0" i="0" lang="en-US" sz="1000" u="none" cap="none" strike="noStrike">
                <a:solidFill>
                  <a:srgbClr val="1A2B3C"/>
                </a:solidFill>
                <a:latin typeface="Calibri"/>
                <a:ea typeface="Calibri"/>
                <a:cs typeface="Calibri"/>
                <a:sym typeface="Calibri"/>
              </a:rPr>
              <a:t>Localhost hides real cost: no network hop, no scheduler, no noisy neighbours</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00"/>
              <a:buFont typeface="Calibri"/>
              <a:buChar char="•"/>
            </a:pPr>
            <a:r>
              <a:rPr b="0" i="0" lang="en-US" sz="1000" u="none" cap="none" strike="noStrike">
                <a:solidFill>
                  <a:srgbClr val="1A2B3C"/>
                </a:solidFill>
                <a:latin typeface="Calibri"/>
                <a:ea typeface="Calibri"/>
                <a:cs typeface="Calibri"/>
                <a:sym typeface="Calibri"/>
              </a:rPr>
              <a:t>Rule of this talk: measure, don't guess — "tuning by folklore" is the anti-pattern (Evans)</a:t>
            </a:r>
            <a:endParaRPr b="0" i="0" sz="1000" u="none" cap="none" strike="noStrike">
              <a:solidFill>
                <a:schemeClr val="dk1"/>
              </a:solidFill>
              <a:latin typeface="Calibri"/>
              <a:ea typeface="Calibri"/>
              <a:cs typeface="Calibri"/>
              <a:sym typeface="Calibri"/>
            </a:endParaRPr>
          </a:p>
        </p:txBody>
      </p:sp>
      <p:sp>
        <p:nvSpPr>
          <p:cNvPr id="5030" name="Google Shape;5030;p55"/>
          <p:cNvSpPr/>
          <p:nvPr/>
        </p:nvSpPr>
        <p:spPr>
          <a:xfrm>
            <a:off x="320040" y="4833208"/>
            <a:ext cx="8503920" cy="260000"/>
          </a:xfrm>
          <a:prstGeom prst="rect">
            <a:avLst/>
          </a:prstGeom>
          <a:solidFill>
            <a:srgbClr val="0A16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1" name="Google Shape;5031;p55"/>
          <p:cNvSpPr/>
          <p:nvPr/>
        </p:nvSpPr>
        <p:spPr>
          <a:xfrm>
            <a:off x="457200" y="4833208"/>
            <a:ext cx="8321040" cy="2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D8EA"/>
              </a:buClr>
              <a:buSzPts val="850"/>
              <a:buFont typeface="Calibri"/>
              <a:buNone/>
            </a:pPr>
            <a:r>
              <a:rPr b="0" i="0" lang="en-US" sz="850" u="none" cap="none" strike="noStrike">
                <a:solidFill>
                  <a:srgbClr val="A8D8EA"/>
                </a:solidFill>
                <a:latin typeface="Calibri"/>
                <a:ea typeface="Calibri"/>
                <a:cs typeface="Calibri"/>
                <a:sym typeface="Calibri"/>
              </a:rPr>
              <a:t>📖  Evans &amp; Gough, Optimizing Cloud Native Java (O'Reilly 2024) — JMH &amp; methodology · Shirazi, javaperformancetuning.com #308 (laptop-benchmark caveats).  Demo numbers = real, on this hardware. Production numbers = projections.</a:t>
            </a:r>
            <a:endParaRPr b="0" i="0" sz="850" u="none" cap="none" strike="noStrike">
              <a:solidFill>
                <a:schemeClr val="dk1"/>
              </a:solidFill>
              <a:latin typeface="Calibri"/>
              <a:ea typeface="Calibri"/>
              <a:cs typeface="Calibri"/>
              <a:sym typeface="Calibri"/>
            </a:endParaRPr>
          </a:p>
        </p:txBody>
      </p:sp>
      <p:sp>
        <p:nvSpPr>
          <p:cNvPr id="5040" name="Google Shape;5040;p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F0F7"/>
        </a:solidFill>
      </p:bgPr>
    </p:bg>
    <p:spTree>
      <p:nvGrpSpPr>
        <p:cNvPr id="122" name="Shape 122"/>
        <p:cNvGrpSpPr/>
        <p:nvPr/>
      </p:nvGrpSpPr>
      <p:grpSpPr>
        <a:xfrm>
          <a:off x="0" y="0"/>
          <a:ext cx="0" cy="0"/>
          <a:chOff x="0" y="0"/>
          <a:chExt cx="0" cy="0"/>
        </a:xfrm>
      </p:grpSpPr>
      <p:sp>
        <p:nvSpPr>
          <p:cNvPr id="123" name="Google Shape;123;p6"/>
          <p:cNvSpPr/>
          <p:nvPr/>
        </p:nvSpPr>
        <p:spPr>
          <a:xfrm>
            <a:off x="0" y="0"/>
            <a:ext cx="9144000" cy="64008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6"/>
          <p:cNvSpPr/>
          <p:nvPr/>
        </p:nvSpPr>
        <p:spPr>
          <a:xfrm>
            <a:off x="365760" y="0"/>
            <a:ext cx="6858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000"/>
              <a:buFont typeface="Calibri"/>
              <a:buNone/>
            </a:pPr>
            <a:r>
              <a:rPr b="1" i="0" lang="en-US" sz="2000" u="none" cap="none" strike="noStrike">
                <a:solidFill>
                  <a:srgbClr val="00BCD4"/>
                </a:solidFill>
                <a:latin typeface="Calibri"/>
                <a:ea typeface="Calibri"/>
                <a:cs typeface="Calibri"/>
                <a:sym typeface="Calibri"/>
              </a:rPr>
              <a:t>Container-Native JVM Fundamentals</a:t>
            </a:r>
            <a:endParaRPr b="0" i="0" sz="2000" u="none" cap="none" strike="noStrike">
              <a:solidFill>
                <a:schemeClr val="dk1"/>
              </a:solidFill>
              <a:latin typeface="Calibri"/>
              <a:ea typeface="Calibri"/>
              <a:cs typeface="Calibri"/>
              <a:sym typeface="Calibri"/>
            </a:endParaRPr>
          </a:p>
        </p:txBody>
      </p:sp>
      <p:sp>
        <p:nvSpPr>
          <p:cNvPr id="125" name="Google Shape;125;p6"/>
          <p:cNvSpPr/>
          <p:nvPr/>
        </p:nvSpPr>
        <p:spPr>
          <a:xfrm>
            <a:off x="7315200" y="73152"/>
            <a:ext cx="1645920" cy="502920"/>
          </a:xfrm>
          <a:prstGeom prst="rect">
            <a:avLst/>
          </a:prstGeom>
          <a:solidFill>
            <a:srgbClr val="1E6FC8"/>
          </a:solidFill>
          <a:ln>
            <a:noFill/>
          </a:ln>
        </p:spPr>
        <p:txBody>
          <a:bodyPr anchorCtr="0" anchor="ctr" bIns="0" lIns="0" spcFirstLastPara="1" rIns="76200" wrap="square" tIns="76200">
            <a:noAutofit/>
          </a:bodyPr>
          <a:lstStyle/>
          <a:p>
            <a:pPr indent="0" lvl="0" marL="0" marR="0" rtl="0" algn="r">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Section 01</a:t>
            </a:r>
            <a:endParaRPr b="0" i="0" sz="1000" u="none" cap="none" strike="noStrike">
              <a:solidFill>
                <a:schemeClr val="dk1"/>
              </a:solidFill>
              <a:latin typeface="Calibri"/>
              <a:ea typeface="Calibri"/>
              <a:cs typeface="Calibri"/>
              <a:sym typeface="Calibri"/>
            </a:endParaRPr>
          </a:p>
        </p:txBody>
      </p:sp>
      <p:sp>
        <p:nvSpPr>
          <p:cNvPr id="126" name="Google Shape;126;p6"/>
          <p:cNvSpPr/>
          <p:nvPr/>
        </p:nvSpPr>
        <p:spPr>
          <a:xfrm>
            <a:off x="0" y="4960620"/>
            <a:ext cx="9144000" cy="18288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
          <p:cNvSpPr/>
          <p:nvPr/>
        </p:nvSpPr>
        <p:spPr>
          <a:xfrm>
            <a:off x="365760" y="4956048"/>
            <a:ext cx="841248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00"/>
              <a:buFont typeface="Calibri"/>
              <a:buNone/>
            </a:pPr>
            <a:r>
              <a:rPr b="0" i="0" lang="en-US" sz="900" u="none" cap="none" strike="noStrike">
                <a:solidFill>
                  <a:srgbClr val="ECF0F1"/>
                </a:solidFill>
                <a:latin typeface="Calibri"/>
                <a:ea typeface="Calibri"/>
                <a:cs typeface="Calibri"/>
                <a:sym typeface="Calibri"/>
              </a:rPr>
              <a:t>Taming the JVM: Java Optimization on OpenShift</a:t>
            </a:r>
            <a:endParaRPr b="0" i="0" sz="900" u="none" cap="none" strike="noStrike">
              <a:solidFill>
                <a:schemeClr val="dk1"/>
              </a:solidFill>
              <a:latin typeface="Calibri"/>
              <a:ea typeface="Calibri"/>
              <a:cs typeface="Calibri"/>
              <a:sym typeface="Calibri"/>
            </a:endParaRPr>
          </a:p>
        </p:txBody>
      </p:sp>
      <p:sp>
        <p:nvSpPr>
          <p:cNvPr id="128" name="Google Shape;128;p6"/>
          <p:cNvSpPr/>
          <p:nvPr/>
        </p:nvSpPr>
        <p:spPr>
          <a:xfrm>
            <a:off x="365760" y="777240"/>
            <a:ext cx="43891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FC8"/>
              </a:buClr>
              <a:buSzPts val="1600"/>
              <a:buFont typeface="Calibri"/>
              <a:buNone/>
            </a:pPr>
            <a:r>
              <a:rPr b="1" i="0" lang="en-US" sz="1600" u="none" cap="none" strike="noStrike">
                <a:solidFill>
                  <a:srgbClr val="1E6FC8"/>
                </a:solidFill>
                <a:latin typeface="Calibri"/>
                <a:ea typeface="Calibri"/>
                <a:cs typeface="Calibri"/>
                <a:sym typeface="Calibri"/>
              </a:rPr>
              <a:t>How JVM Discovers Memory</a:t>
            </a:r>
            <a:endParaRPr b="0" i="0" sz="1600" u="none" cap="none" strike="noStrike">
              <a:solidFill>
                <a:schemeClr val="dk1"/>
              </a:solidFill>
              <a:latin typeface="Calibri"/>
              <a:ea typeface="Calibri"/>
              <a:cs typeface="Calibri"/>
              <a:sym typeface="Calibri"/>
            </a:endParaRPr>
          </a:p>
        </p:txBody>
      </p:sp>
      <p:sp>
        <p:nvSpPr>
          <p:cNvPr id="129" name="Google Shape;129;p6"/>
          <p:cNvSpPr/>
          <p:nvPr/>
        </p:nvSpPr>
        <p:spPr>
          <a:xfrm>
            <a:off x="365760" y="1234440"/>
            <a:ext cx="4297680" cy="22860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A2B3C"/>
              </a:buClr>
              <a:buSzPts val="1100"/>
              <a:buFont typeface="Calibri"/>
              <a:buChar char="•"/>
            </a:pPr>
            <a:r>
              <a:rPr b="0" i="0" lang="en-US" sz="1100" u="none" cap="none" strike="noStrike">
                <a:solidFill>
                  <a:srgbClr val="1A2B3C"/>
                </a:solidFill>
                <a:latin typeface="Calibri"/>
                <a:ea typeface="Calibri"/>
                <a:cs typeface="Calibri"/>
                <a:sym typeface="Calibri"/>
              </a:rPr>
              <a:t>JVM fallback (no memory limit set, or cgroup files unreadable): reads /proc/meminfo and sees the NODE's full RAM — claims 16 GB heap (25%) inside a 512 MB container</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A2B3C"/>
              </a:buClr>
              <a:buSzPts val="1100"/>
              <a:buFont typeface="Calibri"/>
              <a:buChar char="•"/>
            </a:pPr>
            <a:r>
              <a:rPr b="0" i="0" lang="en-US" sz="1100" u="none" cap="none" strike="noStrike">
                <a:solidFill>
                  <a:srgbClr val="1A2B3C"/>
                </a:solidFill>
                <a:latin typeface="Calibri"/>
                <a:ea typeface="Calibri"/>
                <a:cs typeface="Calibri"/>
                <a:sym typeface="Calibri"/>
              </a:rPr>
              <a:t>Java 25 LTS (our baseline): UseContainerSupport is ON by default (since JDK 10 / 8u191) — reads the cgroup memory limit correctly when one is set</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A2B3C"/>
              </a:buClr>
              <a:buSzPts val="1100"/>
              <a:buFont typeface="Calibri"/>
              <a:buChar char="•"/>
            </a:pPr>
            <a:r>
              <a:rPr b="0" i="0" lang="en-US" sz="1100" u="none" cap="none" strike="noStrike">
                <a:solidFill>
                  <a:srgbClr val="1A2B3C"/>
                </a:solidFill>
                <a:latin typeface="Calibri"/>
                <a:ea typeface="Calibri"/>
                <a:cs typeface="Calibri"/>
                <a:sym typeface="Calibri"/>
              </a:rPr>
              <a:t>MaxRAMPercentage replaces hardcoded -Xmx — heap scales automatically with the container limit</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A2B3C"/>
              </a:buClr>
              <a:buSzPts val="1100"/>
              <a:buFont typeface="Calibri"/>
              <a:buChar char="•"/>
            </a:pPr>
            <a:r>
              <a:rPr b="0" i="0" lang="en-US" sz="1100" u="none" cap="none" strike="noStrike">
                <a:solidFill>
                  <a:srgbClr val="1A2B3C"/>
                </a:solidFill>
                <a:latin typeface="Calibri"/>
                <a:ea typeface="Calibri"/>
                <a:cs typeface="Calibri"/>
                <a:sym typeface="Calibri"/>
              </a:rPr>
              <a:t>cgroup v2 (RHEL 9 / OCP 4.14+ default): JVM reads /sys/fs/cgroup/memory.max, fully supported Java 15+</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A2B3C"/>
              </a:buClr>
              <a:buSzPts val="1100"/>
              <a:buFont typeface="Calibri"/>
              <a:buChar char="•"/>
            </a:pPr>
            <a:r>
              <a:rPr b="0" i="0" lang="en-US" sz="1100" u="none" cap="none" strike="noStrike">
                <a:solidFill>
                  <a:srgbClr val="1A2B3C"/>
                </a:solidFill>
                <a:latin typeface="Calibri"/>
                <a:ea typeface="Calibri"/>
                <a:cs typeface="Calibri"/>
                <a:sym typeface="Calibri"/>
              </a:rPr>
              <a:t>Verify with: java -XX:+PrintFlagsFinal -version | grep MaxRAMPercentage</a:t>
            </a:r>
            <a:endParaRPr b="0" i="0" sz="1100" u="none" cap="none" strike="noStrike">
              <a:solidFill>
                <a:schemeClr val="dk1"/>
              </a:solidFill>
              <a:latin typeface="Calibri"/>
              <a:ea typeface="Calibri"/>
              <a:cs typeface="Calibri"/>
              <a:sym typeface="Calibri"/>
            </a:endParaRPr>
          </a:p>
        </p:txBody>
      </p:sp>
      <p:sp>
        <p:nvSpPr>
          <p:cNvPr id="130" name="Google Shape;130;p6"/>
          <p:cNvSpPr/>
          <p:nvPr/>
        </p:nvSpPr>
        <p:spPr>
          <a:xfrm>
            <a:off x="4892040" y="777240"/>
            <a:ext cx="3931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FC8"/>
              </a:buClr>
              <a:buSzPts val="1400"/>
              <a:buFont typeface="Calibri"/>
              <a:buNone/>
            </a:pPr>
            <a:r>
              <a:rPr b="1" i="0" lang="en-US" sz="1400" u="none" cap="none" strike="noStrike">
                <a:solidFill>
                  <a:srgbClr val="1E6FC8"/>
                </a:solidFill>
                <a:latin typeface="Calibri"/>
                <a:ea typeface="Calibri"/>
                <a:cs typeface="Calibri"/>
                <a:sym typeface="Calibri"/>
              </a:rPr>
              <a:t>The Fix:</a:t>
            </a:r>
            <a:endParaRPr b="0" i="0" sz="1400" u="none" cap="none" strike="noStrike">
              <a:solidFill>
                <a:schemeClr val="dk1"/>
              </a:solidFill>
              <a:latin typeface="Calibri"/>
              <a:ea typeface="Calibri"/>
              <a:cs typeface="Calibri"/>
              <a:sym typeface="Calibri"/>
            </a:endParaRPr>
          </a:p>
        </p:txBody>
      </p:sp>
      <p:sp>
        <p:nvSpPr>
          <p:cNvPr id="131" name="Google Shape;131;p6"/>
          <p:cNvSpPr/>
          <p:nvPr/>
        </p:nvSpPr>
        <p:spPr>
          <a:xfrm>
            <a:off x="4892040" y="1143000"/>
            <a:ext cx="3931920" cy="2834640"/>
          </a:xfrm>
          <a:prstGeom prst="rect">
            <a:avLst/>
          </a:prstGeom>
          <a:solidFill>
            <a:srgbClr val="0D2137"/>
          </a:solidFill>
          <a:ln cap="flat" cmpd="sng" w="1905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6"/>
          <p:cNvSpPr/>
          <p:nvPr/>
        </p:nvSpPr>
        <p:spPr>
          <a:xfrm>
            <a:off x="4965192" y="1188720"/>
            <a:ext cx="3785616" cy="274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 BEFORE — Hardcoded, breaks with resize / VPA</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-Xms512m -Xmx2048m</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 Java 25 — Container-aware (UseContainerSupport</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is ON by default in Java 25; MaxRAMPercentage</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is the key flag to tune)</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-XX:MaxRAMPercentage=75.0</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-XX:InitialRAMPercentage=50.0</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-XX:MinRAMPercentage=25.0</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-XX:NativeMemoryTracking=summary</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OpenShift Deployment (env var pattern)</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env:</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 name: JAVA_OPTS</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value: &gt;-</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-XX:MaxRAMPercentage=75.0</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-XX:+UseZGC</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resources:</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requests:</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memory: "512Mi"</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limits:</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memory: "1Gi"</a:t>
            </a:r>
            <a:endParaRPr b="0" i="0" sz="950" u="none" cap="none" strike="noStrike">
              <a:solidFill>
                <a:schemeClr val="dk1"/>
              </a:solidFill>
              <a:latin typeface="Calibri"/>
              <a:ea typeface="Calibri"/>
              <a:cs typeface="Calibri"/>
              <a:sym typeface="Calibri"/>
            </a:endParaRPr>
          </a:p>
        </p:txBody>
      </p:sp>
      <p:sp>
        <p:nvSpPr>
          <p:cNvPr id="133" name="Google Shape;133;p6"/>
          <p:cNvSpPr/>
          <p:nvPr/>
        </p:nvSpPr>
        <p:spPr>
          <a:xfrm>
            <a:off x="365760" y="4114800"/>
            <a:ext cx="8412480" cy="685800"/>
          </a:xfrm>
          <a:prstGeom prst="rect">
            <a:avLst/>
          </a:prstGeom>
          <a:solidFill>
            <a:srgbClr val="0A1628"/>
          </a:solidFill>
          <a:ln>
            <a:noFill/>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6"/>
          <p:cNvSpPr/>
          <p:nvPr/>
        </p:nvSpPr>
        <p:spPr>
          <a:xfrm>
            <a:off x="548640" y="4114800"/>
            <a:ext cx="82296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E5C3"/>
              </a:buClr>
              <a:buSzPts val="1050"/>
              <a:buFont typeface="Calibri"/>
              <a:buNone/>
            </a:pPr>
            <a:r>
              <a:rPr b="0" i="0" lang="en-US" sz="1050" u="none" cap="none" strike="noStrike">
                <a:solidFill>
                  <a:srgbClr val="00E5C3"/>
                </a:solidFill>
                <a:latin typeface="Calibri"/>
                <a:ea typeface="Calibri"/>
                <a:cs typeface="Calibri"/>
                <a:sym typeface="Calibri"/>
              </a:rPr>
              <a:t>📖  Reference: "Optimizing Cloud Native Java" Ch. 3 — Container Memory Management</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E5C3"/>
              </a:buClr>
              <a:buSzPts val="1050"/>
              <a:buFont typeface="Calibri"/>
              <a:buNone/>
            </a:pPr>
            <a:r>
              <a:rPr b="0" i="0" lang="en-US" sz="1050" u="none" cap="none" strike="noStrike">
                <a:solidFill>
                  <a:srgbClr val="00E5C3"/>
                </a:solidFill>
                <a:latin typeface="Calibri"/>
                <a:ea typeface="Calibri"/>
                <a:cs typeface="Calibri"/>
                <a:sym typeface="Calibri"/>
              </a:rPr>
              <a:t>"In a container with a memory limit, the JVM already sizes to the cgroup. MaxRAMPercentage is the flag you actually add."</a:t>
            </a:r>
            <a:endParaRPr b="0" i="0" sz="1050" u="none" cap="none" strike="noStrike">
              <a:solidFill>
                <a:schemeClr val="dk1"/>
              </a:solidFill>
              <a:latin typeface="Calibri"/>
              <a:ea typeface="Calibri"/>
              <a:cs typeface="Calibri"/>
              <a:sym typeface="Calibri"/>
            </a:endParaRPr>
          </a:p>
        </p:txBody>
      </p:sp>
      <p:sp>
        <p:nvSpPr>
          <p:cNvPr id="135" name="Google Shape;135;p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F0F7"/>
        </a:solidFill>
      </p:bgPr>
    </p:bg>
    <p:spTree>
      <p:nvGrpSpPr>
        <p:cNvPr id="140" name="Shape 140"/>
        <p:cNvGrpSpPr/>
        <p:nvPr/>
      </p:nvGrpSpPr>
      <p:grpSpPr>
        <a:xfrm>
          <a:off x="0" y="0"/>
          <a:ext cx="0" cy="0"/>
          <a:chOff x="0" y="0"/>
          <a:chExt cx="0" cy="0"/>
        </a:xfrm>
      </p:grpSpPr>
      <p:sp>
        <p:nvSpPr>
          <p:cNvPr id="141" name="Google Shape;141;p7"/>
          <p:cNvSpPr/>
          <p:nvPr/>
        </p:nvSpPr>
        <p:spPr>
          <a:xfrm>
            <a:off x="0" y="0"/>
            <a:ext cx="9144000" cy="64020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7"/>
          <p:cNvSpPr/>
          <p:nvPr/>
        </p:nvSpPr>
        <p:spPr>
          <a:xfrm>
            <a:off x="365760" y="0"/>
            <a:ext cx="68580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000"/>
              <a:buFont typeface="Calibri"/>
              <a:buNone/>
            </a:pPr>
            <a:r>
              <a:rPr b="1" lang="en-US" sz="2000">
                <a:solidFill>
                  <a:srgbClr val="00BCD4"/>
                </a:solidFill>
                <a:latin typeface="Calibri"/>
                <a:ea typeface="Calibri"/>
                <a:cs typeface="Calibri"/>
                <a:sym typeface="Calibri"/>
              </a:rPr>
              <a:t>Container-Aware JVM Memory: Before and After</a:t>
            </a:r>
            <a:endParaRPr b="0" i="0" sz="2000" u="none" cap="none" strike="noStrike">
              <a:solidFill>
                <a:schemeClr val="dk1"/>
              </a:solidFill>
              <a:latin typeface="Calibri"/>
              <a:ea typeface="Calibri"/>
              <a:cs typeface="Calibri"/>
              <a:sym typeface="Calibri"/>
            </a:endParaRPr>
          </a:p>
        </p:txBody>
      </p:sp>
      <p:sp>
        <p:nvSpPr>
          <p:cNvPr id="143" name="Google Shape;143;p7"/>
          <p:cNvSpPr/>
          <p:nvPr/>
        </p:nvSpPr>
        <p:spPr>
          <a:xfrm>
            <a:off x="7315200" y="73152"/>
            <a:ext cx="1645800" cy="502800"/>
          </a:xfrm>
          <a:prstGeom prst="rect">
            <a:avLst/>
          </a:prstGeom>
          <a:solidFill>
            <a:srgbClr val="1E6FC8"/>
          </a:solidFill>
          <a:ln>
            <a:noFill/>
          </a:ln>
        </p:spPr>
        <p:txBody>
          <a:bodyPr anchorCtr="0" anchor="ctr" bIns="0" lIns="0" spcFirstLastPara="1" rIns="76200" wrap="square" tIns="76200">
            <a:noAutofit/>
          </a:bodyPr>
          <a:lstStyle/>
          <a:p>
            <a:pPr indent="0" lvl="0" marL="0" marR="0" rtl="0" algn="r">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Section 01</a:t>
            </a:r>
            <a:endParaRPr b="0" i="0" sz="1000" u="none" cap="none" strike="noStrike">
              <a:solidFill>
                <a:schemeClr val="dk1"/>
              </a:solidFill>
              <a:latin typeface="Calibri"/>
              <a:ea typeface="Calibri"/>
              <a:cs typeface="Calibri"/>
              <a:sym typeface="Calibri"/>
            </a:endParaRPr>
          </a:p>
        </p:txBody>
      </p:sp>
      <p:sp>
        <p:nvSpPr>
          <p:cNvPr id="144" name="Google Shape;144;p7"/>
          <p:cNvSpPr/>
          <p:nvPr/>
        </p:nvSpPr>
        <p:spPr>
          <a:xfrm>
            <a:off x="0" y="4960620"/>
            <a:ext cx="9144000" cy="18300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7"/>
          <p:cNvSpPr/>
          <p:nvPr/>
        </p:nvSpPr>
        <p:spPr>
          <a:xfrm>
            <a:off x="365760" y="4956048"/>
            <a:ext cx="84126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00"/>
              <a:buFont typeface="Calibri"/>
              <a:buNone/>
            </a:pPr>
            <a:r>
              <a:rPr b="0" i="0" lang="en-US" sz="900" u="none" cap="none" strike="noStrike">
                <a:solidFill>
                  <a:srgbClr val="ECF0F1"/>
                </a:solidFill>
                <a:latin typeface="Calibri"/>
                <a:ea typeface="Calibri"/>
                <a:cs typeface="Calibri"/>
                <a:sym typeface="Calibri"/>
              </a:rPr>
              <a:t>Taming the JVM: Java Optimization on OpenShift   </a:t>
            </a:r>
            <a:endParaRPr b="0" i="0" sz="900" u="none" cap="none" strike="noStrike">
              <a:solidFill>
                <a:schemeClr val="dk1"/>
              </a:solidFill>
              <a:latin typeface="Calibri"/>
              <a:ea typeface="Calibri"/>
              <a:cs typeface="Calibri"/>
              <a:sym typeface="Calibri"/>
            </a:endParaRPr>
          </a:p>
        </p:txBody>
      </p:sp>
      <p:pic>
        <p:nvPicPr>
          <p:cNvPr id="146" name="Google Shape;146;p7"/>
          <p:cNvPicPr preferRelativeResize="0"/>
          <p:nvPr/>
        </p:nvPicPr>
        <p:blipFill>
          <a:blip r:embed="rId3">
            <a:alphaModFix/>
          </a:blip>
          <a:stretch>
            <a:fillRect/>
          </a:stretch>
        </p:blipFill>
        <p:spPr>
          <a:xfrm>
            <a:off x="485025" y="792600"/>
            <a:ext cx="8173950" cy="4163450"/>
          </a:xfrm>
          <a:prstGeom prst="rect">
            <a:avLst/>
          </a:prstGeom>
          <a:noFill/>
          <a:ln>
            <a:noFill/>
          </a:ln>
        </p:spPr>
      </p:pic>
      <p:sp>
        <p:nvSpPr>
          <p:cNvPr id="147" name="Google Shape;147;p7"/>
          <p:cNvSpPr txBox="1"/>
          <p:nvPr>
            <p:ph idx="12" type="sldNum"/>
          </p:nvPr>
        </p:nvSpPr>
        <p:spPr>
          <a:xfrm>
            <a:off x="0" y="4898900"/>
            <a:ext cx="183000" cy="297300"/>
          </a:xfrm>
          <a:prstGeom prst="rect">
            <a:avLst/>
          </a:prstGeom>
        </p:spPr>
        <p:txBody>
          <a:bodyPr anchorCtr="0" anchor="t" bIns="91425" lIns="91425" spcFirstLastPara="1" rIns="91425" wrap="square" tIns="91425">
            <a:normAutofit fontScale="70000" lnSpcReduction="20000"/>
          </a:bodyPr>
          <a:lstStyle/>
          <a:p>
            <a:pPr indent="0" lvl="0" marL="0" rtl="0" algn="r">
              <a:spcBef>
                <a:spcPts val="0"/>
              </a:spcBef>
              <a:spcAft>
                <a:spcPts val="0"/>
              </a:spcAft>
              <a:buNone/>
            </a:pPr>
            <a:fld id="{00000000-1234-1234-1234-123412341234}" type="slidenum">
              <a:rPr lang="en-US">
                <a:solidFill>
                  <a:schemeClr val="lt1"/>
                </a:solidFill>
              </a:rPr>
              <a:t>‹#›</a:t>
            </a:fld>
            <a:endParaRPr>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52" name="Shape 152"/>
        <p:cNvGrpSpPr/>
        <p:nvPr/>
      </p:nvGrpSpPr>
      <p:grpSpPr>
        <a:xfrm>
          <a:off x="0" y="0"/>
          <a:ext cx="0" cy="0"/>
          <a:chOff x="0" y="0"/>
          <a:chExt cx="0" cy="0"/>
        </a:xfrm>
      </p:grpSpPr>
      <p:sp>
        <p:nvSpPr>
          <p:cNvPr id="153" name="Google Shape;153;p8"/>
          <p:cNvSpPr/>
          <p:nvPr/>
        </p:nvSpPr>
        <p:spPr>
          <a:xfrm>
            <a:off x="0" y="0"/>
            <a:ext cx="9144000" cy="64008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8"/>
          <p:cNvSpPr/>
          <p:nvPr/>
        </p:nvSpPr>
        <p:spPr>
          <a:xfrm>
            <a:off x="365760" y="0"/>
            <a:ext cx="6858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000"/>
              <a:buFont typeface="Calibri"/>
              <a:buNone/>
            </a:pPr>
            <a:r>
              <a:rPr b="1" i="0" lang="en-US" sz="2000" u="none" cap="none" strike="noStrike">
                <a:solidFill>
                  <a:srgbClr val="00BCD4"/>
                </a:solidFill>
                <a:latin typeface="Calibri"/>
                <a:ea typeface="Calibri"/>
                <a:cs typeface="Calibri"/>
                <a:sym typeface="Calibri"/>
              </a:rPr>
              <a:t>JVM Memory Regions — What You Must Account For</a:t>
            </a:r>
            <a:endParaRPr b="0" i="0" sz="2000" u="none" cap="none" strike="noStrike">
              <a:solidFill>
                <a:schemeClr val="dk1"/>
              </a:solidFill>
              <a:latin typeface="Calibri"/>
              <a:ea typeface="Calibri"/>
              <a:cs typeface="Calibri"/>
              <a:sym typeface="Calibri"/>
            </a:endParaRPr>
          </a:p>
        </p:txBody>
      </p:sp>
      <p:sp>
        <p:nvSpPr>
          <p:cNvPr id="155" name="Google Shape;155;p8"/>
          <p:cNvSpPr/>
          <p:nvPr/>
        </p:nvSpPr>
        <p:spPr>
          <a:xfrm>
            <a:off x="7315200" y="73152"/>
            <a:ext cx="1645920" cy="502920"/>
          </a:xfrm>
          <a:prstGeom prst="rect">
            <a:avLst/>
          </a:prstGeom>
          <a:solidFill>
            <a:srgbClr val="1E6FC8"/>
          </a:solidFill>
          <a:ln>
            <a:noFill/>
          </a:ln>
        </p:spPr>
        <p:txBody>
          <a:bodyPr anchorCtr="0" anchor="ctr" bIns="0" lIns="0" spcFirstLastPara="1" rIns="76200" wrap="square" tIns="76200">
            <a:noAutofit/>
          </a:bodyPr>
          <a:lstStyle/>
          <a:p>
            <a:pPr indent="0" lvl="0" marL="0" marR="0" rtl="0" algn="r">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Section 01</a:t>
            </a:r>
            <a:endParaRPr b="0" i="0" sz="1000" u="none" cap="none" strike="noStrike">
              <a:solidFill>
                <a:schemeClr val="dk1"/>
              </a:solidFill>
              <a:latin typeface="Calibri"/>
              <a:ea typeface="Calibri"/>
              <a:cs typeface="Calibri"/>
              <a:sym typeface="Calibri"/>
            </a:endParaRPr>
          </a:p>
        </p:txBody>
      </p:sp>
      <p:sp>
        <p:nvSpPr>
          <p:cNvPr id="156" name="Google Shape;156;p8"/>
          <p:cNvSpPr/>
          <p:nvPr/>
        </p:nvSpPr>
        <p:spPr>
          <a:xfrm>
            <a:off x="0" y="4960620"/>
            <a:ext cx="9144000" cy="18288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8"/>
          <p:cNvSpPr/>
          <p:nvPr/>
        </p:nvSpPr>
        <p:spPr>
          <a:xfrm>
            <a:off x="365760" y="4956048"/>
            <a:ext cx="841248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00"/>
              <a:buFont typeface="Calibri"/>
              <a:buNone/>
            </a:pPr>
            <a:r>
              <a:rPr b="0" i="0" lang="en-US" sz="900" u="none" cap="none" strike="noStrike">
                <a:solidFill>
                  <a:srgbClr val="ECF0F1"/>
                </a:solidFill>
                <a:latin typeface="Calibri"/>
                <a:ea typeface="Calibri"/>
                <a:cs typeface="Calibri"/>
                <a:sym typeface="Calibri"/>
              </a:rPr>
              <a:t>Taming the JVM: Java Optimization on OpenShift</a:t>
            </a:r>
            <a:endParaRPr b="0" i="0" sz="900" u="none" cap="none" strike="noStrike">
              <a:solidFill>
                <a:schemeClr val="dk1"/>
              </a:solidFill>
              <a:latin typeface="Calibri"/>
              <a:ea typeface="Calibri"/>
              <a:cs typeface="Calibri"/>
              <a:sym typeface="Calibri"/>
            </a:endParaRPr>
          </a:p>
        </p:txBody>
      </p:sp>
      <p:sp>
        <p:nvSpPr>
          <p:cNvPr id="158" name="Google Shape;158;p8"/>
          <p:cNvSpPr/>
          <p:nvPr/>
        </p:nvSpPr>
        <p:spPr>
          <a:xfrm>
            <a:off x="365760" y="749808"/>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300"/>
              <a:buFont typeface="Calibri"/>
              <a:buNone/>
            </a:pPr>
            <a:r>
              <a:rPr b="0" i="1" lang="en-US" sz="1300" u="none" cap="none" strike="noStrike">
                <a:solidFill>
                  <a:srgbClr val="90A4AE"/>
                </a:solidFill>
                <a:latin typeface="Calibri"/>
                <a:ea typeface="Calibri"/>
                <a:cs typeface="Calibri"/>
                <a:sym typeface="Calibri"/>
              </a:rPr>
              <a:t>Java 25 LTS: Container Limit ≠ Heap Size — off-heap regions must be budgeted explicitly</a:t>
            </a:r>
            <a:endParaRPr b="0" i="0" sz="1300" u="none" cap="none" strike="noStrike">
              <a:solidFill>
                <a:schemeClr val="dk1"/>
              </a:solidFill>
              <a:latin typeface="Calibri"/>
              <a:ea typeface="Calibri"/>
              <a:cs typeface="Calibri"/>
              <a:sym typeface="Calibri"/>
            </a:endParaRPr>
          </a:p>
        </p:txBody>
      </p:sp>
      <p:sp>
        <p:nvSpPr>
          <p:cNvPr id="159" name="Google Shape;159;p8"/>
          <p:cNvSpPr/>
          <p:nvPr/>
        </p:nvSpPr>
        <p:spPr>
          <a:xfrm>
            <a:off x="320040" y="1188720"/>
            <a:ext cx="8503920" cy="594360"/>
          </a:xfrm>
          <a:prstGeom prst="rect">
            <a:avLst/>
          </a:prstGeom>
          <a:solidFill>
            <a:srgbClr val="122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8"/>
          <p:cNvSpPr/>
          <p:nvPr/>
        </p:nvSpPr>
        <p:spPr>
          <a:xfrm>
            <a:off x="320040" y="1188720"/>
            <a:ext cx="2560320" cy="594360"/>
          </a:xfrm>
          <a:prstGeom prst="rect">
            <a:avLst/>
          </a:prstGeom>
          <a:solidFill>
            <a:srgbClr val="1E6FC8">
              <a:alpha val="8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8"/>
          <p:cNvSpPr/>
          <p:nvPr/>
        </p:nvSpPr>
        <p:spPr>
          <a:xfrm>
            <a:off x="411480" y="1243584"/>
            <a:ext cx="2468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Heap (Old Gen + Young Gen)</a:t>
            </a:r>
            <a:endParaRPr b="0" i="0" sz="1100" u="none" cap="none" strike="noStrike">
              <a:solidFill>
                <a:schemeClr val="dk1"/>
              </a:solidFill>
              <a:latin typeface="Calibri"/>
              <a:ea typeface="Calibri"/>
              <a:cs typeface="Calibri"/>
              <a:sym typeface="Calibri"/>
            </a:endParaRPr>
          </a:p>
        </p:txBody>
      </p:sp>
      <p:sp>
        <p:nvSpPr>
          <p:cNvPr id="162" name="Google Shape;162;p8"/>
          <p:cNvSpPr/>
          <p:nvPr/>
        </p:nvSpPr>
        <p:spPr>
          <a:xfrm>
            <a:off x="411480" y="1527048"/>
            <a:ext cx="24688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~50-75%</a:t>
            </a:r>
            <a:endParaRPr b="0" i="0" sz="1000" u="none" cap="none" strike="noStrike">
              <a:solidFill>
                <a:schemeClr val="dk1"/>
              </a:solidFill>
              <a:latin typeface="Calibri"/>
              <a:ea typeface="Calibri"/>
              <a:cs typeface="Calibri"/>
              <a:sym typeface="Calibri"/>
            </a:endParaRPr>
          </a:p>
        </p:txBody>
      </p:sp>
      <p:sp>
        <p:nvSpPr>
          <p:cNvPr id="163" name="Google Shape;163;p8"/>
          <p:cNvSpPr/>
          <p:nvPr/>
        </p:nvSpPr>
        <p:spPr>
          <a:xfrm>
            <a:off x="2971800" y="1188720"/>
            <a:ext cx="5760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100"/>
              <a:buFont typeface="Calibri"/>
              <a:buNone/>
            </a:pPr>
            <a:r>
              <a:rPr b="0" i="0" lang="en-US" sz="1100" u="none" cap="none" strike="noStrike">
                <a:solidFill>
                  <a:srgbClr val="ECF0F1"/>
                </a:solidFill>
                <a:latin typeface="Calibri"/>
                <a:ea typeface="Calibri"/>
                <a:cs typeface="Calibri"/>
                <a:sym typeface="Calibri"/>
              </a:rPr>
              <a:t>Objects, controlled by MaxRAMPercentage</a:t>
            </a:r>
            <a:endParaRPr b="0" i="0" sz="1100" u="none" cap="none" strike="noStrike">
              <a:solidFill>
                <a:schemeClr val="dk1"/>
              </a:solidFill>
              <a:latin typeface="Calibri"/>
              <a:ea typeface="Calibri"/>
              <a:cs typeface="Calibri"/>
              <a:sym typeface="Calibri"/>
            </a:endParaRPr>
          </a:p>
        </p:txBody>
      </p:sp>
      <p:sp>
        <p:nvSpPr>
          <p:cNvPr id="164" name="Google Shape;164;p8"/>
          <p:cNvSpPr/>
          <p:nvPr/>
        </p:nvSpPr>
        <p:spPr>
          <a:xfrm>
            <a:off x="320040" y="1892808"/>
            <a:ext cx="8503920" cy="594360"/>
          </a:xfrm>
          <a:prstGeom prst="rect">
            <a:avLst/>
          </a:prstGeom>
          <a:solidFill>
            <a:srgbClr val="122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8"/>
          <p:cNvSpPr/>
          <p:nvPr/>
        </p:nvSpPr>
        <p:spPr>
          <a:xfrm>
            <a:off x="320040" y="1892808"/>
            <a:ext cx="2560320" cy="594360"/>
          </a:xfrm>
          <a:prstGeom prst="rect">
            <a:avLst/>
          </a:prstGeom>
          <a:solidFill>
            <a:srgbClr val="00BCD4">
              <a:alpha val="8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8"/>
          <p:cNvSpPr/>
          <p:nvPr/>
        </p:nvSpPr>
        <p:spPr>
          <a:xfrm>
            <a:off x="411480" y="1947672"/>
            <a:ext cx="2468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Metaspace</a:t>
            </a:r>
            <a:endParaRPr b="0" i="0" sz="1100" u="none" cap="none" strike="noStrike">
              <a:solidFill>
                <a:schemeClr val="dk1"/>
              </a:solidFill>
              <a:latin typeface="Calibri"/>
              <a:ea typeface="Calibri"/>
              <a:cs typeface="Calibri"/>
              <a:sym typeface="Calibri"/>
            </a:endParaRPr>
          </a:p>
        </p:txBody>
      </p:sp>
      <p:sp>
        <p:nvSpPr>
          <p:cNvPr id="167" name="Google Shape;167;p8"/>
          <p:cNvSpPr/>
          <p:nvPr/>
        </p:nvSpPr>
        <p:spPr>
          <a:xfrm>
            <a:off x="411480" y="2231136"/>
            <a:ext cx="24688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~50-200MB</a:t>
            </a:r>
            <a:endParaRPr b="0" i="0" sz="1000" u="none" cap="none" strike="noStrike">
              <a:solidFill>
                <a:schemeClr val="dk1"/>
              </a:solidFill>
              <a:latin typeface="Calibri"/>
              <a:ea typeface="Calibri"/>
              <a:cs typeface="Calibri"/>
              <a:sym typeface="Calibri"/>
            </a:endParaRPr>
          </a:p>
        </p:txBody>
      </p:sp>
      <p:sp>
        <p:nvSpPr>
          <p:cNvPr id="168" name="Google Shape;168;p8"/>
          <p:cNvSpPr/>
          <p:nvPr/>
        </p:nvSpPr>
        <p:spPr>
          <a:xfrm>
            <a:off x="2971800" y="1892808"/>
            <a:ext cx="5760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100"/>
              <a:buFont typeface="Calibri"/>
              <a:buNone/>
            </a:pPr>
            <a:r>
              <a:rPr b="0" i="0" lang="en-US" sz="1100" u="none" cap="none" strike="noStrike">
                <a:solidFill>
                  <a:srgbClr val="ECF0F1"/>
                </a:solidFill>
                <a:latin typeface="Calibri"/>
                <a:ea typeface="Calibri"/>
                <a:cs typeface="Calibri"/>
                <a:sym typeface="Calibri"/>
              </a:rPr>
              <a:t>Class metadata, -XX:MaxMetaspaceSize</a:t>
            </a:r>
            <a:endParaRPr b="0" i="0" sz="1100" u="none" cap="none" strike="noStrike">
              <a:solidFill>
                <a:schemeClr val="dk1"/>
              </a:solidFill>
              <a:latin typeface="Calibri"/>
              <a:ea typeface="Calibri"/>
              <a:cs typeface="Calibri"/>
              <a:sym typeface="Calibri"/>
            </a:endParaRPr>
          </a:p>
        </p:txBody>
      </p:sp>
      <p:sp>
        <p:nvSpPr>
          <p:cNvPr id="169" name="Google Shape;169;p8"/>
          <p:cNvSpPr/>
          <p:nvPr/>
        </p:nvSpPr>
        <p:spPr>
          <a:xfrm>
            <a:off x="320040" y="2596896"/>
            <a:ext cx="8503920" cy="594360"/>
          </a:xfrm>
          <a:prstGeom prst="rect">
            <a:avLst/>
          </a:prstGeom>
          <a:solidFill>
            <a:srgbClr val="122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8"/>
          <p:cNvSpPr/>
          <p:nvPr/>
        </p:nvSpPr>
        <p:spPr>
          <a:xfrm>
            <a:off x="320040" y="2596896"/>
            <a:ext cx="2560320" cy="594360"/>
          </a:xfrm>
          <a:prstGeom prst="rect">
            <a:avLst/>
          </a:prstGeom>
          <a:solidFill>
            <a:srgbClr val="F5A623">
              <a:alpha val="8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8"/>
          <p:cNvSpPr/>
          <p:nvPr/>
        </p:nvSpPr>
        <p:spPr>
          <a:xfrm>
            <a:off x="411480" y="2651760"/>
            <a:ext cx="2468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Platform Thread Stacks</a:t>
            </a:r>
            <a:endParaRPr b="0" i="0" sz="1100" u="none" cap="none" strike="noStrike">
              <a:solidFill>
                <a:schemeClr val="dk1"/>
              </a:solidFill>
              <a:latin typeface="Calibri"/>
              <a:ea typeface="Calibri"/>
              <a:cs typeface="Calibri"/>
              <a:sym typeface="Calibri"/>
            </a:endParaRPr>
          </a:p>
        </p:txBody>
      </p:sp>
      <p:sp>
        <p:nvSpPr>
          <p:cNvPr id="172" name="Google Shape;172;p8"/>
          <p:cNvSpPr/>
          <p:nvPr/>
        </p:nvSpPr>
        <p:spPr>
          <a:xfrm>
            <a:off x="411480" y="2935224"/>
            <a:ext cx="24688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~1MB/thread</a:t>
            </a:r>
            <a:endParaRPr b="0" i="0" sz="1000" u="none" cap="none" strike="noStrike">
              <a:solidFill>
                <a:schemeClr val="dk1"/>
              </a:solidFill>
              <a:latin typeface="Calibri"/>
              <a:ea typeface="Calibri"/>
              <a:cs typeface="Calibri"/>
              <a:sym typeface="Calibri"/>
            </a:endParaRPr>
          </a:p>
        </p:txBody>
      </p:sp>
      <p:sp>
        <p:nvSpPr>
          <p:cNvPr id="173" name="Google Shape;173;p8"/>
          <p:cNvSpPr/>
          <p:nvPr/>
        </p:nvSpPr>
        <p:spPr>
          <a:xfrm>
            <a:off x="2971800" y="2596896"/>
            <a:ext cx="5760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100"/>
              <a:buFont typeface="Calibri"/>
              <a:buNone/>
            </a:pPr>
            <a:r>
              <a:rPr b="0" i="0" lang="en-US" sz="1100" u="none" cap="none" strike="noStrike">
                <a:solidFill>
                  <a:srgbClr val="ECF0F1"/>
                </a:solidFill>
                <a:latin typeface="Calibri"/>
                <a:ea typeface="Calibri"/>
                <a:cs typeface="Calibri"/>
                <a:sym typeface="Calibri"/>
              </a:rPr>
              <a:t>1MB default per platform thread, -Xss to reduce. Java 25: Virtual Threads use heap instead — massive stack savings for high concurrency</a:t>
            </a:r>
            <a:endParaRPr b="0" i="0" sz="1100" u="none" cap="none" strike="noStrike">
              <a:solidFill>
                <a:schemeClr val="dk1"/>
              </a:solidFill>
              <a:latin typeface="Calibri"/>
              <a:ea typeface="Calibri"/>
              <a:cs typeface="Calibri"/>
              <a:sym typeface="Calibri"/>
            </a:endParaRPr>
          </a:p>
        </p:txBody>
      </p:sp>
      <p:sp>
        <p:nvSpPr>
          <p:cNvPr id="174" name="Google Shape;174;p8"/>
          <p:cNvSpPr/>
          <p:nvPr/>
        </p:nvSpPr>
        <p:spPr>
          <a:xfrm>
            <a:off x="320040" y="3300984"/>
            <a:ext cx="8503920" cy="594360"/>
          </a:xfrm>
          <a:prstGeom prst="rect">
            <a:avLst/>
          </a:prstGeom>
          <a:solidFill>
            <a:srgbClr val="122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8"/>
          <p:cNvSpPr/>
          <p:nvPr/>
        </p:nvSpPr>
        <p:spPr>
          <a:xfrm>
            <a:off x="320040" y="3300984"/>
            <a:ext cx="2560320" cy="594360"/>
          </a:xfrm>
          <a:prstGeom prst="rect">
            <a:avLst/>
          </a:prstGeom>
          <a:solidFill>
            <a:srgbClr val="27AE60">
              <a:alpha val="8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8"/>
          <p:cNvSpPr/>
          <p:nvPr/>
        </p:nvSpPr>
        <p:spPr>
          <a:xfrm>
            <a:off x="411480" y="3355848"/>
            <a:ext cx="2468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Native Memory (JIT, GC)</a:t>
            </a:r>
            <a:endParaRPr b="0" i="0" sz="1100" u="none" cap="none" strike="noStrike">
              <a:solidFill>
                <a:schemeClr val="dk1"/>
              </a:solidFill>
              <a:latin typeface="Calibri"/>
              <a:ea typeface="Calibri"/>
              <a:cs typeface="Calibri"/>
              <a:sym typeface="Calibri"/>
            </a:endParaRPr>
          </a:p>
        </p:txBody>
      </p:sp>
      <p:sp>
        <p:nvSpPr>
          <p:cNvPr id="177" name="Google Shape;177;p8"/>
          <p:cNvSpPr/>
          <p:nvPr/>
        </p:nvSpPr>
        <p:spPr>
          <a:xfrm>
            <a:off x="411480" y="3639312"/>
            <a:ext cx="24688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~100-300MB</a:t>
            </a:r>
            <a:endParaRPr b="0" i="0" sz="1000" u="none" cap="none" strike="noStrike">
              <a:solidFill>
                <a:schemeClr val="dk1"/>
              </a:solidFill>
              <a:latin typeface="Calibri"/>
              <a:ea typeface="Calibri"/>
              <a:cs typeface="Calibri"/>
              <a:sym typeface="Calibri"/>
            </a:endParaRPr>
          </a:p>
        </p:txBody>
      </p:sp>
      <p:sp>
        <p:nvSpPr>
          <p:cNvPr id="178" name="Google Shape;178;p8"/>
          <p:cNvSpPr/>
          <p:nvPr/>
        </p:nvSpPr>
        <p:spPr>
          <a:xfrm>
            <a:off x="2971800" y="3300984"/>
            <a:ext cx="5760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100"/>
              <a:buFont typeface="Calibri"/>
              <a:buNone/>
            </a:pPr>
            <a:r>
              <a:rPr b="0" i="0" lang="en-US" sz="1100" u="none" cap="none" strike="noStrike">
                <a:solidFill>
                  <a:srgbClr val="ECF0F1"/>
                </a:solidFill>
                <a:latin typeface="Calibri"/>
                <a:ea typeface="Calibri"/>
                <a:cs typeface="Calibri"/>
                <a:sym typeface="Calibri"/>
              </a:rPr>
              <a:t>Code cache, GC structures</a:t>
            </a:r>
            <a:endParaRPr b="0" i="0" sz="1100" u="none" cap="none" strike="noStrike">
              <a:solidFill>
                <a:schemeClr val="dk1"/>
              </a:solidFill>
              <a:latin typeface="Calibri"/>
              <a:ea typeface="Calibri"/>
              <a:cs typeface="Calibri"/>
              <a:sym typeface="Calibri"/>
            </a:endParaRPr>
          </a:p>
        </p:txBody>
      </p:sp>
      <p:sp>
        <p:nvSpPr>
          <p:cNvPr id="179" name="Google Shape;179;p8"/>
          <p:cNvSpPr/>
          <p:nvPr/>
        </p:nvSpPr>
        <p:spPr>
          <a:xfrm>
            <a:off x="320040" y="4005072"/>
            <a:ext cx="8503920" cy="594360"/>
          </a:xfrm>
          <a:prstGeom prst="rect">
            <a:avLst/>
          </a:prstGeom>
          <a:solidFill>
            <a:srgbClr val="122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8"/>
          <p:cNvSpPr/>
          <p:nvPr/>
        </p:nvSpPr>
        <p:spPr>
          <a:xfrm>
            <a:off x="320040" y="4005072"/>
            <a:ext cx="2560320" cy="594360"/>
          </a:xfrm>
          <a:prstGeom prst="rect">
            <a:avLst/>
          </a:prstGeom>
          <a:solidFill>
            <a:srgbClr val="7C3AED">
              <a:alpha val="8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8"/>
          <p:cNvSpPr/>
          <p:nvPr/>
        </p:nvSpPr>
        <p:spPr>
          <a:xfrm>
            <a:off x="411480" y="4059936"/>
            <a:ext cx="2468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Direct ByteBuffers</a:t>
            </a:r>
            <a:endParaRPr b="0" i="0" sz="1100" u="none" cap="none" strike="noStrike">
              <a:solidFill>
                <a:schemeClr val="dk1"/>
              </a:solidFill>
              <a:latin typeface="Calibri"/>
              <a:ea typeface="Calibri"/>
              <a:cs typeface="Calibri"/>
              <a:sym typeface="Calibri"/>
            </a:endParaRPr>
          </a:p>
        </p:txBody>
      </p:sp>
      <p:sp>
        <p:nvSpPr>
          <p:cNvPr id="182" name="Google Shape;182;p8"/>
          <p:cNvSpPr/>
          <p:nvPr/>
        </p:nvSpPr>
        <p:spPr>
          <a:xfrm>
            <a:off x="411480" y="4343400"/>
            <a:ext cx="24688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Varies</a:t>
            </a:r>
            <a:endParaRPr b="0" i="0" sz="1000" u="none" cap="none" strike="noStrike">
              <a:solidFill>
                <a:schemeClr val="dk1"/>
              </a:solidFill>
              <a:latin typeface="Calibri"/>
              <a:ea typeface="Calibri"/>
              <a:cs typeface="Calibri"/>
              <a:sym typeface="Calibri"/>
            </a:endParaRPr>
          </a:p>
        </p:txBody>
      </p:sp>
      <p:sp>
        <p:nvSpPr>
          <p:cNvPr id="183" name="Google Shape;183;p8"/>
          <p:cNvSpPr/>
          <p:nvPr/>
        </p:nvSpPr>
        <p:spPr>
          <a:xfrm>
            <a:off x="2971800" y="4005072"/>
            <a:ext cx="5760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100"/>
              <a:buFont typeface="Calibri"/>
              <a:buNone/>
            </a:pPr>
            <a:r>
              <a:rPr b="0" i="0" lang="en-US" sz="1100" u="none" cap="none" strike="noStrike">
                <a:solidFill>
                  <a:srgbClr val="ECF0F1"/>
                </a:solidFill>
                <a:latin typeface="Calibri"/>
                <a:ea typeface="Calibri"/>
                <a:cs typeface="Calibri"/>
                <a:sym typeface="Calibri"/>
              </a:rPr>
              <a:t>NIO, Netty — add to memory budget</a:t>
            </a:r>
            <a:endParaRPr b="0" i="0" sz="1100" u="none" cap="none" strike="noStrike">
              <a:solidFill>
                <a:schemeClr val="dk1"/>
              </a:solidFill>
              <a:latin typeface="Calibri"/>
              <a:ea typeface="Calibri"/>
              <a:cs typeface="Calibri"/>
              <a:sym typeface="Calibri"/>
            </a:endParaRPr>
          </a:p>
        </p:txBody>
      </p:sp>
      <p:sp>
        <p:nvSpPr>
          <p:cNvPr id="184" name="Google Shape;184;p8"/>
          <p:cNvSpPr/>
          <p:nvPr/>
        </p:nvSpPr>
        <p:spPr>
          <a:xfrm>
            <a:off x="320040" y="4663440"/>
            <a:ext cx="8503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A623"/>
              </a:buClr>
              <a:buSzPts val="1000"/>
              <a:buFont typeface="Calibri"/>
              <a:buNone/>
            </a:pPr>
            <a:r>
              <a:rPr b="0" i="0" lang="en-US" sz="1000" u="none" cap="none" strike="noStrike">
                <a:solidFill>
                  <a:srgbClr val="F5A623"/>
                </a:solidFill>
                <a:latin typeface="Calibri"/>
                <a:ea typeface="Calibri"/>
                <a:cs typeface="Calibri"/>
                <a:sym typeface="Calibri"/>
              </a:rPr>
              <a:t>Java 25 tip: MaxRAMPercentage=75 leaves 25% for off-heap. Virtual Threads (Loom) eliminate platform thread stack cost for I/O-bound workloads. NMT: -XX:NativeMemoryTracking=summary</a:t>
            </a:r>
            <a:endParaRPr b="0" i="0" sz="1000" u="none" cap="none" strike="noStrike">
              <a:solidFill>
                <a:schemeClr val="dk1"/>
              </a:solidFill>
              <a:latin typeface="Calibri"/>
              <a:ea typeface="Calibri"/>
              <a:cs typeface="Calibri"/>
              <a:sym typeface="Calibri"/>
            </a:endParaRPr>
          </a:p>
        </p:txBody>
      </p:sp>
      <p:sp>
        <p:nvSpPr>
          <p:cNvPr id="185" name="Google Shape;185;p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F0F7"/>
        </a:solidFill>
      </p:bgPr>
    </p:bg>
    <p:spTree>
      <p:nvGrpSpPr>
        <p:cNvPr id="190" name="Shape 190"/>
        <p:cNvGrpSpPr/>
        <p:nvPr/>
      </p:nvGrpSpPr>
      <p:grpSpPr>
        <a:xfrm>
          <a:off x="0" y="0"/>
          <a:ext cx="0" cy="0"/>
          <a:chOff x="0" y="0"/>
          <a:chExt cx="0" cy="0"/>
        </a:xfrm>
      </p:grpSpPr>
      <p:sp>
        <p:nvSpPr>
          <p:cNvPr id="191" name="Google Shape;191;p9"/>
          <p:cNvSpPr/>
          <p:nvPr/>
        </p:nvSpPr>
        <p:spPr>
          <a:xfrm>
            <a:off x="0" y="0"/>
            <a:ext cx="9144000" cy="64008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9"/>
          <p:cNvSpPr/>
          <p:nvPr/>
        </p:nvSpPr>
        <p:spPr>
          <a:xfrm>
            <a:off x="365760" y="0"/>
            <a:ext cx="6858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000"/>
              <a:buFont typeface="Calibri"/>
              <a:buNone/>
            </a:pPr>
            <a:r>
              <a:rPr b="1" lang="en-US" sz="2000">
                <a:solidFill>
                  <a:srgbClr val="00BCD4"/>
                </a:solidFill>
                <a:latin typeface="Calibri"/>
                <a:ea typeface="Calibri"/>
                <a:cs typeface="Calibri"/>
                <a:sym typeface="Calibri"/>
              </a:rPr>
              <a:t>JVM Memory Regions in a Container</a:t>
            </a:r>
            <a:endParaRPr b="0" i="0" sz="2000" u="none" cap="none" strike="noStrike">
              <a:solidFill>
                <a:schemeClr val="dk1"/>
              </a:solidFill>
              <a:latin typeface="Calibri"/>
              <a:ea typeface="Calibri"/>
              <a:cs typeface="Calibri"/>
              <a:sym typeface="Calibri"/>
            </a:endParaRPr>
          </a:p>
        </p:txBody>
      </p:sp>
      <p:sp>
        <p:nvSpPr>
          <p:cNvPr id="193" name="Google Shape;193;p9"/>
          <p:cNvSpPr/>
          <p:nvPr/>
        </p:nvSpPr>
        <p:spPr>
          <a:xfrm>
            <a:off x="7315200" y="73152"/>
            <a:ext cx="1645920" cy="502920"/>
          </a:xfrm>
          <a:prstGeom prst="rect">
            <a:avLst/>
          </a:prstGeom>
          <a:solidFill>
            <a:srgbClr val="1E6FC8"/>
          </a:solidFill>
          <a:ln>
            <a:noFill/>
          </a:ln>
        </p:spPr>
        <p:txBody>
          <a:bodyPr anchorCtr="0" anchor="ctr" bIns="0" lIns="0" spcFirstLastPara="1" rIns="76200" wrap="square" tIns="76200">
            <a:noAutofit/>
          </a:bodyPr>
          <a:lstStyle/>
          <a:p>
            <a:pPr indent="0" lvl="0" marL="0" marR="0" rtl="0" algn="r">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Section 02</a:t>
            </a:r>
            <a:endParaRPr b="0" i="0" sz="1000" u="none" cap="none" strike="noStrike">
              <a:solidFill>
                <a:schemeClr val="dk1"/>
              </a:solidFill>
              <a:latin typeface="Calibri"/>
              <a:ea typeface="Calibri"/>
              <a:cs typeface="Calibri"/>
              <a:sym typeface="Calibri"/>
            </a:endParaRPr>
          </a:p>
        </p:txBody>
      </p:sp>
      <p:sp>
        <p:nvSpPr>
          <p:cNvPr id="194" name="Google Shape;194;p9"/>
          <p:cNvSpPr/>
          <p:nvPr/>
        </p:nvSpPr>
        <p:spPr>
          <a:xfrm>
            <a:off x="0" y="4960620"/>
            <a:ext cx="9144000" cy="18288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9"/>
          <p:cNvSpPr/>
          <p:nvPr/>
        </p:nvSpPr>
        <p:spPr>
          <a:xfrm>
            <a:off x="365760" y="4956048"/>
            <a:ext cx="841248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00"/>
              <a:buFont typeface="Calibri"/>
              <a:buNone/>
            </a:pPr>
            <a:r>
              <a:rPr b="0" i="0" lang="en-US" sz="900" u="none" cap="none" strike="noStrike">
                <a:solidFill>
                  <a:srgbClr val="ECF0F1"/>
                </a:solidFill>
                <a:latin typeface="Calibri"/>
                <a:ea typeface="Calibri"/>
                <a:cs typeface="Calibri"/>
                <a:sym typeface="Calibri"/>
              </a:rPr>
              <a:t>Taming the JVM: Java Optimization on OpenShift</a:t>
            </a:r>
            <a:endParaRPr b="0" i="0" sz="900" u="none" cap="none" strike="noStrike">
              <a:solidFill>
                <a:schemeClr val="dk1"/>
              </a:solidFill>
              <a:latin typeface="Calibri"/>
              <a:ea typeface="Calibri"/>
              <a:cs typeface="Calibri"/>
              <a:sym typeface="Calibri"/>
            </a:endParaRPr>
          </a:p>
        </p:txBody>
      </p:sp>
      <p:sp>
        <p:nvSpPr>
          <p:cNvPr id="196" name="Google Shape;196;p9"/>
          <p:cNvSpPr/>
          <p:nvPr/>
        </p:nvSpPr>
        <p:spPr>
          <a:xfrm>
            <a:off x="365760" y="749808"/>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C"/>
              </a:buClr>
              <a:buSzPts val="1300"/>
              <a:buFont typeface="Calibri"/>
              <a:buNone/>
            </a:pPr>
            <a:r>
              <a:rPr b="1" lang="en-US" sz="1300">
                <a:solidFill>
                  <a:srgbClr val="1A2B3C"/>
                </a:solidFill>
                <a:latin typeface="Calibri"/>
                <a:ea typeface="Calibri"/>
                <a:cs typeface="Calibri"/>
                <a:sym typeface="Calibri"/>
              </a:rPr>
              <a:t>MaxRAMPercentage=75 only controls Heap — leaving 25% for 5 other regions</a:t>
            </a:r>
            <a:endParaRPr b="0" i="0" sz="1300" u="none" cap="none" strike="noStrike">
              <a:solidFill>
                <a:schemeClr val="dk1"/>
              </a:solidFill>
              <a:latin typeface="Calibri"/>
              <a:ea typeface="Calibri"/>
              <a:cs typeface="Calibri"/>
              <a:sym typeface="Calibri"/>
            </a:endParaRPr>
          </a:p>
        </p:txBody>
      </p:sp>
      <p:pic>
        <p:nvPicPr>
          <p:cNvPr id="197" name="Google Shape;197;p9"/>
          <p:cNvPicPr preferRelativeResize="0"/>
          <p:nvPr/>
        </p:nvPicPr>
        <p:blipFill>
          <a:blip r:embed="rId3">
            <a:alphaModFix/>
          </a:blip>
          <a:stretch>
            <a:fillRect/>
          </a:stretch>
        </p:blipFill>
        <p:spPr>
          <a:xfrm>
            <a:off x="1097513" y="1002700"/>
            <a:ext cx="6766075" cy="3957925"/>
          </a:xfrm>
          <a:prstGeom prst="rect">
            <a:avLst/>
          </a:prstGeom>
          <a:noFill/>
          <a:ln>
            <a:noFill/>
          </a:ln>
        </p:spPr>
      </p:pic>
      <p:sp>
        <p:nvSpPr>
          <p:cNvPr id="198" name="Google Shape;198;p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F0F7"/>
        </a:solidFill>
      </p:bgPr>
    </p:bg>
    <p:spTree>
      <p:nvGrpSpPr>
        <p:cNvPr id="203" name="Shape 203"/>
        <p:cNvGrpSpPr/>
        <p:nvPr/>
      </p:nvGrpSpPr>
      <p:grpSpPr>
        <a:xfrm>
          <a:off x="0" y="0"/>
          <a:ext cx="0" cy="0"/>
          <a:chOff x="0" y="0"/>
          <a:chExt cx="0" cy="0"/>
        </a:xfrm>
      </p:grpSpPr>
      <p:sp>
        <p:nvSpPr>
          <p:cNvPr id="204" name="Google Shape;204;p10"/>
          <p:cNvSpPr/>
          <p:nvPr/>
        </p:nvSpPr>
        <p:spPr>
          <a:xfrm>
            <a:off x="0" y="0"/>
            <a:ext cx="9144000" cy="64020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0"/>
          <p:cNvSpPr/>
          <p:nvPr/>
        </p:nvSpPr>
        <p:spPr>
          <a:xfrm>
            <a:off x="365760" y="0"/>
            <a:ext cx="68580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000"/>
              <a:buFont typeface="Calibri"/>
              <a:buNone/>
            </a:pPr>
            <a:r>
              <a:rPr b="1" i="0" lang="en-US" sz="2000" u="none" cap="none" strike="noStrike">
                <a:solidFill>
                  <a:srgbClr val="00BCD4"/>
                </a:solidFill>
                <a:latin typeface="Calibri"/>
                <a:ea typeface="Calibri"/>
                <a:cs typeface="Calibri"/>
                <a:sym typeface="Calibri"/>
              </a:rPr>
              <a:t>Right-Sizing Java Workloads</a:t>
            </a:r>
            <a:endParaRPr b="0" i="0" sz="2000" u="none" cap="none" strike="noStrike">
              <a:solidFill>
                <a:schemeClr val="dk1"/>
              </a:solidFill>
              <a:latin typeface="Calibri"/>
              <a:ea typeface="Calibri"/>
              <a:cs typeface="Calibri"/>
              <a:sym typeface="Calibri"/>
            </a:endParaRPr>
          </a:p>
        </p:txBody>
      </p:sp>
      <p:sp>
        <p:nvSpPr>
          <p:cNvPr id="206" name="Google Shape;206;p10"/>
          <p:cNvSpPr/>
          <p:nvPr/>
        </p:nvSpPr>
        <p:spPr>
          <a:xfrm>
            <a:off x="7315200" y="73152"/>
            <a:ext cx="1645800" cy="502800"/>
          </a:xfrm>
          <a:prstGeom prst="rect">
            <a:avLst/>
          </a:prstGeom>
          <a:solidFill>
            <a:srgbClr val="1E6FC8"/>
          </a:solidFill>
          <a:ln>
            <a:noFill/>
          </a:ln>
        </p:spPr>
        <p:txBody>
          <a:bodyPr anchorCtr="0" anchor="ctr" bIns="0" lIns="0" spcFirstLastPara="1" rIns="76200" wrap="square" tIns="76200">
            <a:noAutofit/>
          </a:bodyPr>
          <a:lstStyle/>
          <a:p>
            <a:pPr indent="0" lvl="0" marL="0" marR="0" rtl="0" algn="r">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Section 02</a:t>
            </a:r>
            <a:endParaRPr b="0" i="0" sz="1000" u="none" cap="none" strike="noStrike">
              <a:solidFill>
                <a:schemeClr val="dk1"/>
              </a:solidFill>
              <a:latin typeface="Calibri"/>
              <a:ea typeface="Calibri"/>
              <a:cs typeface="Calibri"/>
              <a:sym typeface="Calibri"/>
            </a:endParaRPr>
          </a:p>
        </p:txBody>
      </p:sp>
      <p:sp>
        <p:nvSpPr>
          <p:cNvPr id="207" name="Google Shape;207;p10"/>
          <p:cNvSpPr/>
          <p:nvPr/>
        </p:nvSpPr>
        <p:spPr>
          <a:xfrm>
            <a:off x="0" y="4960620"/>
            <a:ext cx="9144000" cy="18300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0"/>
          <p:cNvSpPr/>
          <p:nvPr/>
        </p:nvSpPr>
        <p:spPr>
          <a:xfrm>
            <a:off x="365760" y="4956048"/>
            <a:ext cx="84126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00"/>
              <a:buFont typeface="Calibri"/>
              <a:buNone/>
            </a:pPr>
            <a:r>
              <a:rPr b="0" i="0" lang="en-US" sz="900" u="none" cap="none" strike="noStrike">
                <a:solidFill>
                  <a:srgbClr val="ECF0F1"/>
                </a:solidFill>
                <a:latin typeface="Calibri"/>
                <a:ea typeface="Calibri"/>
                <a:cs typeface="Calibri"/>
                <a:sym typeface="Calibri"/>
              </a:rPr>
              <a:t>Taming the JVM: Java Optimization on OpenShift</a:t>
            </a:r>
            <a:endParaRPr b="0" i="0" sz="900" u="none" cap="none" strike="noStrike">
              <a:solidFill>
                <a:schemeClr val="dk1"/>
              </a:solidFill>
              <a:latin typeface="Calibri"/>
              <a:ea typeface="Calibri"/>
              <a:cs typeface="Calibri"/>
              <a:sym typeface="Calibri"/>
            </a:endParaRPr>
          </a:p>
        </p:txBody>
      </p:sp>
      <p:sp>
        <p:nvSpPr>
          <p:cNvPr id="209" name="Google Shape;209;p10"/>
          <p:cNvSpPr/>
          <p:nvPr/>
        </p:nvSpPr>
        <p:spPr>
          <a:xfrm>
            <a:off x="365760" y="749808"/>
            <a:ext cx="8229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C"/>
              </a:buClr>
              <a:buSzPts val="1300"/>
              <a:buFont typeface="Calibri"/>
              <a:buNone/>
            </a:pPr>
            <a:r>
              <a:rPr b="1" i="0" lang="en-US" sz="1300" u="none" cap="none" strike="noStrike">
                <a:solidFill>
                  <a:srgbClr val="1A2B3C"/>
                </a:solidFill>
                <a:latin typeface="Calibri"/>
                <a:ea typeface="Calibri"/>
                <a:cs typeface="Calibri"/>
                <a:sym typeface="Calibri"/>
              </a:rPr>
              <a:t>Kubernetes Resource Requests vs. Limits — Getting Both Right</a:t>
            </a:r>
            <a:endParaRPr b="0" i="0" sz="1300" u="none" cap="none" strike="noStrike">
              <a:solidFill>
                <a:schemeClr val="dk1"/>
              </a:solidFill>
              <a:latin typeface="Calibri"/>
              <a:ea typeface="Calibri"/>
              <a:cs typeface="Calibri"/>
              <a:sym typeface="Calibri"/>
            </a:endParaRPr>
          </a:p>
        </p:txBody>
      </p:sp>
      <p:sp>
        <p:nvSpPr>
          <p:cNvPr id="210" name="Google Shape;210;p10"/>
          <p:cNvSpPr/>
          <p:nvPr/>
        </p:nvSpPr>
        <p:spPr>
          <a:xfrm>
            <a:off x="320040" y="1188720"/>
            <a:ext cx="4114800" cy="192030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0"/>
          <p:cNvSpPr/>
          <p:nvPr/>
        </p:nvSpPr>
        <p:spPr>
          <a:xfrm>
            <a:off x="320040" y="1188720"/>
            <a:ext cx="54900" cy="192030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0"/>
          <p:cNvSpPr/>
          <p:nvPr/>
        </p:nvSpPr>
        <p:spPr>
          <a:xfrm>
            <a:off x="457200" y="1261872"/>
            <a:ext cx="3931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FC8"/>
              </a:buClr>
              <a:buSzPts val="1200"/>
              <a:buFont typeface="Calibri"/>
              <a:buNone/>
            </a:pPr>
            <a:r>
              <a:rPr b="1" i="0" lang="en-US" sz="1200" u="none" cap="none" strike="noStrike">
                <a:solidFill>
                  <a:srgbClr val="1E6FC8"/>
                </a:solidFill>
                <a:latin typeface="Calibri"/>
                <a:ea typeface="Calibri"/>
                <a:cs typeface="Calibri"/>
                <a:sym typeface="Calibri"/>
              </a:rPr>
              <a:t>requests — Scheduling Guarantee</a:t>
            </a:r>
            <a:endParaRPr b="0" i="0" sz="1200" u="none" cap="none" strike="noStrike">
              <a:solidFill>
                <a:schemeClr val="dk1"/>
              </a:solidFill>
              <a:latin typeface="Calibri"/>
              <a:ea typeface="Calibri"/>
              <a:cs typeface="Calibri"/>
              <a:sym typeface="Calibri"/>
            </a:endParaRPr>
          </a:p>
        </p:txBody>
      </p:sp>
      <p:sp>
        <p:nvSpPr>
          <p:cNvPr id="213" name="Google Shape;213;p10"/>
          <p:cNvSpPr/>
          <p:nvPr/>
        </p:nvSpPr>
        <p:spPr>
          <a:xfrm>
            <a:off x="484632" y="1572768"/>
            <a:ext cx="3858900" cy="1444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A2B3C"/>
              </a:buClr>
              <a:buSzPts val="1050"/>
              <a:buFont typeface="Calibri"/>
              <a:buChar char="•"/>
            </a:pPr>
            <a:r>
              <a:rPr b="0" i="0" lang="en-US" sz="1050" u="none" cap="none" strike="noStrike">
                <a:solidFill>
                  <a:srgbClr val="1A2B3C"/>
                </a:solidFill>
                <a:latin typeface="Calibri"/>
                <a:ea typeface="Calibri"/>
                <a:cs typeface="Calibri"/>
                <a:sym typeface="Calibri"/>
              </a:rPr>
              <a:t>Kubernetes scheduler uses this to find a node</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50"/>
              <a:buFont typeface="Calibri"/>
              <a:buChar char="•"/>
            </a:pPr>
            <a:r>
              <a:rPr b="0" i="0" lang="en-US" sz="1050" u="none" cap="none" strike="noStrike">
                <a:solidFill>
                  <a:srgbClr val="1A2B3C"/>
                </a:solidFill>
                <a:latin typeface="Calibri"/>
                <a:ea typeface="Calibri"/>
                <a:cs typeface="Calibri"/>
                <a:sym typeface="Calibri"/>
              </a:rPr>
              <a:t>Set to actual baseline usage (P50 of your load test)</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50"/>
              <a:buFont typeface="Calibri"/>
              <a:buChar char="•"/>
            </a:pPr>
            <a:r>
              <a:rPr b="0" i="0" lang="en-US" sz="1050" u="none" cap="none" strike="noStrike">
                <a:solidFill>
                  <a:srgbClr val="1A2B3C"/>
                </a:solidFill>
                <a:latin typeface="Calibri"/>
                <a:ea typeface="Calibri"/>
                <a:cs typeface="Calibri"/>
                <a:sym typeface="Calibri"/>
              </a:rPr>
              <a:t>Too high → pods can't schedule (cluster waste)</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50"/>
              <a:buFont typeface="Calibri"/>
              <a:buChar char="•"/>
            </a:pPr>
            <a:r>
              <a:rPr b="0" i="0" lang="en-US" sz="1050" u="none" cap="none" strike="noStrike">
                <a:solidFill>
                  <a:srgbClr val="1A2B3C"/>
                </a:solidFill>
                <a:latin typeface="Calibri"/>
                <a:ea typeface="Calibri"/>
                <a:cs typeface="Calibri"/>
                <a:sym typeface="Calibri"/>
              </a:rPr>
              <a:t>Too low → pod scheduled on full node → CPU throttle</a:t>
            </a:r>
            <a:endParaRPr b="0" i="0" sz="1050" u="none" cap="none" strike="noStrike">
              <a:solidFill>
                <a:schemeClr val="dk1"/>
              </a:solidFill>
              <a:latin typeface="Calibri"/>
              <a:ea typeface="Calibri"/>
              <a:cs typeface="Calibri"/>
              <a:sym typeface="Calibri"/>
            </a:endParaRPr>
          </a:p>
        </p:txBody>
      </p:sp>
      <p:sp>
        <p:nvSpPr>
          <p:cNvPr id="214" name="Google Shape;214;p10"/>
          <p:cNvSpPr/>
          <p:nvPr/>
        </p:nvSpPr>
        <p:spPr>
          <a:xfrm>
            <a:off x="4709160" y="1188720"/>
            <a:ext cx="4114800" cy="192030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0"/>
          <p:cNvSpPr/>
          <p:nvPr/>
        </p:nvSpPr>
        <p:spPr>
          <a:xfrm>
            <a:off x="4709160" y="1188720"/>
            <a:ext cx="54900" cy="1920300"/>
          </a:xfrm>
          <a:prstGeom prst="rect">
            <a:avLst/>
          </a:prstGeom>
          <a:solidFill>
            <a:srgbClr val="E848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0"/>
          <p:cNvSpPr/>
          <p:nvPr/>
        </p:nvSpPr>
        <p:spPr>
          <a:xfrm>
            <a:off x="4846320" y="1261872"/>
            <a:ext cx="3931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855"/>
              </a:buClr>
              <a:buSzPts val="1200"/>
              <a:buFont typeface="Calibri"/>
              <a:buNone/>
            </a:pPr>
            <a:r>
              <a:rPr b="1" i="0" lang="en-US" sz="1200" u="none" cap="none" strike="noStrike">
                <a:solidFill>
                  <a:srgbClr val="E84855"/>
                </a:solidFill>
                <a:latin typeface="Calibri"/>
                <a:ea typeface="Calibri"/>
                <a:cs typeface="Calibri"/>
                <a:sym typeface="Calibri"/>
              </a:rPr>
              <a:t>limits — Hard Ceiling</a:t>
            </a:r>
            <a:endParaRPr b="0" i="0" sz="1200" u="none" cap="none" strike="noStrike">
              <a:solidFill>
                <a:schemeClr val="dk1"/>
              </a:solidFill>
              <a:latin typeface="Calibri"/>
              <a:ea typeface="Calibri"/>
              <a:cs typeface="Calibri"/>
              <a:sym typeface="Calibri"/>
            </a:endParaRPr>
          </a:p>
        </p:txBody>
      </p:sp>
      <p:sp>
        <p:nvSpPr>
          <p:cNvPr id="217" name="Google Shape;217;p10"/>
          <p:cNvSpPr/>
          <p:nvPr/>
        </p:nvSpPr>
        <p:spPr>
          <a:xfrm>
            <a:off x="4873752" y="1572768"/>
            <a:ext cx="3858900" cy="1444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A2B3C"/>
              </a:buClr>
              <a:buSzPts val="1050"/>
              <a:buFont typeface="Calibri"/>
              <a:buChar char="•"/>
            </a:pPr>
            <a:r>
              <a:rPr b="0" i="0" lang="en-US" sz="1050" u="none" cap="none" strike="noStrike">
                <a:solidFill>
                  <a:srgbClr val="1A2B3C"/>
                </a:solidFill>
                <a:latin typeface="Calibri"/>
                <a:ea typeface="Calibri"/>
                <a:cs typeface="Calibri"/>
                <a:sym typeface="Calibri"/>
              </a:rPr>
              <a:t>Container is killed if memory exceeds limit (OOMKill)</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50"/>
              <a:buFont typeface="Calibri"/>
              <a:buChar char="•"/>
            </a:pPr>
            <a:r>
              <a:rPr b="0" i="0" lang="en-US" sz="1050" u="none" cap="none" strike="noStrike">
                <a:solidFill>
                  <a:srgbClr val="1A2B3C"/>
                </a:solidFill>
                <a:latin typeface="Calibri"/>
                <a:ea typeface="Calibri"/>
                <a:cs typeface="Calibri"/>
                <a:sym typeface="Calibri"/>
              </a:rPr>
              <a:t>CPU is throttled (not killed) above CPU limit</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50"/>
              <a:buFont typeface="Calibri"/>
              <a:buChar char="•"/>
            </a:pPr>
            <a:r>
              <a:rPr b="0" i="0" lang="en-US" sz="1050" u="none" cap="none" strike="noStrike">
                <a:solidFill>
                  <a:srgbClr val="1A2B3C"/>
                </a:solidFill>
                <a:latin typeface="Calibri"/>
                <a:ea typeface="Calibri"/>
                <a:cs typeface="Calibri"/>
                <a:sym typeface="Calibri"/>
              </a:rPr>
              <a:t>Set memory limit 25-30% above normal peak</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50"/>
              <a:buFont typeface="Calibri"/>
              <a:buChar char="•"/>
            </a:pPr>
            <a:r>
              <a:rPr b="0" i="0" lang="en-US" sz="1050" u="none" cap="none" strike="noStrike">
                <a:solidFill>
                  <a:srgbClr val="1A2B3C"/>
                </a:solidFill>
                <a:latin typeface="Calibri"/>
                <a:ea typeface="Calibri"/>
                <a:cs typeface="Calibri"/>
                <a:sym typeface="Calibri"/>
              </a:rPr>
              <a:t>Set CPU limit 2-4× request to absorb GC spikes</a:t>
            </a:r>
            <a:endParaRPr b="0" i="0" sz="1050" u="none" cap="none" strike="noStrike">
              <a:solidFill>
                <a:schemeClr val="dk1"/>
              </a:solidFill>
              <a:latin typeface="Calibri"/>
              <a:ea typeface="Calibri"/>
              <a:cs typeface="Calibri"/>
              <a:sym typeface="Calibri"/>
            </a:endParaRPr>
          </a:p>
        </p:txBody>
      </p:sp>
      <p:sp>
        <p:nvSpPr>
          <p:cNvPr id="218" name="Google Shape;218;p10"/>
          <p:cNvSpPr/>
          <p:nvPr/>
        </p:nvSpPr>
        <p:spPr>
          <a:xfrm>
            <a:off x="320040" y="3246120"/>
            <a:ext cx="4114800" cy="164580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0"/>
          <p:cNvSpPr/>
          <p:nvPr/>
        </p:nvSpPr>
        <p:spPr>
          <a:xfrm>
            <a:off x="320040" y="3246120"/>
            <a:ext cx="54900" cy="1645800"/>
          </a:xfrm>
          <a:prstGeom prst="rect">
            <a:avLst/>
          </a:prstGeom>
          <a:solidFill>
            <a:srgbClr val="27AE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0"/>
          <p:cNvSpPr/>
          <p:nvPr/>
        </p:nvSpPr>
        <p:spPr>
          <a:xfrm>
            <a:off x="457200" y="3319272"/>
            <a:ext cx="3931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1200"/>
              <a:buFont typeface="Calibri"/>
              <a:buNone/>
            </a:pPr>
            <a:r>
              <a:rPr b="1" i="0" lang="en-US" sz="1200" u="none" cap="none" strike="noStrike">
                <a:solidFill>
                  <a:srgbClr val="27AE60"/>
                </a:solidFill>
                <a:latin typeface="Calibri"/>
                <a:ea typeface="Calibri"/>
                <a:cs typeface="Calibri"/>
                <a:sym typeface="Calibri"/>
              </a:rPr>
              <a:t>Memory Sizing Formula</a:t>
            </a:r>
            <a:endParaRPr b="0" i="0" sz="1200" u="none" cap="none" strike="noStrike">
              <a:solidFill>
                <a:schemeClr val="dk1"/>
              </a:solidFill>
              <a:latin typeface="Calibri"/>
              <a:ea typeface="Calibri"/>
              <a:cs typeface="Calibri"/>
              <a:sym typeface="Calibri"/>
            </a:endParaRPr>
          </a:p>
        </p:txBody>
      </p:sp>
      <p:sp>
        <p:nvSpPr>
          <p:cNvPr id="221" name="Google Shape;221;p10"/>
          <p:cNvSpPr/>
          <p:nvPr/>
        </p:nvSpPr>
        <p:spPr>
          <a:xfrm>
            <a:off x="484632" y="3630168"/>
            <a:ext cx="3858900" cy="11703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A2B3C"/>
              </a:buClr>
              <a:buSzPts val="1050"/>
              <a:buFont typeface="Calibri"/>
              <a:buChar char="•"/>
            </a:pPr>
            <a:r>
              <a:rPr b="0" i="0" lang="en-US" sz="1050" u="none" cap="none" strike="noStrike">
                <a:solidFill>
                  <a:srgbClr val="1A2B3C"/>
                </a:solidFill>
                <a:latin typeface="Calibri"/>
                <a:ea typeface="Calibri"/>
                <a:cs typeface="Calibri"/>
                <a:sym typeface="Calibri"/>
              </a:rPr>
              <a:t>Measure: jcmd &lt;pid&gt; VM.native_memory summary</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50"/>
              <a:buFont typeface="Calibri"/>
              <a:buChar char="•"/>
            </a:pPr>
            <a:r>
              <a:rPr b="0" i="0" lang="en-US" sz="1050" u="none" cap="none" strike="noStrike">
                <a:solidFill>
                  <a:srgbClr val="1A2B3C"/>
                </a:solidFill>
                <a:latin typeface="Calibri"/>
                <a:ea typeface="Calibri"/>
                <a:cs typeface="Calibri"/>
                <a:sym typeface="Calibri"/>
              </a:rPr>
              <a:t>Budget: Heap + Metaspace + Threads + Native + 20% buffer</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50"/>
              <a:buFont typeface="Calibri"/>
              <a:buChar char="•"/>
            </a:pPr>
            <a:r>
              <a:rPr b="0" i="0" lang="en-US" sz="1050" u="none" cap="none" strike="noStrike">
                <a:solidFill>
                  <a:srgbClr val="1A2B3C"/>
                </a:solidFill>
                <a:latin typeface="Calibri"/>
                <a:ea typeface="Calibri"/>
                <a:cs typeface="Calibri"/>
                <a:sym typeface="Calibri"/>
              </a:rPr>
              <a:t>Request = P50 steady-state RSS (use kubectl top pod)</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50"/>
              <a:buFont typeface="Calibri"/>
              <a:buChar char="•"/>
            </a:pPr>
            <a:r>
              <a:rPr b="0" i="0" lang="en-US" sz="1050" u="none" cap="none" strike="noStrike">
                <a:solidFill>
                  <a:srgbClr val="1A2B3C"/>
                </a:solidFill>
                <a:latin typeface="Calibri"/>
                <a:ea typeface="Calibri"/>
                <a:cs typeface="Calibri"/>
                <a:sym typeface="Calibri"/>
              </a:rPr>
              <a:t>Limit = P99 peak + 15% safety margin</a:t>
            </a:r>
            <a:endParaRPr b="0" i="0" sz="1050" u="none" cap="none" strike="noStrike">
              <a:solidFill>
                <a:schemeClr val="dk1"/>
              </a:solidFill>
              <a:latin typeface="Calibri"/>
              <a:ea typeface="Calibri"/>
              <a:cs typeface="Calibri"/>
              <a:sym typeface="Calibri"/>
            </a:endParaRPr>
          </a:p>
        </p:txBody>
      </p:sp>
      <p:sp>
        <p:nvSpPr>
          <p:cNvPr id="222" name="Google Shape;222;p10"/>
          <p:cNvSpPr/>
          <p:nvPr/>
        </p:nvSpPr>
        <p:spPr>
          <a:xfrm>
            <a:off x="4709160" y="3246120"/>
            <a:ext cx="4114800" cy="164580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0"/>
          <p:cNvSpPr/>
          <p:nvPr/>
        </p:nvSpPr>
        <p:spPr>
          <a:xfrm>
            <a:off x="4709160" y="3246120"/>
            <a:ext cx="54900" cy="1645800"/>
          </a:xfrm>
          <a:prstGeom prst="rect">
            <a:avLst/>
          </a:prstGeom>
          <a:solidFill>
            <a:srgbClr val="F5A6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0"/>
          <p:cNvSpPr/>
          <p:nvPr/>
        </p:nvSpPr>
        <p:spPr>
          <a:xfrm>
            <a:off x="4846320" y="3319272"/>
            <a:ext cx="3931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A623"/>
              </a:buClr>
              <a:buSzPts val="1200"/>
              <a:buFont typeface="Calibri"/>
              <a:buNone/>
            </a:pPr>
            <a:r>
              <a:rPr b="1" i="0" lang="en-US" sz="1200" u="none" cap="none" strike="noStrike">
                <a:solidFill>
                  <a:srgbClr val="F5A623"/>
                </a:solidFill>
                <a:latin typeface="Calibri"/>
                <a:ea typeface="Calibri"/>
                <a:cs typeface="Calibri"/>
                <a:sym typeface="Calibri"/>
              </a:rPr>
              <a:t>CPU Sizing for JVM</a:t>
            </a:r>
            <a:endParaRPr b="0" i="0" sz="1200" u="none" cap="none" strike="noStrike">
              <a:solidFill>
                <a:schemeClr val="dk1"/>
              </a:solidFill>
              <a:latin typeface="Calibri"/>
              <a:ea typeface="Calibri"/>
              <a:cs typeface="Calibri"/>
              <a:sym typeface="Calibri"/>
            </a:endParaRPr>
          </a:p>
        </p:txBody>
      </p:sp>
      <p:sp>
        <p:nvSpPr>
          <p:cNvPr id="225" name="Google Shape;225;p10"/>
          <p:cNvSpPr/>
          <p:nvPr/>
        </p:nvSpPr>
        <p:spPr>
          <a:xfrm>
            <a:off x="4873752" y="3630168"/>
            <a:ext cx="3858900" cy="11703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A2B3C"/>
              </a:buClr>
              <a:buSzPts val="1050"/>
              <a:buFont typeface="Calibri"/>
              <a:buChar char="•"/>
            </a:pPr>
            <a:r>
              <a:rPr b="0" i="0" lang="en-US" sz="1050" u="none" cap="none" strike="noStrike">
                <a:solidFill>
                  <a:srgbClr val="1A2B3C"/>
                </a:solidFill>
                <a:latin typeface="Calibri"/>
                <a:ea typeface="Calibri"/>
                <a:cs typeface="Calibri"/>
                <a:sym typeface="Calibri"/>
              </a:rPr>
              <a:t>CPU is reclaimable — two schools of thought: no limit (burst freely) vs. 2-4× request (predictable GC)</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50"/>
              <a:buFont typeface="Calibri"/>
              <a:buChar char="•"/>
            </a:pPr>
            <a:r>
              <a:rPr b="0" i="0" lang="en-US" sz="1050" u="none" cap="none" strike="noStrike">
                <a:solidFill>
                  <a:srgbClr val="1A2B3C"/>
                </a:solidFill>
                <a:latin typeface="Calibri"/>
                <a:ea typeface="Calibri"/>
                <a:cs typeface="Calibri"/>
                <a:sym typeface="Calibri"/>
              </a:rPr>
              <a:t>If setting a limit: GC threads still run — tight limit extends stop-the-world pause duration</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50"/>
              <a:buFont typeface="Calibri"/>
              <a:buChar char="•"/>
            </a:pPr>
            <a:r>
              <a:rPr b="0" i="0" lang="en-US" sz="1050" u="none" cap="none" strike="noStrike">
                <a:solidFill>
                  <a:srgbClr val="1A2B3C"/>
                </a:solidFill>
                <a:latin typeface="Calibri"/>
                <a:ea typeface="Calibri"/>
                <a:cs typeface="Calibri"/>
                <a:sym typeface="Calibri"/>
              </a:rPr>
              <a:t>Whatever you choose, ensure metrics can be correlated with CPU to diagnose GC-induced spikes</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50"/>
              <a:buFont typeface="Calibri"/>
              <a:buChar char="•"/>
            </a:pPr>
            <a:r>
              <a:rPr b="0" i="0" lang="en-US" sz="1050" u="none" cap="none" strike="noStrike">
                <a:solidFill>
                  <a:srgbClr val="1A2B3C"/>
                </a:solidFill>
                <a:latin typeface="Calibri"/>
                <a:ea typeface="Calibri"/>
                <a:cs typeface="Calibri"/>
                <a:sym typeface="Calibri"/>
              </a:rPr>
              <a:t>-XX:ActiveProcessorCount=N pins the CPU count for fractional/limited CPUs</a:t>
            </a:r>
            <a:endParaRPr b="0" i="0" sz="1050" u="none" cap="none" strike="noStrike">
              <a:solidFill>
                <a:schemeClr val="dk1"/>
              </a:solidFill>
              <a:latin typeface="Calibri"/>
              <a:ea typeface="Calibri"/>
              <a:cs typeface="Calibri"/>
              <a:sym typeface="Calibri"/>
            </a:endParaRPr>
          </a:p>
        </p:txBody>
      </p:sp>
      <p:sp>
        <p:nvSpPr>
          <p:cNvPr id="226" name="Google Shape;226;p1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231" name="Shape 231"/>
        <p:cNvGrpSpPr/>
        <p:nvPr/>
      </p:nvGrpSpPr>
      <p:grpSpPr>
        <a:xfrm>
          <a:off x="0" y="0"/>
          <a:ext cx="0" cy="0"/>
          <a:chOff x="0" y="0"/>
          <a:chExt cx="0" cy="0"/>
        </a:xfrm>
      </p:grpSpPr>
      <p:sp>
        <p:nvSpPr>
          <p:cNvPr id="232" name="Google Shape;232;p11"/>
          <p:cNvSpPr/>
          <p:nvPr/>
        </p:nvSpPr>
        <p:spPr>
          <a:xfrm>
            <a:off x="0" y="0"/>
            <a:ext cx="9144000" cy="64008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a:off x="365760" y="0"/>
            <a:ext cx="6858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000"/>
              <a:buFont typeface="Calibri"/>
              <a:buNone/>
            </a:pPr>
            <a:r>
              <a:rPr b="1" i="0" lang="en-US" sz="2000" u="none" cap="none" strike="noStrike">
                <a:solidFill>
                  <a:srgbClr val="00BCD4"/>
                </a:solidFill>
                <a:latin typeface="Calibri"/>
                <a:ea typeface="Calibri"/>
                <a:cs typeface="Calibri"/>
                <a:sym typeface="Calibri"/>
              </a:rPr>
              <a:t>Pod Bin-Packing: The Cost of Memory Hoarding</a:t>
            </a:r>
            <a:endParaRPr b="0" i="0" sz="2000" u="none" cap="none" strike="noStrike">
              <a:solidFill>
                <a:schemeClr val="dk1"/>
              </a:solidFill>
              <a:latin typeface="Calibri"/>
              <a:ea typeface="Calibri"/>
              <a:cs typeface="Calibri"/>
              <a:sym typeface="Calibri"/>
            </a:endParaRPr>
          </a:p>
        </p:txBody>
      </p:sp>
      <p:sp>
        <p:nvSpPr>
          <p:cNvPr id="234" name="Google Shape;234;p11"/>
          <p:cNvSpPr/>
          <p:nvPr/>
        </p:nvSpPr>
        <p:spPr>
          <a:xfrm>
            <a:off x="7315200" y="73152"/>
            <a:ext cx="1645920" cy="502920"/>
          </a:xfrm>
          <a:prstGeom prst="rect">
            <a:avLst/>
          </a:prstGeom>
          <a:solidFill>
            <a:srgbClr val="1E6FC8"/>
          </a:solidFill>
          <a:ln>
            <a:noFill/>
          </a:ln>
        </p:spPr>
        <p:txBody>
          <a:bodyPr anchorCtr="0" anchor="ctr" bIns="0" lIns="0" spcFirstLastPara="1" rIns="76200" wrap="square" tIns="76200">
            <a:noAutofit/>
          </a:bodyPr>
          <a:lstStyle/>
          <a:p>
            <a:pPr indent="0" lvl="0" marL="0" marR="0" rtl="0" algn="r">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Section 02</a:t>
            </a:r>
            <a:endParaRPr b="0" i="0" sz="1000" u="none" cap="none" strike="noStrike">
              <a:solidFill>
                <a:schemeClr val="dk1"/>
              </a:solidFill>
              <a:latin typeface="Calibri"/>
              <a:ea typeface="Calibri"/>
              <a:cs typeface="Calibri"/>
              <a:sym typeface="Calibri"/>
            </a:endParaRPr>
          </a:p>
        </p:txBody>
      </p:sp>
      <p:sp>
        <p:nvSpPr>
          <p:cNvPr id="235" name="Google Shape;235;p11"/>
          <p:cNvSpPr/>
          <p:nvPr/>
        </p:nvSpPr>
        <p:spPr>
          <a:xfrm>
            <a:off x="0" y="4960620"/>
            <a:ext cx="9144000" cy="18288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a:off x="365760" y="4956048"/>
            <a:ext cx="841248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00"/>
              <a:buFont typeface="Calibri"/>
              <a:buNone/>
            </a:pPr>
            <a:r>
              <a:rPr b="0" i="0" lang="en-US" sz="900" u="none" cap="none" strike="noStrike">
                <a:solidFill>
                  <a:srgbClr val="ECF0F1"/>
                </a:solidFill>
                <a:latin typeface="Calibri"/>
                <a:ea typeface="Calibri"/>
                <a:cs typeface="Calibri"/>
                <a:sym typeface="Calibri"/>
              </a:rPr>
              <a:t>Taming the JVM: Java Optimization on OpenShift</a:t>
            </a:r>
            <a:endParaRPr b="0" i="0" sz="900" u="none" cap="none" strike="noStrike">
              <a:solidFill>
                <a:schemeClr val="dk1"/>
              </a:solidFill>
              <a:latin typeface="Calibri"/>
              <a:ea typeface="Calibri"/>
              <a:cs typeface="Calibri"/>
              <a:sym typeface="Calibri"/>
            </a:endParaRPr>
          </a:p>
        </p:txBody>
      </p:sp>
      <p:sp>
        <p:nvSpPr>
          <p:cNvPr id="237" name="Google Shape;237;p11"/>
          <p:cNvSpPr/>
          <p:nvPr/>
        </p:nvSpPr>
        <p:spPr>
          <a:xfrm>
            <a:off x="457200" y="749808"/>
            <a:ext cx="36576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4855"/>
              </a:buClr>
              <a:buSzPts val="1300"/>
              <a:buFont typeface="Calibri"/>
              <a:buNone/>
            </a:pPr>
            <a:r>
              <a:rPr b="1" i="0" lang="en-US" sz="1300" u="none" cap="none" strike="noStrike">
                <a:solidFill>
                  <a:srgbClr val="E84855"/>
                </a:solidFill>
                <a:latin typeface="Calibri"/>
                <a:ea typeface="Calibri"/>
                <a:cs typeface="Calibri"/>
                <a:sym typeface="Calibri"/>
              </a:rPr>
              <a:t>BEFORE Optimization</a:t>
            </a:r>
            <a:endParaRPr b="0" i="0" sz="1300" u="none" cap="none" strike="noStrike">
              <a:solidFill>
                <a:schemeClr val="dk1"/>
              </a:solidFill>
              <a:latin typeface="Calibri"/>
              <a:ea typeface="Calibri"/>
              <a:cs typeface="Calibri"/>
              <a:sym typeface="Calibri"/>
            </a:endParaRPr>
          </a:p>
        </p:txBody>
      </p:sp>
      <p:sp>
        <p:nvSpPr>
          <p:cNvPr id="238" name="Google Shape;238;p11"/>
          <p:cNvSpPr/>
          <p:nvPr/>
        </p:nvSpPr>
        <p:spPr>
          <a:xfrm>
            <a:off x="320040" y="1143000"/>
            <a:ext cx="3749040" cy="3291840"/>
          </a:xfrm>
          <a:prstGeom prst="rect">
            <a:avLst/>
          </a:prstGeom>
          <a:solidFill>
            <a:srgbClr val="122040"/>
          </a:solidFill>
          <a:ln cap="flat" cmpd="sng" w="25400">
            <a:solidFill>
              <a:srgbClr val="E84855"/>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1"/>
          <p:cNvSpPr/>
          <p:nvPr/>
        </p:nvSpPr>
        <p:spPr>
          <a:xfrm>
            <a:off x="365760" y="1188720"/>
            <a:ext cx="36576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1200"/>
              <a:buFont typeface="Calibri"/>
              <a:buNone/>
            </a:pPr>
            <a:r>
              <a:rPr b="1" i="0" lang="en-US" sz="1200" u="none" cap="none" strike="noStrike">
                <a:solidFill>
                  <a:srgbClr val="ECF0F1"/>
                </a:solidFill>
                <a:latin typeface="Calibri"/>
                <a:ea typeface="Calibri"/>
                <a:cs typeface="Calibri"/>
                <a:sym typeface="Calibri"/>
              </a:rPr>
              <a:t>Node: 32 GB RAM</a:t>
            </a:r>
            <a:endParaRPr b="0" i="0" sz="1200" u="none" cap="none" strike="noStrike">
              <a:solidFill>
                <a:schemeClr val="dk1"/>
              </a:solidFill>
              <a:latin typeface="Calibri"/>
              <a:ea typeface="Calibri"/>
              <a:cs typeface="Calibri"/>
              <a:sym typeface="Calibri"/>
            </a:endParaRPr>
          </a:p>
        </p:txBody>
      </p:sp>
      <p:sp>
        <p:nvSpPr>
          <p:cNvPr id="240" name="Google Shape;240;p11"/>
          <p:cNvSpPr/>
          <p:nvPr/>
        </p:nvSpPr>
        <p:spPr>
          <a:xfrm>
            <a:off x="502920" y="1554480"/>
            <a:ext cx="3383280" cy="749808"/>
          </a:xfrm>
          <a:prstGeom prst="rect">
            <a:avLst/>
          </a:prstGeom>
          <a:solidFill>
            <a:srgbClr val="E84855">
              <a:alpha val="70196"/>
            </a:srgbClr>
          </a:solidFill>
          <a:ln cap="flat" cmpd="sng" w="12700">
            <a:solidFill>
              <a:srgbClr val="E848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a:off x="548640" y="1572768"/>
            <a:ext cx="3291840"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Pod: Quarkus App</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-Xmx8192m (no limit → 25% of 32 GB node)</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8 GB heap claimed</a:t>
            </a:r>
            <a:endParaRPr b="0" i="0" sz="1000" u="none" cap="none" strike="noStrike">
              <a:solidFill>
                <a:schemeClr val="dk1"/>
              </a:solidFill>
              <a:latin typeface="Calibri"/>
              <a:ea typeface="Calibri"/>
              <a:cs typeface="Calibri"/>
              <a:sym typeface="Calibri"/>
            </a:endParaRPr>
          </a:p>
        </p:txBody>
      </p:sp>
      <p:sp>
        <p:nvSpPr>
          <p:cNvPr id="242" name="Google Shape;242;p11"/>
          <p:cNvSpPr/>
          <p:nvPr/>
        </p:nvSpPr>
        <p:spPr>
          <a:xfrm>
            <a:off x="502920" y="2414016"/>
            <a:ext cx="3383280" cy="749808"/>
          </a:xfrm>
          <a:prstGeom prst="rect">
            <a:avLst/>
          </a:prstGeom>
          <a:solidFill>
            <a:srgbClr val="E84855">
              <a:alpha val="70196"/>
            </a:srgbClr>
          </a:solidFill>
          <a:ln cap="flat" cmpd="sng" w="12700">
            <a:solidFill>
              <a:srgbClr val="E848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1"/>
          <p:cNvSpPr/>
          <p:nvPr/>
        </p:nvSpPr>
        <p:spPr>
          <a:xfrm>
            <a:off x="548640" y="2432304"/>
            <a:ext cx="3291840"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Pod: Quarkus App</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-Xmx8192m (no limit → 25% of 32 GB node)</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8 GB heap claimed</a:t>
            </a:r>
            <a:endParaRPr b="0" i="0" sz="1000" u="none" cap="none" strike="noStrike">
              <a:solidFill>
                <a:schemeClr val="dk1"/>
              </a:solidFill>
              <a:latin typeface="Calibri"/>
              <a:ea typeface="Calibri"/>
              <a:cs typeface="Calibri"/>
              <a:sym typeface="Calibri"/>
            </a:endParaRPr>
          </a:p>
        </p:txBody>
      </p:sp>
      <p:sp>
        <p:nvSpPr>
          <p:cNvPr id="244" name="Google Shape;244;p11"/>
          <p:cNvSpPr/>
          <p:nvPr/>
        </p:nvSpPr>
        <p:spPr>
          <a:xfrm>
            <a:off x="502920" y="3273552"/>
            <a:ext cx="3383280" cy="749808"/>
          </a:xfrm>
          <a:prstGeom prst="rect">
            <a:avLst/>
          </a:prstGeom>
          <a:solidFill>
            <a:srgbClr val="E84855">
              <a:alpha val="70196"/>
            </a:srgbClr>
          </a:solidFill>
          <a:ln cap="flat" cmpd="sng" w="12700">
            <a:solidFill>
              <a:srgbClr val="E848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a:off x="548640" y="3291840"/>
            <a:ext cx="3291840"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Pod: Quarkus App</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-Xmx8192m (no limit → 25% of 32 GB node)</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8 GB heap claimed</a:t>
            </a:r>
            <a:endParaRPr b="0" i="0" sz="1000" u="none" cap="none" strike="noStrike">
              <a:solidFill>
                <a:schemeClr val="dk1"/>
              </a:solidFill>
              <a:latin typeface="Calibri"/>
              <a:ea typeface="Calibri"/>
              <a:cs typeface="Calibri"/>
              <a:sym typeface="Calibri"/>
            </a:endParaRPr>
          </a:p>
        </p:txBody>
      </p:sp>
      <p:sp>
        <p:nvSpPr>
          <p:cNvPr id="246" name="Google Shape;246;p11"/>
          <p:cNvSpPr/>
          <p:nvPr/>
        </p:nvSpPr>
        <p:spPr>
          <a:xfrm>
            <a:off x="365760" y="4206240"/>
            <a:ext cx="36576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4855"/>
              </a:buClr>
              <a:buSzPts val="1000"/>
              <a:buFont typeface="Calibri"/>
              <a:buNone/>
            </a:pPr>
            <a:r>
              <a:rPr b="0" i="0" lang="en-US" sz="1000" u="none" cap="none" strike="noStrike">
                <a:solidFill>
                  <a:srgbClr val="E84855"/>
                </a:solidFill>
                <a:latin typeface="Calibri"/>
                <a:ea typeface="Calibri"/>
                <a:cs typeface="Calibri"/>
                <a:sym typeface="Calibri"/>
              </a:rPr>
              <a:t>⚠ 24/32 GB used → only 3 pods/node</a:t>
            </a:r>
            <a:endParaRPr b="0" i="0" sz="1000" u="none" cap="none" strike="noStrike">
              <a:solidFill>
                <a:schemeClr val="dk1"/>
              </a:solidFill>
              <a:latin typeface="Calibri"/>
              <a:ea typeface="Calibri"/>
              <a:cs typeface="Calibri"/>
              <a:sym typeface="Calibri"/>
            </a:endParaRPr>
          </a:p>
        </p:txBody>
      </p:sp>
      <p:sp>
        <p:nvSpPr>
          <p:cNvPr id="247" name="Google Shape;247;p11"/>
          <p:cNvSpPr/>
          <p:nvPr/>
        </p:nvSpPr>
        <p:spPr>
          <a:xfrm>
            <a:off x="5029200" y="749808"/>
            <a:ext cx="37490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7AE60"/>
              </a:buClr>
              <a:buSzPts val="1300"/>
              <a:buFont typeface="Calibri"/>
              <a:buNone/>
            </a:pPr>
            <a:r>
              <a:rPr b="1" i="0" lang="en-US" sz="1300" u="none" cap="none" strike="noStrike">
                <a:solidFill>
                  <a:srgbClr val="27AE60"/>
                </a:solidFill>
                <a:latin typeface="Calibri"/>
                <a:ea typeface="Calibri"/>
                <a:cs typeface="Calibri"/>
                <a:sym typeface="Calibri"/>
              </a:rPr>
              <a:t>AFTER Optimization</a:t>
            </a:r>
            <a:endParaRPr b="0" i="0" sz="1300" u="none" cap="none" strike="noStrike">
              <a:solidFill>
                <a:schemeClr val="dk1"/>
              </a:solidFill>
              <a:latin typeface="Calibri"/>
              <a:ea typeface="Calibri"/>
              <a:cs typeface="Calibri"/>
              <a:sym typeface="Calibri"/>
            </a:endParaRPr>
          </a:p>
        </p:txBody>
      </p:sp>
      <p:sp>
        <p:nvSpPr>
          <p:cNvPr id="248" name="Google Shape;248;p11"/>
          <p:cNvSpPr/>
          <p:nvPr/>
        </p:nvSpPr>
        <p:spPr>
          <a:xfrm>
            <a:off x="5074920" y="1143000"/>
            <a:ext cx="3749040" cy="3291840"/>
          </a:xfrm>
          <a:prstGeom prst="rect">
            <a:avLst/>
          </a:prstGeom>
          <a:solidFill>
            <a:srgbClr val="122040"/>
          </a:solidFill>
          <a:ln cap="flat" cmpd="sng" w="25400">
            <a:solidFill>
              <a:srgbClr val="27AE6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1"/>
          <p:cNvSpPr/>
          <p:nvPr/>
        </p:nvSpPr>
        <p:spPr>
          <a:xfrm>
            <a:off x="5120640" y="1188720"/>
            <a:ext cx="356616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1200"/>
              <a:buFont typeface="Calibri"/>
              <a:buNone/>
            </a:pPr>
            <a:r>
              <a:rPr b="1" i="0" lang="en-US" sz="1200" u="none" cap="none" strike="noStrike">
                <a:solidFill>
                  <a:srgbClr val="ECF0F1"/>
                </a:solidFill>
                <a:latin typeface="Calibri"/>
                <a:ea typeface="Calibri"/>
                <a:cs typeface="Calibri"/>
                <a:sym typeface="Calibri"/>
              </a:rPr>
              <a:t>Node: 32 GB RAM</a:t>
            </a:r>
            <a:endParaRPr b="0" i="0" sz="1200" u="none" cap="none" strike="noStrike">
              <a:solidFill>
                <a:schemeClr val="dk1"/>
              </a:solidFill>
              <a:latin typeface="Calibri"/>
              <a:ea typeface="Calibri"/>
              <a:cs typeface="Calibri"/>
              <a:sym typeface="Calibri"/>
            </a:endParaRPr>
          </a:p>
        </p:txBody>
      </p:sp>
      <p:sp>
        <p:nvSpPr>
          <p:cNvPr id="250" name="Google Shape;250;p11"/>
          <p:cNvSpPr/>
          <p:nvPr/>
        </p:nvSpPr>
        <p:spPr>
          <a:xfrm>
            <a:off x="5166360" y="1554480"/>
            <a:ext cx="1709928" cy="749808"/>
          </a:xfrm>
          <a:prstGeom prst="rect">
            <a:avLst/>
          </a:prstGeom>
          <a:solidFill>
            <a:srgbClr val="27AE60">
              <a:alpha val="65098"/>
            </a:srgbClr>
          </a:solidFill>
          <a:ln cap="flat" cmpd="sng" w="1270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a:off x="5166360" y="1572768"/>
            <a:ext cx="1709928"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App 1</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1.5 GB</a:t>
            </a:r>
            <a:endParaRPr b="0" i="0" sz="1000" u="none" cap="none" strike="noStrike">
              <a:solidFill>
                <a:schemeClr val="dk1"/>
              </a:solidFill>
              <a:latin typeface="Calibri"/>
              <a:ea typeface="Calibri"/>
              <a:cs typeface="Calibri"/>
              <a:sym typeface="Calibri"/>
            </a:endParaRPr>
          </a:p>
        </p:txBody>
      </p:sp>
      <p:sp>
        <p:nvSpPr>
          <p:cNvPr id="252" name="Google Shape;252;p11"/>
          <p:cNvSpPr/>
          <p:nvPr/>
        </p:nvSpPr>
        <p:spPr>
          <a:xfrm>
            <a:off x="6967728" y="1554480"/>
            <a:ext cx="1709928" cy="749808"/>
          </a:xfrm>
          <a:prstGeom prst="rect">
            <a:avLst/>
          </a:prstGeom>
          <a:solidFill>
            <a:srgbClr val="27AE60">
              <a:alpha val="65098"/>
            </a:srgbClr>
          </a:solidFill>
          <a:ln cap="flat" cmpd="sng" w="1270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a:off x="6967728" y="1572768"/>
            <a:ext cx="1709928"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App 2</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1.5 GB</a:t>
            </a:r>
            <a:endParaRPr b="0" i="0" sz="1000" u="none" cap="none" strike="noStrike">
              <a:solidFill>
                <a:schemeClr val="dk1"/>
              </a:solidFill>
              <a:latin typeface="Calibri"/>
              <a:ea typeface="Calibri"/>
              <a:cs typeface="Calibri"/>
              <a:sym typeface="Calibri"/>
            </a:endParaRPr>
          </a:p>
        </p:txBody>
      </p:sp>
      <p:sp>
        <p:nvSpPr>
          <p:cNvPr id="254" name="Google Shape;254;p11"/>
          <p:cNvSpPr/>
          <p:nvPr/>
        </p:nvSpPr>
        <p:spPr>
          <a:xfrm>
            <a:off x="5166360" y="2414016"/>
            <a:ext cx="1709928" cy="749808"/>
          </a:xfrm>
          <a:prstGeom prst="rect">
            <a:avLst/>
          </a:prstGeom>
          <a:solidFill>
            <a:srgbClr val="27AE60">
              <a:alpha val="65098"/>
            </a:srgbClr>
          </a:solidFill>
          <a:ln cap="flat" cmpd="sng" w="1270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1"/>
          <p:cNvSpPr/>
          <p:nvPr/>
        </p:nvSpPr>
        <p:spPr>
          <a:xfrm>
            <a:off x="5166360" y="2432304"/>
            <a:ext cx="1709928"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App 3</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1.5 GB</a:t>
            </a:r>
            <a:endParaRPr b="0" i="0" sz="1000" u="none" cap="none" strike="noStrike">
              <a:solidFill>
                <a:schemeClr val="dk1"/>
              </a:solidFill>
              <a:latin typeface="Calibri"/>
              <a:ea typeface="Calibri"/>
              <a:cs typeface="Calibri"/>
              <a:sym typeface="Calibri"/>
            </a:endParaRPr>
          </a:p>
        </p:txBody>
      </p:sp>
      <p:sp>
        <p:nvSpPr>
          <p:cNvPr id="256" name="Google Shape;256;p11"/>
          <p:cNvSpPr/>
          <p:nvPr/>
        </p:nvSpPr>
        <p:spPr>
          <a:xfrm>
            <a:off x="6967728" y="2414016"/>
            <a:ext cx="1709928" cy="749808"/>
          </a:xfrm>
          <a:prstGeom prst="rect">
            <a:avLst/>
          </a:prstGeom>
          <a:solidFill>
            <a:srgbClr val="27AE60">
              <a:alpha val="65098"/>
            </a:srgbClr>
          </a:solidFill>
          <a:ln cap="flat" cmpd="sng" w="1270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a:off x="6967728" y="2432304"/>
            <a:ext cx="1709928"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App 4</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1.5 GB</a:t>
            </a:r>
            <a:endParaRPr b="0" i="0" sz="1000" u="none" cap="none" strike="noStrike">
              <a:solidFill>
                <a:schemeClr val="dk1"/>
              </a:solidFill>
              <a:latin typeface="Calibri"/>
              <a:ea typeface="Calibri"/>
              <a:cs typeface="Calibri"/>
              <a:sym typeface="Calibri"/>
            </a:endParaRPr>
          </a:p>
        </p:txBody>
      </p:sp>
      <p:sp>
        <p:nvSpPr>
          <p:cNvPr id="258" name="Google Shape;258;p11"/>
          <p:cNvSpPr/>
          <p:nvPr/>
        </p:nvSpPr>
        <p:spPr>
          <a:xfrm>
            <a:off x="5166360" y="3273552"/>
            <a:ext cx="1709928" cy="749808"/>
          </a:xfrm>
          <a:prstGeom prst="rect">
            <a:avLst/>
          </a:prstGeom>
          <a:solidFill>
            <a:srgbClr val="27AE60">
              <a:alpha val="65098"/>
            </a:srgbClr>
          </a:solidFill>
          <a:ln cap="flat" cmpd="sng" w="1270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1"/>
          <p:cNvSpPr/>
          <p:nvPr/>
        </p:nvSpPr>
        <p:spPr>
          <a:xfrm>
            <a:off x="5166360" y="3291840"/>
            <a:ext cx="1709928"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App 5</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1.5 GB</a:t>
            </a:r>
            <a:endParaRPr b="0" i="0" sz="1000" u="none" cap="none" strike="noStrike">
              <a:solidFill>
                <a:schemeClr val="dk1"/>
              </a:solidFill>
              <a:latin typeface="Calibri"/>
              <a:ea typeface="Calibri"/>
              <a:cs typeface="Calibri"/>
              <a:sym typeface="Calibri"/>
            </a:endParaRPr>
          </a:p>
        </p:txBody>
      </p:sp>
      <p:sp>
        <p:nvSpPr>
          <p:cNvPr id="260" name="Google Shape;260;p11"/>
          <p:cNvSpPr/>
          <p:nvPr/>
        </p:nvSpPr>
        <p:spPr>
          <a:xfrm>
            <a:off x="6967728" y="3273552"/>
            <a:ext cx="1709928" cy="749808"/>
          </a:xfrm>
          <a:prstGeom prst="rect">
            <a:avLst/>
          </a:prstGeom>
          <a:solidFill>
            <a:srgbClr val="27AE60">
              <a:alpha val="65098"/>
            </a:srgbClr>
          </a:solidFill>
          <a:ln cap="flat" cmpd="sng" w="1270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a:off x="6967728" y="3291840"/>
            <a:ext cx="1709928"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App 6</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1.5 GB</a:t>
            </a:r>
            <a:endParaRPr b="0" i="0" sz="1000" u="none" cap="none" strike="noStrike">
              <a:solidFill>
                <a:schemeClr val="dk1"/>
              </a:solidFill>
              <a:latin typeface="Calibri"/>
              <a:ea typeface="Calibri"/>
              <a:cs typeface="Calibri"/>
              <a:sym typeface="Calibri"/>
            </a:endParaRPr>
          </a:p>
        </p:txBody>
      </p:sp>
      <p:sp>
        <p:nvSpPr>
          <p:cNvPr id="262" name="Google Shape;262;p11"/>
          <p:cNvSpPr/>
          <p:nvPr/>
        </p:nvSpPr>
        <p:spPr>
          <a:xfrm>
            <a:off x="5029200" y="4206240"/>
            <a:ext cx="37490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7AE60"/>
              </a:buClr>
              <a:buSzPts val="1000"/>
              <a:buFont typeface="Calibri"/>
              <a:buNone/>
            </a:pPr>
            <a:r>
              <a:rPr b="0" i="0" lang="en-US" sz="1000" u="none" cap="none" strike="noStrike">
                <a:solidFill>
                  <a:srgbClr val="27AE60"/>
                </a:solidFill>
                <a:latin typeface="Calibri"/>
                <a:ea typeface="Calibri"/>
                <a:cs typeface="Calibri"/>
                <a:sym typeface="Calibri"/>
              </a:rPr>
              <a:t>✅ 9 GB used → 6 pods/node → 2× density</a:t>
            </a:r>
            <a:endParaRPr b="0" i="0" sz="1000" u="none" cap="none" strike="noStrike">
              <a:solidFill>
                <a:schemeClr val="dk1"/>
              </a:solidFill>
              <a:latin typeface="Calibri"/>
              <a:ea typeface="Calibri"/>
              <a:cs typeface="Calibri"/>
              <a:sym typeface="Calibri"/>
            </a:endParaRPr>
          </a:p>
        </p:txBody>
      </p:sp>
      <p:sp>
        <p:nvSpPr>
          <p:cNvPr id="263" name="Google Shape;263;p11"/>
          <p:cNvSpPr/>
          <p:nvPr/>
        </p:nvSpPr>
        <p:spPr>
          <a:xfrm>
            <a:off x="4133088" y="2651760"/>
            <a:ext cx="877824" cy="457200"/>
          </a:xfrm>
          <a:prstGeom prst="rect">
            <a:avLst/>
          </a:prstGeom>
          <a:solidFill>
            <a:srgbClr val="F5A6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1"/>
          <p:cNvSpPr/>
          <p:nvPr/>
        </p:nvSpPr>
        <p:spPr>
          <a:xfrm>
            <a:off x="4133088" y="2651760"/>
            <a:ext cx="877824"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265" name="Google Shape;265;p1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F0F7"/>
        </a:solidFill>
      </p:bgPr>
    </p:bg>
    <p:spTree>
      <p:nvGrpSpPr>
        <p:cNvPr id="270" name="Shape 270"/>
        <p:cNvGrpSpPr/>
        <p:nvPr/>
      </p:nvGrpSpPr>
      <p:grpSpPr>
        <a:xfrm>
          <a:off x="0" y="0"/>
          <a:ext cx="0" cy="0"/>
          <a:chOff x="0" y="0"/>
          <a:chExt cx="0" cy="0"/>
        </a:xfrm>
      </p:grpSpPr>
      <p:sp>
        <p:nvSpPr>
          <p:cNvPr id="271" name="Google Shape;271;p12"/>
          <p:cNvSpPr/>
          <p:nvPr/>
        </p:nvSpPr>
        <p:spPr>
          <a:xfrm>
            <a:off x="0" y="0"/>
            <a:ext cx="9144000" cy="64008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2"/>
          <p:cNvSpPr/>
          <p:nvPr/>
        </p:nvSpPr>
        <p:spPr>
          <a:xfrm>
            <a:off x="365760" y="0"/>
            <a:ext cx="6858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000"/>
              <a:buFont typeface="Calibri"/>
              <a:buNone/>
            </a:pPr>
            <a:r>
              <a:rPr b="1" i="0" lang="en-US" sz="2000" u="none" cap="none" strike="noStrike">
                <a:solidFill>
                  <a:srgbClr val="00BCD4"/>
                </a:solidFill>
                <a:latin typeface="Calibri"/>
                <a:ea typeface="Calibri"/>
                <a:cs typeface="Calibri"/>
                <a:sym typeface="Calibri"/>
              </a:rPr>
              <a:t>Garbage Collection Optimization</a:t>
            </a:r>
            <a:endParaRPr b="0" i="0" sz="2000" u="none" cap="none" strike="noStrike">
              <a:solidFill>
                <a:schemeClr val="dk1"/>
              </a:solidFill>
              <a:latin typeface="Calibri"/>
              <a:ea typeface="Calibri"/>
              <a:cs typeface="Calibri"/>
              <a:sym typeface="Calibri"/>
            </a:endParaRPr>
          </a:p>
        </p:txBody>
      </p:sp>
      <p:sp>
        <p:nvSpPr>
          <p:cNvPr id="273" name="Google Shape;273;p12"/>
          <p:cNvSpPr/>
          <p:nvPr/>
        </p:nvSpPr>
        <p:spPr>
          <a:xfrm>
            <a:off x="7315200" y="73152"/>
            <a:ext cx="1645920" cy="502920"/>
          </a:xfrm>
          <a:prstGeom prst="rect">
            <a:avLst/>
          </a:prstGeom>
          <a:solidFill>
            <a:srgbClr val="1E6FC8"/>
          </a:solidFill>
          <a:ln>
            <a:noFill/>
          </a:ln>
        </p:spPr>
        <p:txBody>
          <a:bodyPr anchorCtr="0" anchor="ctr" bIns="0" lIns="0" spcFirstLastPara="1" rIns="76200" wrap="square" tIns="76200">
            <a:noAutofit/>
          </a:bodyPr>
          <a:lstStyle/>
          <a:p>
            <a:pPr indent="0" lvl="0" marL="0" marR="0" rtl="0" algn="r">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Section 03</a:t>
            </a:r>
            <a:endParaRPr b="0" i="0" sz="1000" u="none" cap="none" strike="noStrike">
              <a:solidFill>
                <a:schemeClr val="dk1"/>
              </a:solidFill>
              <a:latin typeface="Calibri"/>
              <a:ea typeface="Calibri"/>
              <a:cs typeface="Calibri"/>
              <a:sym typeface="Calibri"/>
            </a:endParaRPr>
          </a:p>
        </p:txBody>
      </p:sp>
      <p:sp>
        <p:nvSpPr>
          <p:cNvPr id="274" name="Google Shape;274;p12"/>
          <p:cNvSpPr/>
          <p:nvPr/>
        </p:nvSpPr>
        <p:spPr>
          <a:xfrm>
            <a:off x="0" y="4960620"/>
            <a:ext cx="9144000" cy="18288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2"/>
          <p:cNvSpPr/>
          <p:nvPr/>
        </p:nvSpPr>
        <p:spPr>
          <a:xfrm>
            <a:off x="365760" y="4956048"/>
            <a:ext cx="841248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00"/>
              <a:buFont typeface="Calibri"/>
              <a:buNone/>
            </a:pPr>
            <a:r>
              <a:rPr b="0" i="0" lang="en-US" sz="900" u="none" cap="none" strike="noStrike">
                <a:solidFill>
                  <a:srgbClr val="ECF0F1"/>
                </a:solidFill>
                <a:latin typeface="Calibri"/>
                <a:ea typeface="Calibri"/>
                <a:cs typeface="Calibri"/>
                <a:sym typeface="Calibri"/>
              </a:rPr>
              <a:t>Taming the JVM: Java Optimization on OpenShift</a:t>
            </a:r>
            <a:endParaRPr b="0" i="0" sz="900" u="none" cap="none" strike="noStrike">
              <a:solidFill>
                <a:schemeClr val="dk1"/>
              </a:solidFill>
              <a:latin typeface="Calibri"/>
              <a:ea typeface="Calibri"/>
              <a:cs typeface="Calibri"/>
              <a:sym typeface="Calibri"/>
            </a:endParaRPr>
          </a:p>
        </p:txBody>
      </p:sp>
      <p:sp>
        <p:nvSpPr>
          <p:cNvPr id="276" name="Google Shape;276;p12"/>
          <p:cNvSpPr/>
          <p:nvPr/>
        </p:nvSpPr>
        <p:spPr>
          <a:xfrm>
            <a:off x="365760" y="749808"/>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C"/>
              </a:buClr>
              <a:buSzPts val="1600"/>
              <a:buFont typeface="Calibri"/>
              <a:buNone/>
            </a:pPr>
            <a:r>
              <a:rPr b="1" i="0" lang="en-US" sz="1600" u="none" cap="none" strike="noStrike">
                <a:solidFill>
                  <a:srgbClr val="1A2B3C"/>
                </a:solidFill>
                <a:latin typeface="Calibri"/>
                <a:ea typeface="Calibri"/>
                <a:cs typeface="Calibri"/>
                <a:sym typeface="Calibri"/>
              </a:rPr>
              <a:t>GC in Containers: The Challenges</a:t>
            </a:r>
            <a:endParaRPr b="0" i="0" sz="1600" u="none" cap="none" strike="noStrike">
              <a:solidFill>
                <a:schemeClr val="dk1"/>
              </a:solidFill>
              <a:latin typeface="Calibri"/>
              <a:ea typeface="Calibri"/>
              <a:cs typeface="Calibri"/>
              <a:sym typeface="Calibri"/>
            </a:endParaRPr>
          </a:p>
        </p:txBody>
      </p:sp>
      <p:sp>
        <p:nvSpPr>
          <p:cNvPr id="277" name="Google Shape;277;p12"/>
          <p:cNvSpPr/>
          <p:nvPr/>
        </p:nvSpPr>
        <p:spPr>
          <a:xfrm>
            <a:off x="320040" y="1234440"/>
            <a:ext cx="4069080" cy="1508760"/>
          </a:xfrm>
          <a:prstGeom prst="rect">
            <a:avLst/>
          </a:prstGeom>
          <a:solidFill>
            <a:srgbClr val="FFFFFF"/>
          </a:solidFill>
          <a:ln>
            <a:noFill/>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2"/>
          <p:cNvSpPr/>
          <p:nvPr/>
        </p:nvSpPr>
        <p:spPr>
          <a:xfrm>
            <a:off x="320040" y="1234440"/>
            <a:ext cx="4069080" cy="384048"/>
          </a:xfrm>
          <a:prstGeom prst="rect">
            <a:avLst/>
          </a:prstGeom>
          <a:solidFill>
            <a:srgbClr val="E848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2"/>
          <p:cNvSpPr/>
          <p:nvPr/>
        </p:nvSpPr>
        <p:spPr>
          <a:xfrm>
            <a:off x="429768" y="1271016"/>
            <a:ext cx="38862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CPU Throttling Extends GC</a:t>
            </a:r>
            <a:endParaRPr b="0" i="0" sz="1200" u="none" cap="none" strike="noStrike">
              <a:solidFill>
                <a:schemeClr val="dk1"/>
              </a:solidFill>
              <a:latin typeface="Calibri"/>
              <a:ea typeface="Calibri"/>
              <a:cs typeface="Calibri"/>
              <a:sym typeface="Calibri"/>
            </a:endParaRPr>
          </a:p>
        </p:txBody>
      </p:sp>
      <p:sp>
        <p:nvSpPr>
          <p:cNvPr id="280" name="Google Shape;280;p12"/>
          <p:cNvSpPr/>
          <p:nvPr/>
        </p:nvSpPr>
        <p:spPr>
          <a:xfrm>
            <a:off x="429768" y="1691640"/>
            <a:ext cx="384048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B3C"/>
              </a:buClr>
              <a:buSzPts val="1050"/>
              <a:buFont typeface="Calibri"/>
              <a:buNone/>
            </a:pPr>
            <a:r>
              <a:rPr b="0" i="0" lang="en-US" sz="1050" u="none" cap="none" strike="noStrike">
                <a:solidFill>
                  <a:srgbClr val="1A2B3C"/>
                </a:solidFill>
                <a:latin typeface="Calibri"/>
                <a:ea typeface="Calibri"/>
                <a:cs typeface="Calibri"/>
                <a:sym typeface="Calibri"/>
              </a:rPr>
              <a:t>GC is CPU-intensive. CPU limits throttle GC threads mid-pause — e.g. a 100ms G1GC pause can stretch to ~400ms (illustrative). Set CPU limit ≥ 2× request.</a:t>
            </a:r>
            <a:endParaRPr b="0" i="0" sz="1050" u="none" cap="none" strike="noStrike">
              <a:solidFill>
                <a:schemeClr val="dk1"/>
              </a:solidFill>
              <a:latin typeface="Calibri"/>
              <a:ea typeface="Calibri"/>
              <a:cs typeface="Calibri"/>
              <a:sym typeface="Calibri"/>
            </a:endParaRPr>
          </a:p>
        </p:txBody>
      </p:sp>
      <p:sp>
        <p:nvSpPr>
          <p:cNvPr id="281" name="Google Shape;281;p12"/>
          <p:cNvSpPr/>
          <p:nvPr/>
        </p:nvSpPr>
        <p:spPr>
          <a:xfrm>
            <a:off x="4663440" y="1234440"/>
            <a:ext cx="4069080" cy="1508760"/>
          </a:xfrm>
          <a:prstGeom prst="rect">
            <a:avLst/>
          </a:prstGeom>
          <a:solidFill>
            <a:srgbClr val="FFFFFF"/>
          </a:solidFill>
          <a:ln>
            <a:noFill/>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2"/>
          <p:cNvSpPr/>
          <p:nvPr/>
        </p:nvSpPr>
        <p:spPr>
          <a:xfrm>
            <a:off x="4663440" y="1234440"/>
            <a:ext cx="4069080" cy="384048"/>
          </a:xfrm>
          <a:prstGeom prst="rect">
            <a:avLst/>
          </a:prstGeom>
          <a:solidFill>
            <a:srgbClr val="F5A6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2"/>
          <p:cNvSpPr/>
          <p:nvPr/>
        </p:nvSpPr>
        <p:spPr>
          <a:xfrm>
            <a:off x="4773168" y="1271016"/>
            <a:ext cx="38862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Parallel GC Thread Count</a:t>
            </a:r>
            <a:endParaRPr b="0" i="0" sz="1200" u="none" cap="none" strike="noStrike">
              <a:solidFill>
                <a:schemeClr val="dk1"/>
              </a:solidFill>
              <a:latin typeface="Calibri"/>
              <a:ea typeface="Calibri"/>
              <a:cs typeface="Calibri"/>
              <a:sym typeface="Calibri"/>
            </a:endParaRPr>
          </a:p>
        </p:txBody>
      </p:sp>
      <p:sp>
        <p:nvSpPr>
          <p:cNvPr id="284" name="Google Shape;284;p12"/>
          <p:cNvSpPr/>
          <p:nvPr/>
        </p:nvSpPr>
        <p:spPr>
          <a:xfrm>
            <a:off x="4773168" y="1691640"/>
            <a:ext cx="384048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B3C"/>
              </a:buClr>
              <a:buSzPts val="1050"/>
              <a:buFont typeface="Calibri"/>
              <a:buNone/>
            </a:pPr>
            <a:r>
              <a:rPr b="0" i="0" lang="en-US" sz="1050" u="none" cap="none" strike="noStrike">
                <a:solidFill>
                  <a:srgbClr val="1A2B3C"/>
                </a:solidFill>
                <a:latin typeface="Calibri"/>
                <a:ea typeface="Calibri"/>
                <a:cs typeface="Calibri"/>
                <a:sym typeface="Calibri"/>
              </a:rPr>
              <a:t>Without a CPU limit the JVM sizes GC threads to the node — capped above 8 cores (8 + (N-8)×5/8, so 43 on a 64-core node), ignoring your request. Set a CPU limit (the JVM reads the cgroup quota) or pin -XX:ParallelGCThreads=4</a:t>
            </a:r>
            <a:endParaRPr b="0" i="0" sz="1050" u="none" cap="none" strike="noStrike">
              <a:solidFill>
                <a:schemeClr val="dk1"/>
              </a:solidFill>
              <a:latin typeface="Calibri"/>
              <a:ea typeface="Calibri"/>
              <a:cs typeface="Calibri"/>
              <a:sym typeface="Calibri"/>
            </a:endParaRPr>
          </a:p>
        </p:txBody>
      </p:sp>
      <p:sp>
        <p:nvSpPr>
          <p:cNvPr id="285" name="Google Shape;285;p12"/>
          <p:cNvSpPr/>
          <p:nvPr/>
        </p:nvSpPr>
        <p:spPr>
          <a:xfrm>
            <a:off x="320040" y="2926080"/>
            <a:ext cx="4069080" cy="1508760"/>
          </a:xfrm>
          <a:prstGeom prst="rect">
            <a:avLst/>
          </a:prstGeom>
          <a:solidFill>
            <a:srgbClr val="FFFFFF"/>
          </a:solidFill>
          <a:ln>
            <a:noFill/>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2"/>
          <p:cNvSpPr/>
          <p:nvPr/>
        </p:nvSpPr>
        <p:spPr>
          <a:xfrm>
            <a:off x="320040" y="2926080"/>
            <a:ext cx="4069080" cy="384048"/>
          </a:xfrm>
          <a:prstGeom prst="rect">
            <a:avLst/>
          </a:prstGeom>
          <a:solidFill>
            <a:srgbClr val="E848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2"/>
          <p:cNvSpPr/>
          <p:nvPr/>
        </p:nvSpPr>
        <p:spPr>
          <a:xfrm>
            <a:off x="429768" y="2962656"/>
            <a:ext cx="38862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GC-Induced HPA Thrash</a:t>
            </a:r>
            <a:endParaRPr b="0" i="0" sz="1200" u="none" cap="none" strike="noStrike">
              <a:solidFill>
                <a:schemeClr val="dk1"/>
              </a:solidFill>
              <a:latin typeface="Calibri"/>
              <a:ea typeface="Calibri"/>
              <a:cs typeface="Calibri"/>
              <a:sym typeface="Calibri"/>
            </a:endParaRPr>
          </a:p>
        </p:txBody>
      </p:sp>
      <p:sp>
        <p:nvSpPr>
          <p:cNvPr id="288" name="Google Shape;288;p12"/>
          <p:cNvSpPr/>
          <p:nvPr/>
        </p:nvSpPr>
        <p:spPr>
          <a:xfrm>
            <a:off x="429768" y="3383280"/>
            <a:ext cx="384048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B3C"/>
              </a:buClr>
              <a:buSzPts val="1050"/>
              <a:buFont typeface="Calibri"/>
              <a:buNone/>
            </a:pPr>
            <a:r>
              <a:rPr b="0" i="0" lang="en-US" sz="1050" u="none" cap="none" strike="noStrike">
                <a:solidFill>
                  <a:srgbClr val="1A2B3C"/>
                </a:solidFill>
                <a:latin typeface="Calibri"/>
                <a:ea typeface="Calibri"/>
                <a:cs typeface="Calibri"/>
                <a:sym typeface="Calibri"/>
              </a:rPr>
              <a:t>GC pause → CPU spike → HPA fires → new pods start → GC on new pods → repeat. Solution: longer HPA stabilizationWindow + JVM-specific metrics.</a:t>
            </a:r>
            <a:endParaRPr b="0" i="0" sz="1050" u="none" cap="none" strike="noStrike">
              <a:solidFill>
                <a:schemeClr val="dk1"/>
              </a:solidFill>
              <a:latin typeface="Calibri"/>
              <a:ea typeface="Calibri"/>
              <a:cs typeface="Calibri"/>
              <a:sym typeface="Calibri"/>
            </a:endParaRPr>
          </a:p>
        </p:txBody>
      </p:sp>
      <p:sp>
        <p:nvSpPr>
          <p:cNvPr id="289" name="Google Shape;289;p12"/>
          <p:cNvSpPr/>
          <p:nvPr/>
        </p:nvSpPr>
        <p:spPr>
          <a:xfrm>
            <a:off x="4663440" y="2926080"/>
            <a:ext cx="4069080" cy="1508760"/>
          </a:xfrm>
          <a:prstGeom prst="rect">
            <a:avLst/>
          </a:prstGeom>
          <a:solidFill>
            <a:srgbClr val="FFFFFF"/>
          </a:solidFill>
          <a:ln>
            <a:noFill/>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2"/>
          <p:cNvSpPr/>
          <p:nvPr/>
        </p:nvSpPr>
        <p:spPr>
          <a:xfrm>
            <a:off x="4663440" y="2926080"/>
            <a:ext cx="4069080" cy="384048"/>
          </a:xfrm>
          <a:prstGeom prst="rect">
            <a:avLst/>
          </a:prstGeom>
          <a:solidFill>
            <a:srgbClr val="F5A6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2"/>
          <p:cNvSpPr/>
          <p:nvPr/>
        </p:nvSpPr>
        <p:spPr>
          <a:xfrm>
            <a:off x="4773168" y="2962656"/>
            <a:ext cx="38862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Heap Sizing vs. GC Pressure</a:t>
            </a:r>
            <a:endParaRPr b="0" i="0" sz="1200" u="none" cap="none" strike="noStrike">
              <a:solidFill>
                <a:schemeClr val="dk1"/>
              </a:solidFill>
              <a:latin typeface="Calibri"/>
              <a:ea typeface="Calibri"/>
              <a:cs typeface="Calibri"/>
              <a:sym typeface="Calibri"/>
            </a:endParaRPr>
          </a:p>
        </p:txBody>
      </p:sp>
      <p:sp>
        <p:nvSpPr>
          <p:cNvPr id="292" name="Google Shape;292;p12"/>
          <p:cNvSpPr/>
          <p:nvPr/>
        </p:nvSpPr>
        <p:spPr>
          <a:xfrm>
            <a:off x="4773168" y="3383280"/>
            <a:ext cx="384048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B3C"/>
              </a:buClr>
              <a:buSzPts val="1050"/>
              <a:buFont typeface="Calibri"/>
              <a:buNone/>
            </a:pPr>
            <a:r>
              <a:rPr b="0" i="0" lang="en-US" sz="1050" u="none" cap="none" strike="noStrike">
                <a:solidFill>
                  <a:srgbClr val="1A2B3C"/>
                </a:solidFill>
                <a:latin typeface="Calibri"/>
                <a:ea typeface="Calibri"/>
                <a:cs typeface="Calibri"/>
                <a:sym typeface="Calibri"/>
              </a:rPr>
              <a:t>Small heap = frequent GC. Too large = infrequent but long GC. For containers: start at 75% MaxRAMPercentage, tune based on GC pause data from JFR.</a:t>
            </a:r>
            <a:endParaRPr b="0" i="0" sz="1050" u="none" cap="none" strike="noStrike">
              <a:solidFill>
                <a:schemeClr val="dk1"/>
              </a:solidFill>
              <a:latin typeface="Calibri"/>
              <a:ea typeface="Calibri"/>
              <a:cs typeface="Calibri"/>
              <a:sym typeface="Calibri"/>
            </a:endParaRPr>
          </a:p>
        </p:txBody>
      </p:sp>
      <p:sp>
        <p:nvSpPr>
          <p:cNvPr id="293" name="Google Shape;293;p1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F0F7"/>
        </a:solidFill>
      </p:bgPr>
    </p:bg>
    <p:spTree>
      <p:nvGrpSpPr>
        <p:cNvPr id="298" name="Shape 298"/>
        <p:cNvGrpSpPr/>
        <p:nvPr/>
      </p:nvGrpSpPr>
      <p:grpSpPr>
        <a:xfrm>
          <a:off x="0" y="0"/>
          <a:ext cx="0" cy="0"/>
          <a:chOff x="0" y="0"/>
          <a:chExt cx="0" cy="0"/>
        </a:xfrm>
      </p:grpSpPr>
      <p:sp>
        <p:nvSpPr>
          <p:cNvPr id="299" name="Google Shape;299;p13"/>
          <p:cNvSpPr/>
          <p:nvPr/>
        </p:nvSpPr>
        <p:spPr>
          <a:xfrm>
            <a:off x="0" y="0"/>
            <a:ext cx="9144000" cy="64020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3"/>
          <p:cNvSpPr/>
          <p:nvPr/>
        </p:nvSpPr>
        <p:spPr>
          <a:xfrm>
            <a:off x="365760" y="0"/>
            <a:ext cx="68580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000"/>
              <a:buFont typeface="Calibri"/>
              <a:buNone/>
            </a:pPr>
            <a:r>
              <a:rPr b="1" lang="en-US" sz="2000">
                <a:solidFill>
                  <a:srgbClr val="00BCD4"/>
                </a:solidFill>
                <a:latin typeface="Calibri"/>
                <a:ea typeface="Calibri"/>
                <a:cs typeface="Calibri"/>
                <a:sym typeface="Calibri"/>
              </a:rPr>
              <a:t>GC - Induced HPA Thrash Cycle</a:t>
            </a:r>
            <a:endParaRPr b="0" i="0" sz="2000" u="none" cap="none" strike="noStrike">
              <a:solidFill>
                <a:schemeClr val="dk1"/>
              </a:solidFill>
              <a:latin typeface="Calibri"/>
              <a:ea typeface="Calibri"/>
              <a:cs typeface="Calibri"/>
              <a:sym typeface="Calibri"/>
            </a:endParaRPr>
          </a:p>
        </p:txBody>
      </p:sp>
      <p:sp>
        <p:nvSpPr>
          <p:cNvPr id="301" name="Google Shape;301;p13"/>
          <p:cNvSpPr/>
          <p:nvPr/>
        </p:nvSpPr>
        <p:spPr>
          <a:xfrm>
            <a:off x="7315200" y="73152"/>
            <a:ext cx="1645800" cy="502800"/>
          </a:xfrm>
          <a:prstGeom prst="rect">
            <a:avLst/>
          </a:prstGeom>
          <a:solidFill>
            <a:srgbClr val="1E6FC8"/>
          </a:solidFill>
          <a:ln>
            <a:noFill/>
          </a:ln>
        </p:spPr>
        <p:txBody>
          <a:bodyPr anchorCtr="0" anchor="ctr" bIns="0" lIns="0" spcFirstLastPara="1" rIns="76200" wrap="square" tIns="76200">
            <a:noAutofit/>
          </a:bodyPr>
          <a:lstStyle/>
          <a:p>
            <a:pPr indent="0" lvl="0" marL="0" marR="0" rtl="0" algn="r">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Section 03</a:t>
            </a:r>
            <a:endParaRPr b="0" i="0" sz="1000" u="none" cap="none" strike="noStrike">
              <a:solidFill>
                <a:schemeClr val="dk1"/>
              </a:solidFill>
              <a:latin typeface="Calibri"/>
              <a:ea typeface="Calibri"/>
              <a:cs typeface="Calibri"/>
              <a:sym typeface="Calibri"/>
            </a:endParaRPr>
          </a:p>
        </p:txBody>
      </p:sp>
      <p:sp>
        <p:nvSpPr>
          <p:cNvPr id="302" name="Google Shape;302;p13"/>
          <p:cNvSpPr/>
          <p:nvPr/>
        </p:nvSpPr>
        <p:spPr>
          <a:xfrm>
            <a:off x="0" y="4960620"/>
            <a:ext cx="9144000" cy="18300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3"/>
          <p:cNvSpPr/>
          <p:nvPr/>
        </p:nvSpPr>
        <p:spPr>
          <a:xfrm>
            <a:off x="365760" y="4956048"/>
            <a:ext cx="84126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00"/>
              <a:buFont typeface="Calibri"/>
              <a:buNone/>
            </a:pPr>
            <a:r>
              <a:rPr b="0" i="0" lang="en-US" sz="900" u="none" cap="none" strike="noStrike">
                <a:solidFill>
                  <a:srgbClr val="ECF0F1"/>
                </a:solidFill>
                <a:latin typeface="Calibri"/>
                <a:ea typeface="Calibri"/>
                <a:cs typeface="Calibri"/>
                <a:sym typeface="Calibri"/>
              </a:rPr>
              <a:t>Taming the JVM: Java Optimization on OpenShift</a:t>
            </a:r>
            <a:endParaRPr b="0" i="0" sz="900" u="none" cap="none" strike="noStrike">
              <a:solidFill>
                <a:schemeClr val="dk1"/>
              </a:solidFill>
              <a:latin typeface="Calibri"/>
              <a:ea typeface="Calibri"/>
              <a:cs typeface="Calibri"/>
              <a:sym typeface="Calibri"/>
            </a:endParaRPr>
          </a:p>
        </p:txBody>
      </p:sp>
      <p:sp>
        <p:nvSpPr>
          <p:cNvPr id="304" name="Google Shape;304;p13"/>
          <p:cNvSpPr/>
          <p:nvPr/>
        </p:nvSpPr>
        <p:spPr>
          <a:xfrm>
            <a:off x="365760" y="749808"/>
            <a:ext cx="8229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C"/>
              </a:buClr>
              <a:buSzPts val="1600"/>
              <a:buFont typeface="Calibri"/>
              <a:buNone/>
            </a:pPr>
            <a:r>
              <a:rPr b="1" lang="en-US" sz="1600">
                <a:solidFill>
                  <a:srgbClr val="1A2B3C"/>
                </a:solidFill>
                <a:latin typeface="Calibri"/>
                <a:ea typeface="Calibri"/>
                <a:cs typeface="Calibri"/>
                <a:sym typeface="Calibri"/>
              </a:rPr>
              <a:t>Why CPU-based HPA fails for Java — and what to do instead</a:t>
            </a:r>
            <a:endParaRPr b="0" i="0" sz="1600" u="none" cap="none" strike="noStrike">
              <a:solidFill>
                <a:schemeClr val="dk1"/>
              </a:solidFill>
              <a:latin typeface="Calibri"/>
              <a:ea typeface="Calibri"/>
              <a:cs typeface="Calibri"/>
              <a:sym typeface="Calibri"/>
            </a:endParaRPr>
          </a:p>
        </p:txBody>
      </p:sp>
      <p:pic>
        <p:nvPicPr>
          <p:cNvPr id="305" name="Google Shape;305;p13"/>
          <p:cNvPicPr preferRelativeResize="0"/>
          <p:nvPr/>
        </p:nvPicPr>
        <p:blipFill>
          <a:blip r:embed="rId3">
            <a:alphaModFix/>
          </a:blip>
          <a:stretch>
            <a:fillRect/>
          </a:stretch>
        </p:blipFill>
        <p:spPr>
          <a:xfrm>
            <a:off x="1377513" y="1069900"/>
            <a:ext cx="6478575" cy="3903749"/>
          </a:xfrm>
          <a:prstGeom prst="rect">
            <a:avLst/>
          </a:prstGeom>
          <a:noFill/>
          <a:ln>
            <a:noFill/>
          </a:ln>
        </p:spPr>
      </p:pic>
      <p:sp>
        <p:nvSpPr>
          <p:cNvPr id="306" name="Google Shape;306;p1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311" name="Shape 311"/>
        <p:cNvGrpSpPr/>
        <p:nvPr/>
      </p:nvGrpSpPr>
      <p:grpSpPr>
        <a:xfrm>
          <a:off x="0" y="0"/>
          <a:ext cx="0" cy="0"/>
          <a:chOff x="0" y="0"/>
          <a:chExt cx="0" cy="0"/>
        </a:xfrm>
      </p:grpSpPr>
      <p:sp>
        <p:nvSpPr>
          <p:cNvPr id="312" name="Google Shape;312;p14"/>
          <p:cNvSpPr/>
          <p:nvPr/>
        </p:nvSpPr>
        <p:spPr>
          <a:xfrm>
            <a:off x="0" y="0"/>
            <a:ext cx="9144000" cy="64008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4"/>
          <p:cNvSpPr/>
          <p:nvPr/>
        </p:nvSpPr>
        <p:spPr>
          <a:xfrm>
            <a:off x="365760" y="0"/>
            <a:ext cx="6858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000"/>
              <a:buFont typeface="Calibri"/>
              <a:buNone/>
            </a:pPr>
            <a:r>
              <a:rPr b="1" i="0" lang="en-US" sz="2000" u="none" cap="none" strike="noStrike">
                <a:solidFill>
                  <a:srgbClr val="00BCD4"/>
                </a:solidFill>
                <a:latin typeface="Calibri"/>
                <a:ea typeface="Calibri"/>
                <a:cs typeface="Calibri"/>
                <a:sym typeface="Calibri"/>
              </a:rPr>
              <a:t>Garbage Collector Selection Guide</a:t>
            </a:r>
            <a:endParaRPr b="0" i="0" sz="2000" u="none" cap="none" strike="noStrike">
              <a:solidFill>
                <a:schemeClr val="dk1"/>
              </a:solidFill>
              <a:latin typeface="Calibri"/>
              <a:ea typeface="Calibri"/>
              <a:cs typeface="Calibri"/>
              <a:sym typeface="Calibri"/>
            </a:endParaRPr>
          </a:p>
        </p:txBody>
      </p:sp>
      <p:sp>
        <p:nvSpPr>
          <p:cNvPr id="314" name="Google Shape;314;p14"/>
          <p:cNvSpPr/>
          <p:nvPr/>
        </p:nvSpPr>
        <p:spPr>
          <a:xfrm>
            <a:off x="7315200" y="73152"/>
            <a:ext cx="1645920" cy="502920"/>
          </a:xfrm>
          <a:prstGeom prst="rect">
            <a:avLst/>
          </a:prstGeom>
          <a:solidFill>
            <a:srgbClr val="1E6FC8"/>
          </a:solidFill>
          <a:ln>
            <a:noFill/>
          </a:ln>
        </p:spPr>
        <p:txBody>
          <a:bodyPr anchorCtr="0" anchor="ctr" bIns="0" lIns="0" spcFirstLastPara="1" rIns="76200" wrap="square" tIns="76200">
            <a:noAutofit/>
          </a:bodyPr>
          <a:lstStyle/>
          <a:p>
            <a:pPr indent="0" lvl="0" marL="0" marR="0" rtl="0" algn="r">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Section 03</a:t>
            </a:r>
            <a:endParaRPr b="0" i="0" sz="1000" u="none" cap="none" strike="noStrike">
              <a:solidFill>
                <a:schemeClr val="dk1"/>
              </a:solidFill>
              <a:latin typeface="Calibri"/>
              <a:ea typeface="Calibri"/>
              <a:cs typeface="Calibri"/>
              <a:sym typeface="Calibri"/>
            </a:endParaRPr>
          </a:p>
        </p:txBody>
      </p:sp>
      <p:sp>
        <p:nvSpPr>
          <p:cNvPr id="315" name="Google Shape;315;p14"/>
          <p:cNvSpPr/>
          <p:nvPr/>
        </p:nvSpPr>
        <p:spPr>
          <a:xfrm>
            <a:off x="0" y="4960620"/>
            <a:ext cx="9144000" cy="18288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4"/>
          <p:cNvSpPr/>
          <p:nvPr/>
        </p:nvSpPr>
        <p:spPr>
          <a:xfrm>
            <a:off x="365760" y="4956048"/>
            <a:ext cx="841248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00"/>
              <a:buFont typeface="Calibri"/>
              <a:buNone/>
            </a:pPr>
            <a:r>
              <a:rPr b="0" i="0" lang="en-US" sz="900" u="none" cap="none" strike="noStrike">
                <a:solidFill>
                  <a:srgbClr val="ECF0F1"/>
                </a:solidFill>
                <a:latin typeface="Calibri"/>
                <a:ea typeface="Calibri"/>
                <a:cs typeface="Calibri"/>
                <a:sym typeface="Calibri"/>
              </a:rPr>
              <a:t>Taming the JVM: Java Optimization on OpenShift</a:t>
            </a:r>
            <a:endParaRPr b="0" i="0" sz="900" u="none" cap="none" strike="noStrike">
              <a:solidFill>
                <a:schemeClr val="dk1"/>
              </a:solidFill>
              <a:latin typeface="Calibri"/>
              <a:ea typeface="Calibri"/>
              <a:cs typeface="Calibri"/>
              <a:sym typeface="Calibri"/>
            </a:endParaRPr>
          </a:p>
        </p:txBody>
      </p:sp>
      <p:sp>
        <p:nvSpPr>
          <p:cNvPr id="317" name="Google Shape;317;p14"/>
          <p:cNvSpPr/>
          <p:nvPr/>
        </p:nvSpPr>
        <p:spPr>
          <a:xfrm>
            <a:off x="365760" y="74980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200"/>
              <a:buFont typeface="Calibri"/>
              <a:buNone/>
            </a:pPr>
            <a:r>
              <a:rPr b="0" i="1" lang="en-US" sz="1200" u="none" cap="none" strike="noStrike">
                <a:solidFill>
                  <a:srgbClr val="90A4AE"/>
                </a:solidFill>
                <a:latin typeface="Calibri"/>
                <a:ea typeface="Calibri"/>
                <a:cs typeface="Calibri"/>
                <a:sym typeface="Calibri"/>
              </a:rPr>
              <a:t>Choosing the right GC for container workloads</a:t>
            </a:r>
            <a:endParaRPr b="0" i="0" sz="1200" u="none" cap="none" strike="noStrike">
              <a:solidFill>
                <a:schemeClr val="dk1"/>
              </a:solidFill>
              <a:latin typeface="Calibri"/>
              <a:ea typeface="Calibri"/>
              <a:cs typeface="Calibri"/>
              <a:sym typeface="Calibri"/>
            </a:endParaRPr>
          </a:p>
        </p:txBody>
      </p:sp>
      <p:sp>
        <p:nvSpPr>
          <p:cNvPr id="318" name="Google Shape;318;p14"/>
          <p:cNvSpPr/>
          <p:nvPr/>
        </p:nvSpPr>
        <p:spPr>
          <a:xfrm>
            <a:off x="274320" y="1097280"/>
            <a:ext cx="1280160" cy="384048"/>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4"/>
          <p:cNvSpPr/>
          <p:nvPr/>
        </p:nvSpPr>
        <p:spPr>
          <a:xfrm>
            <a:off x="320040" y="1097280"/>
            <a:ext cx="11887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Collector</a:t>
            </a:r>
            <a:endParaRPr b="0" i="0" sz="1050" u="none" cap="none" strike="noStrike">
              <a:solidFill>
                <a:schemeClr val="dk1"/>
              </a:solidFill>
              <a:latin typeface="Calibri"/>
              <a:ea typeface="Calibri"/>
              <a:cs typeface="Calibri"/>
              <a:sym typeface="Calibri"/>
            </a:endParaRPr>
          </a:p>
        </p:txBody>
      </p:sp>
      <p:sp>
        <p:nvSpPr>
          <p:cNvPr id="320" name="Google Shape;320;p14"/>
          <p:cNvSpPr/>
          <p:nvPr/>
        </p:nvSpPr>
        <p:spPr>
          <a:xfrm>
            <a:off x="1554480" y="1097280"/>
            <a:ext cx="1371600" cy="384048"/>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4"/>
          <p:cNvSpPr/>
          <p:nvPr/>
        </p:nvSpPr>
        <p:spPr>
          <a:xfrm>
            <a:off x="1600200" y="1097280"/>
            <a:ext cx="12801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Pause Model</a:t>
            </a:r>
            <a:endParaRPr b="0" i="0" sz="1050" u="none" cap="none" strike="noStrike">
              <a:solidFill>
                <a:schemeClr val="dk1"/>
              </a:solidFill>
              <a:latin typeface="Calibri"/>
              <a:ea typeface="Calibri"/>
              <a:cs typeface="Calibri"/>
              <a:sym typeface="Calibri"/>
            </a:endParaRPr>
          </a:p>
        </p:txBody>
      </p:sp>
      <p:sp>
        <p:nvSpPr>
          <p:cNvPr id="322" name="Google Shape;322;p14"/>
          <p:cNvSpPr/>
          <p:nvPr/>
        </p:nvSpPr>
        <p:spPr>
          <a:xfrm>
            <a:off x="2926080" y="1097280"/>
            <a:ext cx="1280160" cy="384048"/>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4"/>
          <p:cNvSpPr/>
          <p:nvPr/>
        </p:nvSpPr>
        <p:spPr>
          <a:xfrm>
            <a:off x="2971800" y="1097280"/>
            <a:ext cx="11887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CPU Overhead</a:t>
            </a:r>
            <a:endParaRPr b="0" i="0" sz="1050" u="none" cap="none" strike="noStrike">
              <a:solidFill>
                <a:schemeClr val="dk1"/>
              </a:solidFill>
              <a:latin typeface="Calibri"/>
              <a:ea typeface="Calibri"/>
              <a:cs typeface="Calibri"/>
              <a:sym typeface="Calibri"/>
            </a:endParaRPr>
          </a:p>
        </p:txBody>
      </p:sp>
      <p:sp>
        <p:nvSpPr>
          <p:cNvPr id="324" name="Google Shape;324;p14"/>
          <p:cNvSpPr/>
          <p:nvPr/>
        </p:nvSpPr>
        <p:spPr>
          <a:xfrm>
            <a:off x="4206240" y="1097280"/>
            <a:ext cx="2560320" cy="384048"/>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4"/>
          <p:cNvSpPr/>
          <p:nvPr/>
        </p:nvSpPr>
        <p:spPr>
          <a:xfrm>
            <a:off x="4251960" y="1097280"/>
            <a:ext cx="24688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Best For (Containers)</a:t>
            </a:r>
            <a:endParaRPr b="0" i="0" sz="1050" u="none" cap="none" strike="noStrike">
              <a:solidFill>
                <a:schemeClr val="dk1"/>
              </a:solidFill>
              <a:latin typeface="Calibri"/>
              <a:ea typeface="Calibri"/>
              <a:cs typeface="Calibri"/>
              <a:sym typeface="Calibri"/>
            </a:endParaRPr>
          </a:p>
        </p:txBody>
      </p:sp>
      <p:sp>
        <p:nvSpPr>
          <p:cNvPr id="326" name="Google Shape;326;p14"/>
          <p:cNvSpPr/>
          <p:nvPr/>
        </p:nvSpPr>
        <p:spPr>
          <a:xfrm>
            <a:off x="6766560" y="1097280"/>
            <a:ext cx="2377440" cy="384048"/>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4"/>
          <p:cNvSpPr/>
          <p:nvPr/>
        </p:nvSpPr>
        <p:spPr>
          <a:xfrm>
            <a:off x="6812280" y="1097280"/>
            <a:ext cx="228600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Key Flags</a:t>
            </a:r>
            <a:endParaRPr b="0" i="0" sz="1050" u="none" cap="none" strike="noStrike">
              <a:solidFill>
                <a:schemeClr val="dk1"/>
              </a:solidFill>
              <a:latin typeface="Calibri"/>
              <a:ea typeface="Calibri"/>
              <a:cs typeface="Calibri"/>
              <a:sym typeface="Calibri"/>
            </a:endParaRPr>
          </a:p>
        </p:txBody>
      </p:sp>
      <p:sp>
        <p:nvSpPr>
          <p:cNvPr id="328" name="Google Shape;328;p14"/>
          <p:cNvSpPr/>
          <p:nvPr/>
        </p:nvSpPr>
        <p:spPr>
          <a:xfrm>
            <a:off x="274320" y="1481328"/>
            <a:ext cx="1280160" cy="731520"/>
          </a:xfrm>
          <a:prstGeom prst="rect">
            <a:avLst/>
          </a:prstGeom>
          <a:solidFill>
            <a:srgbClr val="122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4"/>
          <p:cNvSpPr/>
          <p:nvPr/>
        </p:nvSpPr>
        <p:spPr>
          <a:xfrm>
            <a:off x="320040" y="1499616"/>
            <a:ext cx="1188720" cy="6949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BCD4"/>
              </a:buClr>
              <a:buSzPts val="1150"/>
              <a:buFont typeface="Calibri"/>
              <a:buNone/>
            </a:pPr>
            <a:r>
              <a:rPr b="1" i="0" lang="en-US" sz="1150" u="none" cap="none" strike="noStrike">
                <a:solidFill>
                  <a:srgbClr val="00BCD4"/>
                </a:solidFill>
                <a:latin typeface="Calibri"/>
                <a:ea typeface="Calibri"/>
                <a:cs typeface="Calibri"/>
                <a:sym typeface="Calibri"/>
              </a:rPr>
              <a:t>G1GC</a:t>
            </a:r>
            <a:endParaRPr b="0" i="0" sz="1150" u="none" cap="none" strike="noStrike">
              <a:solidFill>
                <a:schemeClr val="dk1"/>
              </a:solidFill>
              <a:latin typeface="Calibri"/>
              <a:ea typeface="Calibri"/>
              <a:cs typeface="Calibri"/>
              <a:sym typeface="Calibri"/>
            </a:endParaRPr>
          </a:p>
        </p:txBody>
      </p:sp>
      <p:sp>
        <p:nvSpPr>
          <p:cNvPr id="330" name="Google Shape;330;p14"/>
          <p:cNvSpPr/>
          <p:nvPr/>
        </p:nvSpPr>
        <p:spPr>
          <a:xfrm>
            <a:off x="1554480" y="1481328"/>
            <a:ext cx="1371600" cy="731520"/>
          </a:xfrm>
          <a:prstGeom prst="rect">
            <a:avLst/>
          </a:prstGeom>
          <a:solidFill>
            <a:srgbClr val="122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4"/>
          <p:cNvSpPr/>
          <p:nvPr/>
        </p:nvSpPr>
        <p:spPr>
          <a:xfrm>
            <a:off x="1600200" y="1499616"/>
            <a:ext cx="1280160" cy="6949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50"/>
              <a:buFont typeface="Calibri"/>
              <a:buNone/>
            </a:pPr>
            <a:r>
              <a:rPr b="0" i="0" lang="en-US" sz="950" u="none" cap="none" strike="noStrike">
                <a:solidFill>
                  <a:srgbClr val="ECF0F1"/>
                </a:solidFill>
                <a:latin typeface="Calibri"/>
                <a:ea typeface="Calibri"/>
                <a:cs typeface="Calibri"/>
                <a:sym typeface="Calibri"/>
              </a:rPr>
              <a:t>Short (50-200ms)</a:t>
            </a:r>
            <a:endParaRPr b="0" i="0" sz="950" u="none" cap="none" strike="noStrike">
              <a:solidFill>
                <a:schemeClr val="dk1"/>
              </a:solidFill>
              <a:latin typeface="Calibri"/>
              <a:ea typeface="Calibri"/>
              <a:cs typeface="Calibri"/>
              <a:sym typeface="Calibri"/>
            </a:endParaRPr>
          </a:p>
        </p:txBody>
      </p:sp>
      <p:sp>
        <p:nvSpPr>
          <p:cNvPr id="332" name="Google Shape;332;p14"/>
          <p:cNvSpPr/>
          <p:nvPr/>
        </p:nvSpPr>
        <p:spPr>
          <a:xfrm>
            <a:off x="2926080" y="1481328"/>
            <a:ext cx="1280160" cy="731520"/>
          </a:xfrm>
          <a:prstGeom prst="rect">
            <a:avLst/>
          </a:prstGeom>
          <a:solidFill>
            <a:srgbClr val="122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4"/>
          <p:cNvSpPr/>
          <p:nvPr/>
        </p:nvSpPr>
        <p:spPr>
          <a:xfrm>
            <a:off x="2971800" y="1499616"/>
            <a:ext cx="1188720" cy="6949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50"/>
              <a:buFont typeface="Calibri"/>
              <a:buNone/>
            </a:pPr>
            <a:r>
              <a:rPr b="0" i="0" lang="en-US" sz="950" u="none" cap="none" strike="noStrike">
                <a:solidFill>
                  <a:srgbClr val="ECF0F1"/>
                </a:solidFill>
                <a:latin typeface="Calibri"/>
                <a:ea typeface="Calibri"/>
                <a:cs typeface="Calibri"/>
                <a:sym typeface="Calibri"/>
              </a:rPr>
              <a:t>Medium</a:t>
            </a:r>
            <a:endParaRPr b="0" i="0" sz="950" u="none" cap="none" strike="noStrike">
              <a:solidFill>
                <a:schemeClr val="dk1"/>
              </a:solidFill>
              <a:latin typeface="Calibri"/>
              <a:ea typeface="Calibri"/>
              <a:cs typeface="Calibri"/>
              <a:sym typeface="Calibri"/>
            </a:endParaRPr>
          </a:p>
        </p:txBody>
      </p:sp>
      <p:sp>
        <p:nvSpPr>
          <p:cNvPr id="334" name="Google Shape;334;p14"/>
          <p:cNvSpPr/>
          <p:nvPr/>
        </p:nvSpPr>
        <p:spPr>
          <a:xfrm>
            <a:off x="4206240" y="1481328"/>
            <a:ext cx="2560320" cy="731520"/>
          </a:xfrm>
          <a:prstGeom prst="rect">
            <a:avLst/>
          </a:prstGeom>
          <a:solidFill>
            <a:srgbClr val="122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4"/>
          <p:cNvSpPr/>
          <p:nvPr/>
        </p:nvSpPr>
        <p:spPr>
          <a:xfrm>
            <a:off x="4251960" y="1499616"/>
            <a:ext cx="2468880" cy="6949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50"/>
              <a:buFont typeface="Calibri"/>
              <a:buNone/>
            </a:pPr>
            <a:r>
              <a:rPr b="0" i="0" lang="en-US" sz="950" u="none" cap="none" strike="noStrike">
                <a:solidFill>
                  <a:srgbClr val="ECF0F1"/>
                </a:solidFill>
                <a:latin typeface="Calibri"/>
                <a:ea typeface="Calibri"/>
                <a:cs typeface="Calibri"/>
                <a:sym typeface="Calibri"/>
              </a:rPr>
              <a:t>General-purpose, mixed heap; microservices with modest latency SLOs</a:t>
            </a:r>
            <a:endParaRPr b="0" i="0" sz="950" u="none" cap="none" strike="noStrike">
              <a:solidFill>
                <a:schemeClr val="dk1"/>
              </a:solidFill>
              <a:latin typeface="Calibri"/>
              <a:ea typeface="Calibri"/>
              <a:cs typeface="Calibri"/>
              <a:sym typeface="Calibri"/>
            </a:endParaRPr>
          </a:p>
        </p:txBody>
      </p:sp>
      <p:sp>
        <p:nvSpPr>
          <p:cNvPr id="336" name="Google Shape;336;p14"/>
          <p:cNvSpPr/>
          <p:nvPr/>
        </p:nvSpPr>
        <p:spPr>
          <a:xfrm>
            <a:off x="6766560" y="1481328"/>
            <a:ext cx="2377440" cy="731520"/>
          </a:xfrm>
          <a:prstGeom prst="rect">
            <a:avLst/>
          </a:prstGeom>
          <a:solidFill>
            <a:srgbClr val="122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4"/>
          <p:cNvSpPr/>
          <p:nvPr/>
        </p:nvSpPr>
        <p:spPr>
          <a:xfrm>
            <a:off x="6812280" y="1499616"/>
            <a:ext cx="2286000" cy="6949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950"/>
              <a:buFont typeface="Courier New"/>
              <a:buNone/>
            </a:pPr>
            <a:r>
              <a:rPr b="0" i="0" lang="en-US" sz="950" u="none" cap="none" strike="noStrike">
                <a:solidFill>
                  <a:srgbClr val="ECF0F1"/>
                </a:solidFill>
                <a:latin typeface="Courier New"/>
                <a:ea typeface="Courier New"/>
                <a:cs typeface="Courier New"/>
                <a:sym typeface="Courier New"/>
              </a:rPr>
              <a:t>-XX:+UseG1GC</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950"/>
              <a:buFont typeface="Courier New"/>
              <a:buNone/>
            </a:pPr>
            <a:r>
              <a:rPr b="0" i="0" lang="en-US" sz="950" u="none" cap="none" strike="noStrike">
                <a:solidFill>
                  <a:srgbClr val="ECF0F1"/>
                </a:solidFill>
                <a:latin typeface="Courier New"/>
                <a:ea typeface="Courier New"/>
                <a:cs typeface="Courier New"/>
                <a:sym typeface="Courier New"/>
              </a:rPr>
              <a:t>-XX:MaxGCPauseMillis=200</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950"/>
              <a:buFont typeface="Courier New"/>
              <a:buNone/>
            </a:pPr>
            <a:r>
              <a:rPr b="0" i="0" lang="en-US" sz="950" u="none" cap="none" strike="noStrike">
                <a:solidFill>
                  <a:srgbClr val="ECF0F1"/>
                </a:solidFill>
                <a:latin typeface="Courier New"/>
                <a:ea typeface="Courier New"/>
                <a:cs typeface="Courier New"/>
                <a:sym typeface="Courier New"/>
              </a:rPr>
              <a:t>-XX:G1HeapRegionSize=16m</a:t>
            </a:r>
            <a:endParaRPr b="0" i="0" sz="950" u="none" cap="none" strike="noStrike">
              <a:solidFill>
                <a:schemeClr val="dk1"/>
              </a:solidFill>
              <a:latin typeface="Calibri"/>
              <a:ea typeface="Calibri"/>
              <a:cs typeface="Calibri"/>
              <a:sym typeface="Calibri"/>
            </a:endParaRPr>
          </a:p>
        </p:txBody>
      </p:sp>
      <p:sp>
        <p:nvSpPr>
          <p:cNvPr id="338" name="Google Shape;338;p14"/>
          <p:cNvSpPr/>
          <p:nvPr/>
        </p:nvSpPr>
        <p:spPr>
          <a:xfrm>
            <a:off x="274320" y="2240280"/>
            <a:ext cx="1280160" cy="731520"/>
          </a:xfrm>
          <a:prstGeom prst="rect">
            <a:avLst/>
          </a:prstGeom>
          <a:solidFill>
            <a:srgbClr val="0D28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4"/>
          <p:cNvSpPr/>
          <p:nvPr/>
        </p:nvSpPr>
        <p:spPr>
          <a:xfrm>
            <a:off x="320040" y="2258568"/>
            <a:ext cx="1188720" cy="6949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BCD4"/>
              </a:buClr>
              <a:buSzPts val="1150"/>
              <a:buFont typeface="Calibri"/>
              <a:buNone/>
            </a:pPr>
            <a:r>
              <a:rPr b="1" i="0" lang="en-US" sz="1150" u="none" cap="none" strike="noStrike">
                <a:solidFill>
                  <a:srgbClr val="00BCD4"/>
                </a:solidFill>
                <a:latin typeface="Calibri"/>
                <a:ea typeface="Calibri"/>
                <a:cs typeface="Calibri"/>
                <a:sym typeface="Calibri"/>
              </a:rPr>
              <a:t>ZGC (Gen)</a:t>
            </a:r>
            <a:endParaRPr b="0" i="0" sz="1150" u="none" cap="none" strike="noStrike">
              <a:solidFill>
                <a:schemeClr val="dk1"/>
              </a:solidFill>
              <a:latin typeface="Calibri"/>
              <a:ea typeface="Calibri"/>
              <a:cs typeface="Calibri"/>
              <a:sym typeface="Calibri"/>
            </a:endParaRPr>
          </a:p>
        </p:txBody>
      </p:sp>
      <p:sp>
        <p:nvSpPr>
          <p:cNvPr id="340" name="Google Shape;340;p14"/>
          <p:cNvSpPr/>
          <p:nvPr/>
        </p:nvSpPr>
        <p:spPr>
          <a:xfrm>
            <a:off x="1554480" y="2240280"/>
            <a:ext cx="1371600" cy="731520"/>
          </a:xfrm>
          <a:prstGeom prst="rect">
            <a:avLst/>
          </a:prstGeom>
          <a:solidFill>
            <a:srgbClr val="0D28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4"/>
          <p:cNvSpPr/>
          <p:nvPr/>
        </p:nvSpPr>
        <p:spPr>
          <a:xfrm>
            <a:off x="1600200" y="2258568"/>
            <a:ext cx="1280160" cy="6949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50"/>
              <a:buFont typeface="Calibri"/>
              <a:buNone/>
            </a:pPr>
            <a:r>
              <a:rPr b="0" i="0" lang="en-US" sz="950" u="none" cap="none" strike="noStrike">
                <a:solidFill>
                  <a:srgbClr val="ECF0F1"/>
                </a:solidFill>
                <a:latin typeface="Calibri"/>
                <a:ea typeface="Calibri"/>
                <a:cs typeface="Calibri"/>
                <a:sym typeface="Calibri"/>
              </a:rPr>
              <a:t>Sub-millisecond</a:t>
            </a:r>
            <a:endParaRPr b="0" i="0" sz="950" u="none" cap="none" strike="noStrike">
              <a:solidFill>
                <a:schemeClr val="dk1"/>
              </a:solidFill>
              <a:latin typeface="Calibri"/>
              <a:ea typeface="Calibri"/>
              <a:cs typeface="Calibri"/>
              <a:sym typeface="Calibri"/>
            </a:endParaRPr>
          </a:p>
        </p:txBody>
      </p:sp>
      <p:sp>
        <p:nvSpPr>
          <p:cNvPr id="342" name="Google Shape;342;p14"/>
          <p:cNvSpPr/>
          <p:nvPr/>
        </p:nvSpPr>
        <p:spPr>
          <a:xfrm>
            <a:off x="2926080" y="2240280"/>
            <a:ext cx="1280160" cy="731520"/>
          </a:xfrm>
          <a:prstGeom prst="rect">
            <a:avLst/>
          </a:prstGeom>
          <a:solidFill>
            <a:srgbClr val="0D28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4"/>
          <p:cNvSpPr/>
          <p:nvPr/>
        </p:nvSpPr>
        <p:spPr>
          <a:xfrm>
            <a:off x="2971800" y="2258568"/>
            <a:ext cx="1188720" cy="6949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50"/>
              <a:buFont typeface="Calibri"/>
              <a:buNone/>
            </a:pPr>
            <a:r>
              <a:rPr b="0" i="0" lang="en-US" sz="950" u="none" cap="none" strike="noStrike">
                <a:solidFill>
                  <a:srgbClr val="ECF0F1"/>
                </a:solidFill>
                <a:latin typeface="Calibri"/>
                <a:ea typeface="Calibri"/>
                <a:cs typeface="Calibri"/>
                <a:sym typeface="Calibri"/>
              </a:rPr>
              <a:t>Higher</a:t>
            </a:r>
            <a:endParaRPr b="0" i="0" sz="950" u="none" cap="none" strike="noStrike">
              <a:solidFill>
                <a:schemeClr val="dk1"/>
              </a:solidFill>
              <a:latin typeface="Calibri"/>
              <a:ea typeface="Calibri"/>
              <a:cs typeface="Calibri"/>
              <a:sym typeface="Calibri"/>
            </a:endParaRPr>
          </a:p>
        </p:txBody>
      </p:sp>
      <p:sp>
        <p:nvSpPr>
          <p:cNvPr id="344" name="Google Shape;344;p14"/>
          <p:cNvSpPr/>
          <p:nvPr/>
        </p:nvSpPr>
        <p:spPr>
          <a:xfrm>
            <a:off x="4206240" y="2240280"/>
            <a:ext cx="2560320" cy="731520"/>
          </a:xfrm>
          <a:prstGeom prst="rect">
            <a:avLst/>
          </a:prstGeom>
          <a:solidFill>
            <a:srgbClr val="0D28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4"/>
          <p:cNvSpPr/>
          <p:nvPr/>
        </p:nvSpPr>
        <p:spPr>
          <a:xfrm>
            <a:off x="4251960" y="2258568"/>
            <a:ext cx="2468880" cy="6949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50"/>
              <a:buFont typeface="Calibri"/>
              <a:buNone/>
            </a:pPr>
            <a:r>
              <a:rPr b="0" i="0" lang="en-US" sz="950" u="none" cap="none" strike="noStrike">
                <a:solidFill>
                  <a:srgbClr val="ECF0F1"/>
                </a:solidFill>
                <a:latin typeface="Calibri"/>
                <a:ea typeface="Calibri"/>
                <a:cs typeface="Calibri"/>
                <a:sym typeface="Calibri"/>
              </a:rPr>
              <a:t>Low-latency APIs; Generational ZGC is the only mode since JDK 24 (default since 23), preferred — any heap size</a:t>
            </a:r>
            <a:endParaRPr b="0" i="0" sz="950" u="none" cap="none" strike="noStrike">
              <a:solidFill>
                <a:schemeClr val="dk1"/>
              </a:solidFill>
              <a:latin typeface="Calibri"/>
              <a:ea typeface="Calibri"/>
              <a:cs typeface="Calibri"/>
              <a:sym typeface="Calibri"/>
            </a:endParaRPr>
          </a:p>
        </p:txBody>
      </p:sp>
      <p:sp>
        <p:nvSpPr>
          <p:cNvPr id="346" name="Google Shape;346;p14"/>
          <p:cNvSpPr/>
          <p:nvPr/>
        </p:nvSpPr>
        <p:spPr>
          <a:xfrm>
            <a:off x="6766560" y="2240280"/>
            <a:ext cx="2377440" cy="731520"/>
          </a:xfrm>
          <a:prstGeom prst="rect">
            <a:avLst/>
          </a:prstGeom>
          <a:solidFill>
            <a:srgbClr val="0D28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4"/>
          <p:cNvSpPr/>
          <p:nvPr/>
        </p:nvSpPr>
        <p:spPr>
          <a:xfrm>
            <a:off x="6812280" y="2258568"/>
            <a:ext cx="2286000" cy="6949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950"/>
              <a:buFont typeface="Courier New"/>
              <a:buNone/>
            </a:pPr>
            <a:r>
              <a:rPr b="0" i="0" lang="en-US" sz="950" u="none" cap="none" strike="noStrike">
                <a:solidFill>
                  <a:srgbClr val="ECF0F1"/>
                </a:solidFill>
                <a:latin typeface="Courier New"/>
                <a:ea typeface="Courier New"/>
                <a:cs typeface="Courier New"/>
                <a:sym typeface="Courier New"/>
              </a:rPr>
              <a:t>-XX:+UseZGC</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950"/>
              <a:buFont typeface="Courier New"/>
              <a:buNone/>
            </a:pPr>
            <a:r>
              <a:rPr b="0" i="0" lang="en-US" sz="950" u="none" cap="none" strike="noStrike">
                <a:solidFill>
                  <a:srgbClr val="ECF0F1"/>
                </a:solidFill>
                <a:latin typeface="Courier New"/>
                <a:ea typeface="Courier New"/>
                <a:cs typeface="Courier New"/>
                <a:sym typeface="Courier New"/>
              </a:rPr>
              <a:t># generational: only mode since JDK 24</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950"/>
              <a:buFont typeface="Courier New"/>
              <a:buNone/>
            </a:pPr>
            <a:r>
              <a:rPr b="0" i="0" lang="en-US" sz="950" u="none" cap="none" strike="noStrike">
                <a:solidFill>
                  <a:srgbClr val="ECF0F1"/>
                </a:solidFill>
                <a:latin typeface="Courier New"/>
                <a:ea typeface="Courier New"/>
                <a:cs typeface="Courier New"/>
                <a:sym typeface="Courier New"/>
              </a:rPr>
              <a:t>-XX:SoftMaxHeapSize=Xg</a:t>
            </a:r>
            <a:endParaRPr b="0" i="0" sz="950" u="none" cap="none" strike="noStrike">
              <a:solidFill>
                <a:schemeClr val="dk1"/>
              </a:solidFill>
              <a:latin typeface="Calibri"/>
              <a:ea typeface="Calibri"/>
              <a:cs typeface="Calibri"/>
              <a:sym typeface="Calibri"/>
            </a:endParaRPr>
          </a:p>
        </p:txBody>
      </p:sp>
      <p:sp>
        <p:nvSpPr>
          <p:cNvPr id="348" name="Google Shape;348;p14"/>
          <p:cNvSpPr/>
          <p:nvPr/>
        </p:nvSpPr>
        <p:spPr>
          <a:xfrm>
            <a:off x="274320" y="2999232"/>
            <a:ext cx="1280160" cy="731520"/>
          </a:xfrm>
          <a:prstGeom prst="rect">
            <a:avLst/>
          </a:prstGeom>
          <a:solidFill>
            <a:srgbClr val="122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4"/>
          <p:cNvSpPr/>
          <p:nvPr/>
        </p:nvSpPr>
        <p:spPr>
          <a:xfrm>
            <a:off x="320040" y="3017520"/>
            <a:ext cx="1188720" cy="6949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BCD4"/>
              </a:buClr>
              <a:buSzPts val="1150"/>
              <a:buFont typeface="Calibri"/>
              <a:buNone/>
            </a:pPr>
            <a:r>
              <a:rPr b="1" i="0" lang="en-US" sz="1150" u="none" cap="none" strike="noStrike">
                <a:solidFill>
                  <a:srgbClr val="00BCD4"/>
                </a:solidFill>
                <a:latin typeface="Calibri"/>
                <a:ea typeface="Calibri"/>
                <a:cs typeface="Calibri"/>
                <a:sym typeface="Calibri"/>
              </a:rPr>
              <a:t>Shenandoah</a:t>
            </a:r>
            <a:endParaRPr b="0" i="0" sz="1150" u="none" cap="none" strike="noStrike">
              <a:solidFill>
                <a:schemeClr val="dk1"/>
              </a:solidFill>
              <a:latin typeface="Calibri"/>
              <a:ea typeface="Calibri"/>
              <a:cs typeface="Calibri"/>
              <a:sym typeface="Calibri"/>
            </a:endParaRPr>
          </a:p>
        </p:txBody>
      </p:sp>
      <p:sp>
        <p:nvSpPr>
          <p:cNvPr id="350" name="Google Shape;350;p14"/>
          <p:cNvSpPr/>
          <p:nvPr/>
        </p:nvSpPr>
        <p:spPr>
          <a:xfrm>
            <a:off x="1554480" y="2999232"/>
            <a:ext cx="1371600" cy="731520"/>
          </a:xfrm>
          <a:prstGeom prst="rect">
            <a:avLst/>
          </a:prstGeom>
          <a:solidFill>
            <a:srgbClr val="122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4"/>
          <p:cNvSpPr/>
          <p:nvPr/>
        </p:nvSpPr>
        <p:spPr>
          <a:xfrm>
            <a:off x="1600200" y="3017520"/>
            <a:ext cx="1280160" cy="6949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50"/>
              <a:buFont typeface="Calibri"/>
              <a:buNone/>
            </a:pPr>
            <a:r>
              <a:rPr b="0" i="0" lang="en-US" sz="950" u="none" cap="none" strike="noStrike">
                <a:solidFill>
                  <a:srgbClr val="ECF0F1"/>
                </a:solidFill>
                <a:latin typeface="Calibri"/>
                <a:ea typeface="Calibri"/>
                <a:cs typeface="Calibri"/>
                <a:sym typeface="Calibri"/>
              </a:rPr>
              <a:t>1 – 20 ms</a:t>
            </a:r>
            <a:endParaRPr b="0" i="0" sz="950" u="none" cap="none" strike="noStrike">
              <a:solidFill>
                <a:schemeClr val="dk1"/>
              </a:solidFill>
              <a:latin typeface="Calibri"/>
              <a:ea typeface="Calibri"/>
              <a:cs typeface="Calibri"/>
              <a:sym typeface="Calibri"/>
            </a:endParaRPr>
          </a:p>
        </p:txBody>
      </p:sp>
      <p:sp>
        <p:nvSpPr>
          <p:cNvPr id="352" name="Google Shape;352;p14"/>
          <p:cNvSpPr/>
          <p:nvPr/>
        </p:nvSpPr>
        <p:spPr>
          <a:xfrm>
            <a:off x="2926080" y="2999232"/>
            <a:ext cx="1280160" cy="731520"/>
          </a:xfrm>
          <a:prstGeom prst="rect">
            <a:avLst/>
          </a:prstGeom>
          <a:solidFill>
            <a:srgbClr val="122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4"/>
          <p:cNvSpPr/>
          <p:nvPr/>
        </p:nvSpPr>
        <p:spPr>
          <a:xfrm>
            <a:off x="2971800" y="3017520"/>
            <a:ext cx="1188720" cy="6949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50"/>
              <a:buFont typeface="Calibri"/>
              <a:buNone/>
            </a:pPr>
            <a:r>
              <a:rPr b="0" i="0" lang="en-US" sz="950" u="none" cap="none" strike="noStrike">
                <a:solidFill>
                  <a:srgbClr val="ECF0F1"/>
                </a:solidFill>
                <a:latin typeface="Calibri"/>
                <a:ea typeface="Calibri"/>
                <a:cs typeface="Calibri"/>
                <a:sym typeface="Calibri"/>
              </a:rPr>
              <a:t>Higher</a:t>
            </a:r>
            <a:endParaRPr b="0" i="0" sz="950" u="none" cap="none" strike="noStrike">
              <a:solidFill>
                <a:schemeClr val="dk1"/>
              </a:solidFill>
              <a:latin typeface="Calibri"/>
              <a:ea typeface="Calibri"/>
              <a:cs typeface="Calibri"/>
              <a:sym typeface="Calibri"/>
            </a:endParaRPr>
          </a:p>
        </p:txBody>
      </p:sp>
      <p:sp>
        <p:nvSpPr>
          <p:cNvPr id="354" name="Google Shape;354;p14"/>
          <p:cNvSpPr/>
          <p:nvPr/>
        </p:nvSpPr>
        <p:spPr>
          <a:xfrm>
            <a:off x="4206240" y="2999232"/>
            <a:ext cx="2560320" cy="731520"/>
          </a:xfrm>
          <a:prstGeom prst="rect">
            <a:avLst/>
          </a:prstGeom>
          <a:solidFill>
            <a:srgbClr val="122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4"/>
          <p:cNvSpPr/>
          <p:nvPr/>
        </p:nvSpPr>
        <p:spPr>
          <a:xfrm>
            <a:off x="4251960" y="3017520"/>
            <a:ext cx="2468880" cy="6949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50"/>
              <a:buFont typeface="Calibri"/>
              <a:buNone/>
            </a:pPr>
            <a:r>
              <a:rPr b="0" i="0" lang="en-US" sz="950" u="none" cap="none" strike="noStrike">
                <a:solidFill>
                  <a:srgbClr val="ECF0F1"/>
                </a:solidFill>
                <a:latin typeface="Calibri"/>
                <a:ea typeface="Calibri"/>
                <a:cs typeface="Calibri"/>
                <a:sym typeface="Calibri"/>
              </a:rPr>
              <a:t>Alternative to ZGC, Red Hat build default (G1 is upstream default); excellent for all heap sizes</a:t>
            </a:r>
            <a:endParaRPr b="0" i="0" sz="950" u="none" cap="none" strike="noStrike">
              <a:solidFill>
                <a:schemeClr val="dk1"/>
              </a:solidFill>
              <a:latin typeface="Calibri"/>
              <a:ea typeface="Calibri"/>
              <a:cs typeface="Calibri"/>
              <a:sym typeface="Calibri"/>
            </a:endParaRPr>
          </a:p>
        </p:txBody>
      </p:sp>
      <p:sp>
        <p:nvSpPr>
          <p:cNvPr id="356" name="Google Shape;356;p14"/>
          <p:cNvSpPr/>
          <p:nvPr/>
        </p:nvSpPr>
        <p:spPr>
          <a:xfrm>
            <a:off x="6766560" y="2999232"/>
            <a:ext cx="2377440" cy="731520"/>
          </a:xfrm>
          <a:prstGeom prst="rect">
            <a:avLst/>
          </a:prstGeom>
          <a:solidFill>
            <a:srgbClr val="122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4"/>
          <p:cNvSpPr/>
          <p:nvPr/>
        </p:nvSpPr>
        <p:spPr>
          <a:xfrm>
            <a:off x="6812280" y="3017520"/>
            <a:ext cx="2286000" cy="6949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950"/>
              <a:buFont typeface="Courier New"/>
              <a:buNone/>
            </a:pPr>
            <a:r>
              <a:rPr b="0" i="0" lang="en-US" sz="950" u="none" cap="none" strike="noStrike">
                <a:solidFill>
                  <a:srgbClr val="ECF0F1"/>
                </a:solidFill>
                <a:latin typeface="Courier New"/>
                <a:ea typeface="Courier New"/>
                <a:cs typeface="Courier New"/>
                <a:sym typeface="Courier New"/>
              </a:rPr>
              <a:t>-XX:+UseShenandoahGC</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950"/>
              <a:buFont typeface="Courier New"/>
              <a:buNone/>
            </a:pPr>
            <a:r>
              <a:rPr b="0" i="0" lang="en-US" sz="950" u="none" cap="none" strike="noStrike">
                <a:solidFill>
                  <a:srgbClr val="ECF0F1"/>
                </a:solidFill>
                <a:latin typeface="Courier New"/>
                <a:ea typeface="Courier New"/>
                <a:cs typeface="Courier New"/>
                <a:sym typeface="Courier New"/>
              </a:rPr>
              <a:t>-XX:ShenandoahGCMode=</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950"/>
              <a:buFont typeface="Courier New"/>
              <a:buNone/>
            </a:pPr>
            <a:r>
              <a:rPr b="0" i="0" lang="en-US" sz="950" u="none" cap="none" strike="noStrike">
                <a:solidFill>
                  <a:srgbClr val="ECF0F1"/>
                </a:solidFill>
                <a:latin typeface="Courier New"/>
                <a:ea typeface="Courier New"/>
                <a:cs typeface="Courier New"/>
                <a:sym typeface="Courier New"/>
              </a:rPr>
              <a:t>  adaptive</a:t>
            </a:r>
            <a:endParaRPr b="0" i="0" sz="950" u="none" cap="none" strike="noStrike">
              <a:solidFill>
                <a:schemeClr val="dk1"/>
              </a:solidFill>
              <a:latin typeface="Calibri"/>
              <a:ea typeface="Calibri"/>
              <a:cs typeface="Calibri"/>
              <a:sym typeface="Calibri"/>
            </a:endParaRPr>
          </a:p>
        </p:txBody>
      </p:sp>
      <p:sp>
        <p:nvSpPr>
          <p:cNvPr id="358" name="Google Shape;358;p14"/>
          <p:cNvSpPr/>
          <p:nvPr/>
        </p:nvSpPr>
        <p:spPr>
          <a:xfrm>
            <a:off x="274320" y="3758184"/>
            <a:ext cx="1280160" cy="731520"/>
          </a:xfrm>
          <a:prstGeom prst="rect">
            <a:avLst/>
          </a:prstGeom>
          <a:solidFill>
            <a:srgbClr val="0D28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4"/>
          <p:cNvSpPr/>
          <p:nvPr/>
        </p:nvSpPr>
        <p:spPr>
          <a:xfrm>
            <a:off x="320040" y="3776472"/>
            <a:ext cx="1188720" cy="6949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BCD4"/>
              </a:buClr>
              <a:buSzPts val="1150"/>
              <a:buFont typeface="Calibri"/>
              <a:buNone/>
            </a:pPr>
            <a:r>
              <a:rPr b="1" i="0" lang="en-US" sz="1150" u="none" cap="none" strike="noStrike">
                <a:solidFill>
                  <a:srgbClr val="00BCD4"/>
                </a:solidFill>
                <a:latin typeface="Calibri"/>
                <a:ea typeface="Calibri"/>
                <a:cs typeface="Calibri"/>
                <a:sym typeface="Calibri"/>
              </a:rPr>
              <a:t>Serial GC</a:t>
            </a:r>
            <a:endParaRPr b="0" i="0" sz="1150" u="none" cap="none" strike="noStrike">
              <a:solidFill>
                <a:schemeClr val="dk1"/>
              </a:solidFill>
              <a:latin typeface="Calibri"/>
              <a:ea typeface="Calibri"/>
              <a:cs typeface="Calibri"/>
              <a:sym typeface="Calibri"/>
            </a:endParaRPr>
          </a:p>
        </p:txBody>
      </p:sp>
      <p:sp>
        <p:nvSpPr>
          <p:cNvPr id="360" name="Google Shape;360;p14"/>
          <p:cNvSpPr/>
          <p:nvPr/>
        </p:nvSpPr>
        <p:spPr>
          <a:xfrm>
            <a:off x="1554480" y="3758184"/>
            <a:ext cx="1371600" cy="731520"/>
          </a:xfrm>
          <a:prstGeom prst="rect">
            <a:avLst/>
          </a:prstGeom>
          <a:solidFill>
            <a:srgbClr val="0D28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4"/>
          <p:cNvSpPr/>
          <p:nvPr/>
        </p:nvSpPr>
        <p:spPr>
          <a:xfrm>
            <a:off x="1600200" y="3776472"/>
            <a:ext cx="1280160" cy="6949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50"/>
              <a:buFont typeface="Calibri"/>
              <a:buNone/>
            </a:pPr>
            <a:r>
              <a:rPr b="0" i="0" lang="en-US" sz="950" u="none" cap="none" strike="noStrike">
                <a:solidFill>
                  <a:srgbClr val="ECF0F1"/>
                </a:solidFill>
                <a:latin typeface="Calibri"/>
                <a:ea typeface="Calibri"/>
                <a:cs typeface="Calibri"/>
                <a:sym typeface="Calibri"/>
              </a:rPr>
              <a:t>Stop-the-world</a:t>
            </a:r>
            <a:endParaRPr b="0" i="0" sz="950" u="none" cap="none" strike="noStrike">
              <a:solidFill>
                <a:schemeClr val="dk1"/>
              </a:solidFill>
              <a:latin typeface="Calibri"/>
              <a:ea typeface="Calibri"/>
              <a:cs typeface="Calibri"/>
              <a:sym typeface="Calibri"/>
            </a:endParaRPr>
          </a:p>
        </p:txBody>
      </p:sp>
      <p:sp>
        <p:nvSpPr>
          <p:cNvPr id="362" name="Google Shape;362;p14"/>
          <p:cNvSpPr/>
          <p:nvPr/>
        </p:nvSpPr>
        <p:spPr>
          <a:xfrm>
            <a:off x="2926080" y="3758184"/>
            <a:ext cx="1280160" cy="731520"/>
          </a:xfrm>
          <a:prstGeom prst="rect">
            <a:avLst/>
          </a:prstGeom>
          <a:solidFill>
            <a:srgbClr val="0D28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4"/>
          <p:cNvSpPr/>
          <p:nvPr/>
        </p:nvSpPr>
        <p:spPr>
          <a:xfrm>
            <a:off x="2971800" y="3776472"/>
            <a:ext cx="1188720" cy="6949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50"/>
              <a:buFont typeface="Calibri"/>
              <a:buNone/>
            </a:pPr>
            <a:r>
              <a:rPr b="0" i="0" lang="en-US" sz="950" u="none" cap="none" strike="noStrike">
                <a:solidFill>
                  <a:srgbClr val="ECF0F1"/>
                </a:solidFill>
                <a:latin typeface="Calibri"/>
                <a:ea typeface="Calibri"/>
                <a:cs typeface="Calibri"/>
                <a:sym typeface="Calibri"/>
              </a:rPr>
              <a:t>Lowest</a:t>
            </a:r>
            <a:endParaRPr b="0" i="0" sz="950" u="none" cap="none" strike="noStrike">
              <a:solidFill>
                <a:schemeClr val="dk1"/>
              </a:solidFill>
              <a:latin typeface="Calibri"/>
              <a:ea typeface="Calibri"/>
              <a:cs typeface="Calibri"/>
              <a:sym typeface="Calibri"/>
            </a:endParaRPr>
          </a:p>
        </p:txBody>
      </p:sp>
      <p:sp>
        <p:nvSpPr>
          <p:cNvPr id="364" name="Google Shape;364;p14"/>
          <p:cNvSpPr/>
          <p:nvPr/>
        </p:nvSpPr>
        <p:spPr>
          <a:xfrm>
            <a:off x="4206240" y="3758184"/>
            <a:ext cx="2560320" cy="731520"/>
          </a:xfrm>
          <a:prstGeom prst="rect">
            <a:avLst/>
          </a:prstGeom>
          <a:solidFill>
            <a:srgbClr val="0D28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4"/>
          <p:cNvSpPr/>
          <p:nvPr/>
        </p:nvSpPr>
        <p:spPr>
          <a:xfrm>
            <a:off x="4251960" y="3776472"/>
            <a:ext cx="2468880" cy="6949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50"/>
              <a:buFont typeface="Calibri"/>
              <a:buNone/>
            </a:pPr>
            <a:r>
              <a:rPr b="0" i="0" lang="en-US" sz="950" u="none" cap="none" strike="noStrike">
                <a:solidFill>
                  <a:srgbClr val="ECF0F1"/>
                </a:solidFill>
                <a:latin typeface="Calibri"/>
                <a:ea typeface="Calibri"/>
                <a:cs typeface="Calibri"/>
                <a:sym typeface="Calibri"/>
              </a:rPr>
              <a:t>CLI tools, batch jobs, very small heaps (&lt;256MB); avoid for microservices</a:t>
            </a:r>
            <a:endParaRPr b="0" i="0" sz="950" u="none" cap="none" strike="noStrike">
              <a:solidFill>
                <a:schemeClr val="dk1"/>
              </a:solidFill>
              <a:latin typeface="Calibri"/>
              <a:ea typeface="Calibri"/>
              <a:cs typeface="Calibri"/>
              <a:sym typeface="Calibri"/>
            </a:endParaRPr>
          </a:p>
        </p:txBody>
      </p:sp>
      <p:sp>
        <p:nvSpPr>
          <p:cNvPr id="366" name="Google Shape;366;p14"/>
          <p:cNvSpPr/>
          <p:nvPr/>
        </p:nvSpPr>
        <p:spPr>
          <a:xfrm>
            <a:off x="6766560" y="3758184"/>
            <a:ext cx="2377440" cy="731520"/>
          </a:xfrm>
          <a:prstGeom prst="rect">
            <a:avLst/>
          </a:prstGeom>
          <a:solidFill>
            <a:srgbClr val="0D28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4"/>
          <p:cNvSpPr/>
          <p:nvPr/>
        </p:nvSpPr>
        <p:spPr>
          <a:xfrm>
            <a:off x="6812280" y="3776472"/>
            <a:ext cx="2286000" cy="6949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950"/>
              <a:buFont typeface="Courier New"/>
              <a:buNone/>
            </a:pPr>
            <a:r>
              <a:rPr b="0" i="0" lang="en-US" sz="950" u="none" cap="none" strike="noStrike">
                <a:solidFill>
                  <a:srgbClr val="ECF0F1"/>
                </a:solidFill>
                <a:latin typeface="Courier New"/>
                <a:ea typeface="Courier New"/>
                <a:cs typeface="Courier New"/>
                <a:sym typeface="Courier New"/>
              </a:rPr>
              <a:t>-XX:+UseSerialGC</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950"/>
              <a:buFont typeface="Courier New"/>
              <a:buNone/>
            </a:pPr>
            <a:r>
              <a:rPr b="0" i="0" lang="en-US" sz="950" u="none" cap="none" strike="noStrike">
                <a:solidFill>
                  <a:srgbClr val="ECF0F1"/>
                </a:solidFill>
                <a:latin typeface="Courier New"/>
                <a:ea typeface="Courier New"/>
                <a:cs typeface="Courier New"/>
                <a:sym typeface="Courier New"/>
              </a:rPr>
              <a:t>(only for batch / small</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950"/>
              <a:buFont typeface="Courier New"/>
              <a:buNone/>
            </a:pPr>
            <a:r>
              <a:rPr b="0" i="0" lang="en-US" sz="950" u="none" cap="none" strike="noStrike">
                <a:solidFill>
                  <a:srgbClr val="ECF0F1"/>
                </a:solidFill>
                <a:latin typeface="Courier New"/>
                <a:ea typeface="Courier New"/>
                <a:cs typeface="Courier New"/>
                <a:sym typeface="Courier New"/>
              </a:rPr>
              <a:t>containers)</a:t>
            </a:r>
            <a:endParaRPr b="0" i="0" sz="950" u="none" cap="none" strike="noStrike">
              <a:solidFill>
                <a:schemeClr val="dk1"/>
              </a:solidFill>
              <a:latin typeface="Calibri"/>
              <a:ea typeface="Calibri"/>
              <a:cs typeface="Calibri"/>
              <a:sym typeface="Calibri"/>
            </a:endParaRPr>
          </a:p>
        </p:txBody>
      </p:sp>
      <p:sp>
        <p:nvSpPr>
          <p:cNvPr id="368" name="Google Shape;368;p14"/>
          <p:cNvSpPr/>
          <p:nvPr/>
        </p:nvSpPr>
        <p:spPr>
          <a:xfrm>
            <a:off x="320040" y="4645152"/>
            <a:ext cx="8503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A623"/>
              </a:buClr>
              <a:buSzPts val="1000"/>
              <a:buFont typeface="Calibri"/>
              <a:buNone/>
            </a:pPr>
            <a:r>
              <a:rPr b="0" i="0" lang="en-US" sz="1000" u="none" cap="none" strike="noStrike">
                <a:solidFill>
                  <a:srgbClr val="F5A623"/>
                </a:solidFill>
                <a:latin typeface="Calibri"/>
                <a:ea typeface="Calibri"/>
                <a:cs typeface="Calibri"/>
                <a:sym typeface="Calibri"/>
              </a:rPr>
              <a:t>💡  Tip (SRE with Java Microservices): Monitor jvm.gc.pause via Micrometer — if P99 pause &gt; 500ms, switch from G1GC to ZGC/Shenandoah</a:t>
            </a:r>
            <a:endParaRPr b="0" i="0" sz="1000" u="none" cap="none" strike="noStrike">
              <a:solidFill>
                <a:schemeClr val="dk1"/>
              </a:solidFill>
              <a:latin typeface="Calibri"/>
              <a:ea typeface="Calibri"/>
              <a:cs typeface="Calibri"/>
              <a:sym typeface="Calibri"/>
            </a:endParaRPr>
          </a:p>
        </p:txBody>
      </p:sp>
      <p:sp>
        <p:nvSpPr>
          <p:cNvPr id="369" name="Google Shape;369;p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F0F7"/>
        </a:solidFill>
      </p:bgPr>
    </p:bg>
    <p:spTree>
      <p:nvGrpSpPr>
        <p:cNvPr id="374" name="Shape 374"/>
        <p:cNvGrpSpPr/>
        <p:nvPr/>
      </p:nvGrpSpPr>
      <p:grpSpPr>
        <a:xfrm>
          <a:off x="0" y="0"/>
          <a:ext cx="0" cy="0"/>
          <a:chOff x="0" y="0"/>
          <a:chExt cx="0" cy="0"/>
        </a:xfrm>
      </p:grpSpPr>
      <p:sp>
        <p:nvSpPr>
          <p:cNvPr id="375" name="Google Shape;375;p15"/>
          <p:cNvSpPr/>
          <p:nvPr/>
        </p:nvSpPr>
        <p:spPr>
          <a:xfrm>
            <a:off x="0" y="0"/>
            <a:ext cx="9144000" cy="64008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5"/>
          <p:cNvSpPr/>
          <p:nvPr/>
        </p:nvSpPr>
        <p:spPr>
          <a:xfrm>
            <a:off x="365760" y="0"/>
            <a:ext cx="6858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000"/>
              <a:buFont typeface="Calibri"/>
              <a:buNone/>
            </a:pPr>
            <a:r>
              <a:rPr b="1" i="0" lang="en-US" sz="2000" u="none" cap="none" strike="noStrike">
                <a:solidFill>
                  <a:srgbClr val="00BCD4"/>
                </a:solidFill>
                <a:latin typeface="Calibri"/>
                <a:ea typeface="Calibri"/>
                <a:cs typeface="Calibri"/>
                <a:sym typeface="Calibri"/>
              </a:rPr>
              <a:t>Essential GC Tuning Parameters for Kubernetes</a:t>
            </a:r>
            <a:endParaRPr b="0" i="0" sz="2000" u="none" cap="none" strike="noStrike">
              <a:solidFill>
                <a:schemeClr val="dk1"/>
              </a:solidFill>
              <a:latin typeface="Calibri"/>
              <a:ea typeface="Calibri"/>
              <a:cs typeface="Calibri"/>
              <a:sym typeface="Calibri"/>
            </a:endParaRPr>
          </a:p>
        </p:txBody>
      </p:sp>
      <p:sp>
        <p:nvSpPr>
          <p:cNvPr id="377" name="Google Shape;377;p15"/>
          <p:cNvSpPr/>
          <p:nvPr/>
        </p:nvSpPr>
        <p:spPr>
          <a:xfrm>
            <a:off x="7315200" y="73152"/>
            <a:ext cx="1645920" cy="502920"/>
          </a:xfrm>
          <a:prstGeom prst="rect">
            <a:avLst/>
          </a:prstGeom>
          <a:solidFill>
            <a:srgbClr val="1E6FC8"/>
          </a:solidFill>
          <a:ln>
            <a:noFill/>
          </a:ln>
        </p:spPr>
        <p:txBody>
          <a:bodyPr anchorCtr="0" anchor="ctr" bIns="0" lIns="0" spcFirstLastPara="1" rIns="76200" wrap="square" tIns="76200">
            <a:noAutofit/>
          </a:bodyPr>
          <a:lstStyle/>
          <a:p>
            <a:pPr indent="0" lvl="0" marL="0" marR="0" rtl="0" algn="r">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Section 03</a:t>
            </a:r>
            <a:endParaRPr b="0" i="0" sz="1000" u="none" cap="none" strike="noStrike">
              <a:solidFill>
                <a:schemeClr val="dk1"/>
              </a:solidFill>
              <a:latin typeface="Calibri"/>
              <a:ea typeface="Calibri"/>
              <a:cs typeface="Calibri"/>
              <a:sym typeface="Calibri"/>
            </a:endParaRPr>
          </a:p>
        </p:txBody>
      </p:sp>
      <p:sp>
        <p:nvSpPr>
          <p:cNvPr id="378" name="Google Shape;378;p15"/>
          <p:cNvSpPr/>
          <p:nvPr/>
        </p:nvSpPr>
        <p:spPr>
          <a:xfrm>
            <a:off x="0" y="4960620"/>
            <a:ext cx="9144000" cy="18288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5"/>
          <p:cNvSpPr/>
          <p:nvPr/>
        </p:nvSpPr>
        <p:spPr>
          <a:xfrm>
            <a:off x="365760" y="4956048"/>
            <a:ext cx="841248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00"/>
              <a:buFont typeface="Calibri"/>
              <a:buNone/>
            </a:pPr>
            <a:r>
              <a:rPr b="0" i="0" lang="en-US" sz="900" u="none" cap="none" strike="noStrike">
                <a:solidFill>
                  <a:srgbClr val="ECF0F1"/>
                </a:solidFill>
                <a:latin typeface="Calibri"/>
                <a:ea typeface="Calibri"/>
                <a:cs typeface="Calibri"/>
                <a:sym typeface="Calibri"/>
              </a:rPr>
              <a:t>Taming the JVM: Java Optimization on OpenShift</a:t>
            </a:r>
            <a:endParaRPr b="0" i="0" sz="900" u="none" cap="none" strike="noStrike">
              <a:solidFill>
                <a:schemeClr val="dk1"/>
              </a:solidFill>
              <a:latin typeface="Calibri"/>
              <a:ea typeface="Calibri"/>
              <a:cs typeface="Calibri"/>
              <a:sym typeface="Calibri"/>
            </a:endParaRPr>
          </a:p>
        </p:txBody>
      </p:sp>
      <p:sp>
        <p:nvSpPr>
          <p:cNvPr id="380" name="Google Shape;380;p15"/>
          <p:cNvSpPr/>
          <p:nvPr/>
        </p:nvSpPr>
        <p:spPr>
          <a:xfrm>
            <a:off x="320040" y="749808"/>
            <a:ext cx="8503920" cy="3337560"/>
          </a:xfrm>
          <a:prstGeom prst="rect">
            <a:avLst/>
          </a:prstGeom>
          <a:solidFill>
            <a:srgbClr val="0D2137"/>
          </a:solidFill>
          <a:ln cap="flat" cmpd="sng" w="1905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5"/>
          <p:cNvSpPr/>
          <p:nvPr/>
        </p:nvSpPr>
        <p:spPr>
          <a:xfrm>
            <a:off x="393192" y="795528"/>
            <a:ext cx="8357616" cy="32461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 G1GC Container-Optimized Settings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-XX:+UseG1GC</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-XX:+UseContainerSupport</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-XX:MaxRAMPercentage=75.0</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-XX:MaxGCPauseMillis=200          # Target pause goal (not a hard limit)</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-XX:G1HeapRegionSize=16m          # Larger regions reduce fragmentation</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-XX:ParallelGCThreads=4           # Match container CPU limit!</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-XX:ConcGCThreads=2               # Background GC threads</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-XX:InitiatingHeapOccupancyPercent=45  # Start concurrent GC earlier</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-XX:+G1UseAdaptiveIHOP           # Let G1 self-tune IHOP</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-XX:+ExplicitGCInvokesConcurrent  # Make System.gc() concurrent</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 ZGC Container Settings (JDK 24+ — generational is the only mode)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-XX:+UseZGC   # generational: only mode since JDK 24</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-XX:SoftMaxHeapSize=768m          # Soft limit (within 1GB limit)</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-XX:ZCollectionInterval=5         # Proactive GC every 5s</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-XX:ZUncommitDelay=300            # Return memory to OS after 5min idle</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 Shenandoah (RHEL / OpenJDK default extra points)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-XX:+UseShenandoahGC</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-XX:ShenandoahGCMode=adaptive     # Self-tuning heuristic</a:t>
            </a:r>
            <a:endParaRPr b="0" i="0" sz="950" u="none" cap="none" strike="noStrike">
              <a:solidFill>
                <a:schemeClr val="dk1"/>
              </a:solidFill>
              <a:latin typeface="Calibri"/>
              <a:ea typeface="Calibri"/>
              <a:cs typeface="Calibri"/>
              <a:sym typeface="Calibri"/>
            </a:endParaRPr>
          </a:p>
        </p:txBody>
      </p:sp>
      <p:sp>
        <p:nvSpPr>
          <p:cNvPr id="382" name="Google Shape;382;p15"/>
          <p:cNvSpPr/>
          <p:nvPr/>
        </p:nvSpPr>
        <p:spPr>
          <a:xfrm>
            <a:off x="320040" y="4206240"/>
            <a:ext cx="2697480" cy="658368"/>
          </a:xfrm>
          <a:prstGeom prst="rect">
            <a:avLst/>
          </a:prstGeom>
          <a:solidFill>
            <a:srgbClr val="FFFFFF"/>
          </a:solidFill>
          <a:ln>
            <a:noFill/>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5"/>
          <p:cNvSpPr/>
          <p:nvPr/>
        </p:nvSpPr>
        <p:spPr>
          <a:xfrm>
            <a:off x="411480" y="4251960"/>
            <a:ext cx="2514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FC8"/>
              </a:buClr>
              <a:buSzPts val="1100"/>
              <a:buFont typeface="Calibri"/>
              <a:buNone/>
            </a:pPr>
            <a:r>
              <a:rPr b="1" i="0" lang="en-US" sz="1100" u="none" cap="none" strike="noStrike">
                <a:solidFill>
                  <a:srgbClr val="1E6FC8"/>
                </a:solidFill>
                <a:latin typeface="Calibri"/>
                <a:ea typeface="Calibri"/>
                <a:cs typeface="Calibri"/>
                <a:sym typeface="Calibri"/>
              </a:rPr>
              <a:t>ParallelGCThreads</a:t>
            </a:r>
            <a:endParaRPr b="0" i="0" sz="1100" u="none" cap="none" strike="noStrike">
              <a:solidFill>
                <a:schemeClr val="dk1"/>
              </a:solidFill>
              <a:latin typeface="Calibri"/>
              <a:ea typeface="Calibri"/>
              <a:cs typeface="Calibri"/>
              <a:sym typeface="Calibri"/>
            </a:endParaRPr>
          </a:p>
        </p:txBody>
      </p:sp>
      <p:sp>
        <p:nvSpPr>
          <p:cNvPr id="384" name="Google Shape;384;p15"/>
          <p:cNvSpPr/>
          <p:nvPr/>
        </p:nvSpPr>
        <p:spPr>
          <a:xfrm>
            <a:off x="411480" y="4526280"/>
            <a:ext cx="2514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C"/>
              </a:buClr>
              <a:buSzPts val="1000"/>
              <a:buFont typeface="Calibri"/>
              <a:buNone/>
            </a:pPr>
            <a:r>
              <a:rPr b="0" i="0" lang="en-US" sz="1000" u="none" cap="none" strike="noStrike">
                <a:solidFill>
                  <a:srgbClr val="1A2B3C"/>
                </a:solidFill>
                <a:latin typeface="Calibri"/>
                <a:ea typeface="Calibri"/>
                <a:cs typeface="Calibri"/>
                <a:sym typeface="Calibri"/>
              </a:rPr>
              <a:t>Match your CPU allocation — reads the cgroup quota when a limit is set</a:t>
            </a:r>
            <a:endParaRPr b="0" i="0" sz="1000" u="none" cap="none" strike="noStrike">
              <a:solidFill>
                <a:schemeClr val="dk1"/>
              </a:solidFill>
              <a:latin typeface="Calibri"/>
              <a:ea typeface="Calibri"/>
              <a:cs typeface="Calibri"/>
              <a:sym typeface="Calibri"/>
            </a:endParaRPr>
          </a:p>
        </p:txBody>
      </p:sp>
      <p:sp>
        <p:nvSpPr>
          <p:cNvPr id="385" name="Google Shape;385;p15"/>
          <p:cNvSpPr/>
          <p:nvPr/>
        </p:nvSpPr>
        <p:spPr>
          <a:xfrm>
            <a:off x="3172968" y="4206240"/>
            <a:ext cx="2697480" cy="658368"/>
          </a:xfrm>
          <a:prstGeom prst="rect">
            <a:avLst/>
          </a:prstGeom>
          <a:solidFill>
            <a:srgbClr val="FFFFFF"/>
          </a:solidFill>
          <a:ln>
            <a:noFill/>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5"/>
          <p:cNvSpPr/>
          <p:nvPr/>
        </p:nvSpPr>
        <p:spPr>
          <a:xfrm>
            <a:off x="3264408" y="4251960"/>
            <a:ext cx="2514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FC8"/>
              </a:buClr>
              <a:buSzPts val="1100"/>
              <a:buFont typeface="Calibri"/>
              <a:buNone/>
            </a:pPr>
            <a:r>
              <a:rPr b="1" i="0" lang="en-US" sz="1100" u="none" cap="none" strike="noStrike">
                <a:solidFill>
                  <a:srgbClr val="1E6FC8"/>
                </a:solidFill>
                <a:latin typeface="Calibri"/>
                <a:ea typeface="Calibri"/>
                <a:cs typeface="Calibri"/>
                <a:sym typeface="Calibri"/>
              </a:rPr>
              <a:t>Heap Regions</a:t>
            </a:r>
            <a:endParaRPr b="0" i="0" sz="1100" u="none" cap="none" strike="noStrike">
              <a:solidFill>
                <a:schemeClr val="dk1"/>
              </a:solidFill>
              <a:latin typeface="Calibri"/>
              <a:ea typeface="Calibri"/>
              <a:cs typeface="Calibri"/>
              <a:sym typeface="Calibri"/>
            </a:endParaRPr>
          </a:p>
        </p:txBody>
      </p:sp>
      <p:sp>
        <p:nvSpPr>
          <p:cNvPr id="387" name="Google Shape;387;p15"/>
          <p:cNvSpPr/>
          <p:nvPr/>
        </p:nvSpPr>
        <p:spPr>
          <a:xfrm>
            <a:off x="3264408" y="4526280"/>
            <a:ext cx="2514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C"/>
              </a:buClr>
              <a:buSzPts val="1000"/>
              <a:buFont typeface="Calibri"/>
              <a:buNone/>
            </a:pPr>
            <a:r>
              <a:rPr b="0" i="0" lang="en-US" sz="1000" u="none" cap="none" strike="noStrike">
                <a:solidFill>
                  <a:srgbClr val="1A2B3C"/>
                </a:solidFill>
                <a:latin typeface="Calibri"/>
                <a:ea typeface="Calibri"/>
                <a:cs typeface="Calibri"/>
                <a:sym typeface="Calibri"/>
              </a:rPr>
              <a:t>G1HeapRegionSize: larger = fewer regions = less GC bookkeeping</a:t>
            </a:r>
            <a:endParaRPr b="0" i="0" sz="1000" u="none" cap="none" strike="noStrike">
              <a:solidFill>
                <a:schemeClr val="dk1"/>
              </a:solidFill>
              <a:latin typeface="Calibri"/>
              <a:ea typeface="Calibri"/>
              <a:cs typeface="Calibri"/>
              <a:sym typeface="Calibri"/>
            </a:endParaRPr>
          </a:p>
        </p:txBody>
      </p:sp>
      <p:sp>
        <p:nvSpPr>
          <p:cNvPr id="388" name="Google Shape;388;p15"/>
          <p:cNvSpPr/>
          <p:nvPr/>
        </p:nvSpPr>
        <p:spPr>
          <a:xfrm>
            <a:off x="6025896" y="4206240"/>
            <a:ext cx="2697480" cy="658368"/>
          </a:xfrm>
          <a:prstGeom prst="rect">
            <a:avLst/>
          </a:prstGeom>
          <a:solidFill>
            <a:srgbClr val="FFFFFF"/>
          </a:solidFill>
          <a:ln>
            <a:noFill/>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5"/>
          <p:cNvSpPr/>
          <p:nvPr/>
        </p:nvSpPr>
        <p:spPr>
          <a:xfrm>
            <a:off x="6117336" y="4251960"/>
            <a:ext cx="2514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FC8"/>
              </a:buClr>
              <a:buSzPts val="1100"/>
              <a:buFont typeface="Calibri"/>
              <a:buNone/>
            </a:pPr>
            <a:r>
              <a:rPr b="1" i="0" lang="en-US" sz="1100" u="none" cap="none" strike="noStrike">
                <a:solidFill>
                  <a:srgbClr val="1E6FC8"/>
                </a:solidFill>
                <a:latin typeface="Calibri"/>
                <a:ea typeface="Calibri"/>
                <a:cs typeface="Calibri"/>
                <a:sym typeface="Calibri"/>
              </a:rPr>
              <a:t>IHOP</a:t>
            </a:r>
            <a:endParaRPr b="0" i="0" sz="1100" u="none" cap="none" strike="noStrike">
              <a:solidFill>
                <a:schemeClr val="dk1"/>
              </a:solidFill>
              <a:latin typeface="Calibri"/>
              <a:ea typeface="Calibri"/>
              <a:cs typeface="Calibri"/>
              <a:sym typeface="Calibri"/>
            </a:endParaRPr>
          </a:p>
        </p:txBody>
      </p:sp>
      <p:sp>
        <p:nvSpPr>
          <p:cNvPr id="390" name="Google Shape;390;p15"/>
          <p:cNvSpPr/>
          <p:nvPr/>
        </p:nvSpPr>
        <p:spPr>
          <a:xfrm>
            <a:off x="6117336" y="4526280"/>
            <a:ext cx="2514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C"/>
              </a:buClr>
              <a:buSzPts val="1000"/>
              <a:buFont typeface="Calibri"/>
              <a:buNone/>
            </a:pPr>
            <a:r>
              <a:rPr b="0" i="0" lang="en-US" sz="1000" u="none" cap="none" strike="noStrike">
                <a:solidFill>
                  <a:srgbClr val="1A2B3C"/>
                </a:solidFill>
                <a:latin typeface="Calibri"/>
                <a:ea typeface="Calibri"/>
                <a:cs typeface="Calibri"/>
                <a:sym typeface="Calibri"/>
              </a:rPr>
              <a:t>Start GC earlier (IHOP=40-45) in containers to avoid emergency GC</a:t>
            </a:r>
            <a:endParaRPr b="0" i="0" sz="1000" u="none" cap="none" strike="noStrike">
              <a:solidFill>
                <a:schemeClr val="dk1"/>
              </a:solidFill>
              <a:latin typeface="Calibri"/>
              <a:ea typeface="Calibri"/>
              <a:cs typeface="Calibri"/>
              <a:sym typeface="Calibri"/>
            </a:endParaRPr>
          </a:p>
        </p:txBody>
      </p:sp>
      <p:sp>
        <p:nvSpPr>
          <p:cNvPr id="391" name="Google Shape;391;p1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F0F7"/>
        </a:solidFill>
      </p:bgPr>
    </p:bg>
    <p:spTree>
      <p:nvGrpSpPr>
        <p:cNvPr id="396" name="Shape 396"/>
        <p:cNvGrpSpPr/>
        <p:nvPr/>
      </p:nvGrpSpPr>
      <p:grpSpPr>
        <a:xfrm>
          <a:off x="0" y="0"/>
          <a:ext cx="0" cy="0"/>
          <a:chOff x="0" y="0"/>
          <a:chExt cx="0" cy="0"/>
        </a:xfrm>
      </p:grpSpPr>
      <p:sp>
        <p:nvSpPr>
          <p:cNvPr id="397" name="Google Shape;397;p16"/>
          <p:cNvSpPr/>
          <p:nvPr/>
        </p:nvSpPr>
        <p:spPr>
          <a:xfrm>
            <a:off x="0" y="0"/>
            <a:ext cx="9144000" cy="64020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6"/>
          <p:cNvSpPr/>
          <p:nvPr/>
        </p:nvSpPr>
        <p:spPr>
          <a:xfrm>
            <a:off x="365760" y="0"/>
            <a:ext cx="68580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000"/>
              <a:buFont typeface="Calibri"/>
              <a:buNone/>
            </a:pPr>
            <a:r>
              <a:rPr b="1" lang="en-US" sz="2000">
                <a:solidFill>
                  <a:srgbClr val="00BCD4"/>
                </a:solidFill>
                <a:latin typeface="Calibri"/>
                <a:ea typeface="Calibri"/>
                <a:cs typeface="Calibri"/>
                <a:sym typeface="Calibri"/>
              </a:rPr>
              <a:t>The AOT Cache Progression: CDS -&gt; AppCDS -&gt; Leyden</a:t>
            </a:r>
            <a:endParaRPr b="0" i="0" sz="2000" u="none" cap="none" strike="noStrike">
              <a:solidFill>
                <a:schemeClr val="dk1"/>
              </a:solidFill>
              <a:latin typeface="Calibri"/>
              <a:ea typeface="Calibri"/>
              <a:cs typeface="Calibri"/>
              <a:sym typeface="Calibri"/>
            </a:endParaRPr>
          </a:p>
        </p:txBody>
      </p:sp>
      <p:sp>
        <p:nvSpPr>
          <p:cNvPr id="399" name="Google Shape;399;p16"/>
          <p:cNvSpPr/>
          <p:nvPr/>
        </p:nvSpPr>
        <p:spPr>
          <a:xfrm>
            <a:off x="7315200" y="73152"/>
            <a:ext cx="1645800" cy="502800"/>
          </a:xfrm>
          <a:prstGeom prst="rect">
            <a:avLst/>
          </a:prstGeom>
          <a:solidFill>
            <a:srgbClr val="1E6FC8"/>
          </a:solidFill>
          <a:ln>
            <a:noFill/>
          </a:ln>
        </p:spPr>
        <p:txBody>
          <a:bodyPr anchorCtr="0" anchor="ctr" bIns="0" lIns="0" spcFirstLastPara="1" rIns="76200" wrap="square" tIns="76200">
            <a:noAutofit/>
          </a:bodyPr>
          <a:lstStyle/>
          <a:p>
            <a:pPr indent="0" lvl="0" marL="0" marR="0" rtl="0" algn="r">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Section 03</a:t>
            </a:r>
            <a:endParaRPr b="0" i="0" sz="1000" u="none" cap="none" strike="noStrike">
              <a:solidFill>
                <a:schemeClr val="dk1"/>
              </a:solidFill>
              <a:latin typeface="Calibri"/>
              <a:ea typeface="Calibri"/>
              <a:cs typeface="Calibri"/>
              <a:sym typeface="Calibri"/>
            </a:endParaRPr>
          </a:p>
        </p:txBody>
      </p:sp>
      <p:sp>
        <p:nvSpPr>
          <p:cNvPr id="400" name="Google Shape;400;p16"/>
          <p:cNvSpPr/>
          <p:nvPr/>
        </p:nvSpPr>
        <p:spPr>
          <a:xfrm>
            <a:off x="0" y="4960620"/>
            <a:ext cx="9144000" cy="18300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6"/>
          <p:cNvSpPr/>
          <p:nvPr/>
        </p:nvSpPr>
        <p:spPr>
          <a:xfrm>
            <a:off x="365760" y="4956048"/>
            <a:ext cx="84126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00"/>
              <a:buFont typeface="Calibri"/>
              <a:buNone/>
            </a:pPr>
            <a:r>
              <a:rPr b="0" i="0" lang="en-US" sz="900" u="none" cap="none" strike="noStrike">
                <a:solidFill>
                  <a:srgbClr val="ECF0F1"/>
                </a:solidFill>
                <a:latin typeface="Calibri"/>
                <a:ea typeface="Calibri"/>
                <a:cs typeface="Calibri"/>
                <a:sym typeface="Calibri"/>
              </a:rPr>
              <a:t>Taming the JVM: Java Optimization on OpenShift</a:t>
            </a:r>
            <a:endParaRPr b="0" i="0" sz="900" u="none" cap="none" strike="noStrike">
              <a:solidFill>
                <a:schemeClr val="dk1"/>
              </a:solidFill>
              <a:latin typeface="Calibri"/>
              <a:ea typeface="Calibri"/>
              <a:cs typeface="Calibri"/>
              <a:sym typeface="Calibri"/>
            </a:endParaRPr>
          </a:p>
        </p:txBody>
      </p:sp>
      <p:pic>
        <p:nvPicPr>
          <p:cNvPr id="402" name="Google Shape;402;p16"/>
          <p:cNvPicPr preferRelativeResize="0"/>
          <p:nvPr/>
        </p:nvPicPr>
        <p:blipFill>
          <a:blip r:embed="rId3">
            <a:alphaModFix/>
          </a:blip>
          <a:stretch>
            <a:fillRect/>
          </a:stretch>
        </p:blipFill>
        <p:spPr>
          <a:xfrm>
            <a:off x="186200" y="681988"/>
            <a:ext cx="8771601" cy="4168025"/>
          </a:xfrm>
          <a:prstGeom prst="rect">
            <a:avLst/>
          </a:prstGeom>
          <a:noFill/>
          <a:ln>
            <a:noFill/>
          </a:ln>
        </p:spPr>
      </p:pic>
      <p:sp>
        <p:nvSpPr>
          <p:cNvPr id="403" name="Google Shape;403;p1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408" name="Shape 408"/>
        <p:cNvGrpSpPr/>
        <p:nvPr/>
      </p:nvGrpSpPr>
      <p:grpSpPr>
        <a:xfrm>
          <a:off x="0" y="0"/>
          <a:ext cx="0" cy="0"/>
          <a:chOff x="0" y="0"/>
          <a:chExt cx="0" cy="0"/>
        </a:xfrm>
      </p:grpSpPr>
      <p:sp>
        <p:nvSpPr>
          <p:cNvPr id="409" name="Google Shape;409;p17"/>
          <p:cNvSpPr/>
          <p:nvPr/>
        </p:nvSpPr>
        <p:spPr>
          <a:xfrm>
            <a:off x="0" y="0"/>
            <a:ext cx="9144000" cy="64008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7"/>
          <p:cNvSpPr/>
          <p:nvPr/>
        </p:nvSpPr>
        <p:spPr>
          <a:xfrm>
            <a:off x="365760" y="0"/>
            <a:ext cx="6858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000"/>
              <a:buFont typeface="Calibri"/>
              <a:buNone/>
            </a:pPr>
            <a:r>
              <a:rPr b="1" i="0" lang="en-US" sz="2000" u="none" cap="none" strike="noStrike">
                <a:solidFill>
                  <a:srgbClr val="00BCD4"/>
                </a:solidFill>
                <a:latin typeface="Calibri"/>
                <a:ea typeface="Calibri"/>
                <a:cs typeface="Calibri"/>
                <a:sym typeface="Calibri"/>
              </a:rPr>
              <a:t>Startup Time Reduction</a:t>
            </a:r>
            <a:endParaRPr b="0" i="0" sz="2000" u="none" cap="none" strike="noStrike">
              <a:solidFill>
                <a:schemeClr val="dk1"/>
              </a:solidFill>
              <a:latin typeface="Calibri"/>
              <a:ea typeface="Calibri"/>
              <a:cs typeface="Calibri"/>
              <a:sym typeface="Calibri"/>
            </a:endParaRPr>
          </a:p>
        </p:txBody>
      </p:sp>
      <p:sp>
        <p:nvSpPr>
          <p:cNvPr id="411" name="Google Shape;411;p17"/>
          <p:cNvSpPr/>
          <p:nvPr/>
        </p:nvSpPr>
        <p:spPr>
          <a:xfrm>
            <a:off x="7315200" y="73152"/>
            <a:ext cx="1645920" cy="502920"/>
          </a:xfrm>
          <a:prstGeom prst="rect">
            <a:avLst/>
          </a:prstGeom>
          <a:solidFill>
            <a:srgbClr val="1E6FC8"/>
          </a:solidFill>
          <a:ln>
            <a:noFill/>
          </a:ln>
        </p:spPr>
        <p:txBody>
          <a:bodyPr anchorCtr="0" anchor="ctr" bIns="0" lIns="0" spcFirstLastPara="1" rIns="76200" wrap="square" tIns="76200">
            <a:noAutofit/>
          </a:bodyPr>
          <a:lstStyle/>
          <a:p>
            <a:pPr indent="0" lvl="0" marL="0" marR="0" rtl="0" algn="r">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Section 04</a:t>
            </a:r>
            <a:endParaRPr b="0" i="0" sz="1000" u="none" cap="none" strike="noStrike">
              <a:solidFill>
                <a:schemeClr val="dk1"/>
              </a:solidFill>
              <a:latin typeface="Calibri"/>
              <a:ea typeface="Calibri"/>
              <a:cs typeface="Calibri"/>
              <a:sym typeface="Calibri"/>
            </a:endParaRPr>
          </a:p>
        </p:txBody>
      </p:sp>
      <p:sp>
        <p:nvSpPr>
          <p:cNvPr id="412" name="Google Shape;412;p17"/>
          <p:cNvSpPr/>
          <p:nvPr/>
        </p:nvSpPr>
        <p:spPr>
          <a:xfrm>
            <a:off x="0" y="4960620"/>
            <a:ext cx="9144000" cy="18288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7"/>
          <p:cNvSpPr/>
          <p:nvPr/>
        </p:nvSpPr>
        <p:spPr>
          <a:xfrm>
            <a:off x="365760" y="4956048"/>
            <a:ext cx="841248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00"/>
              <a:buFont typeface="Calibri"/>
              <a:buNone/>
            </a:pPr>
            <a:r>
              <a:rPr b="0" i="0" lang="en-US" sz="900" u="none" cap="none" strike="noStrike">
                <a:solidFill>
                  <a:srgbClr val="ECF0F1"/>
                </a:solidFill>
                <a:latin typeface="Calibri"/>
                <a:ea typeface="Calibri"/>
                <a:cs typeface="Calibri"/>
                <a:sym typeface="Calibri"/>
              </a:rPr>
              <a:t>Taming the JVM: Java Optimization on OpenShift</a:t>
            </a:r>
            <a:endParaRPr b="0" i="0" sz="900" u="none" cap="none" strike="noStrike">
              <a:solidFill>
                <a:schemeClr val="dk1"/>
              </a:solidFill>
              <a:latin typeface="Calibri"/>
              <a:ea typeface="Calibri"/>
              <a:cs typeface="Calibri"/>
              <a:sym typeface="Calibri"/>
            </a:endParaRPr>
          </a:p>
        </p:txBody>
      </p:sp>
      <p:sp>
        <p:nvSpPr>
          <p:cNvPr id="414" name="Google Shape;414;p17"/>
          <p:cNvSpPr/>
          <p:nvPr/>
        </p:nvSpPr>
        <p:spPr>
          <a:xfrm>
            <a:off x="365760" y="74980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200"/>
              <a:buFont typeface="Calibri"/>
              <a:buNone/>
            </a:pPr>
            <a:r>
              <a:rPr b="0" i="1" lang="en-US" sz="1200" u="none" cap="none" strike="noStrike">
                <a:solidFill>
                  <a:srgbClr val="90A4AE"/>
                </a:solidFill>
                <a:latin typeface="Calibri"/>
                <a:ea typeface="Calibri"/>
                <a:cs typeface="Calibri"/>
                <a:sym typeface="Calibri"/>
              </a:rPr>
              <a:t>Quarkus vs Spring Boot (Quarkus project benchmarks, cited by Cummins — quarkus.io/blog/new-benchmarks; controlled Linux, not localhost): 2.7× throughput · 2.3× startup (2.919 vs 6.569s) · ~half memory (269 vs 583 MB)</a:t>
            </a:r>
            <a:endParaRPr b="0" i="0" sz="1200" u="none" cap="none" strike="noStrike">
              <a:solidFill>
                <a:schemeClr val="dk1"/>
              </a:solidFill>
              <a:latin typeface="Calibri"/>
              <a:ea typeface="Calibri"/>
              <a:cs typeface="Calibri"/>
              <a:sym typeface="Calibri"/>
            </a:endParaRPr>
          </a:p>
        </p:txBody>
      </p:sp>
      <p:sp>
        <p:nvSpPr>
          <p:cNvPr id="415" name="Google Shape;415;p17"/>
          <p:cNvSpPr/>
          <p:nvPr/>
        </p:nvSpPr>
        <p:spPr>
          <a:xfrm>
            <a:off x="365760" y="1097280"/>
            <a:ext cx="8229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300"/>
              <a:buFont typeface="Calibri"/>
              <a:buNone/>
            </a:pPr>
            <a:r>
              <a:rPr b="1" i="0" lang="en-US" sz="1300" u="none" cap="none" strike="noStrike">
                <a:solidFill>
                  <a:srgbClr val="ECF0F1"/>
                </a:solidFill>
                <a:latin typeface="Calibri"/>
                <a:ea typeface="Calibri"/>
                <a:cs typeface="Calibri"/>
                <a:sym typeface="Calibri"/>
              </a:rPr>
              <a:t>JVM Startup Breakdown — Spring Boot vs Quarkus 3.33.1 LTS (JVM only):</a:t>
            </a:r>
            <a:endParaRPr b="0" i="0" sz="1300" u="none" cap="none" strike="noStrike">
              <a:solidFill>
                <a:schemeClr val="dk1"/>
              </a:solidFill>
              <a:latin typeface="Calibri"/>
              <a:ea typeface="Calibri"/>
              <a:cs typeface="Calibri"/>
              <a:sym typeface="Calibri"/>
            </a:endParaRPr>
          </a:p>
        </p:txBody>
      </p:sp>
      <p:sp>
        <p:nvSpPr>
          <p:cNvPr id="416" name="Google Shape;416;p17"/>
          <p:cNvSpPr/>
          <p:nvPr/>
        </p:nvSpPr>
        <p:spPr>
          <a:xfrm>
            <a:off x="365760" y="1508760"/>
            <a:ext cx="1193292" cy="502920"/>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7"/>
          <p:cNvSpPr/>
          <p:nvPr/>
        </p:nvSpPr>
        <p:spPr>
          <a:xfrm>
            <a:off x="1559052" y="1508760"/>
            <a:ext cx="2784348" cy="50292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7"/>
          <p:cNvSpPr/>
          <p:nvPr/>
        </p:nvSpPr>
        <p:spPr>
          <a:xfrm>
            <a:off x="4343400" y="1508760"/>
            <a:ext cx="2386584" cy="502920"/>
          </a:xfrm>
          <a:prstGeom prst="rect">
            <a:avLst/>
          </a:prstGeom>
          <a:solidFill>
            <a:srgbClr val="F5A6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7"/>
          <p:cNvSpPr/>
          <p:nvPr/>
        </p:nvSpPr>
        <p:spPr>
          <a:xfrm>
            <a:off x="6729984" y="1508760"/>
            <a:ext cx="1591056" cy="502920"/>
          </a:xfrm>
          <a:prstGeom prst="rect">
            <a:avLst/>
          </a:prstGeom>
          <a:solidFill>
            <a:srgbClr val="E848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7"/>
          <p:cNvSpPr/>
          <p:nvPr/>
        </p:nvSpPr>
        <p:spPr>
          <a:xfrm>
            <a:off x="320040" y="2148840"/>
            <a:ext cx="8503920" cy="502920"/>
          </a:xfrm>
          <a:prstGeom prst="rect">
            <a:avLst/>
          </a:prstGeom>
          <a:solidFill>
            <a:srgbClr val="122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7"/>
          <p:cNvSpPr/>
          <p:nvPr/>
        </p:nvSpPr>
        <p:spPr>
          <a:xfrm>
            <a:off x="320040" y="2148840"/>
            <a:ext cx="164592" cy="502920"/>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7"/>
          <p:cNvSpPr/>
          <p:nvPr/>
        </p:nvSpPr>
        <p:spPr>
          <a:xfrm>
            <a:off x="594360" y="2148840"/>
            <a:ext cx="5029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150"/>
              <a:buFont typeface="Calibri"/>
              <a:buNone/>
            </a:pPr>
            <a:r>
              <a:rPr b="1" i="0" lang="en-US" sz="1150" u="none" cap="none" strike="noStrike">
                <a:solidFill>
                  <a:srgbClr val="ECF0F1"/>
                </a:solidFill>
                <a:latin typeface="Calibri"/>
                <a:ea typeface="Calibri"/>
                <a:cs typeface="Calibri"/>
                <a:sym typeface="Calibri"/>
              </a:rPr>
              <a:t>JVM Bootstrap</a:t>
            </a:r>
            <a:endParaRPr b="0" i="0" sz="1150" u="none" cap="none" strike="noStrike">
              <a:solidFill>
                <a:schemeClr val="dk1"/>
              </a:solidFill>
              <a:latin typeface="Calibri"/>
              <a:ea typeface="Calibri"/>
              <a:cs typeface="Calibri"/>
              <a:sym typeface="Calibri"/>
            </a:endParaRPr>
          </a:p>
        </p:txBody>
      </p:sp>
      <p:sp>
        <p:nvSpPr>
          <p:cNvPr id="423" name="Google Shape;423;p17"/>
          <p:cNvSpPr/>
          <p:nvPr/>
        </p:nvSpPr>
        <p:spPr>
          <a:xfrm>
            <a:off x="7635240" y="2148840"/>
            <a:ext cx="1097280" cy="5029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0BCD4"/>
              </a:buClr>
              <a:buSzPts val="1200"/>
              <a:buFont typeface="Calibri"/>
              <a:buNone/>
            </a:pPr>
            <a:r>
              <a:rPr b="1" i="0" lang="en-US" sz="1200" u="none" cap="none" strike="noStrike">
                <a:solidFill>
                  <a:srgbClr val="00BCD4"/>
                </a:solidFill>
                <a:latin typeface="Calibri"/>
                <a:ea typeface="Calibri"/>
                <a:cs typeface="Calibri"/>
                <a:sym typeface="Calibri"/>
              </a:rPr>
              <a:t>~200ms</a:t>
            </a:r>
            <a:endParaRPr b="0" i="0" sz="1200" u="none" cap="none" strike="noStrike">
              <a:solidFill>
                <a:schemeClr val="dk1"/>
              </a:solidFill>
              <a:latin typeface="Calibri"/>
              <a:ea typeface="Calibri"/>
              <a:cs typeface="Calibri"/>
              <a:sym typeface="Calibri"/>
            </a:endParaRPr>
          </a:p>
        </p:txBody>
      </p:sp>
      <p:sp>
        <p:nvSpPr>
          <p:cNvPr id="424" name="Google Shape;424;p17"/>
          <p:cNvSpPr/>
          <p:nvPr/>
        </p:nvSpPr>
        <p:spPr>
          <a:xfrm>
            <a:off x="320040" y="2743200"/>
            <a:ext cx="8503920" cy="502920"/>
          </a:xfrm>
          <a:prstGeom prst="rect">
            <a:avLst/>
          </a:prstGeom>
          <a:solidFill>
            <a:srgbClr val="122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7"/>
          <p:cNvSpPr/>
          <p:nvPr/>
        </p:nvSpPr>
        <p:spPr>
          <a:xfrm>
            <a:off x="320040" y="2743200"/>
            <a:ext cx="164592" cy="50292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7"/>
          <p:cNvSpPr/>
          <p:nvPr/>
        </p:nvSpPr>
        <p:spPr>
          <a:xfrm>
            <a:off x="594360" y="2743200"/>
            <a:ext cx="5029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150"/>
              <a:buFont typeface="Calibri"/>
              <a:buNone/>
            </a:pPr>
            <a:r>
              <a:rPr b="1" i="0" lang="en-US" sz="1150" u="none" cap="none" strike="noStrike">
                <a:solidFill>
                  <a:srgbClr val="ECF0F1"/>
                </a:solidFill>
                <a:latin typeface="Calibri"/>
                <a:ea typeface="Calibri"/>
                <a:cs typeface="Calibri"/>
                <a:sym typeface="Calibri"/>
              </a:rPr>
              <a:t>Class Loading</a:t>
            </a:r>
            <a:endParaRPr b="0" i="0" sz="1150" u="none" cap="none" strike="noStrike">
              <a:solidFill>
                <a:schemeClr val="dk1"/>
              </a:solidFill>
              <a:latin typeface="Calibri"/>
              <a:ea typeface="Calibri"/>
              <a:cs typeface="Calibri"/>
              <a:sym typeface="Calibri"/>
            </a:endParaRPr>
          </a:p>
        </p:txBody>
      </p:sp>
      <p:sp>
        <p:nvSpPr>
          <p:cNvPr id="427" name="Google Shape;427;p17"/>
          <p:cNvSpPr/>
          <p:nvPr/>
        </p:nvSpPr>
        <p:spPr>
          <a:xfrm>
            <a:off x="7635240" y="2743200"/>
            <a:ext cx="1097280" cy="5029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6FC8"/>
              </a:buClr>
              <a:buSzPts val="1200"/>
              <a:buFont typeface="Calibri"/>
              <a:buNone/>
            </a:pPr>
            <a:r>
              <a:rPr b="1" i="0" lang="en-US" sz="1200" u="none" cap="none" strike="noStrike">
                <a:solidFill>
                  <a:srgbClr val="1E6FC8"/>
                </a:solidFill>
                <a:latin typeface="Calibri"/>
                <a:ea typeface="Calibri"/>
                <a:cs typeface="Calibri"/>
                <a:sym typeface="Calibri"/>
              </a:rPr>
              <a:t>~800ms</a:t>
            </a:r>
            <a:endParaRPr b="0" i="0" sz="1200" u="none" cap="none" strike="noStrike">
              <a:solidFill>
                <a:schemeClr val="dk1"/>
              </a:solidFill>
              <a:latin typeface="Calibri"/>
              <a:ea typeface="Calibri"/>
              <a:cs typeface="Calibri"/>
              <a:sym typeface="Calibri"/>
            </a:endParaRPr>
          </a:p>
        </p:txBody>
      </p:sp>
      <p:sp>
        <p:nvSpPr>
          <p:cNvPr id="428" name="Google Shape;428;p17"/>
          <p:cNvSpPr/>
          <p:nvPr/>
        </p:nvSpPr>
        <p:spPr>
          <a:xfrm>
            <a:off x="320040" y="3337560"/>
            <a:ext cx="8503920" cy="502920"/>
          </a:xfrm>
          <a:prstGeom prst="rect">
            <a:avLst/>
          </a:prstGeom>
          <a:solidFill>
            <a:srgbClr val="122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7"/>
          <p:cNvSpPr/>
          <p:nvPr/>
        </p:nvSpPr>
        <p:spPr>
          <a:xfrm>
            <a:off x="320040" y="3337560"/>
            <a:ext cx="164592" cy="502920"/>
          </a:xfrm>
          <a:prstGeom prst="rect">
            <a:avLst/>
          </a:prstGeom>
          <a:solidFill>
            <a:srgbClr val="F5A6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7"/>
          <p:cNvSpPr/>
          <p:nvPr/>
        </p:nvSpPr>
        <p:spPr>
          <a:xfrm>
            <a:off x="594360" y="3337560"/>
            <a:ext cx="5029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150"/>
              <a:buFont typeface="Calibri"/>
              <a:buNone/>
            </a:pPr>
            <a:r>
              <a:rPr b="1" i="0" lang="en-US" sz="1150" u="none" cap="none" strike="noStrike">
                <a:solidFill>
                  <a:srgbClr val="ECF0F1"/>
                </a:solidFill>
                <a:latin typeface="Calibri"/>
                <a:ea typeface="Calibri"/>
                <a:cs typeface="Calibri"/>
                <a:sym typeface="Calibri"/>
              </a:rPr>
              <a:t>Framework Context Init</a:t>
            </a:r>
            <a:endParaRPr b="0" i="0" sz="1150" u="none" cap="none" strike="noStrike">
              <a:solidFill>
                <a:schemeClr val="dk1"/>
              </a:solidFill>
              <a:latin typeface="Calibri"/>
              <a:ea typeface="Calibri"/>
              <a:cs typeface="Calibri"/>
              <a:sym typeface="Calibri"/>
            </a:endParaRPr>
          </a:p>
        </p:txBody>
      </p:sp>
      <p:sp>
        <p:nvSpPr>
          <p:cNvPr id="431" name="Google Shape;431;p17"/>
          <p:cNvSpPr/>
          <p:nvPr/>
        </p:nvSpPr>
        <p:spPr>
          <a:xfrm>
            <a:off x="6345956" y="3337550"/>
            <a:ext cx="2386500" cy="502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5A623"/>
              </a:buClr>
              <a:buSzPts val="1200"/>
              <a:buFont typeface="Calibri"/>
              <a:buNone/>
            </a:pPr>
            <a:r>
              <a:rPr b="1" i="0" lang="en-US" sz="1200" u="none" cap="none" strike="noStrike">
                <a:solidFill>
                  <a:srgbClr val="F5A623"/>
                </a:solidFill>
                <a:latin typeface="Calibri"/>
                <a:ea typeface="Calibri"/>
                <a:cs typeface="Calibri"/>
                <a:sym typeface="Calibri"/>
              </a:rPr>
              <a:t>~1500ms (Spring) / ~50ms (Quarkus)</a:t>
            </a:r>
            <a:endParaRPr b="0" i="0" sz="1200" u="none" cap="none" strike="noStrike">
              <a:solidFill>
                <a:schemeClr val="dk1"/>
              </a:solidFill>
              <a:latin typeface="Calibri"/>
              <a:ea typeface="Calibri"/>
              <a:cs typeface="Calibri"/>
              <a:sym typeface="Calibri"/>
            </a:endParaRPr>
          </a:p>
        </p:txBody>
      </p:sp>
      <p:sp>
        <p:nvSpPr>
          <p:cNvPr id="432" name="Google Shape;432;p17"/>
          <p:cNvSpPr/>
          <p:nvPr/>
        </p:nvSpPr>
        <p:spPr>
          <a:xfrm>
            <a:off x="320040" y="3931920"/>
            <a:ext cx="8503920" cy="502920"/>
          </a:xfrm>
          <a:prstGeom prst="rect">
            <a:avLst/>
          </a:prstGeom>
          <a:solidFill>
            <a:srgbClr val="122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7"/>
          <p:cNvSpPr/>
          <p:nvPr/>
        </p:nvSpPr>
        <p:spPr>
          <a:xfrm>
            <a:off x="320040" y="3931920"/>
            <a:ext cx="164592" cy="502920"/>
          </a:xfrm>
          <a:prstGeom prst="rect">
            <a:avLst/>
          </a:prstGeom>
          <a:solidFill>
            <a:srgbClr val="E848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7"/>
          <p:cNvSpPr/>
          <p:nvPr/>
        </p:nvSpPr>
        <p:spPr>
          <a:xfrm>
            <a:off x="594360" y="3931920"/>
            <a:ext cx="5029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150"/>
              <a:buFont typeface="Calibri"/>
              <a:buNone/>
            </a:pPr>
            <a:r>
              <a:rPr b="1" i="0" lang="en-US" sz="1150" u="none" cap="none" strike="noStrike">
                <a:solidFill>
                  <a:srgbClr val="ECF0F1"/>
                </a:solidFill>
                <a:latin typeface="Calibri"/>
                <a:ea typeface="Calibri"/>
                <a:cs typeface="Calibri"/>
                <a:sym typeface="Calibri"/>
              </a:rPr>
              <a:t>JIT Compilation (C1/C2)</a:t>
            </a:r>
            <a:endParaRPr b="0" i="0" sz="1150" u="none" cap="none" strike="noStrike">
              <a:solidFill>
                <a:schemeClr val="dk1"/>
              </a:solidFill>
              <a:latin typeface="Calibri"/>
              <a:ea typeface="Calibri"/>
              <a:cs typeface="Calibri"/>
              <a:sym typeface="Calibri"/>
            </a:endParaRPr>
          </a:p>
        </p:txBody>
      </p:sp>
      <p:sp>
        <p:nvSpPr>
          <p:cNvPr id="435" name="Google Shape;435;p17"/>
          <p:cNvSpPr/>
          <p:nvPr/>
        </p:nvSpPr>
        <p:spPr>
          <a:xfrm>
            <a:off x="7635240" y="3931920"/>
            <a:ext cx="1097280" cy="5029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84855"/>
              </a:buClr>
              <a:buSzPts val="1200"/>
              <a:buFont typeface="Calibri"/>
              <a:buNone/>
            </a:pPr>
            <a:r>
              <a:rPr b="1" i="0" lang="en-US" sz="1200" u="none" cap="none" strike="noStrike">
                <a:solidFill>
                  <a:srgbClr val="E84855"/>
                </a:solidFill>
                <a:latin typeface="Calibri"/>
                <a:ea typeface="Calibri"/>
                <a:cs typeface="Calibri"/>
                <a:sym typeface="Calibri"/>
              </a:rPr>
              <a:t>~600ms</a:t>
            </a:r>
            <a:endParaRPr b="0" i="0" sz="1200" u="none" cap="none" strike="noStrike">
              <a:solidFill>
                <a:schemeClr val="dk1"/>
              </a:solidFill>
              <a:latin typeface="Calibri"/>
              <a:ea typeface="Calibri"/>
              <a:cs typeface="Calibri"/>
              <a:sym typeface="Calibri"/>
            </a:endParaRPr>
          </a:p>
        </p:txBody>
      </p:sp>
      <p:sp>
        <p:nvSpPr>
          <p:cNvPr id="436" name="Google Shape;436;p1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F0F7"/>
        </a:solidFill>
      </p:bgPr>
    </p:bg>
    <p:spTree>
      <p:nvGrpSpPr>
        <p:cNvPr id="441" name="Shape 441"/>
        <p:cNvGrpSpPr/>
        <p:nvPr/>
      </p:nvGrpSpPr>
      <p:grpSpPr>
        <a:xfrm>
          <a:off x="0" y="0"/>
          <a:ext cx="0" cy="0"/>
          <a:chOff x="0" y="0"/>
          <a:chExt cx="0" cy="0"/>
        </a:xfrm>
      </p:grpSpPr>
      <p:sp>
        <p:nvSpPr>
          <p:cNvPr id="442" name="Google Shape;442;p18"/>
          <p:cNvSpPr/>
          <p:nvPr/>
        </p:nvSpPr>
        <p:spPr>
          <a:xfrm>
            <a:off x="0" y="0"/>
            <a:ext cx="9144000" cy="64008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8"/>
          <p:cNvSpPr/>
          <p:nvPr/>
        </p:nvSpPr>
        <p:spPr>
          <a:xfrm>
            <a:off x="365760" y="0"/>
            <a:ext cx="6858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000"/>
              <a:buFont typeface="Calibri"/>
              <a:buNone/>
            </a:pPr>
            <a:r>
              <a:rPr b="1" i="0" lang="en-US" sz="2000" u="none" cap="none" strike="noStrike">
                <a:solidFill>
                  <a:srgbClr val="00BCD4"/>
                </a:solidFill>
                <a:latin typeface="Calibri"/>
                <a:ea typeface="Calibri"/>
                <a:cs typeface="Calibri"/>
                <a:sym typeface="Calibri"/>
              </a:rPr>
              <a:t>AOT Caching: CDS → AppCDS → Leyden AOT Cache</a:t>
            </a:r>
            <a:endParaRPr b="0" i="0" sz="2000" u="none" cap="none" strike="noStrike">
              <a:solidFill>
                <a:schemeClr val="dk1"/>
              </a:solidFill>
              <a:latin typeface="Calibri"/>
              <a:ea typeface="Calibri"/>
              <a:cs typeface="Calibri"/>
              <a:sym typeface="Calibri"/>
            </a:endParaRPr>
          </a:p>
        </p:txBody>
      </p:sp>
      <p:sp>
        <p:nvSpPr>
          <p:cNvPr id="444" name="Google Shape;444;p18"/>
          <p:cNvSpPr/>
          <p:nvPr/>
        </p:nvSpPr>
        <p:spPr>
          <a:xfrm>
            <a:off x="7315200" y="73152"/>
            <a:ext cx="1645920" cy="502920"/>
          </a:xfrm>
          <a:prstGeom prst="rect">
            <a:avLst/>
          </a:prstGeom>
          <a:solidFill>
            <a:srgbClr val="1E6FC8"/>
          </a:solidFill>
          <a:ln>
            <a:noFill/>
          </a:ln>
        </p:spPr>
        <p:txBody>
          <a:bodyPr anchorCtr="0" anchor="ctr" bIns="0" lIns="0" spcFirstLastPara="1" rIns="76200" wrap="square" tIns="76200">
            <a:noAutofit/>
          </a:bodyPr>
          <a:lstStyle/>
          <a:p>
            <a:pPr indent="0" lvl="0" marL="0" marR="0" rtl="0" algn="r">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Section 04</a:t>
            </a:r>
            <a:endParaRPr b="0" i="0" sz="1000" u="none" cap="none" strike="noStrike">
              <a:solidFill>
                <a:schemeClr val="dk1"/>
              </a:solidFill>
              <a:latin typeface="Calibri"/>
              <a:ea typeface="Calibri"/>
              <a:cs typeface="Calibri"/>
              <a:sym typeface="Calibri"/>
            </a:endParaRPr>
          </a:p>
        </p:txBody>
      </p:sp>
      <p:sp>
        <p:nvSpPr>
          <p:cNvPr id="445" name="Google Shape;445;p18"/>
          <p:cNvSpPr/>
          <p:nvPr/>
        </p:nvSpPr>
        <p:spPr>
          <a:xfrm>
            <a:off x="0" y="4960620"/>
            <a:ext cx="9144000" cy="18288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8"/>
          <p:cNvSpPr/>
          <p:nvPr/>
        </p:nvSpPr>
        <p:spPr>
          <a:xfrm>
            <a:off x="365760" y="4956048"/>
            <a:ext cx="841248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00"/>
              <a:buFont typeface="Calibri"/>
              <a:buNone/>
            </a:pPr>
            <a:r>
              <a:rPr b="0" i="0" lang="en-US" sz="900" u="none" cap="none" strike="noStrike">
                <a:solidFill>
                  <a:srgbClr val="ECF0F1"/>
                </a:solidFill>
                <a:latin typeface="Calibri"/>
                <a:ea typeface="Calibri"/>
                <a:cs typeface="Calibri"/>
                <a:sym typeface="Calibri"/>
              </a:rPr>
              <a:t>Taming the JVM: Java Optimization on OpenShift</a:t>
            </a:r>
            <a:endParaRPr b="0" i="0" sz="900" u="none" cap="none" strike="noStrike">
              <a:solidFill>
                <a:schemeClr val="dk1"/>
              </a:solidFill>
              <a:latin typeface="Calibri"/>
              <a:ea typeface="Calibri"/>
              <a:cs typeface="Calibri"/>
              <a:sym typeface="Calibri"/>
            </a:endParaRPr>
          </a:p>
        </p:txBody>
      </p:sp>
      <p:sp>
        <p:nvSpPr>
          <p:cNvPr id="447" name="Google Shape;447;p18"/>
          <p:cNvSpPr/>
          <p:nvPr/>
        </p:nvSpPr>
        <p:spPr>
          <a:xfrm>
            <a:off x="365760" y="74980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E7A"/>
              </a:buClr>
              <a:buSzPts val="1200"/>
              <a:buFont typeface="Calibri"/>
              <a:buNone/>
            </a:pPr>
            <a:r>
              <a:rPr b="0" i="1" lang="en-US" sz="1200" u="none" cap="none" strike="noStrike">
                <a:solidFill>
                  <a:srgbClr val="546E7A"/>
                </a:solidFill>
                <a:latin typeface="Calibri"/>
                <a:ea typeface="Calibri"/>
                <a:cs typeface="Calibri"/>
                <a:sym typeface="Calibri"/>
              </a:rPr>
              <a:t>Terminology: AppCDS (JDK ≤21) is now the AOT Cache (JDK 24+). Both terms appear in the wild.</a:t>
            </a:r>
            <a:endParaRPr b="0" i="0" sz="1200" u="none" cap="none" strike="noStrike">
              <a:solidFill>
                <a:schemeClr val="dk1"/>
              </a:solidFill>
              <a:latin typeface="Calibri"/>
              <a:ea typeface="Calibri"/>
              <a:cs typeface="Calibri"/>
              <a:sym typeface="Calibri"/>
            </a:endParaRPr>
          </a:p>
        </p:txBody>
      </p:sp>
      <p:sp>
        <p:nvSpPr>
          <p:cNvPr id="448" name="Google Shape;448;p18"/>
          <p:cNvSpPr/>
          <p:nvPr/>
        </p:nvSpPr>
        <p:spPr>
          <a:xfrm>
            <a:off x="320040" y="1097280"/>
            <a:ext cx="4069080" cy="146304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8"/>
          <p:cNvSpPr/>
          <p:nvPr/>
        </p:nvSpPr>
        <p:spPr>
          <a:xfrm>
            <a:off x="320040" y="1097280"/>
            <a:ext cx="54864" cy="146304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8"/>
          <p:cNvSpPr/>
          <p:nvPr/>
        </p:nvSpPr>
        <p:spPr>
          <a:xfrm>
            <a:off x="457200" y="1170432"/>
            <a:ext cx="3886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FC8"/>
              </a:buClr>
              <a:buSzPts val="1200"/>
              <a:buFont typeface="Calibri"/>
              <a:buNone/>
            </a:pPr>
            <a:r>
              <a:rPr b="1" i="0" lang="en-US" sz="1200" u="none" cap="none" strike="noStrike">
                <a:solidFill>
                  <a:srgbClr val="1E6FC8"/>
                </a:solidFill>
                <a:latin typeface="Calibri"/>
                <a:ea typeface="Calibri"/>
                <a:cs typeface="Calibri"/>
                <a:sym typeface="Calibri"/>
              </a:rPr>
              <a:t>CDS (default since JDK 12 — still on)</a:t>
            </a:r>
            <a:endParaRPr b="0" i="0" sz="1200" u="none" cap="none" strike="noStrike">
              <a:solidFill>
                <a:schemeClr val="dk1"/>
              </a:solidFill>
              <a:latin typeface="Calibri"/>
              <a:ea typeface="Calibri"/>
              <a:cs typeface="Calibri"/>
              <a:sym typeface="Calibri"/>
            </a:endParaRPr>
          </a:p>
        </p:txBody>
      </p:sp>
      <p:sp>
        <p:nvSpPr>
          <p:cNvPr id="451" name="Google Shape;451;p18"/>
          <p:cNvSpPr/>
          <p:nvPr/>
        </p:nvSpPr>
        <p:spPr>
          <a:xfrm>
            <a:off x="484632" y="1481328"/>
            <a:ext cx="3813048" cy="987552"/>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A2B3C"/>
              </a:buClr>
              <a:buSzPts val="1050"/>
              <a:buFont typeface="Calibri"/>
              <a:buChar char="•"/>
            </a:pPr>
            <a:r>
              <a:rPr b="0" i="0" lang="en-US" sz="1050" u="none" cap="none" strike="noStrike">
                <a:solidFill>
                  <a:srgbClr val="1A2B3C"/>
                </a:solidFill>
                <a:latin typeface="Calibri"/>
                <a:ea typeface="Calibri"/>
                <a:cs typeface="Calibri"/>
                <a:sym typeface="Calibri"/>
              </a:rPr>
              <a:t>JDK ships with a pre-built shared archive for JDK classes</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50"/>
              <a:buFont typeface="Calibri"/>
              <a:buChar char="•"/>
            </a:pPr>
            <a:r>
              <a:rPr b="0" i="0" lang="en-US" sz="1050" u="none" cap="none" strike="noStrike">
                <a:solidFill>
                  <a:srgbClr val="1A2B3C"/>
                </a:solidFill>
                <a:latin typeface="Calibri"/>
                <a:ea typeface="Calibri"/>
                <a:cs typeface="Calibri"/>
                <a:sym typeface="Calibri"/>
              </a:rPr>
              <a:t>Default CDS archive since JDK 12 (JEP 341) — no flags needed for JDK class sharing</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50"/>
              <a:buFont typeface="Calibri"/>
              <a:buChar char="•"/>
            </a:pPr>
            <a:r>
              <a:rPr b="0" i="0" lang="en-US" sz="1050" u="none" cap="none" strike="noStrike">
                <a:solidFill>
                  <a:srgbClr val="1A2B3C"/>
                </a:solidFill>
                <a:latin typeface="Calibri"/>
                <a:ea typeface="Calibri"/>
                <a:cs typeface="Calibri"/>
                <a:sym typeface="Calibri"/>
              </a:rPr>
              <a:t>Saves ~150-300ms on startup with zero configuration</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50"/>
              <a:buFont typeface="Calibri"/>
              <a:buChar char="•"/>
            </a:pPr>
            <a:r>
              <a:rPr b="0" i="0" lang="en-US" sz="1050" u="none" cap="none" strike="noStrike">
                <a:solidFill>
                  <a:srgbClr val="1A2B3C"/>
                </a:solidFill>
                <a:latin typeface="Calibri"/>
                <a:ea typeface="Calibri"/>
                <a:cs typeface="Calibri"/>
                <a:sym typeface="Calibri"/>
              </a:rPr>
              <a:t>Shared across all JVM processes on the same container node</a:t>
            </a:r>
            <a:endParaRPr b="0" i="0" sz="1050" u="none" cap="none" strike="noStrike">
              <a:solidFill>
                <a:schemeClr val="dk1"/>
              </a:solidFill>
              <a:latin typeface="Calibri"/>
              <a:ea typeface="Calibri"/>
              <a:cs typeface="Calibri"/>
              <a:sym typeface="Calibri"/>
            </a:endParaRPr>
          </a:p>
        </p:txBody>
      </p:sp>
      <p:sp>
        <p:nvSpPr>
          <p:cNvPr id="452" name="Google Shape;452;p18"/>
          <p:cNvSpPr/>
          <p:nvPr/>
        </p:nvSpPr>
        <p:spPr>
          <a:xfrm>
            <a:off x="320040" y="2697480"/>
            <a:ext cx="4069080" cy="173736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8"/>
          <p:cNvSpPr/>
          <p:nvPr/>
        </p:nvSpPr>
        <p:spPr>
          <a:xfrm>
            <a:off x="320040" y="2697480"/>
            <a:ext cx="54864" cy="1737360"/>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8"/>
          <p:cNvSpPr/>
          <p:nvPr/>
        </p:nvSpPr>
        <p:spPr>
          <a:xfrm>
            <a:off x="457200" y="2770632"/>
            <a:ext cx="3886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200"/>
              <a:buFont typeface="Calibri"/>
              <a:buNone/>
            </a:pPr>
            <a:r>
              <a:rPr b="1" i="0" lang="en-US" sz="1200" u="none" cap="none" strike="noStrike">
                <a:solidFill>
                  <a:srgbClr val="00BCD4"/>
                </a:solidFill>
                <a:latin typeface="Calibri"/>
                <a:ea typeface="Calibri"/>
                <a:cs typeface="Calibri"/>
                <a:sym typeface="Calibri"/>
              </a:rPr>
              <a:t>AOT Cache — Quarkus 3.33.1 (JDK 21: one property)</a:t>
            </a:r>
            <a:endParaRPr b="0" i="0" sz="1200" u="none" cap="none" strike="noStrike">
              <a:solidFill>
                <a:schemeClr val="dk1"/>
              </a:solidFill>
              <a:latin typeface="Calibri"/>
              <a:ea typeface="Calibri"/>
              <a:cs typeface="Calibri"/>
              <a:sym typeface="Calibri"/>
            </a:endParaRPr>
          </a:p>
        </p:txBody>
      </p:sp>
      <p:sp>
        <p:nvSpPr>
          <p:cNvPr id="455" name="Google Shape;455;p18"/>
          <p:cNvSpPr/>
          <p:nvPr/>
        </p:nvSpPr>
        <p:spPr>
          <a:xfrm>
            <a:off x="484632" y="3081528"/>
            <a:ext cx="3813048" cy="1261872"/>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A2B3C"/>
              </a:buClr>
              <a:buSzPts val="1050"/>
              <a:buFont typeface="Calibri"/>
              <a:buChar char="•"/>
            </a:pPr>
            <a:r>
              <a:rPr b="0" i="0" lang="en-US" sz="1050" u="none" cap="none" strike="noStrike">
                <a:solidFill>
                  <a:srgbClr val="1A2B3C"/>
                </a:solidFill>
                <a:latin typeface="Calibri"/>
                <a:ea typeface="Calibri"/>
                <a:cs typeface="Calibri"/>
                <a:sym typeface="Calibri"/>
              </a:rPr>
              <a:t>Requires @QuarkusIntegrationTest tests in your project — these are the training workload</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50"/>
              <a:buFont typeface="Calibri"/>
              <a:buChar char="•"/>
            </a:pPr>
            <a:r>
              <a:rPr b="0" i="0" lang="en-US" sz="1050" u="none" cap="none" strike="noStrike">
                <a:solidFill>
                  <a:srgbClr val="1A2B3C"/>
                </a:solidFill>
                <a:latin typeface="Calibri"/>
                <a:ea typeface="Calibri"/>
                <a:cs typeface="Calibri"/>
                <a:sym typeface="Calibri"/>
              </a:rPr>
              <a:t>quarkus.package.jar.aot.enabled=true — trains on @QuarkusIntegrationTest suite (required for optimal cache)</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50"/>
              <a:buFont typeface="Calibri"/>
              <a:buChar char="•"/>
            </a:pPr>
            <a:r>
              <a:rPr b="0" i="0" lang="en-US" sz="1050" u="none" cap="none" strike="noStrike">
                <a:solidFill>
                  <a:srgbClr val="1A2B3C"/>
                </a:solidFill>
                <a:latin typeface="Calibri"/>
                <a:ea typeface="Calibri"/>
                <a:cs typeface="Calibri"/>
                <a:sym typeface="Calibri"/>
              </a:rPr>
              <a:t>Quarkus JVM baseline: ~0.3-0.8s (already 5-10x faster than Spring Boot)</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50"/>
              <a:buFont typeface="Calibri"/>
              <a:buChar char="•"/>
            </a:pPr>
            <a:r>
              <a:rPr b="0" i="0" lang="en-US" sz="1050" u="none" cap="none" strike="noStrike">
                <a:solidFill>
                  <a:srgbClr val="1A2B3C"/>
                </a:solidFill>
                <a:latin typeface="Calibri"/>
                <a:ea typeface="Calibri"/>
                <a:cs typeface="Calibri"/>
                <a:sym typeface="Calibri"/>
              </a:rPr>
              <a:t>Quarkus JVM + Leyden AOT (JDK 25): ~0.15-0.4s (additional ~75% reduction)</a:t>
            </a:r>
            <a:endParaRPr b="0" i="0" sz="1050" u="none" cap="none" strike="noStrike">
              <a:solidFill>
                <a:schemeClr val="dk1"/>
              </a:solidFill>
              <a:latin typeface="Calibri"/>
              <a:ea typeface="Calibri"/>
              <a:cs typeface="Calibri"/>
              <a:sym typeface="Calibri"/>
            </a:endParaRPr>
          </a:p>
        </p:txBody>
      </p:sp>
      <p:sp>
        <p:nvSpPr>
          <p:cNvPr id="456" name="Google Shape;456;p18"/>
          <p:cNvSpPr/>
          <p:nvPr/>
        </p:nvSpPr>
        <p:spPr>
          <a:xfrm>
            <a:off x="4617720" y="1097280"/>
            <a:ext cx="42062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FC8"/>
              </a:buClr>
              <a:buSzPts val="1300"/>
              <a:buFont typeface="Calibri"/>
              <a:buNone/>
            </a:pPr>
            <a:r>
              <a:rPr b="1" i="0" lang="en-US" sz="1300" u="none" cap="none" strike="noStrike">
                <a:solidFill>
                  <a:srgbClr val="1E6FC8"/>
                </a:solidFill>
                <a:latin typeface="Calibri"/>
                <a:ea typeface="Calibri"/>
                <a:cs typeface="Calibri"/>
                <a:sym typeface="Calibri"/>
              </a:rPr>
              <a:t>AppCDS Setup in Docker:</a:t>
            </a:r>
            <a:endParaRPr b="0" i="0" sz="1300" u="none" cap="none" strike="noStrike">
              <a:solidFill>
                <a:schemeClr val="dk1"/>
              </a:solidFill>
              <a:latin typeface="Calibri"/>
              <a:ea typeface="Calibri"/>
              <a:cs typeface="Calibri"/>
              <a:sym typeface="Calibri"/>
            </a:endParaRPr>
          </a:p>
        </p:txBody>
      </p:sp>
      <p:sp>
        <p:nvSpPr>
          <p:cNvPr id="457" name="Google Shape;457;p18"/>
          <p:cNvSpPr/>
          <p:nvPr/>
        </p:nvSpPr>
        <p:spPr>
          <a:xfrm>
            <a:off x="4617720" y="1444752"/>
            <a:ext cx="4206240" cy="2788920"/>
          </a:xfrm>
          <a:prstGeom prst="rect">
            <a:avLst/>
          </a:prstGeom>
          <a:solidFill>
            <a:srgbClr val="0D2137"/>
          </a:solidFill>
          <a:ln cap="flat" cmpd="sng" w="1905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8"/>
          <p:cNvSpPr/>
          <p:nvPr/>
        </p:nvSpPr>
        <p:spPr>
          <a:xfrm>
            <a:off x="4690872" y="1490472"/>
            <a:ext cx="4059936" cy="2697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Quarkus 3.33.1 LTS: AppCDS = ONE property</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application.properties:</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quarkus.package.jar.aot.enabled=true</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Build — plugin trains on @QuarkusIntegrationTest suite:</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./mvnw verify  # (not package — integration tests needed)</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 No manual steps! Plugin handles everything.</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Dockerfile — Quarkus layered output (</a:t>
            </a:r>
            <a:r>
              <a:rPr lang="en-US" sz="950">
                <a:solidFill>
                  <a:srgbClr val="A8D8EA"/>
                </a:solidFill>
                <a:latin typeface="Courier New"/>
                <a:ea typeface="Courier New"/>
                <a:cs typeface="Courier New"/>
                <a:sym typeface="Courier New"/>
              </a:rPr>
              <a:t>Podman</a:t>
            </a:r>
            <a:r>
              <a:rPr b="0" i="0" lang="en-US" sz="950" u="none" cap="none" strike="noStrike">
                <a:solidFill>
                  <a:srgbClr val="A8D8EA"/>
                </a:solidFill>
                <a:latin typeface="Courier New"/>
                <a:ea typeface="Courier New"/>
                <a:cs typeface="Courier New"/>
                <a:sym typeface="Courier New"/>
              </a:rPr>
              <a:t> cache-friendly):</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COPY target/quarkus-app/lib/     ./lib/</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COPY target/quarkus-app/*.jar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COPY target/quarkus-app/*.cds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COPY target/quarkus-app/app/     ./app/</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COPY target/quarkus-app/quarkus/ ./quarkus/</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Run — archive activated automatically if found:</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ENV JAVA_OPTS="-XX:+UseContainerSupport -XX:MaxRAMPercentage=75"</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ENTRYPOINT ["java", "-jar", "quarkus-run.jar"]</a:t>
            </a:r>
            <a:endParaRPr b="0" i="0" sz="950" u="none" cap="none" strike="noStrike">
              <a:solidFill>
                <a:schemeClr val="dk1"/>
              </a:solidFill>
              <a:latin typeface="Calibri"/>
              <a:ea typeface="Calibri"/>
              <a:cs typeface="Calibri"/>
              <a:sym typeface="Calibri"/>
            </a:endParaRPr>
          </a:p>
        </p:txBody>
      </p:sp>
      <p:sp>
        <p:nvSpPr>
          <p:cNvPr id="459" name="Google Shape;459;p18"/>
          <p:cNvSpPr/>
          <p:nvPr/>
        </p:nvSpPr>
        <p:spPr>
          <a:xfrm>
            <a:off x="320040" y="4553712"/>
            <a:ext cx="8503920" cy="365760"/>
          </a:xfrm>
          <a:prstGeom prst="rect">
            <a:avLst/>
          </a:prstGeom>
          <a:solidFill>
            <a:srgbClr val="0A16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8"/>
          <p:cNvSpPr/>
          <p:nvPr/>
        </p:nvSpPr>
        <p:spPr>
          <a:xfrm>
            <a:off x="457200" y="4553712"/>
            <a:ext cx="8321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E5C3"/>
              </a:buClr>
              <a:buSzPts val="1050"/>
              <a:buFont typeface="Calibri"/>
              <a:buNone/>
            </a:pPr>
            <a:r>
              <a:rPr b="0" i="0" lang="en-US" sz="1050" u="none" cap="none" strike="noStrike">
                <a:solidFill>
                  <a:srgbClr val="00E5C3"/>
                </a:solidFill>
                <a:latin typeface="Calibri"/>
                <a:ea typeface="Calibri"/>
                <a:cs typeface="Calibri"/>
                <a:sym typeface="Calibri"/>
              </a:rPr>
              <a:t>📊  Quarkus benchmark: AppCDS ~0-5% on Quarkus (0.49s → 0.49s, within noise). The ~75% Quarkus win is the Leyden AOT cache (JDK 25): 0.83s → 0.22s. (The two baselines are different demo apps: the AppCDS demo's minimal service starts ~0.49s; the Leyden demo's heavier app baselines ~0.83s.) Spring Boot baseline ~6.6s (Quarkus project benchmark, cited Cummins/quarkus.io — controlled Linux, not measured here): Quarkus JVM starts well under a second vs several seconds for Spring.</a:t>
            </a:r>
            <a:endParaRPr b="0" i="0" sz="1050" u="none" cap="none" strike="noStrike">
              <a:solidFill>
                <a:schemeClr val="dk1"/>
              </a:solidFill>
              <a:latin typeface="Calibri"/>
              <a:ea typeface="Calibri"/>
              <a:cs typeface="Calibri"/>
              <a:sym typeface="Calibri"/>
            </a:endParaRPr>
          </a:p>
        </p:txBody>
      </p:sp>
      <p:sp>
        <p:nvSpPr>
          <p:cNvPr id="461" name="Google Shape;461;p1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F0F7"/>
        </a:solidFill>
      </p:bgPr>
    </p:bg>
    <p:spTree>
      <p:nvGrpSpPr>
        <p:cNvPr id="466" name="Shape 466"/>
        <p:cNvGrpSpPr/>
        <p:nvPr/>
      </p:nvGrpSpPr>
      <p:grpSpPr>
        <a:xfrm>
          <a:off x="0" y="0"/>
          <a:ext cx="0" cy="0"/>
          <a:chOff x="0" y="0"/>
          <a:chExt cx="0" cy="0"/>
        </a:xfrm>
      </p:grpSpPr>
      <p:sp>
        <p:nvSpPr>
          <p:cNvPr id="467" name="Google Shape;467;p19"/>
          <p:cNvSpPr/>
          <p:nvPr/>
        </p:nvSpPr>
        <p:spPr>
          <a:xfrm>
            <a:off x="0" y="0"/>
            <a:ext cx="9144000" cy="64008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9"/>
          <p:cNvSpPr/>
          <p:nvPr/>
        </p:nvSpPr>
        <p:spPr>
          <a:xfrm>
            <a:off x="365760" y="0"/>
            <a:ext cx="6858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000"/>
              <a:buFont typeface="Calibri"/>
              <a:buNone/>
            </a:pPr>
            <a:r>
              <a:rPr b="1" i="0" lang="en-US" sz="2000" u="none" cap="none" strike="noStrike">
                <a:solidFill>
                  <a:srgbClr val="00BCD4"/>
                </a:solidFill>
                <a:latin typeface="Calibri"/>
                <a:ea typeface="Calibri"/>
                <a:cs typeface="Calibri"/>
                <a:sym typeface="Calibri"/>
              </a:rPr>
              <a:t>Java 25 Virtual Threads — Quarkus @RunOnVirtualThread</a:t>
            </a:r>
            <a:endParaRPr b="0" i="0" sz="2000" u="none" cap="none" strike="noStrike">
              <a:solidFill>
                <a:schemeClr val="dk1"/>
              </a:solidFill>
              <a:latin typeface="Calibri"/>
              <a:ea typeface="Calibri"/>
              <a:cs typeface="Calibri"/>
              <a:sym typeface="Calibri"/>
            </a:endParaRPr>
          </a:p>
        </p:txBody>
      </p:sp>
      <p:sp>
        <p:nvSpPr>
          <p:cNvPr id="469" name="Google Shape;469;p19"/>
          <p:cNvSpPr/>
          <p:nvPr/>
        </p:nvSpPr>
        <p:spPr>
          <a:xfrm>
            <a:off x="7315200" y="73152"/>
            <a:ext cx="1645920" cy="502920"/>
          </a:xfrm>
          <a:prstGeom prst="rect">
            <a:avLst/>
          </a:prstGeom>
          <a:solidFill>
            <a:srgbClr val="1E6FC8"/>
          </a:solidFill>
          <a:ln>
            <a:noFill/>
          </a:ln>
        </p:spPr>
        <p:txBody>
          <a:bodyPr anchorCtr="0" anchor="ctr" bIns="0" lIns="0" spcFirstLastPara="1" rIns="76200" wrap="square" tIns="76200">
            <a:noAutofit/>
          </a:bodyPr>
          <a:lstStyle/>
          <a:p>
            <a:pPr indent="0" lvl="0" marL="0" marR="0" rtl="0" algn="r">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Section 04</a:t>
            </a:r>
            <a:endParaRPr b="0" i="0" sz="1000" u="none" cap="none" strike="noStrike">
              <a:solidFill>
                <a:schemeClr val="dk1"/>
              </a:solidFill>
              <a:latin typeface="Calibri"/>
              <a:ea typeface="Calibri"/>
              <a:cs typeface="Calibri"/>
              <a:sym typeface="Calibri"/>
            </a:endParaRPr>
          </a:p>
        </p:txBody>
      </p:sp>
      <p:sp>
        <p:nvSpPr>
          <p:cNvPr id="470" name="Google Shape;470;p19"/>
          <p:cNvSpPr/>
          <p:nvPr/>
        </p:nvSpPr>
        <p:spPr>
          <a:xfrm>
            <a:off x="0" y="4960620"/>
            <a:ext cx="9144000" cy="18288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9"/>
          <p:cNvSpPr/>
          <p:nvPr/>
        </p:nvSpPr>
        <p:spPr>
          <a:xfrm>
            <a:off x="365760" y="4956048"/>
            <a:ext cx="841248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00"/>
              <a:buFont typeface="Calibri"/>
              <a:buNone/>
            </a:pPr>
            <a:r>
              <a:rPr b="0" i="0" lang="en-US" sz="900" u="none" cap="none" strike="noStrike">
                <a:solidFill>
                  <a:srgbClr val="ECF0F1"/>
                </a:solidFill>
                <a:latin typeface="Calibri"/>
                <a:ea typeface="Calibri"/>
                <a:cs typeface="Calibri"/>
                <a:sym typeface="Calibri"/>
              </a:rPr>
              <a:t>Taming the JVM: Java Optimization on OpenShift</a:t>
            </a:r>
            <a:endParaRPr b="0" i="0" sz="900" u="none" cap="none" strike="noStrike">
              <a:solidFill>
                <a:schemeClr val="dk1"/>
              </a:solidFill>
              <a:latin typeface="Calibri"/>
              <a:ea typeface="Calibri"/>
              <a:cs typeface="Calibri"/>
              <a:sym typeface="Calibri"/>
            </a:endParaRPr>
          </a:p>
        </p:txBody>
      </p:sp>
      <p:sp>
        <p:nvSpPr>
          <p:cNvPr id="472" name="Google Shape;472;p19"/>
          <p:cNvSpPr/>
          <p:nvPr/>
        </p:nvSpPr>
        <p:spPr>
          <a:xfrm>
            <a:off x="365760" y="74980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E7A"/>
              </a:buClr>
              <a:buSzPts val="1200"/>
              <a:buFont typeface="Calibri"/>
              <a:buNone/>
            </a:pPr>
            <a:r>
              <a:rPr b="0" i="1" lang="en-US" sz="1200" u="none" cap="none" strike="noStrike">
                <a:solidFill>
                  <a:srgbClr val="546E7A"/>
                </a:solidFill>
                <a:latin typeface="Calibri"/>
                <a:ea typeface="Calibri"/>
                <a:cs typeface="Calibri"/>
                <a:sym typeface="Calibri"/>
              </a:rPr>
              <a:t>Project Loom (JEP 444) — one annotation in Quarkus vs one property in Spring Boot</a:t>
            </a:r>
            <a:endParaRPr b="0" i="0" sz="1200" u="none" cap="none" strike="noStrike">
              <a:solidFill>
                <a:schemeClr val="dk1"/>
              </a:solidFill>
              <a:latin typeface="Calibri"/>
              <a:ea typeface="Calibri"/>
              <a:cs typeface="Calibri"/>
              <a:sym typeface="Calibri"/>
            </a:endParaRPr>
          </a:p>
        </p:txBody>
      </p:sp>
      <p:sp>
        <p:nvSpPr>
          <p:cNvPr id="473" name="Google Shape;473;p19"/>
          <p:cNvSpPr/>
          <p:nvPr/>
        </p:nvSpPr>
        <p:spPr>
          <a:xfrm>
            <a:off x="320040" y="1097280"/>
            <a:ext cx="4069080" cy="182880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9"/>
          <p:cNvSpPr/>
          <p:nvPr/>
        </p:nvSpPr>
        <p:spPr>
          <a:xfrm>
            <a:off x="320040" y="1097280"/>
            <a:ext cx="54864" cy="182880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9"/>
          <p:cNvSpPr/>
          <p:nvPr/>
        </p:nvSpPr>
        <p:spPr>
          <a:xfrm>
            <a:off x="457200" y="1170432"/>
            <a:ext cx="3886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FC8"/>
              </a:buClr>
              <a:buSzPts val="1200"/>
              <a:buFont typeface="Calibri"/>
              <a:buNone/>
            </a:pPr>
            <a:r>
              <a:rPr b="1" i="0" lang="en-US" sz="1200" u="none" cap="none" strike="noStrike">
                <a:solidFill>
                  <a:srgbClr val="1E6FC8"/>
                </a:solidFill>
                <a:latin typeface="Calibri"/>
                <a:ea typeface="Calibri"/>
                <a:cs typeface="Calibri"/>
                <a:sym typeface="Calibri"/>
              </a:rPr>
              <a:t>What Are Virtual Threads? (JEP 444 — Java 21)</a:t>
            </a:r>
            <a:endParaRPr b="0" i="0" sz="1200" u="none" cap="none" strike="noStrike">
              <a:solidFill>
                <a:schemeClr val="dk1"/>
              </a:solidFill>
              <a:latin typeface="Calibri"/>
              <a:ea typeface="Calibri"/>
              <a:cs typeface="Calibri"/>
              <a:sym typeface="Calibri"/>
            </a:endParaRPr>
          </a:p>
        </p:txBody>
      </p:sp>
      <p:sp>
        <p:nvSpPr>
          <p:cNvPr id="476" name="Google Shape;476;p19"/>
          <p:cNvSpPr/>
          <p:nvPr/>
        </p:nvSpPr>
        <p:spPr>
          <a:xfrm>
            <a:off x="484632" y="1481328"/>
            <a:ext cx="3813048" cy="1353312"/>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A2B3C"/>
              </a:buClr>
              <a:buSzPts val="1050"/>
              <a:buFont typeface="Calibri"/>
              <a:buChar char="•"/>
            </a:pPr>
            <a:r>
              <a:rPr b="0" i="0" lang="en-US" sz="1050" u="none" cap="none" strike="noStrike">
                <a:solidFill>
                  <a:srgbClr val="1A2B3C"/>
                </a:solidFill>
                <a:latin typeface="Calibri"/>
                <a:ea typeface="Calibri"/>
                <a:cs typeface="Calibri"/>
                <a:sym typeface="Calibri"/>
              </a:rPr>
              <a:t>Lightweight threads scheduled on a small pool of OS (platform) threads</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50"/>
              <a:buFont typeface="Calibri"/>
              <a:buChar char="•"/>
            </a:pPr>
            <a:r>
              <a:rPr b="0" i="0" lang="en-US" sz="1050" u="none" cap="none" strike="noStrike">
                <a:solidFill>
                  <a:srgbClr val="1A2B3C"/>
                </a:solidFill>
                <a:latin typeface="Calibri"/>
                <a:ea typeface="Calibri"/>
                <a:cs typeface="Calibri"/>
                <a:sym typeface="Calibri"/>
              </a:rPr>
              <a:t>1M virtual threads use ~1 GB heap vs 1M platform threads = ~1 TB stack</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50"/>
              <a:buFont typeface="Calibri"/>
              <a:buChar char="•"/>
            </a:pPr>
            <a:r>
              <a:rPr b="0" i="0" lang="en-US" sz="1050" u="none" cap="none" strike="noStrike">
                <a:solidFill>
                  <a:srgbClr val="1A2B3C"/>
                </a:solidFill>
                <a:latin typeface="Calibri"/>
                <a:ea typeface="Calibri"/>
                <a:cs typeface="Calibri"/>
                <a:sym typeface="Calibri"/>
              </a:rPr>
              <a:t>Identical API: Thread.ofVirtual().start(() -&gt; ...) or ExecutorService</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50"/>
              <a:buFont typeface="Calibri"/>
              <a:buChar char="•"/>
            </a:pPr>
            <a:r>
              <a:rPr b="0" i="0" lang="en-US" sz="1050" u="none" cap="none" strike="noStrike">
                <a:solidFill>
                  <a:srgbClr val="1A2B3C"/>
                </a:solidFill>
                <a:latin typeface="Calibri"/>
                <a:ea typeface="Calibri"/>
                <a:cs typeface="Calibri"/>
                <a:sym typeface="Calibri"/>
              </a:rPr>
              <a:t>Quarkus 3.33.1: @RunOnVirtualThread on any resource method — no config needed</a:t>
            </a:r>
            <a:endParaRPr b="0" i="0" sz="1050" u="none" cap="none" strike="noStrike">
              <a:solidFill>
                <a:schemeClr val="dk1"/>
              </a:solidFill>
              <a:latin typeface="Calibri"/>
              <a:ea typeface="Calibri"/>
              <a:cs typeface="Calibri"/>
              <a:sym typeface="Calibri"/>
            </a:endParaRPr>
          </a:p>
        </p:txBody>
      </p:sp>
      <p:sp>
        <p:nvSpPr>
          <p:cNvPr id="477" name="Google Shape;477;p19"/>
          <p:cNvSpPr/>
          <p:nvPr/>
        </p:nvSpPr>
        <p:spPr>
          <a:xfrm>
            <a:off x="4709160" y="1097280"/>
            <a:ext cx="4069080" cy="182880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9"/>
          <p:cNvSpPr/>
          <p:nvPr/>
        </p:nvSpPr>
        <p:spPr>
          <a:xfrm>
            <a:off x="4709160" y="1097280"/>
            <a:ext cx="54864" cy="1828800"/>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9"/>
          <p:cNvSpPr/>
          <p:nvPr/>
        </p:nvSpPr>
        <p:spPr>
          <a:xfrm>
            <a:off x="4846320" y="1170432"/>
            <a:ext cx="3886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200"/>
              <a:buFont typeface="Calibri"/>
              <a:buNone/>
            </a:pPr>
            <a:r>
              <a:rPr b="1" i="0" lang="en-US" sz="1200" u="none" cap="none" strike="noStrike">
                <a:solidFill>
                  <a:srgbClr val="00BCD4"/>
                </a:solidFill>
                <a:latin typeface="Calibri"/>
                <a:ea typeface="Calibri"/>
                <a:cs typeface="Calibri"/>
                <a:sym typeface="Calibri"/>
              </a:rPr>
              <a:t>Impact on Container Sizing</a:t>
            </a:r>
            <a:endParaRPr b="0" i="0" sz="1200" u="none" cap="none" strike="noStrike">
              <a:solidFill>
                <a:schemeClr val="dk1"/>
              </a:solidFill>
              <a:latin typeface="Calibri"/>
              <a:ea typeface="Calibri"/>
              <a:cs typeface="Calibri"/>
              <a:sym typeface="Calibri"/>
            </a:endParaRPr>
          </a:p>
        </p:txBody>
      </p:sp>
      <p:sp>
        <p:nvSpPr>
          <p:cNvPr id="480" name="Google Shape;480;p19"/>
          <p:cNvSpPr/>
          <p:nvPr/>
        </p:nvSpPr>
        <p:spPr>
          <a:xfrm>
            <a:off x="4873752" y="1481328"/>
            <a:ext cx="3813048" cy="1353312"/>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A2B3C"/>
              </a:buClr>
              <a:buSzPts val="1050"/>
              <a:buFont typeface="Calibri"/>
              <a:buChar char="•"/>
            </a:pPr>
            <a:r>
              <a:rPr b="0" i="0" lang="en-US" sz="1050" u="none" cap="none" strike="noStrike">
                <a:solidFill>
                  <a:srgbClr val="1A2B3C"/>
                </a:solidFill>
                <a:latin typeface="Calibri"/>
                <a:ea typeface="Calibri"/>
                <a:cs typeface="Calibri"/>
                <a:sym typeface="Calibri"/>
              </a:rPr>
              <a:t>Thread stack memory (-Xss) budget shrinks dramatically for I/O-bound apps</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50"/>
              <a:buFont typeface="Calibri"/>
              <a:buChar char="•"/>
            </a:pPr>
            <a:r>
              <a:rPr b="0" i="0" lang="en-US" sz="1050" u="none" cap="none" strike="noStrike">
                <a:solidFill>
                  <a:srgbClr val="1A2B3C"/>
                </a:solidFill>
                <a:latin typeface="Calibri"/>
                <a:ea typeface="Calibri"/>
                <a:cs typeface="Calibri"/>
                <a:sym typeface="Calibri"/>
              </a:rPr>
              <a:t>A REST service that needed 512m for 200 threads now handles 10k with same memory</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50"/>
              <a:buFont typeface="Calibri"/>
              <a:buChar char="•"/>
            </a:pPr>
            <a:r>
              <a:rPr b="0" i="0" lang="en-US" sz="1050" u="none" cap="none" strike="noStrike">
                <a:solidFill>
                  <a:srgbClr val="1A2B3C"/>
                </a:solidFill>
                <a:latin typeface="Calibri"/>
                <a:ea typeface="Calibri"/>
                <a:cs typeface="Calibri"/>
                <a:sym typeface="Calibri"/>
              </a:rPr>
              <a:t>Enables smaller container limits → better bin-packing → lower cost</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50"/>
              <a:buFont typeface="Calibri"/>
              <a:buChar char="•"/>
            </a:pPr>
            <a:r>
              <a:rPr b="0" i="0" lang="en-US" sz="1050" u="none" cap="none" strike="noStrike">
                <a:solidFill>
                  <a:srgbClr val="1A2B3C"/>
                </a:solidFill>
                <a:latin typeface="Calibri"/>
                <a:ea typeface="Calibri"/>
                <a:cs typeface="Calibri"/>
                <a:sym typeface="Calibri"/>
              </a:rPr>
              <a:t>JVM metrics: jvm.threads.live counts platform (carrier) threads only — virtual threads are NOT counted there</a:t>
            </a:r>
            <a:endParaRPr b="0" i="0" sz="1050" u="none" cap="none" strike="noStrike">
              <a:solidFill>
                <a:schemeClr val="dk1"/>
              </a:solidFill>
              <a:latin typeface="Calibri"/>
              <a:ea typeface="Calibri"/>
              <a:cs typeface="Calibri"/>
              <a:sym typeface="Calibri"/>
            </a:endParaRPr>
          </a:p>
        </p:txBody>
      </p:sp>
      <p:sp>
        <p:nvSpPr>
          <p:cNvPr id="481" name="Google Shape;481;p19"/>
          <p:cNvSpPr/>
          <p:nvPr/>
        </p:nvSpPr>
        <p:spPr>
          <a:xfrm>
            <a:off x="365760" y="306324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FC8"/>
              </a:buClr>
              <a:buSzPts val="1200"/>
              <a:buFont typeface="Calibri"/>
              <a:buNone/>
            </a:pPr>
            <a:r>
              <a:rPr b="1" i="0" lang="en-US" sz="1200" u="none" cap="none" strike="noStrike">
                <a:solidFill>
                  <a:srgbClr val="1E6FC8"/>
                </a:solidFill>
                <a:latin typeface="Calibri"/>
                <a:ea typeface="Calibri"/>
                <a:cs typeface="Calibri"/>
                <a:sym typeface="Calibri"/>
              </a:rPr>
              <a:t>Quarkus 3.33.1 — @RunOnVirtualThread (Jakarta REST resource):</a:t>
            </a:r>
            <a:endParaRPr b="0" i="0" sz="1200" u="none" cap="none" strike="noStrike">
              <a:solidFill>
                <a:schemeClr val="dk1"/>
              </a:solidFill>
              <a:latin typeface="Calibri"/>
              <a:ea typeface="Calibri"/>
              <a:cs typeface="Calibri"/>
              <a:sym typeface="Calibri"/>
            </a:endParaRPr>
          </a:p>
        </p:txBody>
      </p:sp>
      <p:sp>
        <p:nvSpPr>
          <p:cNvPr id="482" name="Google Shape;482;p19"/>
          <p:cNvSpPr/>
          <p:nvPr/>
        </p:nvSpPr>
        <p:spPr>
          <a:xfrm>
            <a:off x="320040" y="3401568"/>
            <a:ext cx="8503920" cy="1417320"/>
          </a:xfrm>
          <a:prstGeom prst="rect">
            <a:avLst/>
          </a:prstGeom>
          <a:solidFill>
            <a:srgbClr val="0D2137"/>
          </a:solidFill>
          <a:ln cap="flat" cmpd="sng" w="1905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9"/>
          <p:cNvSpPr/>
          <p:nvPr/>
        </p:nvSpPr>
        <p:spPr>
          <a:xfrm>
            <a:off x="393192" y="3447288"/>
            <a:ext cx="8357616" cy="13258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Quarkus 3.33.1 — @RunOnVirtualThread on any resource method</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@Path("/allocate")</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@ApplicationScoped</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public class GcResource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@GET</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@RunOnVirtualThread   // ← One annotation. Done.</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public AllocResponse allocate(@QueryParam("mb") int mb)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 This runs on a Java 25 virtual thread automatically</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return doHeavyWork(mb);</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OCP Deployment — smaller container (fewer platform thread stacks):</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resources:</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requests:</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memory: "256Mi"  # Was 512Mi with platform threads</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limits:</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memory: "512Mi"  # VT stacks live in heap — no -Xss budget needed</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Verify: /q/metrics → jvm_threads_live_threads (platform carrier count)</a:t>
            </a:r>
            <a:endParaRPr b="0" i="0" sz="950" u="none" cap="none" strike="noStrike">
              <a:solidFill>
                <a:schemeClr val="dk1"/>
              </a:solidFill>
              <a:latin typeface="Calibri"/>
              <a:ea typeface="Calibri"/>
              <a:cs typeface="Calibri"/>
              <a:sym typeface="Calibri"/>
            </a:endParaRPr>
          </a:p>
        </p:txBody>
      </p:sp>
      <p:sp>
        <p:nvSpPr>
          <p:cNvPr id="484" name="Google Shape;484;p19"/>
          <p:cNvSpPr/>
          <p:nvPr/>
        </p:nvSpPr>
        <p:spPr>
          <a:xfrm>
            <a:off x="320040" y="4833208"/>
            <a:ext cx="8503920" cy="260000"/>
          </a:xfrm>
          <a:prstGeom prst="rect">
            <a:avLst/>
          </a:prstGeom>
          <a:solidFill>
            <a:srgbClr val="0A16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9"/>
          <p:cNvSpPr/>
          <p:nvPr/>
        </p:nvSpPr>
        <p:spPr>
          <a:xfrm>
            <a:off x="457200" y="4833208"/>
            <a:ext cx="8321040" cy="2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A623"/>
              </a:buClr>
              <a:buSzPts val="950"/>
              <a:buFont typeface="Calibri"/>
              <a:buNone/>
            </a:pPr>
            <a:r>
              <a:rPr b="0" i="0" lang="en-US" sz="850" u="none" cap="none" strike="noStrike">
                <a:solidFill>
                  <a:srgbClr val="F5A623"/>
                </a:solidFill>
                <a:latin typeface="Calibri"/>
                <a:ea typeface="Calibri"/>
                <a:cs typeface="Calibri"/>
                <a:sym typeface="Calibri"/>
              </a:rPr>
              <a:t>⚠  @RunOnVirtualThread = blocking code on cheap threads — the middle of the blocking → virtual threads → reactive spectrum (next slide). JDK 24/25 (JEP 491): synchronized no longer pins, so the old "use ReentrantLock" advice is obsolete; the real bound is now the Agroal pool.</a:t>
            </a:r>
            <a:endParaRPr b="0" i="0" sz="950" u="none" cap="none" strike="noStrike">
              <a:solidFill>
                <a:schemeClr val="dk1"/>
              </a:solidFill>
              <a:latin typeface="Calibri"/>
              <a:ea typeface="Calibri"/>
              <a:cs typeface="Calibri"/>
              <a:sym typeface="Calibri"/>
            </a:endParaRPr>
          </a:p>
        </p:txBody>
      </p:sp>
      <p:sp>
        <p:nvSpPr>
          <p:cNvPr id="486" name="Google Shape;486;p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F0F7"/>
        </a:solidFill>
      </p:bgPr>
    </p:bg>
    <p:spTree>
      <p:nvGrpSpPr>
        <p:cNvPr id="5100" name="Shape 5100"/>
        <p:cNvGrpSpPr/>
        <p:nvPr/>
      </p:nvGrpSpPr>
      <p:grpSpPr>
        <a:xfrm>
          <a:off x="0" y="0"/>
          <a:ext cx="0" cy="0"/>
          <a:chOff x="0" y="0"/>
          <a:chExt cx="0" cy="0"/>
        </a:xfrm>
      </p:grpSpPr>
      <p:sp>
        <p:nvSpPr>
          <p:cNvPr id="5101" name="Google Shape;5101;p56"/>
          <p:cNvSpPr/>
          <p:nvPr/>
        </p:nvSpPr>
        <p:spPr>
          <a:xfrm>
            <a:off x="0" y="0"/>
            <a:ext cx="9144000" cy="64008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2" name="Google Shape;5102;p56"/>
          <p:cNvSpPr/>
          <p:nvPr/>
        </p:nvSpPr>
        <p:spPr>
          <a:xfrm>
            <a:off x="365760" y="0"/>
            <a:ext cx="6858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400"/>
              <a:buFont typeface="Calibri"/>
              <a:buNone/>
            </a:pPr>
            <a:r>
              <a:rPr b="1" i="0" lang="en-US" sz="1400" u="none" cap="none" strike="noStrike">
                <a:solidFill>
                  <a:srgbClr val="00BCD4"/>
                </a:solidFill>
                <a:latin typeface="Calibri"/>
                <a:ea typeface="Calibri"/>
                <a:cs typeface="Calibri"/>
                <a:sym typeface="Calibri"/>
              </a:rPr>
              <a:t>Choosing an Execution Model — Blocking, Virtual Threads, or Reactive</a:t>
            </a:r>
            <a:endParaRPr b="0" i="0" sz="1400" u="none" cap="none" strike="noStrike">
              <a:solidFill>
                <a:schemeClr val="dk1"/>
              </a:solidFill>
              <a:latin typeface="Calibri"/>
              <a:ea typeface="Calibri"/>
              <a:cs typeface="Calibri"/>
              <a:sym typeface="Calibri"/>
            </a:endParaRPr>
          </a:p>
        </p:txBody>
      </p:sp>
      <p:sp>
        <p:nvSpPr>
          <p:cNvPr id="5103" name="Google Shape;5103;p56"/>
          <p:cNvSpPr/>
          <p:nvPr/>
        </p:nvSpPr>
        <p:spPr>
          <a:xfrm>
            <a:off x="7315200" y="73152"/>
            <a:ext cx="1645920" cy="50292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4" name="Google Shape;5104;p56"/>
          <p:cNvSpPr/>
          <p:nvPr/>
        </p:nvSpPr>
        <p:spPr>
          <a:xfrm>
            <a:off x="7315200" y="73152"/>
            <a:ext cx="1645920" cy="502920"/>
          </a:xfrm>
          <a:prstGeom prst="rect">
            <a:avLst/>
          </a:prstGeom>
          <a:noFill/>
          <a:ln>
            <a:noFill/>
          </a:ln>
        </p:spPr>
        <p:txBody>
          <a:bodyPr anchorCtr="0" anchor="ctr" bIns="0" lIns="0" spcFirstLastPara="1" rIns="76200" wrap="square" tIns="76200">
            <a:noAutofit/>
          </a:bodyPr>
          <a:lstStyle/>
          <a:p>
            <a:pPr indent="0" lvl="0" marL="0" marR="0" rtl="0" algn="r">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Section 04</a:t>
            </a:r>
            <a:endParaRPr b="0" i="0" sz="1000" u="none" cap="none" strike="noStrike">
              <a:solidFill>
                <a:schemeClr val="dk1"/>
              </a:solidFill>
              <a:latin typeface="Calibri"/>
              <a:ea typeface="Calibri"/>
              <a:cs typeface="Calibri"/>
              <a:sym typeface="Calibri"/>
            </a:endParaRPr>
          </a:p>
        </p:txBody>
      </p:sp>
      <p:sp>
        <p:nvSpPr>
          <p:cNvPr id="5105" name="Google Shape;5105;p56"/>
          <p:cNvSpPr/>
          <p:nvPr/>
        </p:nvSpPr>
        <p:spPr>
          <a:xfrm>
            <a:off x="0" y="4960620"/>
            <a:ext cx="9144000" cy="18288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6" name="Google Shape;5106;p56"/>
          <p:cNvSpPr/>
          <p:nvPr/>
        </p:nvSpPr>
        <p:spPr>
          <a:xfrm>
            <a:off x="365760" y="4956048"/>
            <a:ext cx="841248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00"/>
              <a:buFont typeface="Calibri"/>
              <a:buNone/>
            </a:pPr>
            <a:r>
              <a:rPr b="0" i="0" lang="en-US" sz="900" u="none" cap="none" strike="noStrike">
                <a:solidFill>
                  <a:srgbClr val="ECF0F1"/>
                </a:solidFill>
                <a:latin typeface="Calibri"/>
                <a:ea typeface="Calibri"/>
                <a:cs typeface="Calibri"/>
                <a:sym typeface="Calibri"/>
              </a:rPr>
              <a:t>Taming the JVM: Java Optimization on OpenShift</a:t>
            </a:r>
            <a:endParaRPr b="0" i="0" sz="900" u="none" cap="none" strike="noStrike">
              <a:solidFill>
                <a:schemeClr val="dk1"/>
              </a:solidFill>
              <a:latin typeface="Calibri"/>
              <a:ea typeface="Calibri"/>
              <a:cs typeface="Calibri"/>
              <a:sym typeface="Calibri"/>
            </a:endParaRPr>
          </a:p>
        </p:txBody>
      </p:sp>
      <p:sp>
        <p:nvSpPr>
          <p:cNvPr id="5107" name="Google Shape;5107;p56"/>
          <p:cNvSpPr/>
          <p:nvPr/>
        </p:nvSpPr>
        <p:spPr>
          <a:xfrm>
            <a:off x="365760" y="74980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E7A"/>
              </a:buClr>
              <a:buSzPts val="1200"/>
              <a:buFont typeface="Calibri"/>
              <a:buNone/>
            </a:pPr>
            <a:r>
              <a:rPr b="0" i="1" lang="en-US" sz="1200" u="none" cap="none" strike="noStrike">
                <a:solidFill>
                  <a:srgbClr val="546E7A"/>
                </a:solidFill>
                <a:latin typeface="Calibri"/>
                <a:ea typeface="Calibri"/>
                <a:cs typeface="Calibri"/>
                <a:sym typeface="Calibri"/>
              </a:rPr>
              <a:t>Same Quarkus REST stack, three concurrency models — a trade-off, not a race to reactive</a:t>
            </a:r>
            <a:endParaRPr b="0" i="0" sz="1200" u="none" cap="none" strike="noStrike">
              <a:solidFill>
                <a:schemeClr val="dk1"/>
              </a:solidFill>
              <a:latin typeface="Calibri"/>
              <a:ea typeface="Calibri"/>
              <a:cs typeface="Calibri"/>
              <a:sym typeface="Calibri"/>
            </a:endParaRPr>
          </a:p>
        </p:txBody>
      </p:sp>
      <p:sp>
        <p:nvSpPr>
          <p:cNvPr id="5110" name="Google Shape;5110;p56"/>
          <p:cNvSpPr/>
          <p:nvPr/>
        </p:nvSpPr>
        <p:spPr>
          <a:xfrm>
            <a:off x="320040" y="1097280"/>
            <a:ext cx="2712720" cy="360000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1" name="Google Shape;5111;p56"/>
          <p:cNvSpPr/>
          <p:nvPr/>
        </p:nvSpPr>
        <p:spPr>
          <a:xfrm>
            <a:off x="320040" y="1097280"/>
            <a:ext cx="54864" cy="360000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2" name="Google Shape;5112;p56"/>
          <p:cNvSpPr/>
          <p:nvPr/>
        </p:nvSpPr>
        <p:spPr>
          <a:xfrm>
            <a:off x="457200" y="1170432"/>
            <a:ext cx="2438400" cy="45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6FC8"/>
              </a:buClr>
              <a:buSzPts val="1050"/>
              <a:buFont typeface="Calibri"/>
              <a:buNone/>
            </a:pPr>
            <a:r>
              <a:rPr b="1" i="0" lang="en-US" sz="1050" u="none" cap="none" strike="noStrike">
                <a:solidFill>
                  <a:srgbClr val="1E6FC8"/>
                </a:solidFill>
                <a:latin typeface="Calibri"/>
                <a:ea typeface="Calibri"/>
                <a:cs typeface="Calibri"/>
                <a:sym typeface="Calibri"/>
              </a:rPr>
              <a:t>1 · Blocking Imperative (the default)</a:t>
            </a:r>
            <a:endParaRPr b="0" i="0" sz="1050" u="none" cap="none" strike="noStrike">
              <a:solidFill>
                <a:schemeClr val="dk1"/>
              </a:solidFill>
              <a:latin typeface="Calibri"/>
              <a:ea typeface="Calibri"/>
              <a:cs typeface="Calibri"/>
              <a:sym typeface="Calibri"/>
            </a:endParaRPr>
          </a:p>
        </p:txBody>
      </p:sp>
      <p:sp>
        <p:nvSpPr>
          <p:cNvPr id="5113" name="Google Shape;5113;p56"/>
          <p:cNvSpPr/>
          <p:nvPr/>
        </p:nvSpPr>
        <p:spPr>
          <a:xfrm>
            <a:off x="484632" y="1660432"/>
            <a:ext cx="2383536" cy="2945423"/>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A2B3C"/>
              </a:buClr>
              <a:buSzPts val="950"/>
              <a:buFont typeface="Calibri"/>
              <a:buChar char="•"/>
            </a:pPr>
            <a:r>
              <a:rPr b="0" i="0" lang="en-US" sz="950" u="none" cap="none" strike="noStrike">
                <a:solidFill>
                  <a:srgbClr val="1A2B3C"/>
                </a:solidFill>
                <a:latin typeface="Calibri"/>
                <a:ea typeface="Calibri"/>
                <a:cs typeface="Calibri"/>
                <a:sym typeface="Calibri"/>
              </a:rPr>
              <a:t>Quarkus REST + Hibernate ORM, plain synchronous code</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950"/>
              <a:buFont typeface="Calibri"/>
              <a:buChar char="•"/>
            </a:pPr>
            <a:r>
              <a:rPr b="0" i="0" lang="en-US" sz="950" u="none" cap="none" strike="noStrike">
                <a:solidFill>
                  <a:srgbClr val="1A2B3C"/>
                </a:solidFill>
                <a:latin typeface="Calibri"/>
                <a:ea typeface="Calibri"/>
                <a:cs typeface="Calibri"/>
                <a:sym typeface="Calibri"/>
              </a:rPr>
              <a:t>Runs on the worker pool — one thread per in-flight request</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950"/>
              <a:buFont typeface="Calibri"/>
              <a:buChar char="•"/>
            </a:pPr>
            <a:r>
              <a:rPr b="0" i="0" lang="en-US" sz="950" u="none" cap="none" strike="noStrike">
                <a:solidFill>
                  <a:srgbClr val="1A2B3C"/>
                </a:solidFill>
                <a:latin typeface="Calibri"/>
                <a:ea typeface="Calibri"/>
                <a:cs typeface="Calibri"/>
                <a:sym typeface="Calibri"/>
              </a:rPr>
              <a:t>Easiest to write, read, and debug; stack traces make sense</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950"/>
              <a:buFont typeface="Calibri"/>
              <a:buChar char="•"/>
            </a:pPr>
            <a:r>
              <a:rPr b="0" i="0" lang="en-US" sz="950" u="none" cap="none" strike="noStrike">
                <a:solidFill>
                  <a:srgbClr val="1A2B3C"/>
                </a:solidFill>
                <a:latin typeface="Calibri"/>
                <a:ea typeface="Calibri"/>
                <a:cs typeface="Calibri"/>
                <a:sym typeface="Calibri"/>
              </a:rPr>
              <a:t>Scales until the worker pool is exhausted — fine for most services</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950"/>
              <a:buFont typeface="Calibri"/>
              <a:buChar char="•"/>
            </a:pPr>
            <a:r>
              <a:rPr b="0" i="0" lang="en-US" sz="950" u="none" cap="none" strike="noStrike">
                <a:solidFill>
                  <a:srgbClr val="1A2B3C"/>
                </a:solidFill>
                <a:latin typeface="Calibri"/>
                <a:ea typeface="Calibri"/>
                <a:cs typeface="Calibri"/>
                <a:sym typeface="Calibri"/>
              </a:rPr>
              <a:t>Best for: standard CRUD / business apps; teams who value simplicity</a:t>
            </a:r>
            <a:endParaRPr b="0" i="0" sz="950" u="none" cap="none" strike="noStrike">
              <a:solidFill>
                <a:schemeClr val="dk1"/>
              </a:solidFill>
              <a:latin typeface="Calibri"/>
              <a:ea typeface="Calibri"/>
              <a:cs typeface="Calibri"/>
              <a:sym typeface="Calibri"/>
            </a:endParaRPr>
          </a:p>
        </p:txBody>
      </p:sp>
      <p:sp>
        <p:nvSpPr>
          <p:cNvPr id="5120" name="Google Shape;5120;p56"/>
          <p:cNvSpPr/>
          <p:nvPr/>
        </p:nvSpPr>
        <p:spPr>
          <a:xfrm>
            <a:off x="3215640" y="1097280"/>
            <a:ext cx="2712720" cy="360000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1" name="Google Shape;5121;p56"/>
          <p:cNvSpPr/>
          <p:nvPr/>
        </p:nvSpPr>
        <p:spPr>
          <a:xfrm>
            <a:off x="3215640" y="1097280"/>
            <a:ext cx="54864" cy="3600000"/>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2" name="Google Shape;5122;p56"/>
          <p:cNvSpPr/>
          <p:nvPr/>
        </p:nvSpPr>
        <p:spPr>
          <a:xfrm>
            <a:off x="3352800" y="1170432"/>
            <a:ext cx="2438400" cy="45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BCD4"/>
              </a:buClr>
              <a:buSzPts val="1050"/>
              <a:buFont typeface="Calibri"/>
              <a:buNone/>
            </a:pPr>
            <a:r>
              <a:rPr b="1" i="0" lang="en-US" sz="1050" u="none" cap="none" strike="noStrike">
                <a:solidFill>
                  <a:srgbClr val="00BCD4"/>
                </a:solidFill>
                <a:latin typeface="Calibri"/>
                <a:ea typeface="Calibri"/>
                <a:cs typeface="Calibri"/>
                <a:sym typeface="Calibri"/>
              </a:rPr>
              <a:t>2 · @RunOnVirtualThread (blocking code, cheap threads)</a:t>
            </a:r>
            <a:endParaRPr b="0" i="0" sz="1050" u="none" cap="none" strike="noStrike">
              <a:solidFill>
                <a:schemeClr val="dk1"/>
              </a:solidFill>
              <a:latin typeface="Calibri"/>
              <a:ea typeface="Calibri"/>
              <a:cs typeface="Calibri"/>
              <a:sym typeface="Calibri"/>
            </a:endParaRPr>
          </a:p>
        </p:txBody>
      </p:sp>
      <p:sp>
        <p:nvSpPr>
          <p:cNvPr id="5123" name="Google Shape;5123;p56"/>
          <p:cNvSpPr/>
          <p:nvPr/>
        </p:nvSpPr>
        <p:spPr>
          <a:xfrm>
            <a:off x="3380232" y="1660432"/>
            <a:ext cx="2383536" cy="2945423"/>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A2B3C"/>
              </a:buClr>
              <a:buSzPts val="950"/>
              <a:buFont typeface="Calibri"/>
              <a:buChar char="•"/>
            </a:pPr>
            <a:r>
              <a:rPr b="0" i="0" lang="en-US" sz="950" u="none" cap="none" strike="noStrike">
                <a:solidFill>
                  <a:srgbClr val="1A2B3C"/>
                </a:solidFill>
                <a:latin typeface="Calibri"/>
                <a:ea typeface="Calibri"/>
                <a:cs typeface="Calibri"/>
                <a:sym typeface="Calibri"/>
              </a:rPr>
              <a:t>Same blocking style — one annotation, keep Hibernate ORM</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950"/>
              <a:buFont typeface="Calibri"/>
              <a:buChar char="•"/>
            </a:pPr>
            <a:r>
              <a:rPr b="0" i="0" lang="en-US" sz="950" u="none" cap="none" strike="noStrike">
                <a:solidFill>
                  <a:srgbClr val="1A2B3C"/>
                </a:solidFill>
                <a:latin typeface="Calibri"/>
                <a:ea typeface="Calibri"/>
                <a:cs typeface="Calibri"/>
                <a:sym typeface="Calibri"/>
              </a:rPr>
              <a:t>Virtual threads are cheap: thousands of concurrent I/O-bound requests</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950"/>
              <a:buFont typeface="Calibri"/>
              <a:buChar char="•"/>
            </a:pPr>
            <a:r>
              <a:rPr b="0" i="0" lang="en-US" sz="950" u="none" cap="none" strike="noStrike">
                <a:solidFill>
                  <a:srgbClr val="1A2B3C"/>
                </a:solidFill>
                <a:latin typeface="Calibri"/>
                <a:ea typeface="Calibri"/>
                <a:cs typeface="Calibri"/>
                <a:sym typeface="Calibri"/>
              </a:rPr>
              <a:t>JDK 24/25 (JEP 491): synchronized no longer pins — old "avoid synchronized" advice is obsolete</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950"/>
              <a:buFont typeface="Calibri"/>
              <a:buChar char="•"/>
            </a:pPr>
            <a:r>
              <a:rPr b="0" i="0" lang="en-US" sz="950" u="none" cap="none" strike="noStrike">
                <a:solidFill>
                  <a:srgbClr val="1A2B3C"/>
                </a:solidFill>
                <a:latin typeface="Calibri"/>
                <a:ea typeface="Calibri"/>
                <a:cs typeface="Calibri"/>
                <a:sym typeface="Calibri"/>
              </a:rPr>
              <a:t>New real bound is the Agroal DB connection pool, not the thread count</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950"/>
              <a:buFont typeface="Calibri"/>
              <a:buChar char="•"/>
            </a:pPr>
            <a:r>
              <a:rPr b="0" i="0" lang="en-US" sz="950" u="none" cap="none" strike="noStrike">
                <a:solidFill>
                  <a:srgbClr val="1A2B3C"/>
                </a:solidFill>
                <a:latin typeface="Calibri"/>
                <a:ea typeface="Calibri"/>
                <a:cs typeface="Calibri"/>
                <a:sym typeface="Calibri"/>
              </a:rPr>
              <a:t>Best for: high-concurrency I/O-bound services that stay imperative</a:t>
            </a:r>
            <a:endParaRPr b="0" i="0" sz="950" u="none" cap="none" strike="noStrike">
              <a:solidFill>
                <a:schemeClr val="dk1"/>
              </a:solidFill>
              <a:latin typeface="Calibri"/>
              <a:ea typeface="Calibri"/>
              <a:cs typeface="Calibri"/>
              <a:sym typeface="Calibri"/>
            </a:endParaRPr>
          </a:p>
        </p:txBody>
      </p:sp>
      <p:sp>
        <p:nvSpPr>
          <p:cNvPr id="5130" name="Google Shape;5130;p56"/>
          <p:cNvSpPr/>
          <p:nvPr/>
        </p:nvSpPr>
        <p:spPr>
          <a:xfrm>
            <a:off x="6111240" y="1097280"/>
            <a:ext cx="2712720" cy="360000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1" name="Google Shape;5131;p56"/>
          <p:cNvSpPr/>
          <p:nvPr/>
        </p:nvSpPr>
        <p:spPr>
          <a:xfrm>
            <a:off x="6111240" y="1097280"/>
            <a:ext cx="54864" cy="3600000"/>
          </a:xfrm>
          <a:prstGeom prst="rect">
            <a:avLst/>
          </a:prstGeom>
          <a:solidFill>
            <a:srgbClr val="F5A6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2" name="Google Shape;5132;p56"/>
          <p:cNvSpPr/>
          <p:nvPr/>
        </p:nvSpPr>
        <p:spPr>
          <a:xfrm>
            <a:off x="6248400" y="1170432"/>
            <a:ext cx="2438400" cy="45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A623"/>
              </a:buClr>
              <a:buSzPts val="1050"/>
              <a:buFont typeface="Calibri"/>
              <a:buNone/>
            </a:pPr>
            <a:r>
              <a:rPr b="1" i="0" lang="en-US" sz="1050" u="none" cap="none" strike="noStrike">
                <a:solidFill>
                  <a:srgbClr val="F5A623"/>
                </a:solidFill>
                <a:latin typeface="Calibri"/>
                <a:ea typeface="Calibri"/>
                <a:cs typeface="Calibri"/>
                <a:sym typeface="Calibri"/>
              </a:rPr>
              <a:t>3 · Reactive (Mutiny + Hibernate Reactive)</a:t>
            </a:r>
            <a:endParaRPr b="0" i="0" sz="1050" u="none" cap="none" strike="noStrike">
              <a:solidFill>
                <a:schemeClr val="dk1"/>
              </a:solidFill>
              <a:latin typeface="Calibri"/>
              <a:ea typeface="Calibri"/>
              <a:cs typeface="Calibri"/>
              <a:sym typeface="Calibri"/>
            </a:endParaRPr>
          </a:p>
        </p:txBody>
      </p:sp>
      <p:sp>
        <p:nvSpPr>
          <p:cNvPr id="5133" name="Google Shape;5133;p56"/>
          <p:cNvSpPr/>
          <p:nvPr/>
        </p:nvSpPr>
        <p:spPr>
          <a:xfrm>
            <a:off x="6275832" y="1660432"/>
            <a:ext cx="2383536" cy="2945423"/>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A2B3C"/>
              </a:buClr>
              <a:buSzPts val="950"/>
              <a:buFont typeface="Calibri"/>
              <a:buChar char="•"/>
            </a:pPr>
            <a:r>
              <a:rPr b="0" i="0" lang="en-US" sz="950" u="none" cap="none" strike="noStrike">
                <a:solidFill>
                  <a:srgbClr val="1A2B3C"/>
                </a:solidFill>
                <a:latin typeface="Calibri"/>
                <a:ea typeface="Calibri"/>
                <a:cs typeface="Calibri"/>
                <a:sym typeface="Calibri"/>
              </a:rPr>
              <a:t>Mutiny Uni/Multi on the Vert.x event loop, Hibernate Reactive</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950"/>
              <a:buFont typeface="Calibri"/>
              <a:buChar char="•"/>
            </a:pPr>
            <a:r>
              <a:rPr b="0" i="0" lang="en-US" sz="950" u="none" cap="none" strike="noStrike">
                <a:solidFill>
                  <a:srgbClr val="1A2B3C"/>
                </a:solidFill>
                <a:latin typeface="Calibri"/>
                <a:ea typeface="Calibri"/>
                <a:cs typeface="Calibri"/>
                <a:sym typeface="Calibri"/>
              </a:rPr>
              <a:t>Highest throughput per core; natural fit for streaming (the gRPC Multi)</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950"/>
              <a:buFont typeface="Calibri"/>
              <a:buChar char="•"/>
            </a:pPr>
            <a:r>
              <a:rPr b="0" i="0" lang="en-US" sz="950" u="none" cap="none" strike="noStrike">
                <a:solidFill>
                  <a:srgbClr val="1A2B3C"/>
                </a:solidFill>
                <a:latin typeface="Calibri"/>
                <a:ea typeface="Calibri"/>
                <a:cs typeface="Calibri"/>
                <a:sym typeface="Calibri"/>
              </a:rPr>
              <a:t>Non-blocking all the way down — one blocking call stalls the event loop</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950"/>
              <a:buFont typeface="Calibri"/>
              <a:buChar char="•"/>
            </a:pPr>
            <a:r>
              <a:rPr b="0" i="0" lang="en-US" sz="950" u="none" cap="none" strike="noStrike">
                <a:solidFill>
                  <a:srgbClr val="1A2B3C"/>
                </a:solidFill>
                <a:latin typeface="Calibri"/>
                <a:ea typeface="Calibri"/>
                <a:cs typeface="Calibri"/>
                <a:sym typeface="Calibri"/>
              </a:rPr>
              <a:t>Steeper model: composition, back-pressure, harder debugging</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950"/>
              <a:buFont typeface="Calibri"/>
              <a:buChar char="•"/>
            </a:pPr>
            <a:r>
              <a:rPr b="0" i="0" lang="en-US" sz="950" u="none" cap="none" strike="noStrike">
                <a:solidFill>
                  <a:srgbClr val="1A2B3C"/>
                </a:solidFill>
                <a:latin typeface="Calibri"/>
                <a:ea typeface="Calibri"/>
                <a:cs typeface="Calibri"/>
                <a:sym typeface="Calibri"/>
              </a:rPr>
              <a:t>Best for: streaming, very high fan-out, tight resource budgets</a:t>
            </a:r>
            <a:endParaRPr b="0" i="0" sz="950" u="none" cap="none" strike="noStrike">
              <a:solidFill>
                <a:schemeClr val="dk1"/>
              </a:solidFill>
              <a:latin typeface="Calibri"/>
              <a:ea typeface="Calibri"/>
              <a:cs typeface="Calibri"/>
              <a:sym typeface="Calibri"/>
            </a:endParaRPr>
          </a:p>
        </p:txBody>
      </p:sp>
      <p:sp>
        <p:nvSpPr>
          <p:cNvPr id="5150" name="Google Shape;5150;p56"/>
          <p:cNvSpPr/>
          <p:nvPr/>
        </p:nvSpPr>
        <p:spPr>
          <a:xfrm>
            <a:off x="320040" y="4833208"/>
            <a:ext cx="8503920" cy="260000"/>
          </a:xfrm>
          <a:prstGeom prst="rect">
            <a:avLst/>
          </a:prstGeom>
          <a:solidFill>
            <a:srgbClr val="0A16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1" name="Google Shape;5151;p56"/>
          <p:cNvSpPr/>
          <p:nvPr/>
        </p:nvSpPr>
        <p:spPr>
          <a:xfrm>
            <a:off x="457200" y="4833208"/>
            <a:ext cx="8321040" cy="2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A623"/>
              </a:buClr>
              <a:buSzPts val="850"/>
              <a:buFont typeface="Calibri"/>
              <a:buNone/>
            </a:pPr>
            <a:r>
              <a:rPr b="0" i="0" lang="en-US" sz="850" u="none" cap="none" strike="noStrike">
                <a:solidFill>
                  <a:srgbClr val="F5A623"/>
                </a:solidFill>
                <a:latin typeface="Calibri"/>
                <a:ea typeface="Calibri"/>
                <a:cs typeface="Calibri"/>
                <a:sym typeface="Calibri"/>
              </a:rPr>
              <a:t>⚖  Pick for the workload, not for fashion. Virtual threads give most of reactive's scalability while keeping imperative code. "Rewrite to reactive for speed" is workload-dependent. All three run on the modern Quarkus REST stack.</a:t>
            </a:r>
            <a:endParaRPr b="0" i="0" sz="850" u="none" cap="none" strike="noStrike">
              <a:solidFill>
                <a:schemeClr val="dk1"/>
              </a:solidFill>
              <a:latin typeface="Calibri"/>
              <a:ea typeface="Calibri"/>
              <a:cs typeface="Calibri"/>
              <a:sym typeface="Calibri"/>
            </a:endParaRPr>
          </a:p>
        </p:txBody>
      </p:sp>
      <p:sp>
        <p:nvSpPr>
          <p:cNvPr id="5160" name="Google Shape;5160;p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F0F7"/>
        </a:solidFill>
      </p:bgPr>
    </p:bg>
    <p:spTree>
      <p:nvGrpSpPr>
        <p:cNvPr id="491" name="Shape 491"/>
        <p:cNvGrpSpPr/>
        <p:nvPr/>
      </p:nvGrpSpPr>
      <p:grpSpPr>
        <a:xfrm>
          <a:off x="0" y="0"/>
          <a:ext cx="0" cy="0"/>
          <a:chOff x="0" y="0"/>
          <a:chExt cx="0" cy="0"/>
        </a:xfrm>
      </p:grpSpPr>
      <p:sp>
        <p:nvSpPr>
          <p:cNvPr id="492" name="Google Shape;492;p20"/>
          <p:cNvSpPr/>
          <p:nvPr/>
        </p:nvSpPr>
        <p:spPr>
          <a:xfrm>
            <a:off x="0" y="0"/>
            <a:ext cx="9144000" cy="64008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20"/>
          <p:cNvSpPr/>
          <p:nvPr/>
        </p:nvSpPr>
        <p:spPr>
          <a:xfrm>
            <a:off x="365760" y="0"/>
            <a:ext cx="6858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000"/>
              <a:buFont typeface="Calibri"/>
              <a:buNone/>
            </a:pPr>
            <a:r>
              <a:rPr b="1" i="0" lang="en-US" sz="2000" u="none" cap="none" strike="noStrike">
                <a:solidFill>
                  <a:srgbClr val="00BCD4"/>
                </a:solidFill>
                <a:latin typeface="Calibri"/>
                <a:ea typeface="Calibri"/>
                <a:cs typeface="Calibri"/>
                <a:sym typeface="Calibri"/>
              </a:rPr>
              <a:t>Observability &amp; Instrumentation Stack</a:t>
            </a:r>
            <a:endParaRPr b="0" i="0" sz="2000" u="none" cap="none" strike="noStrike">
              <a:solidFill>
                <a:schemeClr val="dk1"/>
              </a:solidFill>
              <a:latin typeface="Calibri"/>
              <a:ea typeface="Calibri"/>
              <a:cs typeface="Calibri"/>
              <a:sym typeface="Calibri"/>
            </a:endParaRPr>
          </a:p>
        </p:txBody>
      </p:sp>
      <p:sp>
        <p:nvSpPr>
          <p:cNvPr id="494" name="Google Shape;494;p20"/>
          <p:cNvSpPr/>
          <p:nvPr/>
        </p:nvSpPr>
        <p:spPr>
          <a:xfrm>
            <a:off x="7315200" y="73152"/>
            <a:ext cx="1645920" cy="502920"/>
          </a:xfrm>
          <a:prstGeom prst="rect">
            <a:avLst/>
          </a:prstGeom>
          <a:solidFill>
            <a:srgbClr val="1E6FC8"/>
          </a:solidFill>
          <a:ln>
            <a:noFill/>
          </a:ln>
        </p:spPr>
        <p:txBody>
          <a:bodyPr anchorCtr="0" anchor="ctr" bIns="0" lIns="0" spcFirstLastPara="1" rIns="76200" wrap="square" tIns="76200">
            <a:noAutofit/>
          </a:bodyPr>
          <a:lstStyle/>
          <a:p>
            <a:pPr indent="0" lvl="0" marL="0" marR="0" rtl="0" algn="r">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Section 05</a:t>
            </a:r>
            <a:endParaRPr b="0" i="0" sz="1000" u="none" cap="none" strike="noStrike">
              <a:solidFill>
                <a:schemeClr val="dk1"/>
              </a:solidFill>
              <a:latin typeface="Calibri"/>
              <a:ea typeface="Calibri"/>
              <a:cs typeface="Calibri"/>
              <a:sym typeface="Calibri"/>
            </a:endParaRPr>
          </a:p>
        </p:txBody>
      </p:sp>
      <p:sp>
        <p:nvSpPr>
          <p:cNvPr id="495" name="Google Shape;495;p20"/>
          <p:cNvSpPr/>
          <p:nvPr/>
        </p:nvSpPr>
        <p:spPr>
          <a:xfrm>
            <a:off x="0" y="4960620"/>
            <a:ext cx="9144000" cy="18288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0"/>
          <p:cNvSpPr/>
          <p:nvPr/>
        </p:nvSpPr>
        <p:spPr>
          <a:xfrm>
            <a:off x="365760" y="4956048"/>
            <a:ext cx="841248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00"/>
              <a:buFont typeface="Calibri"/>
              <a:buNone/>
            </a:pPr>
            <a:r>
              <a:rPr b="0" i="0" lang="en-US" sz="900" u="none" cap="none" strike="noStrike">
                <a:solidFill>
                  <a:srgbClr val="ECF0F1"/>
                </a:solidFill>
                <a:latin typeface="Calibri"/>
                <a:ea typeface="Calibri"/>
                <a:cs typeface="Calibri"/>
                <a:sym typeface="Calibri"/>
              </a:rPr>
              <a:t>Taming the JVM: Java Optimization on OpenShift</a:t>
            </a:r>
            <a:endParaRPr b="0" i="0" sz="900" u="none" cap="none" strike="noStrike">
              <a:solidFill>
                <a:schemeClr val="dk1"/>
              </a:solidFill>
              <a:latin typeface="Calibri"/>
              <a:ea typeface="Calibri"/>
              <a:cs typeface="Calibri"/>
              <a:sym typeface="Calibri"/>
            </a:endParaRPr>
          </a:p>
        </p:txBody>
      </p:sp>
      <p:sp>
        <p:nvSpPr>
          <p:cNvPr id="497" name="Google Shape;497;p20"/>
          <p:cNvSpPr/>
          <p:nvPr/>
        </p:nvSpPr>
        <p:spPr>
          <a:xfrm>
            <a:off x="365760" y="74980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E7A"/>
              </a:buClr>
              <a:buSzPts val="1200"/>
              <a:buFont typeface="Calibri"/>
              <a:buNone/>
            </a:pPr>
            <a:r>
              <a:rPr b="0" i="1" lang="en-US" sz="1200" u="none" cap="none" strike="noStrike">
                <a:solidFill>
                  <a:srgbClr val="546E7A"/>
                </a:solidFill>
                <a:latin typeface="Calibri"/>
                <a:ea typeface="Calibri"/>
                <a:cs typeface="Calibri"/>
                <a:sym typeface="Calibri"/>
              </a:rPr>
              <a:t>You can't tune what you can't see — build observability before you tune</a:t>
            </a:r>
            <a:endParaRPr b="0" i="0" sz="1200" u="none" cap="none" strike="noStrike">
              <a:solidFill>
                <a:schemeClr val="dk1"/>
              </a:solidFill>
              <a:latin typeface="Calibri"/>
              <a:ea typeface="Calibri"/>
              <a:cs typeface="Calibri"/>
              <a:sym typeface="Calibri"/>
            </a:endParaRPr>
          </a:p>
        </p:txBody>
      </p:sp>
      <p:sp>
        <p:nvSpPr>
          <p:cNvPr id="498" name="Google Shape;498;p20"/>
          <p:cNvSpPr/>
          <p:nvPr/>
        </p:nvSpPr>
        <p:spPr>
          <a:xfrm>
            <a:off x="320040" y="1188720"/>
            <a:ext cx="4069080" cy="155448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0"/>
          <p:cNvSpPr/>
          <p:nvPr/>
        </p:nvSpPr>
        <p:spPr>
          <a:xfrm>
            <a:off x="320040" y="1188720"/>
            <a:ext cx="4069080" cy="36576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0"/>
          <p:cNvSpPr/>
          <p:nvPr/>
        </p:nvSpPr>
        <p:spPr>
          <a:xfrm>
            <a:off x="411480" y="1216152"/>
            <a:ext cx="32004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JDK Flight Recorder (JFR)</a:t>
            </a:r>
            <a:endParaRPr b="0" i="0" sz="1200" u="none" cap="none" strike="noStrike">
              <a:solidFill>
                <a:schemeClr val="dk1"/>
              </a:solidFill>
              <a:latin typeface="Calibri"/>
              <a:ea typeface="Calibri"/>
              <a:cs typeface="Calibri"/>
              <a:sym typeface="Calibri"/>
            </a:endParaRPr>
          </a:p>
        </p:txBody>
      </p:sp>
      <p:sp>
        <p:nvSpPr>
          <p:cNvPr id="501" name="Google Shape;501;p20"/>
          <p:cNvSpPr/>
          <p:nvPr/>
        </p:nvSpPr>
        <p:spPr>
          <a:xfrm>
            <a:off x="3566160" y="1243584"/>
            <a:ext cx="749808" cy="256032"/>
          </a:xfrm>
          <a:prstGeom prst="rect">
            <a:avLst/>
          </a:prstGeom>
          <a:solidFill>
            <a:srgbClr val="1E1E1E">
              <a:alpha val="50196"/>
            </a:srgbClr>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Built-in</a:t>
            </a:r>
            <a:endParaRPr b="0" i="0" sz="900" u="none" cap="none" strike="noStrike">
              <a:solidFill>
                <a:schemeClr val="dk1"/>
              </a:solidFill>
              <a:latin typeface="Calibri"/>
              <a:ea typeface="Calibri"/>
              <a:cs typeface="Calibri"/>
              <a:sym typeface="Calibri"/>
            </a:endParaRPr>
          </a:p>
        </p:txBody>
      </p:sp>
      <p:sp>
        <p:nvSpPr>
          <p:cNvPr id="502" name="Google Shape;502;p20"/>
          <p:cNvSpPr/>
          <p:nvPr/>
        </p:nvSpPr>
        <p:spPr>
          <a:xfrm>
            <a:off x="429768" y="1609344"/>
            <a:ext cx="3840480" cy="1078992"/>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A2B3C"/>
              </a:buClr>
              <a:buSzPts val="1000"/>
              <a:buFont typeface="Calibri"/>
              <a:buChar char="•"/>
            </a:pPr>
            <a:r>
              <a:rPr b="0" i="0" lang="en-US" sz="1000" u="none" cap="none" strike="noStrike">
                <a:solidFill>
                  <a:srgbClr val="1A2B3C"/>
                </a:solidFill>
                <a:latin typeface="Calibri"/>
                <a:ea typeface="Calibri"/>
                <a:cs typeface="Calibri"/>
                <a:sym typeface="Calibri"/>
              </a:rPr>
              <a:t>Zero-overhead production profiling (&lt; 1% overhead)</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00"/>
              <a:buFont typeface="Calibri"/>
              <a:buChar char="•"/>
            </a:pPr>
            <a:r>
              <a:rPr b="0" i="0" lang="en-US" sz="1000" u="none" cap="none" strike="noStrike">
                <a:solidFill>
                  <a:srgbClr val="1A2B3C"/>
                </a:solidFill>
                <a:latin typeface="Calibri"/>
                <a:ea typeface="Calibri"/>
                <a:cs typeface="Calibri"/>
                <a:sym typeface="Calibri"/>
              </a:rPr>
              <a:t>Captures GC events, thread activity, allocations, IO</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00"/>
              <a:buFont typeface="Calibri"/>
              <a:buChar char="•"/>
            </a:pPr>
            <a:r>
              <a:rPr b="0" i="0" lang="en-US" sz="1000" u="none" cap="none" strike="noStrike">
                <a:solidFill>
                  <a:srgbClr val="1A2B3C"/>
                </a:solidFill>
                <a:latin typeface="Calibri"/>
                <a:ea typeface="Calibri"/>
                <a:cs typeface="Calibri"/>
                <a:sym typeface="Calibri"/>
              </a:rPr>
              <a:t>Start via Cryostat UI or: jcmd &lt;pid&gt; JFR.start duration=60s</a:t>
            </a:r>
            <a:endParaRPr b="0" i="0" sz="1000" u="none" cap="none" strike="noStrike">
              <a:solidFill>
                <a:schemeClr val="dk1"/>
              </a:solidFill>
              <a:latin typeface="Calibri"/>
              <a:ea typeface="Calibri"/>
              <a:cs typeface="Calibri"/>
              <a:sym typeface="Calibri"/>
            </a:endParaRPr>
          </a:p>
        </p:txBody>
      </p:sp>
      <p:sp>
        <p:nvSpPr>
          <p:cNvPr id="503" name="Google Shape;503;p20"/>
          <p:cNvSpPr/>
          <p:nvPr/>
        </p:nvSpPr>
        <p:spPr>
          <a:xfrm>
            <a:off x="4663440" y="1188720"/>
            <a:ext cx="4069080" cy="155448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0"/>
          <p:cNvSpPr/>
          <p:nvPr/>
        </p:nvSpPr>
        <p:spPr>
          <a:xfrm>
            <a:off x="4663440" y="1188720"/>
            <a:ext cx="4069080" cy="365760"/>
          </a:xfrm>
          <a:prstGeom prst="rect">
            <a:avLst/>
          </a:prstGeom>
          <a:solidFill>
            <a:srgbClr val="E83E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0"/>
          <p:cNvSpPr/>
          <p:nvPr/>
        </p:nvSpPr>
        <p:spPr>
          <a:xfrm>
            <a:off x="4754880" y="1216152"/>
            <a:ext cx="32004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Cryostat</a:t>
            </a:r>
            <a:endParaRPr b="0" i="0" sz="1200" u="none" cap="none" strike="noStrike">
              <a:solidFill>
                <a:schemeClr val="dk1"/>
              </a:solidFill>
              <a:latin typeface="Calibri"/>
              <a:ea typeface="Calibri"/>
              <a:cs typeface="Calibri"/>
              <a:sym typeface="Calibri"/>
            </a:endParaRPr>
          </a:p>
        </p:txBody>
      </p:sp>
      <p:sp>
        <p:nvSpPr>
          <p:cNvPr id="506" name="Google Shape;506;p20"/>
          <p:cNvSpPr/>
          <p:nvPr/>
        </p:nvSpPr>
        <p:spPr>
          <a:xfrm>
            <a:off x="7909560" y="1243584"/>
            <a:ext cx="749808" cy="256032"/>
          </a:xfrm>
          <a:prstGeom prst="rect">
            <a:avLst/>
          </a:prstGeom>
          <a:solidFill>
            <a:srgbClr val="1E1E1E">
              <a:alpha val="50196"/>
            </a:srgbClr>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OpenShift</a:t>
            </a:r>
            <a:endParaRPr b="0" i="0" sz="900" u="none" cap="none" strike="noStrike">
              <a:solidFill>
                <a:schemeClr val="dk1"/>
              </a:solidFill>
              <a:latin typeface="Calibri"/>
              <a:ea typeface="Calibri"/>
              <a:cs typeface="Calibri"/>
              <a:sym typeface="Calibri"/>
            </a:endParaRPr>
          </a:p>
        </p:txBody>
      </p:sp>
      <p:sp>
        <p:nvSpPr>
          <p:cNvPr id="507" name="Google Shape;507;p20"/>
          <p:cNvSpPr/>
          <p:nvPr/>
        </p:nvSpPr>
        <p:spPr>
          <a:xfrm>
            <a:off x="4773168" y="1609344"/>
            <a:ext cx="3840480" cy="1078992"/>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A2B3C"/>
              </a:buClr>
              <a:buSzPts val="1000"/>
              <a:buFont typeface="Calibri"/>
              <a:buChar char="•"/>
            </a:pPr>
            <a:r>
              <a:rPr b="0" i="0" lang="en-US" sz="1000" u="none" cap="none" strike="noStrike">
                <a:solidFill>
                  <a:srgbClr val="1A2B3C"/>
                </a:solidFill>
                <a:latin typeface="Calibri"/>
                <a:ea typeface="Calibri"/>
                <a:cs typeface="Calibri"/>
                <a:sym typeface="Calibri"/>
              </a:rPr>
              <a:t>OpenShift-native JFR management via Kubernetes operator</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00"/>
              <a:buFont typeface="Calibri"/>
              <a:buChar char="•"/>
            </a:pPr>
            <a:r>
              <a:rPr b="0" i="0" lang="en-US" sz="1000" u="none" cap="none" strike="noStrike">
                <a:solidFill>
                  <a:srgbClr val="1A2B3C"/>
                </a:solidFill>
                <a:latin typeface="Calibri"/>
                <a:ea typeface="Calibri"/>
                <a:cs typeface="Calibri"/>
                <a:sym typeface="Calibri"/>
              </a:rPr>
              <a:t>Discover pods automatically via annotation, manage recordings via UI</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00"/>
              <a:buFont typeface="Calibri"/>
              <a:buChar char="•"/>
            </a:pPr>
            <a:r>
              <a:rPr b="0" i="0" lang="en-US" sz="1000" u="none" cap="none" strike="noStrike">
                <a:solidFill>
                  <a:srgbClr val="1A2B3C"/>
                </a:solidFill>
                <a:latin typeface="Calibri"/>
                <a:ea typeface="Calibri"/>
                <a:cs typeface="Calibri"/>
                <a:sym typeface="Calibri"/>
              </a:rPr>
              <a:t>Stores JFR files in PVC; integrates with Grafana for dashboards</a:t>
            </a:r>
            <a:endParaRPr b="0" i="0" sz="1000" u="none" cap="none" strike="noStrike">
              <a:solidFill>
                <a:schemeClr val="dk1"/>
              </a:solidFill>
              <a:latin typeface="Calibri"/>
              <a:ea typeface="Calibri"/>
              <a:cs typeface="Calibri"/>
              <a:sym typeface="Calibri"/>
            </a:endParaRPr>
          </a:p>
        </p:txBody>
      </p:sp>
      <p:sp>
        <p:nvSpPr>
          <p:cNvPr id="508" name="Google Shape;508;p20"/>
          <p:cNvSpPr/>
          <p:nvPr/>
        </p:nvSpPr>
        <p:spPr>
          <a:xfrm>
            <a:off x="320040" y="2926080"/>
            <a:ext cx="4069080" cy="155448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0"/>
          <p:cNvSpPr/>
          <p:nvPr/>
        </p:nvSpPr>
        <p:spPr>
          <a:xfrm>
            <a:off x="320040" y="2926080"/>
            <a:ext cx="4069080" cy="365760"/>
          </a:xfrm>
          <a:prstGeom prst="rect">
            <a:avLst/>
          </a:prstGeom>
          <a:solidFill>
            <a:srgbClr val="F5A6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0"/>
          <p:cNvSpPr/>
          <p:nvPr/>
        </p:nvSpPr>
        <p:spPr>
          <a:xfrm>
            <a:off x="411480" y="2953512"/>
            <a:ext cx="32004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OTel → Grafana LGTM Stack</a:t>
            </a:r>
            <a:endParaRPr b="0" i="0" sz="1200" u="none" cap="none" strike="noStrike">
              <a:solidFill>
                <a:schemeClr val="dk1"/>
              </a:solidFill>
              <a:latin typeface="Calibri"/>
              <a:ea typeface="Calibri"/>
              <a:cs typeface="Calibri"/>
              <a:sym typeface="Calibri"/>
            </a:endParaRPr>
          </a:p>
        </p:txBody>
      </p:sp>
      <p:sp>
        <p:nvSpPr>
          <p:cNvPr id="511" name="Google Shape;511;p20"/>
          <p:cNvSpPr/>
          <p:nvPr/>
        </p:nvSpPr>
        <p:spPr>
          <a:xfrm>
            <a:off x="3566160" y="2980944"/>
            <a:ext cx="749808" cy="256032"/>
          </a:xfrm>
          <a:prstGeom prst="rect">
            <a:avLst/>
          </a:prstGeom>
          <a:solidFill>
            <a:srgbClr val="1E1E1E">
              <a:alpha val="50196"/>
            </a:srgbClr>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Quarkus 3.33</a:t>
            </a:r>
            <a:endParaRPr b="0" i="0" sz="900" u="none" cap="none" strike="noStrike">
              <a:solidFill>
                <a:schemeClr val="dk1"/>
              </a:solidFill>
              <a:latin typeface="Calibri"/>
              <a:ea typeface="Calibri"/>
              <a:cs typeface="Calibri"/>
              <a:sym typeface="Calibri"/>
            </a:endParaRPr>
          </a:p>
        </p:txBody>
      </p:sp>
      <p:sp>
        <p:nvSpPr>
          <p:cNvPr id="512" name="Google Shape;512;p20"/>
          <p:cNvSpPr/>
          <p:nvPr/>
        </p:nvSpPr>
        <p:spPr>
          <a:xfrm>
            <a:off x="429768" y="3346704"/>
            <a:ext cx="3840480" cy="1078992"/>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A2B3C"/>
              </a:buClr>
              <a:buSzPts val="1000"/>
              <a:buFont typeface="Calibri"/>
              <a:buChar char="•"/>
            </a:pPr>
            <a:r>
              <a:rPr b="0" i="0" lang="en-US" sz="1000" u="none" cap="none" strike="noStrike">
                <a:solidFill>
                  <a:srgbClr val="1A2B3C"/>
                </a:solidFill>
                <a:latin typeface="Calibri"/>
                <a:ea typeface="Calibri"/>
                <a:cs typeface="Calibri"/>
                <a:sym typeface="Calibri"/>
              </a:rPr>
              <a:t>quarkus-micrometer-opentelemetry: single extension, all telemetry via OTLP (preview since 3.19)</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00"/>
              <a:buFont typeface="Calibri"/>
              <a:buChar char="•"/>
            </a:pPr>
            <a:r>
              <a:rPr b="0" i="0" lang="en-US" sz="1000" u="none" cap="none" strike="noStrike">
                <a:solidFill>
                  <a:srgbClr val="1A2B3C"/>
                </a:solidFill>
                <a:latin typeface="Calibri"/>
                <a:ea typeface="Calibri"/>
                <a:cs typeface="Calibri"/>
                <a:sym typeface="Calibri"/>
              </a:rPr>
              <a:t>Grafana LGTM: Loki (logs) + Grafana (viz) + Tempo (traces) + Mimir (metrics, Prometheus-compatible)</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00"/>
              <a:buFont typeface="Calibri"/>
              <a:buChar char="•"/>
            </a:pPr>
            <a:r>
              <a:rPr b="0" i="0" lang="en-US" sz="1000" u="none" cap="none" strike="noStrike">
                <a:solidFill>
                  <a:srgbClr val="1A2B3C"/>
                </a:solidFill>
                <a:latin typeface="Calibri"/>
                <a:ea typeface="Calibri"/>
                <a:cs typeface="Calibri"/>
                <a:sym typeface="Calibri"/>
              </a:rPr>
              <a:t>One extension replaces two: no separate Prometheus registry or OTel extension required</a:t>
            </a:r>
            <a:endParaRPr b="0" i="0" sz="1000" u="none" cap="none" strike="noStrike">
              <a:solidFill>
                <a:schemeClr val="dk1"/>
              </a:solidFill>
              <a:latin typeface="Calibri"/>
              <a:ea typeface="Calibri"/>
              <a:cs typeface="Calibri"/>
              <a:sym typeface="Calibri"/>
            </a:endParaRPr>
          </a:p>
        </p:txBody>
      </p:sp>
      <p:sp>
        <p:nvSpPr>
          <p:cNvPr id="513" name="Google Shape;513;p20"/>
          <p:cNvSpPr/>
          <p:nvPr/>
        </p:nvSpPr>
        <p:spPr>
          <a:xfrm>
            <a:off x="4663440" y="2926080"/>
            <a:ext cx="4069080" cy="155448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0"/>
          <p:cNvSpPr/>
          <p:nvPr/>
        </p:nvSpPr>
        <p:spPr>
          <a:xfrm>
            <a:off x="4663440" y="2926080"/>
            <a:ext cx="4069080" cy="365760"/>
          </a:xfrm>
          <a:prstGeom prst="rect">
            <a:avLst/>
          </a:prstGeom>
          <a:solidFill>
            <a:srgbClr val="27AE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0"/>
          <p:cNvSpPr/>
          <p:nvPr/>
        </p:nvSpPr>
        <p:spPr>
          <a:xfrm>
            <a:off x="4754880" y="2953512"/>
            <a:ext cx="32004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Micrometer → OTel (unified)</a:t>
            </a:r>
            <a:endParaRPr b="0" i="0" sz="1200" u="none" cap="none" strike="noStrike">
              <a:solidFill>
                <a:schemeClr val="dk1"/>
              </a:solidFill>
              <a:latin typeface="Calibri"/>
              <a:ea typeface="Calibri"/>
              <a:cs typeface="Calibri"/>
              <a:sym typeface="Calibri"/>
            </a:endParaRPr>
          </a:p>
        </p:txBody>
      </p:sp>
      <p:sp>
        <p:nvSpPr>
          <p:cNvPr id="516" name="Google Shape;516;p20"/>
          <p:cNvSpPr/>
          <p:nvPr/>
        </p:nvSpPr>
        <p:spPr>
          <a:xfrm>
            <a:off x="7909560" y="2980944"/>
            <a:ext cx="749808" cy="256032"/>
          </a:xfrm>
          <a:prstGeom prst="rect">
            <a:avLst/>
          </a:prstGeom>
          <a:solidFill>
            <a:srgbClr val="1E1E1E">
              <a:alpha val="50196"/>
            </a:srgbClr>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Metrics</a:t>
            </a:r>
            <a:endParaRPr b="0" i="0" sz="900" u="none" cap="none" strike="noStrike">
              <a:solidFill>
                <a:schemeClr val="dk1"/>
              </a:solidFill>
              <a:latin typeface="Calibri"/>
              <a:ea typeface="Calibri"/>
              <a:cs typeface="Calibri"/>
              <a:sym typeface="Calibri"/>
            </a:endParaRPr>
          </a:p>
        </p:txBody>
      </p:sp>
      <p:sp>
        <p:nvSpPr>
          <p:cNvPr id="517" name="Google Shape;517;p20"/>
          <p:cNvSpPr/>
          <p:nvPr/>
        </p:nvSpPr>
        <p:spPr>
          <a:xfrm>
            <a:off x="4773168" y="3346704"/>
            <a:ext cx="3840480" cy="1078992"/>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A2B3C"/>
              </a:buClr>
              <a:buSzPts val="1000"/>
              <a:buFont typeface="Calibri"/>
              <a:buChar char="•"/>
            </a:pPr>
            <a:r>
              <a:rPr b="0" i="0" lang="en-US" sz="1000" u="none" cap="none" strike="noStrike">
                <a:solidFill>
                  <a:srgbClr val="1A2B3C"/>
                </a:solidFill>
                <a:latin typeface="Calibri"/>
                <a:ea typeface="Calibri"/>
                <a:cs typeface="Calibri"/>
                <a:sym typeface="Calibri"/>
              </a:rPr>
              <a:t>jvm.gc.pause, jvm.memory.used, jvm.threads.live via quarkus.micrometer.binder.jvm=true</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00"/>
              <a:buFont typeface="Calibri"/>
              <a:buChar char="•"/>
            </a:pPr>
            <a:r>
              <a:rPr b="0" i="0" lang="en-US" sz="1000" u="none" cap="none" strike="noStrike">
                <a:solidFill>
                  <a:srgbClr val="1A2B3C"/>
                </a:solidFill>
                <a:latin typeface="Calibri"/>
                <a:ea typeface="Calibri"/>
                <a:cs typeface="Calibri"/>
                <a:sym typeface="Calibri"/>
              </a:rPr>
              <a:t>All Micrometer metrics flow through OTel SDK — no separate Prometheus endpoint required</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2B3C"/>
              </a:buClr>
              <a:buSzPts val="1000"/>
              <a:buFont typeface="Calibri"/>
              <a:buChar char="•"/>
            </a:pPr>
            <a:r>
              <a:rPr b="0" i="0" lang="en-US" sz="1000" u="none" cap="none" strike="noStrike">
                <a:solidFill>
                  <a:srgbClr val="1A2B3C"/>
                </a:solidFill>
                <a:latin typeface="Calibri"/>
                <a:ea typeface="Calibri"/>
                <a:cs typeface="Calibri"/>
                <a:sym typeface="Calibri"/>
              </a:rPr>
              <a:t>Grafana alert rules replace PrometheusRule — same PromQL expressions work in Grafana</a:t>
            </a:r>
            <a:endParaRPr b="0" i="0" sz="1000" u="none" cap="none" strike="noStrike">
              <a:solidFill>
                <a:schemeClr val="dk1"/>
              </a:solidFill>
              <a:latin typeface="Calibri"/>
              <a:ea typeface="Calibri"/>
              <a:cs typeface="Calibri"/>
              <a:sym typeface="Calibri"/>
            </a:endParaRPr>
          </a:p>
        </p:txBody>
      </p:sp>
      <p:sp>
        <p:nvSpPr>
          <p:cNvPr id="518" name="Google Shape;518;p2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523" name="Shape 523"/>
        <p:cNvGrpSpPr/>
        <p:nvPr/>
      </p:nvGrpSpPr>
      <p:grpSpPr>
        <a:xfrm>
          <a:off x="0" y="0"/>
          <a:ext cx="0" cy="0"/>
          <a:chOff x="0" y="0"/>
          <a:chExt cx="0" cy="0"/>
        </a:xfrm>
      </p:grpSpPr>
      <p:sp>
        <p:nvSpPr>
          <p:cNvPr id="524" name="Google Shape;524;p21"/>
          <p:cNvSpPr/>
          <p:nvPr/>
        </p:nvSpPr>
        <p:spPr>
          <a:xfrm>
            <a:off x="0" y="0"/>
            <a:ext cx="9144000" cy="64008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1"/>
          <p:cNvSpPr/>
          <p:nvPr/>
        </p:nvSpPr>
        <p:spPr>
          <a:xfrm>
            <a:off x="365760" y="0"/>
            <a:ext cx="6858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000"/>
              <a:buFont typeface="Calibri"/>
              <a:buNone/>
            </a:pPr>
            <a:r>
              <a:rPr b="1" i="0" lang="en-US" sz="2000" u="none" cap="none" strike="noStrike">
                <a:solidFill>
                  <a:srgbClr val="00BCD4"/>
                </a:solidFill>
                <a:latin typeface="Calibri"/>
                <a:ea typeface="Calibri"/>
                <a:cs typeface="Calibri"/>
                <a:sym typeface="Calibri"/>
              </a:rPr>
              <a:t>Cryostat: Production JFR on OpenShift</a:t>
            </a:r>
            <a:endParaRPr b="0" i="0" sz="2000" u="none" cap="none" strike="noStrike">
              <a:solidFill>
                <a:schemeClr val="dk1"/>
              </a:solidFill>
              <a:latin typeface="Calibri"/>
              <a:ea typeface="Calibri"/>
              <a:cs typeface="Calibri"/>
              <a:sym typeface="Calibri"/>
            </a:endParaRPr>
          </a:p>
        </p:txBody>
      </p:sp>
      <p:sp>
        <p:nvSpPr>
          <p:cNvPr id="526" name="Google Shape;526;p21"/>
          <p:cNvSpPr/>
          <p:nvPr/>
        </p:nvSpPr>
        <p:spPr>
          <a:xfrm>
            <a:off x="7315200" y="73152"/>
            <a:ext cx="1645920" cy="502920"/>
          </a:xfrm>
          <a:prstGeom prst="rect">
            <a:avLst/>
          </a:prstGeom>
          <a:solidFill>
            <a:srgbClr val="1E6FC8"/>
          </a:solidFill>
          <a:ln>
            <a:noFill/>
          </a:ln>
        </p:spPr>
        <p:txBody>
          <a:bodyPr anchorCtr="0" anchor="ctr" bIns="0" lIns="0" spcFirstLastPara="1" rIns="76200" wrap="square" tIns="76200">
            <a:noAutofit/>
          </a:bodyPr>
          <a:lstStyle/>
          <a:p>
            <a:pPr indent="0" lvl="0" marL="0" marR="0" rtl="0" algn="r">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Section 05</a:t>
            </a:r>
            <a:endParaRPr b="0" i="0" sz="1000" u="none" cap="none" strike="noStrike">
              <a:solidFill>
                <a:schemeClr val="dk1"/>
              </a:solidFill>
              <a:latin typeface="Calibri"/>
              <a:ea typeface="Calibri"/>
              <a:cs typeface="Calibri"/>
              <a:sym typeface="Calibri"/>
            </a:endParaRPr>
          </a:p>
        </p:txBody>
      </p:sp>
      <p:sp>
        <p:nvSpPr>
          <p:cNvPr id="527" name="Google Shape;527;p21"/>
          <p:cNvSpPr/>
          <p:nvPr/>
        </p:nvSpPr>
        <p:spPr>
          <a:xfrm>
            <a:off x="0" y="4960620"/>
            <a:ext cx="9144000" cy="18288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1"/>
          <p:cNvSpPr/>
          <p:nvPr/>
        </p:nvSpPr>
        <p:spPr>
          <a:xfrm>
            <a:off x="365760" y="4956048"/>
            <a:ext cx="841248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00"/>
              <a:buFont typeface="Calibri"/>
              <a:buNone/>
            </a:pPr>
            <a:r>
              <a:rPr b="0" i="0" lang="en-US" sz="900" u="none" cap="none" strike="noStrike">
                <a:solidFill>
                  <a:srgbClr val="ECF0F1"/>
                </a:solidFill>
                <a:latin typeface="Calibri"/>
                <a:ea typeface="Calibri"/>
                <a:cs typeface="Calibri"/>
                <a:sym typeface="Calibri"/>
              </a:rPr>
              <a:t>Taming the JVM: Java Optimization on OpenShift</a:t>
            </a:r>
            <a:endParaRPr b="0" i="0" sz="900" u="none" cap="none" strike="noStrike">
              <a:solidFill>
                <a:schemeClr val="dk1"/>
              </a:solidFill>
              <a:latin typeface="Calibri"/>
              <a:ea typeface="Calibri"/>
              <a:cs typeface="Calibri"/>
              <a:sym typeface="Calibri"/>
            </a:endParaRPr>
          </a:p>
        </p:txBody>
      </p:sp>
      <p:sp>
        <p:nvSpPr>
          <p:cNvPr id="529" name="Google Shape;529;p21"/>
          <p:cNvSpPr/>
          <p:nvPr/>
        </p:nvSpPr>
        <p:spPr>
          <a:xfrm>
            <a:off x="274320" y="1371600"/>
            <a:ext cx="2651760" cy="1097280"/>
          </a:xfrm>
          <a:prstGeom prst="rect">
            <a:avLst/>
          </a:prstGeom>
          <a:solidFill>
            <a:srgbClr val="122040"/>
          </a:solidFill>
          <a:ln cap="flat" cmpd="sng" w="25400">
            <a:solidFill>
              <a:srgbClr val="1E6FC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1"/>
          <p:cNvSpPr/>
          <p:nvPr/>
        </p:nvSpPr>
        <p:spPr>
          <a:xfrm>
            <a:off x="274320" y="1371600"/>
            <a:ext cx="2651760" cy="347472"/>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1"/>
          <p:cNvSpPr/>
          <p:nvPr/>
        </p:nvSpPr>
        <p:spPr>
          <a:xfrm>
            <a:off x="365760" y="1371600"/>
            <a:ext cx="246888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Your Java Pod</a:t>
            </a:r>
            <a:endParaRPr b="0" i="0" sz="1200" u="none" cap="none" strike="noStrike">
              <a:solidFill>
                <a:schemeClr val="dk1"/>
              </a:solidFill>
              <a:latin typeface="Calibri"/>
              <a:ea typeface="Calibri"/>
              <a:cs typeface="Calibri"/>
              <a:sym typeface="Calibri"/>
            </a:endParaRPr>
          </a:p>
        </p:txBody>
      </p:sp>
      <p:sp>
        <p:nvSpPr>
          <p:cNvPr id="532" name="Google Shape;532;p21"/>
          <p:cNvSpPr/>
          <p:nvPr/>
        </p:nvSpPr>
        <p:spPr>
          <a:xfrm>
            <a:off x="365760" y="1773936"/>
            <a:ext cx="24688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JFR Agent</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(-javaagent:cryostat-agent.jar)</a:t>
            </a:r>
            <a:endParaRPr b="0" i="0" sz="1000" u="none" cap="none" strike="noStrike">
              <a:solidFill>
                <a:schemeClr val="dk1"/>
              </a:solidFill>
              <a:latin typeface="Calibri"/>
              <a:ea typeface="Calibri"/>
              <a:cs typeface="Calibri"/>
              <a:sym typeface="Calibri"/>
            </a:endParaRPr>
          </a:p>
        </p:txBody>
      </p:sp>
      <p:sp>
        <p:nvSpPr>
          <p:cNvPr id="533" name="Google Shape;533;p21"/>
          <p:cNvSpPr/>
          <p:nvPr/>
        </p:nvSpPr>
        <p:spPr>
          <a:xfrm>
            <a:off x="3246120" y="1371600"/>
            <a:ext cx="2651760" cy="1097280"/>
          </a:xfrm>
          <a:prstGeom prst="rect">
            <a:avLst/>
          </a:prstGeom>
          <a:solidFill>
            <a:srgbClr val="122040"/>
          </a:solidFill>
          <a:ln cap="flat" cmpd="sng" w="25400">
            <a:solidFill>
              <a:srgbClr val="E83E8C"/>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1"/>
          <p:cNvSpPr/>
          <p:nvPr/>
        </p:nvSpPr>
        <p:spPr>
          <a:xfrm>
            <a:off x="3246120" y="1371600"/>
            <a:ext cx="2651760" cy="347472"/>
          </a:xfrm>
          <a:prstGeom prst="rect">
            <a:avLst/>
          </a:prstGeom>
          <a:solidFill>
            <a:srgbClr val="E83E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1"/>
          <p:cNvSpPr/>
          <p:nvPr/>
        </p:nvSpPr>
        <p:spPr>
          <a:xfrm>
            <a:off x="3337560" y="1371600"/>
            <a:ext cx="246888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Cryostat Server</a:t>
            </a:r>
            <a:endParaRPr b="0" i="0" sz="1200" u="none" cap="none" strike="noStrike">
              <a:solidFill>
                <a:schemeClr val="dk1"/>
              </a:solidFill>
              <a:latin typeface="Calibri"/>
              <a:ea typeface="Calibri"/>
              <a:cs typeface="Calibri"/>
              <a:sym typeface="Calibri"/>
            </a:endParaRPr>
          </a:p>
        </p:txBody>
      </p:sp>
      <p:sp>
        <p:nvSpPr>
          <p:cNvPr id="536" name="Google Shape;536;p21"/>
          <p:cNvSpPr/>
          <p:nvPr/>
        </p:nvSpPr>
        <p:spPr>
          <a:xfrm>
            <a:off x="3337560" y="1773936"/>
            <a:ext cx="24688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REST API + Storage</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(Kubernetes Operator)</a:t>
            </a:r>
            <a:endParaRPr b="0" i="0" sz="1000" u="none" cap="none" strike="noStrike">
              <a:solidFill>
                <a:schemeClr val="dk1"/>
              </a:solidFill>
              <a:latin typeface="Calibri"/>
              <a:ea typeface="Calibri"/>
              <a:cs typeface="Calibri"/>
              <a:sym typeface="Calibri"/>
            </a:endParaRPr>
          </a:p>
        </p:txBody>
      </p:sp>
      <p:sp>
        <p:nvSpPr>
          <p:cNvPr id="537" name="Google Shape;537;p21"/>
          <p:cNvSpPr/>
          <p:nvPr/>
        </p:nvSpPr>
        <p:spPr>
          <a:xfrm>
            <a:off x="6217920" y="1371600"/>
            <a:ext cx="2651760" cy="1097280"/>
          </a:xfrm>
          <a:prstGeom prst="rect">
            <a:avLst/>
          </a:prstGeom>
          <a:solidFill>
            <a:srgbClr val="122040"/>
          </a:solidFill>
          <a:ln cap="flat" cmpd="sng" w="25400">
            <a:solidFill>
              <a:srgbClr val="F5A623"/>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1"/>
          <p:cNvSpPr/>
          <p:nvPr/>
        </p:nvSpPr>
        <p:spPr>
          <a:xfrm>
            <a:off x="6217920" y="1371600"/>
            <a:ext cx="2651760" cy="347472"/>
          </a:xfrm>
          <a:prstGeom prst="rect">
            <a:avLst/>
          </a:prstGeom>
          <a:solidFill>
            <a:srgbClr val="F5A6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1"/>
          <p:cNvSpPr/>
          <p:nvPr/>
        </p:nvSpPr>
        <p:spPr>
          <a:xfrm>
            <a:off x="6309360" y="1371600"/>
            <a:ext cx="246888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Grafana / JMC</a:t>
            </a:r>
            <a:endParaRPr b="0" i="0" sz="1200" u="none" cap="none" strike="noStrike">
              <a:solidFill>
                <a:schemeClr val="dk1"/>
              </a:solidFill>
              <a:latin typeface="Calibri"/>
              <a:ea typeface="Calibri"/>
              <a:cs typeface="Calibri"/>
              <a:sym typeface="Calibri"/>
            </a:endParaRPr>
          </a:p>
        </p:txBody>
      </p:sp>
      <p:sp>
        <p:nvSpPr>
          <p:cNvPr id="540" name="Google Shape;540;p21"/>
          <p:cNvSpPr/>
          <p:nvPr/>
        </p:nvSpPr>
        <p:spPr>
          <a:xfrm>
            <a:off x="6309360" y="1773936"/>
            <a:ext cx="24688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Dashboards + Analysis</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(JFR reports)</a:t>
            </a:r>
            <a:endParaRPr b="0" i="0" sz="1000" u="none" cap="none" strike="noStrike">
              <a:solidFill>
                <a:schemeClr val="dk1"/>
              </a:solidFill>
              <a:latin typeface="Calibri"/>
              <a:ea typeface="Calibri"/>
              <a:cs typeface="Calibri"/>
              <a:sym typeface="Calibri"/>
            </a:endParaRPr>
          </a:p>
        </p:txBody>
      </p:sp>
      <p:sp>
        <p:nvSpPr>
          <p:cNvPr id="541" name="Google Shape;541;p21"/>
          <p:cNvSpPr/>
          <p:nvPr/>
        </p:nvSpPr>
        <p:spPr>
          <a:xfrm>
            <a:off x="2953512" y="1783080"/>
            <a:ext cx="274320" cy="256032"/>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21"/>
          <p:cNvSpPr/>
          <p:nvPr/>
        </p:nvSpPr>
        <p:spPr>
          <a:xfrm>
            <a:off x="2953512" y="1783080"/>
            <a:ext cx="2743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543" name="Google Shape;543;p21"/>
          <p:cNvSpPr/>
          <p:nvPr/>
        </p:nvSpPr>
        <p:spPr>
          <a:xfrm>
            <a:off x="5925312" y="1783080"/>
            <a:ext cx="274320" cy="256032"/>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1"/>
          <p:cNvSpPr/>
          <p:nvPr/>
        </p:nvSpPr>
        <p:spPr>
          <a:xfrm>
            <a:off x="5925312" y="1783080"/>
            <a:ext cx="2743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545" name="Google Shape;545;p21"/>
          <p:cNvSpPr/>
          <p:nvPr/>
        </p:nvSpPr>
        <p:spPr>
          <a:xfrm>
            <a:off x="365760" y="2651760"/>
            <a:ext cx="8229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300"/>
              <a:buFont typeface="Calibri"/>
              <a:buNone/>
            </a:pPr>
            <a:r>
              <a:rPr b="1" i="0" lang="en-US" sz="1300" u="none" cap="none" strike="noStrike">
                <a:solidFill>
                  <a:srgbClr val="00BCD4"/>
                </a:solidFill>
                <a:latin typeface="Calibri"/>
                <a:ea typeface="Calibri"/>
                <a:cs typeface="Calibri"/>
                <a:sym typeface="Calibri"/>
              </a:rPr>
              <a:t>Quick Setup (OpenShift Operator):</a:t>
            </a:r>
            <a:endParaRPr b="0" i="0" sz="1300" u="none" cap="none" strike="noStrike">
              <a:solidFill>
                <a:schemeClr val="dk1"/>
              </a:solidFill>
              <a:latin typeface="Calibri"/>
              <a:ea typeface="Calibri"/>
              <a:cs typeface="Calibri"/>
              <a:sym typeface="Calibri"/>
            </a:endParaRPr>
          </a:p>
        </p:txBody>
      </p:sp>
      <p:sp>
        <p:nvSpPr>
          <p:cNvPr id="546" name="Google Shape;546;p21"/>
          <p:cNvSpPr/>
          <p:nvPr/>
        </p:nvSpPr>
        <p:spPr>
          <a:xfrm>
            <a:off x="320040" y="2999232"/>
            <a:ext cx="8503920" cy="1810512"/>
          </a:xfrm>
          <a:prstGeom prst="rect">
            <a:avLst/>
          </a:prstGeom>
          <a:solidFill>
            <a:srgbClr val="0D2137"/>
          </a:solidFill>
          <a:ln cap="flat" cmpd="sng" w="1905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1"/>
          <p:cNvSpPr/>
          <p:nvPr/>
        </p:nvSpPr>
        <p:spPr>
          <a:xfrm>
            <a:off x="393192" y="3044952"/>
            <a:ext cx="8357616" cy="17190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1. Install via OperatorHub → search "Cryostat" → Install</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2. Name a Service port "jfr-jmx" for auto-discovery:</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spec:  # Service</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ports:</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 name: jfr-jmx   # Operator discovers by this name (or port 9091)</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3. Add agent JAR to your image:</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COPY --from=cryostat/cryostat-agent:latest /cryostat-agent.jar /opt/agent.jar</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ENV JAVA_OPTS="-javaagent:/opt/agent.jar"</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4. Start a recording (UI or REST API):</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curl -X POST http://cryostat:8181/api/v1/targets/{id}/recordings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-d '{"recordingName":"profile","events":"template=Profiling","duration":60}'</a:t>
            </a:r>
            <a:endParaRPr b="0" i="0" sz="950" u="none" cap="none" strike="noStrike">
              <a:solidFill>
                <a:schemeClr val="dk1"/>
              </a:solidFill>
              <a:latin typeface="Calibri"/>
              <a:ea typeface="Calibri"/>
              <a:cs typeface="Calibri"/>
              <a:sym typeface="Calibri"/>
            </a:endParaRPr>
          </a:p>
        </p:txBody>
      </p:sp>
      <p:sp>
        <p:nvSpPr>
          <p:cNvPr id="548" name="Google Shape;548;p2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F0F7"/>
        </a:solidFill>
      </p:bgPr>
    </p:bg>
    <p:spTree>
      <p:nvGrpSpPr>
        <p:cNvPr id="553" name="Shape 553"/>
        <p:cNvGrpSpPr/>
        <p:nvPr/>
      </p:nvGrpSpPr>
      <p:grpSpPr>
        <a:xfrm>
          <a:off x="0" y="0"/>
          <a:ext cx="0" cy="0"/>
          <a:chOff x="0" y="0"/>
          <a:chExt cx="0" cy="0"/>
        </a:xfrm>
      </p:grpSpPr>
      <p:sp>
        <p:nvSpPr>
          <p:cNvPr id="554" name="Google Shape;554;p22"/>
          <p:cNvSpPr/>
          <p:nvPr/>
        </p:nvSpPr>
        <p:spPr>
          <a:xfrm>
            <a:off x="0" y="0"/>
            <a:ext cx="9144000" cy="64008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2"/>
          <p:cNvSpPr/>
          <p:nvPr/>
        </p:nvSpPr>
        <p:spPr>
          <a:xfrm>
            <a:off x="365760" y="0"/>
            <a:ext cx="6858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000"/>
              <a:buFont typeface="Calibri"/>
              <a:buNone/>
            </a:pPr>
            <a:r>
              <a:rPr b="1" i="0" lang="en-US" sz="2000" u="none" cap="none" strike="noStrike">
                <a:solidFill>
                  <a:srgbClr val="00BCD4"/>
                </a:solidFill>
                <a:latin typeface="Calibri"/>
                <a:ea typeface="Calibri"/>
                <a:cs typeface="Calibri"/>
                <a:sym typeface="Calibri"/>
              </a:rPr>
              <a:t>Prometheus &amp; Micrometer — JVM Metrics in Production</a:t>
            </a:r>
            <a:endParaRPr b="0" i="0" sz="2000" u="none" cap="none" strike="noStrike">
              <a:solidFill>
                <a:schemeClr val="dk1"/>
              </a:solidFill>
              <a:latin typeface="Calibri"/>
              <a:ea typeface="Calibri"/>
              <a:cs typeface="Calibri"/>
              <a:sym typeface="Calibri"/>
            </a:endParaRPr>
          </a:p>
        </p:txBody>
      </p:sp>
      <p:sp>
        <p:nvSpPr>
          <p:cNvPr id="556" name="Google Shape;556;p22"/>
          <p:cNvSpPr/>
          <p:nvPr/>
        </p:nvSpPr>
        <p:spPr>
          <a:xfrm>
            <a:off x="7315200" y="73152"/>
            <a:ext cx="1645920" cy="502920"/>
          </a:xfrm>
          <a:prstGeom prst="rect">
            <a:avLst/>
          </a:prstGeom>
          <a:solidFill>
            <a:srgbClr val="1E6FC8"/>
          </a:solidFill>
          <a:ln>
            <a:noFill/>
          </a:ln>
        </p:spPr>
        <p:txBody>
          <a:bodyPr anchorCtr="0" anchor="ctr" bIns="0" lIns="0" spcFirstLastPara="1" rIns="76200" wrap="square" tIns="76200">
            <a:noAutofit/>
          </a:bodyPr>
          <a:lstStyle/>
          <a:p>
            <a:pPr indent="0" lvl="0" marL="0" marR="0" rtl="0" algn="r">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Section 05</a:t>
            </a:r>
            <a:endParaRPr b="0" i="0" sz="1000" u="none" cap="none" strike="noStrike">
              <a:solidFill>
                <a:schemeClr val="dk1"/>
              </a:solidFill>
              <a:latin typeface="Calibri"/>
              <a:ea typeface="Calibri"/>
              <a:cs typeface="Calibri"/>
              <a:sym typeface="Calibri"/>
            </a:endParaRPr>
          </a:p>
        </p:txBody>
      </p:sp>
      <p:sp>
        <p:nvSpPr>
          <p:cNvPr id="557" name="Google Shape;557;p22"/>
          <p:cNvSpPr/>
          <p:nvPr/>
        </p:nvSpPr>
        <p:spPr>
          <a:xfrm>
            <a:off x="0" y="4960620"/>
            <a:ext cx="9144000" cy="18288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22"/>
          <p:cNvSpPr/>
          <p:nvPr/>
        </p:nvSpPr>
        <p:spPr>
          <a:xfrm>
            <a:off x="365760" y="4956048"/>
            <a:ext cx="841248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00"/>
              <a:buFont typeface="Calibri"/>
              <a:buNone/>
            </a:pPr>
            <a:r>
              <a:rPr b="0" i="0" lang="en-US" sz="900" u="none" cap="none" strike="noStrike">
                <a:solidFill>
                  <a:srgbClr val="ECF0F1"/>
                </a:solidFill>
                <a:latin typeface="Calibri"/>
                <a:ea typeface="Calibri"/>
                <a:cs typeface="Calibri"/>
                <a:sym typeface="Calibri"/>
              </a:rPr>
              <a:t>Taming the JVM: Java Optimization on OpenShift</a:t>
            </a:r>
            <a:endParaRPr b="0" i="0" sz="900" u="none" cap="none" strike="noStrike">
              <a:solidFill>
                <a:schemeClr val="dk1"/>
              </a:solidFill>
              <a:latin typeface="Calibri"/>
              <a:ea typeface="Calibri"/>
              <a:cs typeface="Calibri"/>
              <a:sym typeface="Calibri"/>
            </a:endParaRPr>
          </a:p>
        </p:txBody>
      </p:sp>
      <p:sp>
        <p:nvSpPr>
          <p:cNvPr id="559" name="Google Shape;559;p22"/>
          <p:cNvSpPr/>
          <p:nvPr/>
        </p:nvSpPr>
        <p:spPr>
          <a:xfrm>
            <a:off x="365760" y="777240"/>
            <a:ext cx="4206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FC8"/>
              </a:buClr>
              <a:buSzPts val="1300"/>
              <a:buFont typeface="Calibri"/>
              <a:buNone/>
            </a:pPr>
            <a:r>
              <a:rPr b="1" i="0" lang="en-US" sz="1300" u="none" cap="none" strike="noStrike">
                <a:solidFill>
                  <a:srgbClr val="1E6FC8"/>
                </a:solidFill>
                <a:latin typeface="Calibri"/>
                <a:ea typeface="Calibri"/>
                <a:cs typeface="Calibri"/>
                <a:sym typeface="Calibri"/>
              </a:rPr>
              <a:t>Quarkus 3.33.1 Setup:</a:t>
            </a:r>
            <a:endParaRPr b="0" i="0" sz="1300" u="none" cap="none" strike="noStrike">
              <a:solidFill>
                <a:schemeClr val="dk1"/>
              </a:solidFill>
              <a:latin typeface="Calibri"/>
              <a:ea typeface="Calibri"/>
              <a:cs typeface="Calibri"/>
              <a:sym typeface="Calibri"/>
            </a:endParaRPr>
          </a:p>
        </p:txBody>
      </p:sp>
      <p:sp>
        <p:nvSpPr>
          <p:cNvPr id="560" name="Google Shape;560;p22"/>
          <p:cNvSpPr/>
          <p:nvPr/>
        </p:nvSpPr>
        <p:spPr>
          <a:xfrm>
            <a:off x="320040" y="1097280"/>
            <a:ext cx="4114800" cy="2103120"/>
          </a:xfrm>
          <a:prstGeom prst="rect">
            <a:avLst/>
          </a:prstGeom>
          <a:solidFill>
            <a:srgbClr val="0D2137"/>
          </a:solidFill>
          <a:ln cap="flat" cmpd="sng" w="1905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2"/>
          <p:cNvSpPr/>
          <p:nvPr/>
        </p:nvSpPr>
        <p:spPr>
          <a:xfrm>
            <a:off x="393192" y="1143000"/>
            <a:ext cx="3968496" cy="2011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pom.xml — quarkus-micrometer-opentelemetry (unified, 3.19+)</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&lt;dependency&gt;</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&lt;groupId&gt;io.quarkus&lt;/groupId&gt;</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&lt;artifactId&gt;quarkus-micrometer-opentelemetry&lt;/artifactId&gt;</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&lt;/dependency&gt;</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application.properties — OTel SDK handles all telemetry</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quarkus.micrometer.binder.jvm=true</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quarkus.otel.exporter.otlp.endpoint=http://grafana:4317</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Metrics at /q/metrics still available if Prometheus also present</a:t>
            </a:r>
            <a:endParaRPr b="0" i="0" sz="950" u="none" cap="none" strike="noStrike">
              <a:solidFill>
                <a:schemeClr val="dk1"/>
              </a:solidFill>
              <a:latin typeface="Calibri"/>
              <a:ea typeface="Calibri"/>
              <a:cs typeface="Calibri"/>
              <a:sym typeface="Calibri"/>
            </a:endParaRPr>
          </a:p>
        </p:txBody>
      </p:sp>
      <p:sp>
        <p:nvSpPr>
          <p:cNvPr id="562" name="Google Shape;562;p22"/>
          <p:cNvSpPr/>
          <p:nvPr/>
        </p:nvSpPr>
        <p:spPr>
          <a:xfrm>
            <a:off x="4663440" y="777240"/>
            <a:ext cx="4206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FC8"/>
              </a:buClr>
              <a:buSzPts val="1300"/>
              <a:buFont typeface="Calibri"/>
              <a:buNone/>
            </a:pPr>
            <a:r>
              <a:rPr b="1" i="0" lang="en-US" sz="1300" u="none" cap="none" strike="noStrike">
                <a:solidFill>
                  <a:srgbClr val="1E6FC8"/>
                </a:solidFill>
                <a:latin typeface="Calibri"/>
                <a:ea typeface="Calibri"/>
                <a:cs typeface="Calibri"/>
                <a:sym typeface="Calibri"/>
              </a:rPr>
              <a:t>Essential JVM Metrics to Monitor:</a:t>
            </a:r>
            <a:endParaRPr b="0" i="0" sz="1300" u="none" cap="none" strike="noStrike">
              <a:solidFill>
                <a:schemeClr val="dk1"/>
              </a:solidFill>
              <a:latin typeface="Calibri"/>
              <a:ea typeface="Calibri"/>
              <a:cs typeface="Calibri"/>
              <a:sym typeface="Calibri"/>
            </a:endParaRPr>
          </a:p>
        </p:txBody>
      </p:sp>
      <p:sp>
        <p:nvSpPr>
          <p:cNvPr id="563" name="Google Shape;563;p22"/>
          <p:cNvSpPr/>
          <p:nvPr/>
        </p:nvSpPr>
        <p:spPr>
          <a:xfrm>
            <a:off x="4663440" y="1097280"/>
            <a:ext cx="4160520" cy="347472"/>
          </a:xfrm>
          <a:prstGeom prst="rect">
            <a:avLst/>
          </a:prstGeom>
          <a:solidFill>
            <a:srgbClr val="FFFFFF"/>
          </a:solidFill>
          <a:ln cap="flat" cmpd="sng" w="12700">
            <a:solidFill>
              <a:srgbClr val="E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22"/>
          <p:cNvSpPr/>
          <p:nvPr/>
        </p:nvSpPr>
        <p:spPr>
          <a:xfrm>
            <a:off x="4736592" y="1124712"/>
            <a:ext cx="21945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FC8"/>
              </a:buClr>
              <a:buSzPts val="950"/>
              <a:buFont typeface="Courier New"/>
              <a:buNone/>
            </a:pPr>
            <a:r>
              <a:rPr b="1" i="0" lang="en-US" sz="950" u="none" cap="none" strike="noStrike">
                <a:solidFill>
                  <a:srgbClr val="1E6FC8"/>
                </a:solidFill>
                <a:latin typeface="Courier New"/>
                <a:ea typeface="Courier New"/>
                <a:cs typeface="Courier New"/>
                <a:sym typeface="Courier New"/>
              </a:rPr>
              <a:t>jvm_gc_pause_seconds</a:t>
            </a:r>
            <a:endParaRPr b="0" i="0" sz="950" u="none" cap="none" strike="noStrike">
              <a:solidFill>
                <a:schemeClr val="dk1"/>
              </a:solidFill>
              <a:latin typeface="Calibri"/>
              <a:ea typeface="Calibri"/>
              <a:cs typeface="Calibri"/>
              <a:sym typeface="Calibri"/>
            </a:endParaRPr>
          </a:p>
        </p:txBody>
      </p:sp>
      <p:sp>
        <p:nvSpPr>
          <p:cNvPr id="565" name="Google Shape;565;p22"/>
          <p:cNvSpPr/>
          <p:nvPr/>
        </p:nvSpPr>
        <p:spPr>
          <a:xfrm>
            <a:off x="6995160" y="1133856"/>
            <a:ext cx="1783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E7A"/>
              </a:buClr>
              <a:buSzPts val="900"/>
              <a:buFont typeface="Calibri"/>
              <a:buNone/>
            </a:pPr>
            <a:r>
              <a:rPr b="0" i="0" lang="en-US" sz="900" u="none" cap="none" strike="noStrike">
                <a:solidFill>
                  <a:srgbClr val="546E7A"/>
                </a:solidFill>
                <a:latin typeface="Calibri"/>
                <a:ea typeface="Calibri"/>
                <a:cs typeface="Calibri"/>
                <a:sym typeface="Calibri"/>
              </a:rPr>
              <a:t>GC pause duration — alert if P99 &gt; 500ms</a:t>
            </a:r>
            <a:endParaRPr b="0" i="0" sz="900" u="none" cap="none" strike="noStrike">
              <a:solidFill>
                <a:schemeClr val="dk1"/>
              </a:solidFill>
              <a:latin typeface="Calibri"/>
              <a:ea typeface="Calibri"/>
              <a:cs typeface="Calibri"/>
              <a:sym typeface="Calibri"/>
            </a:endParaRPr>
          </a:p>
        </p:txBody>
      </p:sp>
      <p:sp>
        <p:nvSpPr>
          <p:cNvPr id="566" name="Google Shape;566;p22"/>
          <p:cNvSpPr/>
          <p:nvPr/>
        </p:nvSpPr>
        <p:spPr>
          <a:xfrm>
            <a:off x="4663440" y="1490472"/>
            <a:ext cx="4160520" cy="347472"/>
          </a:xfrm>
          <a:prstGeom prst="rect">
            <a:avLst/>
          </a:prstGeom>
          <a:solidFill>
            <a:srgbClr val="F0F4F8"/>
          </a:solidFill>
          <a:ln cap="flat" cmpd="sng" w="12700">
            <a:solidFill>
              <a:srgbClr val="E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2"/>
          <p:cNvSpPr/>
          <p:nvPr/>
        </p:nvSpPr>
        <p:spPr>
          <a:xfrm>
            <a:off x="4736592" y="1517904"/>
            <a:ext cx="21945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FC8"/>
              </a:buClr>
              <a:buSzPts val="950"/>
              <a:buFont typeface="Courier New"/>
              <a:buNone/>
            </a:pPr>
            <a:r>
              <a:rPr b="1" i="0" lang="en-US" sz="950" u="none" cap="none" strike="noStrike">
                <a:solidFill>
                  <a:srgbClr val="1E6FC8"/>
                </a:solidFill>
                <a:latin typeface="Courier New"/>
                <a:ea typeface="Courier New"/>
                <a:cs typeface="Courier New"/>
                <a:sym typeface="Courier New"/>
              </a:rPr>
              <a:t>jvm_memory_used_bytes</a:t>
            </a:r>
            <a:endParaRPr b="0" i="0" sz="950" u="none" cap="none" strike="noStrike">
              <a:solidFill>
                <a:schemeClr val="dk1"/>
              </a:solidFill>
              <a:latin typeface="Calibri"/>
              <a:ea typeface="Calibri"/>
              <a:cs typeface="Calibri"/>
              <a:sym typeface="Calibri"/>
            </a:endParaRPr>
          </a:p>
        </p:txBody>
      </p:sp>
      <p:sp>
        <p:nvSpPr>
          <p:cNvPr id="568" name="Google Shape;568;p22"/>
          <p:cNvSpPr/>
          <p:nvPr/>
        </p:nvSpPr>
        <p:spPr>
          <a:xfrm>
            <a:off x="6995160" y="1527048"/>
            <a:ext cx="1783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E7A"/>
              </a:buClr>
              <a:buSzPts val="900"/>
              <a:buFont typeface="Calibri"/>
              <a:buNone/>
            </a:pPr>
            <a:r>
              <a:rPr b="0" i="0" lang="en-US" sz="900" u="none" cap="none" strike="noStrike">
                <a:solidFill>
                  <a:srgbClr val="546E7A"/>
                </a:solidFill>
                <a:latin typeface="Calibri"/>
                <a:ea typeface="Calibri"/>
                <a:cs typeface="Calibri"/>
                <a:sym typeface="Calibri"/>
              </a:rPr>
              <a:t>Heap &amp; non-heap usage by area</a:t>
            </a:r>
            <a:endParaRPr b="0" i="0" sz="900" u="none" cap="none" strike="noStrike">
              <a:solidFill>
                <a:schemeClr val="dk1"/>
              </a:solidFill>
              <a:latin typeface="Calibri"/>
              <a:ea typeface="Calibri"/>
              <a:cs typeface="Calibri"/>
              <a:sym typeface="Calibri"/>
            </a:endParaRPr>
          </a:p>
        </p:txBody>
      </p:sp>
      <p:sp>
        <p:nvSpPr>
          <p:cNvPr id="569" name="Google Shape;569;p22"/>
          <p:cNvSpPr/>
          <p:nvPr/>
        </p:nvSpPr>
        <p:spPr>
          <a:xfrm>
            <a:off x="4663440" y="1883664"/>
            <a:ext cx="4160520" cy="347472"/>
          </a:xfrm>
          <a:prstGeom prst="rect">
            <a:avLst/>
          </a:prstGeom>
          <a:solidFill>
            <a:srgbClr val="FFFFFF"/>
          </a:solidFill>
          <a:ln cap="flat" cmpd="sng" w="12700">
            <a:solidFill>
              <a:srgbClr val="E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2"/>
          <p:cNvSpPr/>
          <p:nvPr/>
        </p:nvSpPr>
        <p:spPr>
          <a:xfrm>
            <a:off x="4736592" y="1911096"/>
            <a:ext cx="21945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FC8"/>
              </a:buClr>
              <a:buSzPts val="950"/>
              <a:buFont typeface="Courier New"/>
              <a:buNone/>
            </a:pPr>
            <a:r>
              <a:rPr b="1" i="0" lang="en-US" sz="950" u="none" cap="none" strike="noStrike">
                <a:solidFill>
                  <a:srgbClr val="1E6FC8"/>
                </a:solidFill>
                <a:latin typeface="Courier New"/>
                <a:ea typeface="Courier New"/>
                <a:cs typeface="Courier New"/>
                <a:sym typeface="Courier New"/>
              </a:rPr>
              <a:t>jvm_memory_max_bytes</a:t>
            </a:r>
            <a:endParaRPr b="0" i="0" sz="950" u="none" cap="none" strike="noStrike">
              <a:solidFill>
                <a:schemeClr val="dk1"/>
              </a:solidFill>
              <a:latin typeface="Calibri"/>
              <a:ea typeface="Calibri"/>
              <a:cs typeface="Calibri"/>
              <a:sym typeface="Calibri"/>
            </a:endParaRPr>
          </a:p>
        </p:txBody>
      </p:sp>
      <p:sp>
        <p:nvSpPr>
          <p:cNvPr id="571" name="Google Shape;571;p22"/>
          <p:cNvSpPr/>
          <p:nvPr/>
        </p:nvSpPr>
        <p:spPr>
          <a:xfrm>
            <a:off x="6995160" y="1920240"/>
            <a:ext cx="1783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E7A"/>
              </a:buClr>
              <a:buSzPts val="900"/>
              <a:buFont typeface="Calibri"/>
              <a:buNone/>
            </a:pPr>
            <a:r>
              <a:rPr b="0" i="0" lang="en-US" sz="900" u="none" cap="none" strike="noStrike">
                <a:solidFill>
                  <a:srgbClr val="546E7A"/>
                </a:solidFill>
                <a:latin typeface="Calibri"/>
                <a:ea typeface="Calibri"/>
                <a:cs typeface="Calibri"/>
                <a:sym typeface="Calibri"/>
              </a:rPr>
              <a:t>Container-enforced memory ceiling</a:t>
            </a:r>
            <a:endParaRPr b="0" i="0" sz="900" u="none" cap="none" strike="noStrike">
              <a:solidFill>
                <a:schemeClr val="dk1"/>
              </a:solidFill>
              <a:latin typeface="Calibri"/>
              <a:ea typeface="Calibri"/>
              <a:cs typeface="Calibri"/>
              <a:sym typeface="Calibri"/>
            </a:endParaRPr>
          </a:p>
        </p:txBody>
      </p:sp>
      <p:sp>
        <p:nvSpPr>
          <p:cNvPr id="572" name="Google Shape;572;p22"/>
          <p:cNvSpPr/>
          <p:nvPr/>
        </p:nvSpPr>
        <p:spPr>
          <a:xfrm>
            <a:off x="4663440" y="2276856"/>
            <a:ext cx="4160520" cy="347472"/>
          </a:xfrm>
          <a:prstGeom prst="rect">
            <a:avLst/>
          </a:prstGeom>
          <a:solidFill>
            <a:srgbClr val="F0F4F8"/>
          </a:solidFill>
          <a:ln cap="flat" cmpd="sng" w="12700">
            <a:solidFill>
              <a:srgbClr val="E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22"/>
          <p:cNvSpPr/>
          <p:nvPr/>
        </p:nvSpPr>
        <p:spPr>
          <a:xfrm>
            <a:off x="4736592" y="2304288"/>
            <a:ext cx="21945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FC8"/>
              </a:buClr>
              <a:buSzPts val="950"/>
              <a:buFont typeface="Courier New"/>
              <a:buNone/>
            </a:pPr>
            <a:r>
              <a:rPr b="1" i="0" lang="en-US" sz="950" u="none" cap="none" strike="noStrike">
                <a:solidFill>
                  <a:srgbClr val="1E6FC8"/>
                </a:solidFill>
                <a:latin typeface="Courier New"/>
                <a:ea typeface="Courier New"/>
                <a:cs typeface="Courier New"/>
                <a:sym typeface="Courier New"/>
              </a:rPr>
              <a:t>jvm_threads_live</a:t>
            </a:r>
            <a:endParaRPr b="0" i="0" sz="950" u="none" cap="none" strike="noStrike">
              <a:solidFill>
                <a:schemeClr val="dk1"/>
              </a:solidFill>
              <a:latin typeface="Calibri"/>
              <a:ea typeface="Calibri"/>
              <a:cs typeface="Calibri"/>
              <a:sym typeface="Calibri"/>
            </a:endParaRPr>
          </a:p>
        </p:txBody>
      </p:sp>
      <p:sp>
        <p:nvSpPr>
          <p:cNvPr id="574" name="Google Shape;574;p22"/>
          <p:cNvSpPr/>
          <p:nvPr/>
        </p:nvSpPr>
        <p:spPr>
          <a:xfrm>
            <a:off x="6995160" y="2313432"/>
            <a:ext cx="1783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E7A"/>
              </a:buClr>
              <a:buSzPts val="900"/>
              <a:buFont typeface="Calibri"/>
              <a:buNone/>
            </a:pPr>
            <a:r>
              <a:rPr b="0" i="0" lang="en-US" sz="900" u="none" cap="none" strike="noStrike">
                <a:solidFill>
                  <a:srgbClr val="546E7A"/>
                </a:solidFill>
                <a:latin typeface="Calibri"/>
                <a:ea typeface="Calibri"/>
                <a:cs typeface="Calibri"/>
                <a:sym typeface="Calibri"/>
              </a:rPr>
              <a:t>Thread count — watch for leaks</a:t>
            </a:r>
            <a:endParaRPr b="0" i="0" sz="900" u="none" cap="none" strike="noStrike">
              <a:solidFill>
                <a:schemeClr val="dk1"/>
              </a:solidFill>
              <a:latin typeface="Calibri"/>
              <a:ea typeface="Calibri"/>
              <a:cs typeface="Calibri"/>
              <a:sym typeface="Calibri"/>
            </a:endParaRPr>
          </a:p>
        </p:txBody>
      </p:sp>
      <p:sp>
        <p:nvSpPr>
          <p:cNvPr id="575" name="Google Shape;575;p22"/>
          <p:cNvSpPr/>
          <p:nvPr/>
        </p:nvSpPr>
        <p:spPr>
          <a:xfrm>
            <a:off x="4663440" y="2670048"/>
            <a:ext cx="4160520" cy="347472"/>
          </a:xfrm>
          <a:prstGeom prst="rect">
            <a:avLst/>
          </a:prstGeom>
          <a:solidFill>
            <a:srgbClr val="FFFFFF"/>
          </a:solidFill>
          <a:ln cap="flat" cmpd="sng" w="12700">
            <a:solidFill>
              <a:srgbClr val="E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2"/>
          <p:cNvSpPr/>
          <p:nvPr/>
        </p:nvSpPr>
        <p:spPr>
          <a:xfrm>
            <a:off x="4736592" y="2697480"/>
            <a:ext cx="21945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FC8"/>
              </a:buClr>
              <a:buSzPts val="950"/>
              <a:buFont typeface="Courier New"/>
              <a:buNone/>
            </a:pPr>
            <a:r>
              <a:rPr b="1" i="0" lang="en-US" sz="950" u="none" cap="none" strike="noStrike">
                <a:solidFill>
                  <a:srgbClr val="1E6FC8"/>
                </a:solidFill>
                <a:latin typeface="Courier New"/>
                <a:ea typeface="Courier New"/>
                <a:cs typeface="Courier New"/>
                <a:sym typeface="Courier New"/>
              </a:rPr>
              <a:t>jvm_classes_loaded</a:t>
            </a:r>
            <a:endParaRPr b="0" i="0" sz="950" u="none" cap="none" strike="noStrike">
              <a:solidFill>
                <a:schemeClr val="dk1"/>
              </a:solidFill>
              <a:latin typeface="Calibri"/>
              <a:ea typeface="Calibri"/>
              <a:cs typeface="Calibri"/>
              <a:sym typeface="Calibri"/>
            </a:endParaRPr>
          </a:p>
        </p:txBody>
      </p:sp>
      <p:sp>
        <p:nvSpPr>
          <p:cNvPr id="577" name="Google Shape;577;p22"/>
          <p:cNvSpPr/>
          <p:nvPr/>
        </p:nvSpPr>
        <p:spPr>
          <a:xfrm>
            <a:off x="6995160" y="2706624"/>
            <a:ext cx="1783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E7A"/>
              </a:buClr>
              <a:buSzPts val="900"/>
              <a:buFont typeface="Calibri"/>
              <a:buNone/>
            </a:pPr>
            <a:r>
              <a:rPr b="0" i="0" lang="en-US" sz="900" u="none" cap="none" strike="noStrike">
                <a:solidFill>
                  <a:srgbClr val="546E7A"/>
                </a:solidFill>
                <a:latin typeface="Calibri"/>
                <a:ea typeface="Calibri"/>
                <a:cs typeface="Calibri"/>
                <a:sym typeface="Calibri"/>
              </a:rPr>
              <a:t>Class loading activity at startup</a:t>
            </a:r>
            <a:endParaRPr b="0" i="0" sz="900" u="none" cap="none" strike="noStrike">
              <a:solidFill>
                <a:schemeClr val="dk1"/>
              </a:solidFill>
              <a:latin typeface="Calibri"/>
              <a:ea typeface="Calibri"/>
              <a:cs typeface="Calibri"/>
              <a:sym typeface="Calibri"/>
            </a:endParaRPr>
          </a:p>
        </p:txBody>
      </p:sp>
      <p:sp>
        <p:nvSpPr>
          <p:cNvPr id="578" name="Google Shape;578;p22"/>
          <p:cNvSpPr/>
          <p:nvPr/>
        </p:nvSpPr>
        <p:spPr>
          <a:xfrm>
            <a:off x="4663440" y="3063240"/>
            <a:ext cx="4160520" cy="347472"/>
          </a:xfrm>
          <a:prstGeom prst="rect">
            <a:avLst/>
          </a:prstGeom>
          <a:solidFill>
            <a:srgbClr val="F0F4F8"/>
          </a:solidFill>
          <a:ln cap="flat" cmpd="sng" w="12700">
            <a:solidFill>
              <a:srgbClr val="E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22"/>
          <p:cNvSpPr/>
          <p:nvPr/>
        </p:nvSpPr>
        <p:spPr>
          <a:xfrm>
            <a:off x="4736592" y="3090672"/>
            <a:ext cx="21945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FC8"/>
              </a:buClr>
              <a:buSzPts val="950"/>
              <a:buFont typeface="Courier New"/>
              <a:buNone/>
            </a:pPr>
            <a:r>
              <a:rPr b="1" i="0" lang="en-US" sz="950" u="none" cap="none" strike="noStrike">
                <a:solidFill>
                  <a:srgbClr val="1E6FC8"/>
                </a:solidFill>
                <a:latin typeface="Courier New"/>
                <a:ea typeface="Courier New"/>
                <a:cs typeface="Courier New"/>
                <a:sym typeface="Courier New"/>
              </a:rPr>
              <a:t>jvm_buffer_memory_used</a:t>
            </a:r>
            <a:endParaRPr b="0" i="0" sz="950" u="none" cap="none" strike="noStrike">
              <a:solidFill>
                <a:schemeClr val="dk1"/>
              </a:solidFill>
              <a:latin typeface="Calibri"/>
              <a:ea typeface="Calibri"/>
              <a:cs typeface="Calibri"/>
              <a:sym typeface="Calibri"/>
            </a:endParaRPr>
          </a:p>
        </p:txBody>
      </p:sp>
      <p:sp>
        <p:nvSpPr>
          <p:cNvPr id="580" name="Google Shape;580;p22"/>
          <p:cNvSpPr/>
          <p:nvPr/>
        </p:nvSpPr>
        <p:spPr>
          <a:xfrm>
            <a:off x="6995160" y="3099816"/>
            <a:ext cx="1783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E7A"/>
              </a:buClr>
              <a:buSzPts val="900"/>
              <a:buFont typeface="Calibri"/>
              <a:buNone/>
            </a:pPr>
            <a:r>
              <a:rPr b="0" i="0" lang="en-US" sz="900" u="none" cap="none" strike="noStrike">
                <a:solidFill>
                  <a:srgbClr val="546E7A"/>
                </a:solidFill>
                <a:latin typeface="Calibri"/>
                <a:ea typeface="Calibri"/>
                <a:cs typeface="Calibri"/>
                <a:sym typeface="Calibri"/>
              </a:rPr>
              <a:t>Direct ByteBuffer consumption</a:t>
            </a:r>
            <a:endParaRPr b="0" i="0" sz="900" u="none" cap="none" strike="noStrike">
              <a:solidFill>
                <a:schemeClr val="dk1"/>
              </a:solidFill>
              <a:latin typeface="Calibri"/>
              <a:ea typeface="Calibri"/>
              <a:cs typeface="Calibri"/>
              <a:sym typeface="Calibri"/>
            </a:endParaRPr>
          </a:p>
        </p:txBody>
      </p:sp>
      <p:sp>
        <p:nvSpPr>
          <p:cNvPr id="581" name="Google Shape;581;p22"/>
          <p:cNvSpPr/>
          <p:nvPr/>
        </p:nvSpPr>
        <p:spPr>
          <a:xfrm>
            <a:off x="4663440" y="3456432"/>
            <a:ext cx="4160520" cy="347472"/>
          </a:xfrm>
          <a:prstGeom prst="rect">
            <a:avLst/>
          </a:prstGeom>
          <a:solidFill>
            <a:srgbClr val="FFFFFF"/>
          </a:solidFill>
          <a:ln cap="flat" cmpd="sng" w="12700">
            <a:solidFill>
              <a:srgbClr val="E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22"/>
          <p:cNvSpPr/>
          <p:nvPr/>
        </p:nvSpPr>
        <p:spPr>
          <a:xfrm>
            <a:off x="4736592" y="3483864"/>
            <a:ext cx="21945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FC8"/>
              </a:buClr>
              <a:buSzPts val="950"/>
              <a:buFont typeface="Courier New"/>
              <a:buNone/>
            </a:pPr>
            <a:r>
              <a:rPr b="1" i="0" lang="en-US" sz="950" u="none" cap="none" strike="noStrike">
                <a:solidFill>
                  <a:srgbClr val="1E6FC8"/>
                </a:solidFill>
                <a:latin typeface="Courier New"/>
                <a:ea typeface="Courier New"/>
                <a:cs typeface="Courier New"/>
                <a:sym typeface="Courier New"/>
              </a:rPr>
              <a:t>process_cpu_usage</a:t>
            </a:r>
            <a:endParaRPr b="0" i="0" sz="950" u="none" cap="none" strike="noStrike">
              <a:solidFill>
                <a:schemeClr val="dk1"/>
              </a:solidFill>
              <a:latin typeface="Calibri"/>
              <a:ea typeface="Calibri"/>
              <a:cs typeface="Calibri"/>
              <a:sym typeface="Calibri"/>
            </a:endParaRPr>
          </a:p>
        </p:txBody>
      </p:sp>
      <p:sp>
        <p:nvSpPr>
          <p:cNvPr id="583" name="Google Shape;583;p22"/>
          <p:cNvSpPr/>
          <p:nvPr/>
        </p:nvSpPr>
        <p:spPr>
          <a:xfrm>
            <a:off x="6995160" y="3493008"/>
            <a:ext cx="1783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E7A"/>
              </a:buClr>
              <a:buSzPts val="900"/>
              <a:buFont typeface="Calibri"/>
              <a:buNone/>
            </a:pPr>
            <a:r>
              <a:rPr b="0" i="0" lang="en-US" sz="900" u="none" cap="none" strike="noStrike">
                <a:solidFill>
                  <a:srgbClr val="546E7A"/>
                </a:solidFill>
                <a:latin typeface="Calibri"/>
                <a:ea typeface="Calibri"/>
                <a:cs typeface="Calibri"/>
                <a:sym typeface="Calibri"/>
              </a:rPr>
              <a:t>JVM CPU — correlate with GC events</a:t>
            </a:r>
            <a:endParaRPr b="0" i="0" sz="900" u="none" cap="none" strike="noStrike">
              <a:solidFill>
                <a:schemeClr val="dk1"/>
              </a:solidFill>
              <a:latin typeface="Calibri"/>
              <a:ea typeface="Calibri"/>
              <a:cs typeface="Calibri"/>
              <a:sym typeface="Calibri"/>
            </a:endParaRPr>
          </a:p>
        </p:txBody>
      </p:sp>
      <p:sp>
        <p:nvSpPr>
          <p:cNvPr id="584" name="Google Shape;584;p22"/>
          <p:cNvSpPr/>
          <p:nvPr/>
        </p:nvSpPr>
        <p:spPr>
          <a:xfrm>
            <a:off x="365760" y="3246120"/>
            <a:ext cx="4206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855"/>
              </a:buClr>
              <a:buSzPts val="1200"/>
              <a:buFont typeface="Calibri"/>
              <a:buNone/>
            </a:pPr>
            <a:r>
              <a:rPr b="1" i="0" lang="en-US" sz="1200" u="none" cap="none" strike="noStrike">
                <a:solidFill>
                  <a:srgbClr val="E84855"/>
                </a:solidFill>
                <a:latin typeface="Calibri"/>
                <a:ea typeface="Calibri"/>
                <a:cs typeface="Calibri"/>
                <a:sym typeface="Calibri"/>
              </a:rPr>
              <a:t>PrometheusRule / Grafana Alert Example:</a:t>
            </a:r>
            <a:endParaRPr b="0" i="0" sz="1200" u="none" cap="none" strike="noStrike">
              <a:solidFill>
                <a:schemeClr val="dk1"/>
              </a:solidFill>
              <a:latin typeface="Calibri"/>
              <a:ea typeface="Calibri"/>
              <a:cs typeface="Calibri"/>
              <a:sym typeface="Calibri"/>
            </a:endParaRPr>
          </a:p>
        </p:txBody>
      </p:sp>
      <p:sp>
        <p:nvSpPr>
          <p:cNvPr id="585" name="Google Shape;585;p22"/>
          <p:cNvSpPr/>
          <p:nvPr/>
        </p:nvSpPr>
        <p:spPr>
          <a:xfrm>
            <a:off x="320040" y="3520440"/>
            <a:ext cx="4114800" cy="1399032"/>
          </a:xfrm>
          <a:prstGeom prst="rect">
            <a:avLst/>
          </a:prstGeom>
          <a:solidFill>
            <a:srgbClr val="0D2137"/>
          </a:solidFill>
          <a:ln cap="flat" cmpd="sng" w="1905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22"/>
          <p:cNvSpPr/>
          <p:nvPr/>
        </p:nvSpPr>
        <p:spPr>
          <a:xfrm>
            <a:off x="393192" y="3566160"/>
            <a:ext cx="3968496" cy="130759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alert: JVMHighGCPause</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expr: &gt;</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histogram_quantile(0.99,</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rate(jvm_gc_pause_seconds_bucket[5m])</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 &gt; 0.5</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for: 2m</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labels: { severity: warning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annotations:</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summary: "GC P99 pause &gt; 500ms on {{ $labels.pod }}"</a:t>
            </a:r>
            <a:endParaRPr b="0" i="0" sz="950" u="none" cap="none" strike="noStrike">
              <a:solidFill>
                <a:schemeClr val="dk1"/>
              </a:solidFill>
              <a:latin typeface="Calibri"/>
              <a:ea typeface="Calibri"/>
              <a:cs typeface="Calibri"/>
              <a:sym typeface="Calibri"/>
            </a:endParaRPr>
          </a:p>
        </p:txBody>
      </p:sp>
      <p:sp>
        <p:nvSpPr>
          <p:cNvPr id="587" name="Google Shape;587;p22"/>
          <p:cNvSpPr/>
          <p:nvPr/>
        </p:nvSpPr>
        <p:spPr>
          <a:xfrm>
            <a:off x="4663440" y="3950208"/>
            <a:ext cx="41605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E7A"/>
              </a:buClr>
              <a:buSzPts val="1000"/>
              <a:buFont typeface="Calibri"/>
              <a:buNone/>
            </a:pPr>
            <a:r>
              <a:rPr b="0" i="1" lang="en-US" sz="1000" u="none" cap="none" strike="noStrike">
                <a:solidFill>
                  <a:srgbClr val="546E7A"/>
                </a:solidFill>
                <a:latin typeface="Calibri"/>
                <a:ea typeface="Calibri"/>
                <a:cs typeface="Calibri"/>
                <a:sym typeface="Calibri"/>
              </a:rPr>
              <a:t>quarkus.io/guides/telemetry-micrometer-to-opentelemetry  |  Grafana LGTM dev stack: quarkus.io/guides/observability-devservices-lgtm</a:t>
            </a:r>
            <a:endParaRPr b="0" i="0" sz="1000" u="none" cap="none" strike="noStrike">
              <a:solidFill>
                <a:schemeClr val="dk1"/>
              </a:solidFill>
              <a:latin typeface="Calibri"/>
              <a:ea typeface="Calibri"/>
              <a:cs typeface="Calibri"/>
              <a:sym typeface="Calibri"/>
            </a:endParaRPr>
          </a:p>
        </p:txBody>
      </p:sp>
      <p:sp>
        <p:nvSpPr>
          <p:cNvPr id="588" name="Google Shape;588;p2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593" name="Shape 593"/>
        <p:cNvGrpSpPr/>
        <p:nvPr/>
      </p:nvGrpSpPr>
      <p:grpSpPr>
        <a:xfrm>
          <a:off x="0" y="0"/>
          <a:ext cx="0" cy="0"/>
          <a:chOff x="0" y="0"/>
          <a:chExt cx="0" cy="0"/>
        </a:xfrm>
      </p:grpSpPr>
      <p:sp>
        <p:nvSpPr>
          <p:cNvPr id="594" name="Google Shape;594;p23"/>
          <p:cNvSpPr/>
          <p:nvPr/>
        </p:nvSpPr>
        <p:spPr>
          <a:xfrm>
            <a:off x="0" y="0"/>
            <a:ext cx="9144000" cy="64008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3"/>
          <p:cNvSpPr/>
          <p:nvPr/>
        </p:nvSpPr>
        <p:spPr>
          <a:xfrm>
            <a:off x="365760" y="0"/>
            <a:ext cx="6858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000"/>
              <a:buFont typeface="Calibri"/>
              <a:buNone/>
            </a:pPr>
            <a:r>
              <a:rPr b="1" i="0" lang="en-US" sz="2000" u="none" cap="none" strike="noStrike">
                <a:solidFill>
                  <a:srgbClr val="00BCD4"/>
                </a:solidFill>
                <a:latin typeface="Calibri"/>
                <a:ea typeface="Calibri"/>
                <a:cs typeface="Calibri"/>
                <a:sym typeface="Calibri"/>
              </a:rPr>
              <a:t>Autoscaling Integration — HPA with JVM-Aware Metrics</a:t>
            </a:r>
            <a:endParaRPr b="0" i="0" sz="2000" u="none" cap="none" strike="noStrike">
              <a:solidFill>
                <a:schemeClr val="dk1"/>
              </a:solidFill>
              <a:latin typeface="Calibri"/>
              <a:ea typeface="Calibri"/>
              <a:cs typeface="Calibri"/>
              <a:sym typeface="Calibri"/>
            </a:endParaRPr>
          </a:p>
        </p:txBody>
      </p:sp>
      <p:sp>
        <p:nvSpPr>
          <p:cNvPr id="596" name="Google Shape;596;p23"/>
          <p:cNvSpPr/>
          <p:nvPr/>
        </p:nvSpPr>
        <p:spPr>
          <a:xfrm>
            <a:off x="7315200" y="73152"/>
            <a:ext cx="1645920" cy="502920"/>
          </a:xfrm>
          <a:prstGeom prst="rect">
            <a:avLst/>
          </a:prstGeom>
          <a:solidFill>
            <a:srgbClr val="1E6FC8"/>
          </a:solidFill>
          <a:ln>
            <a:noFill/>
          </a:ln>
        </p:spPr>
        <p:txBody>
          <a:bodyPr anchorCtr="0" anchor="ctr" bIns="0" lIns="0" spcFirstLastPara="1" rIns="76200" wrap="square" tIns="76200">
            <a:noAutofit/>
          </a:bodyPr>
          <a:lstStyle/>
          <a:p>
            <a:pPr indent="0" lvl="0" marL="0" marR="0" rtl="0" algn="r">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Section 06</a:t>
            </a:r>
            <a:endParaRPr b="0" i="0" sz="1000" u="none" cap="none" strike="noStrike">
              <a:solidFill>
                <a:schemeClr val="dk1"/>
              </a:solidFill>
              <a:latin typeface="Calibri"/>
              <a:ea typeface="Calibri"/>
              <a:cs typeface="Calibri"/>
              <a:sym typeface="Calibri"/>
            </a:endParaRPr>
          </a:p>
        </p:txBody>
      </p:sp>
      <p:sp>
        <p:nvSpPr>
          <p:cNvPr id="597" name="Google Shape;597;p23"/>
          <p:cNvSpPr/>
          <p:nvPr/>
        </p:nvSpPr>
        <p:spPr>
          <a:xfrm>
            <a:off x="0" y="4960620"/>
            <a:ext cx="9144000" cy="18288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3"/>
          <p:cNvSpPr/>
          <p:nvPr/>
        </p:nvSpPr>
        <p:spPr>
          <a:xfrm>
            <a:off x="365760" y="4956048"/>
            <a:ext cx="841248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00"/>
              <a:buFont typeface="Calibri"/>
              <a:buNone/>
            </a:pPr>
            <a:r>
              <a:rPr b="0" i="0" lang="en-US" sz="900" u="none" cap="none" strike="noStrike">
                <a:solidFill>
                  <a:srgbClr val="ECF0F1"/>
                </a:solidFill>
                <a:latin typeface="Calibri"/>
                <a:ea typeface="Calibri"/>
                <a:cs typeface="Calibri"/>
                <a:sym typeface="Calibri"/>
              </a:rPr>
              <a:t>Taming the JVM: Java Optimization on OpenShift</a:t>
            </a:r>
            <a:endParaRPr b="0" i="0" sz="900" u="none" cap="none" strike="noStrike">
              <a:solidFill>
                <a:schemeClr val="dk1"/>
              </a:solidFill>
              <a:latin typeface="Calibri"/>
              <a:ea typeface="Calibri"/>
              <a:cs typeface="Calibri"/>
              <a:sym typeface="Calibri"/>
            </a:endParaRPr>
          </a:p>
        </p:txBody>
      </p:sp>
      <p:sp>
        <p:nvSpPr>
          <p:cNvPr id="599" name="Google Shape;599;p23"/>
          <p:cNvSpPr/>
          <p:nvPr/>
        </p:nvSpPr>
        <p:spPr>
          <a:xfrm>
            <a:off x="365760" y="74980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200"/>
              <a:buFont typeface="Calibri"/>
              <a:buNone/>
            </a:pPr>
            <a:r>
              <a:rPr b="0" i="1" lang="en-US" sz="1200" u="none" cap="none" strike="noStrike">
                <a:solidFill>
                  <a:srgbClr val="90A4AE"/>
                </a:solidFill>
                <a:latin typeface="Calibri"/>
                <a:ea typeface="Calibri"/>
                <a:cs typeface="Calibri"/>
                <a:sym typeface="Calibri"/>
              </a:rPr>
              <a:t>GC pauses cause CPU spikes — ensure scaling metrics can be correlated with CPU to diagnose false triggers</a:t>
            </a:r>
            <a:endParaRPr b="0" i="0" sz="1200" u="none" cap="none" strike="noStrike">
              <a:solidFill>
                <a:schemeClr val="dk1"/>
              </a:solidFill>
              <a:latin typeface="Calibri"/>
              <a:ea typeface="Calibri"/>
              <a:cs typeface="Calibri"/>
              <a:sym typeface="Calibri"/>
            </a:endParaRPr>
          </a:p>
        </p:txBody>
      </p:sp>
      <p:sp>
        <p:nvSpPr>
          <p:cNvPr id="600" name="Google Shape;600;p23"/>
          <p:cNvSpPr/>
          <p:nvPr/>
        </p:nvSpPr>
        <p:spPr>
          <a:xfrm>
            <a:off x="320040" y="1078992"/>
            <a:ext cx="8503920" cy="3520440"/>
          </a:xfrm>
          <a:prstGeom prst="rect">
            <a:avLst/>
          </a:prstGeom>
          <a:solidFill>
            <a:srgbClr val="0D2137"/>
          </a:solidFill>
          <a:ln cap="flat" cmpd="sng" w="1905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3"/>
          <p:cNvSpPr/>
          <p:nvPr/>
        </p:nvSpPr>
        <p:spPr>
          <a:xfrm>
            <a:off x="393192" y="1124712"/>
            <a:ext cx="8357616" cy="3429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8D8EA"/>
              </a:buClr>
              <a:buSzPts val="850"/>
              <a:buFont typeface="Courier New"/>
              <a:buNone/>
            </a:pPr>
            <a:r>
              <a:rPr b="0" i="0" lang="en-US" sz="850" u="none" cap="none" strike="noStrike">
                <a:solidFill>
                  <a:srgbClr val="A8D8EA"/>
                </a:solidFill>
                <a:latin typeface="Courier New"/>
                <a:ea typeface="Courier New"/>
                <a:cs typeface="Courier New"/>
                <a:sym typeface="Courier New"/>
              </a:rPr>
              <a:t># HPA: Scale on RPS not CPU — GC pauses create false CPU spikes</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850"/>
              <a:buFont typeface="Courier New"/>
              <a:buNone/>
            </a:pPr>
            <a:r>
              <a:rPr b="0" i="0" lang="en-US" sz="850" u="none" cap="none" strike="noStrike">
                <a:solidFill>
                  <a:srgbClr val="A8D8EA"/>
                </a:solidFill>
                <a:latin typeface="Courier New"/>
                <a:ea typeface="Courier New"/>
                <a:cs typeface="Courier New"/>
                <a:sym typeface="Courier New"/>
              </a:rPr>
              <a:t>apiVersion: autoscaling/v2</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850"/>
              <a:buFont typeface="Courier New"/>
              <a:buNone/>
            </a:pPr>
            <a:r>
              <a:rPr b="0" i="0" lang="en-US" sz="850" u="none" cap="none" strike="noStrike">
                <a:solidFill>
                  <a:srgbClr val="A8D8EA"/>
                </a:solidFill>
                <a:latin typeface="Courier New"/>
                <a:ea typeface="Courier New"/>
                <a:cs typeface="Courier New"/>
                <a:sym typeface="Courier New"/>
              </a:rPr>
              <a:t>kind: HorizontalPodAutoscaler</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850"/>
              <a:buFont typeface="Courier New"/>
              <a:buNone/>
            </a:pPr>
            <a:r>
              <a:rPr b="0" i="0" lang="en-US" sz="850" u="none" cap="none" strike="noStrike">
                <a:solidFill>
                  <a:srgbClr val="A8D8EA"/>
                </a:solidFill>
                <a:latin typeface="Courier New"/>
                <a:ea typeface="Courier New"/>
                <a:cs typeface="Courier New"/>
                <a:sym typeface="Courier New"/>
              </a:rPr>
              <a:t>metadata: { name: java-app-hpa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850"/>
              <a:buFont typeface="Courier New"/>
              <a:buNone/>
            </a:pPr>
            <a:r>
              <a:rPr b="0" i="0" lang="en-US" sz="850" u="none" cap="none" strike="noStrike">
                <a:solidFill>
                  <a:srgbClr val="A8D8EA"/>
                </a:solidFill>
                <a:latin typeface="Courier New"/>
                <a:ea typeface="Courier New"/>
                <a:cs typeface="Courier New"/>
                <a:sym typeface="Courier New"/>
              </a:rPr>
              <a:t>spec:</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850"/>
              <a:buFont typeface="Courier New"/>
              <a:buNone/>
            </a:pPr>
            <a:r>
              <a:rPr b="0" i="0" lang="en-US" sz="850" u="none" cap="none" strike="noStrike">
                <a:solidFill>
                  <a:srgbClr val="A8D8EA"/>
                </a:solidFill>
                <a:latin typeface="Courier New"/>
                <a:ea typeface="Courier New"/>
                <a:cs typeface="Courier New"/>
                <a:sym typeface="Courier New"/>
              </a:rPr>
              <a:t>  scaleTargetRef: { kind: Deployment, name: java-app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850"/>
              <a:buFont typeface="Courier New"/>
              <a:buNone/>
            </a:pPr>
            <a:r>
              <a:rPr b="0" i="0" lang="en-US" sz="850" u="none" cap="none" strike="noStrike">
                <a:solidFill>
                  <a:srgbClr val="A8D8EA"/>
                </a:solidFill>
                <a:latin typeface="Courier New"/>
                <a:ea typeface="Courier New"/>
                <a:cs typeface="Courier New"/>
                <a:sym typeface="Courier New"/>
              </a:rPr>
              <a:t>  minReplicas: 2     # NEVER 1 — single pod + GC stop-the-world = 100% </a:t>
            </a:r>
            <a:r>
              <a:rPr lang="en-US" sz="850">
                <a:solidFill>
                  <a:srgbClr val="A8D8EA"/>
                </a:solidFill>
                <a:latin typeface="Courier New"/>
                <a:ea typeface="Courier New"/>
                <a:cs typeface="Courier New"/>
                <a:sym typeface="Courier New"/>
              </a:rPr>
              <a:t>downtime</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850"/>
              <a:buFont typeface="Courier New"/>
              <a:buNone/>
            </a:pPr>
            <a:r>
              <a:rPr b="0" i="0" lang="en-US" sz="850" u="none" cap="none" strike="noStrike">
                <a:solidFill>
                  <a:srgbClr val="A8D8EA"/>
                </a:solidFill>
                <a:latin typeface="Courier New"/>
                <a:ea typeface="Courier New"/>
                <a:cs typeface="Courier New"/>
                <a:sym typeface="Courier New"/>
              </a:rPr>
              <a:t>  maxReplicas: 20</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850"/>
              <a:buFont typeface="Courier New"/>
              <a:buNone/>
            </a:pPr>
            <a:r>
              <a:rPr b="0" i="0" lang="en-US" sz="850" u="none" cap="none" strike="noStrike">
                <a:solidFill>
                  <a:srgbClr val="A8D8EA"/>
                </a:solidFill>
                <a:latin typeface="Courier New"/>
                <a:ea typeface="Courier New"/>
                <a:cs typeface="Courier New"/>
                <a:sym typeface="Courier New"/>
              </a:rPr>
              <a:t>  behavior:</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850"/>
              <a:buFont typeface="Courier New"/>
              <a:buNone/>
            </a:pPr>
            <a:r>
              <a:rPr b="0" i="0" lang="en-US" sz="850" u="none" cap="none" strike="noStrike">
                <a:solidFill>
                  <a:srgbClr val="A8D8EA"/>
                </a:solidFill>
                <a:latin typeface="Courier New"/>
                <a:ea typeface="Courier New"/>
                <a:cs typeface="Courier New"/>
                <a:sym typeface="Courier New"/>
              </a:rPr>
              <a:t>    scaleUp:</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850"/>
              <a:buFont typeface="Courier New"/>
              <a:buNone/>
            </a:pPr>
            <a:r>
              <a:rPr b="0" i="0" lang="en-US" sz="850" u="none" cap="none" strike="noStrike">
                <a:solidFill>
                  <a:srgbClr val="A8D8EA"/>
                </a:solidFill>
                <a:latin typeface="Courier New"/>
                <a:ea typeface="Courier New"/>
                <a:cs typeface="Courier New"/>
                <a:sym typeface="Courier New"/>
              </a:rPr>
              <a:t>      stabilizationWindowSeconds: 120  # Absorb GC CPU spikes up to 2min</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850"/>
              <a:buFont typeface="Courier New"/>
              <a:buNone/>
            </a:pPr>
            <a:r>
              <a:rPr b="0" i="0" lang="en-US" sz="850" u="none" cap="none" strike="noStrike">
                <a:solidFill>
                  <a:srgbClr val="A8D8EA"/>
                </a:solidFill>
                <a:latin typeface="Courier New"/>
                <a:ea typeface="Courier New"/>
                <a:cs typeface="Courier New"/>
                <a:sym typeface="Courier New"/>
              </a:rPr>
              <a:t>      policies: [{ type: Pods, value: 2, periodSeconds: 60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850"/>
              <a:buFont typeface="Courier New"/>
              <a:buNone/>
            </a:pPr>
            <a:r>
              <a:rPr b="0" i="0" lang="en-US" sz="850" u="none" cap="none" strike="noStrike">
                <a:solidFill>
                  <a:srgbClr val="A8D8EA"/>
                </a:solidFill>
                <a:latin typeface="Courier New"/>
                <a:ea typeface="Courier New"/>
                <a:cs typeface="Courier New"/>
                <a:sym typeface="Courier New"/>
              </a:rPr>
              <a:t>    scaleDown:</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850"/>
              <a:buFont typeface="Courier New"/>
              <a:buNone/>
            </a:pPr>
            <a:r>
              <a:rPr b="0" i="0" lang="en-US" sz="850" u="none" cap="none" strike="noStrike">
                <a:solidFill>
                  <a:srgbClr val="A8D8EA"/>
                </a:solidFill>
                <a:latin typeface="Courier New"/>
                <a:ea typeface="Courier New"/>
                <a:cs typeface="Courier New"/>
                <a:sym typeface="Courier New"/>
              </a:rPr>
              <a:t>      stabilizationWindowSeconds: 300  # Hold during post-GC load valleys</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850"/>
              <a:buFont typeface="Courier New"/>
              <a:buNone/>
            </a:pPr>
            <a:r>
              <a:rPr b="0" i="0" lang="en-US" sz="850" u="none" cap="none" strike="noStrike">
                <a:solidFill>
                  <a:srgbClr val="A8D8EA"/>
                </a:solidFill>
                <a:latin typeface="Courier New"/>
                <a:ea typeface="Courier New"/>
                <a:cs typeface="Courier New"/>
                <a:sym typeface="Courier New"/>
              </a:rPr>
              <a:t>  metrics:</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850"/>
              <a:buFont typeface="Courier New"/>
              <a:buNone/>
            </a:pPr>
            <a:r>
              <a:rPr b="0" i="0" lang="en-US" sz="850" u="none" cap="none" strike="noStrike">
                <a:solidFill>
                  <a:srgbClr val="A8D8EA"/>
                </a:solidFill>
                <a:latin typeface="Courier New"/>
                <a:ea typeface="Courier New"/>
                <a:cs typeface="Courier New"/>
                <a:sym typeface="Courier New"/>
              </a:rPr>
              <a:t>  - type: External   # PRIMARY: RPS via KEDA or Prometheus Adapter</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850"/>
              <a:buFont typeface="Courier New"/>
              <a:buNone/>
            </a:pPr>
            <a:r>
              <a:rPr b="0" i="0" lang="en-US" sz="850" u="none" cap="none" strike="noStrike">
                <a:solidFill>
                  <a:srgbClr val="A8D8EA"/>
                </a:solidFill>
                <a:latin typeface="Courier New"/>
                <a:ea typeface="Courier New"/>
                <a:cs typeface="Courier New"/>
                <a:sym typeface="Courier New"/>
              </a:rPr>
              <a:t>    external:</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850"/>
              <a:buFont typeface="Courier New"/>
              <a:buNone/>
            </a:pPr>
            <a:r>
              <a:rPr b="0" i="0" lang="en-US" sz="850" u="none" cap="none" strike="noStrike">
                <a:solidFill>
                  <a:srgbClr val="A8D8EA"/>
                </a:solidFill>
                <a:latin typeface="Courier New"/>
                <a:ea typeface="Courier New"/>
                <a:cs typeface="Courier New"/>
                <a:sym typeface="Courier New"/>
              </a:rPr>
              <a:t>      metric: { name: http_requests_per_second,</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850"/>
              <a:buFont typeface="Courier New"/>
              <a:buNone/>
            </a:pPr>
            <a:r>
              <a:rPr b="0" i="0" lang="en-US" sz="850" u="none" cap="none" strike="noStrike">
                <a:solidFill>
                  <a:srgbClr val="A8D8EA"/>
                </a:solidFill>
                <a:latin typeface="Courier New"/>
                <a:ea typeface="Courier New"/>
                <a:cs typeface="Courier New"/>
                <a:sym typeface="Courier New"/>
              </a:rPr>
              <a:t>                selector: { matchLabels: { app: java-app } }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850"/>
              <a:buFont typeface="Courier New"/>
              <a:buNone/>
            </a:pPr>
            <a:r>
              <a:rPr b="0" i="0" lang="en-US" sz="850" u="none" cap="none" strike="noStrike">
                <a:solidFill>
                  <a:srgbClr val="A8D8EA"/>
                </a:solidFill>
                <a:latin typeface="Courier New"/>
                <a:ea typeface="Courier New"/>
                <a:cs typeface="Courier New"/>
                <a:sym typeface="Courier New"/>
              </a:rPr>
              <a:t>      target: { type: AverageValue, averageValue: "50"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850"/>
              <a:buFont typeface="Courier New"/>
              <a:buNone/>
            </a:pPr>
            <a:r>
              <a:rPr b="0" i="0" lang="en-US" sz="850" u="none" cap="none" strike="noStrike">
                <a:solidFill>
                  <a:srgbClr val="A8D8EA"/>
                </a:solidFill>
                <a:latin typeface="Courier New"/>
                <a:ea typeface="Courier New"/>
                <a:cs typeface="Courier New"/>
                <a:sym typeface="Courier New"/>
              </a:rPr>
              <a:t>  - type: External   # SECONDARY: Heap ratio recording rule (scale before OOMKill)</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850"/>
              <a:buFont typeface="Courier New"/>
              <a:buNone/>
            </a:pPr>
            <a:r>
              <a:rPr b="0" i="0" lang="en-US" sz="850" u="none" cap="none" strike="noStrike">
                <a:solidFill>
                  <a:srgbClr val="A8D8EA"/>
                </a:solidFill>
                <a:latin typeface="Courier New"/>
                <a:ea typeface="Courier New"/>
                <a:cs typeface="Courier New"/>
                <a:sym typeface="Courier New"/>
              </a:rPr>
              <a:t>    external:</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850"/>
              <a:buFont typeface="Courier New"/>
              <a:buNone/>
            </a:pPr>
            <a:r>
              <a:rPr b="0" i="0" lang="en-US" sz="850" u="none" cap="none" strike="noStrike">
                <a:solidFill>
                  <a:srgbClr val="A8D8EA"/>
                </a:solidFill>
                <a:latin typeface="Courier New"/>
                <a:ea typeface="Courier New"/>
                <a:cs typeface="Courier New"/>
                <a:sym typeface="Courier New"/>
              </a:rPr>
              <a:t>      metric: { name: jvm_memory_used_ratio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850"/>
              <a:buFont typeface="Courier New"/>
              <a:buNone/>
            </a:pPr>
            <a:r>
              <a:rPr b="0" i="0" lang="en-US" sz="850" u="none" cap="none" strike="noStrike">
                <a:solidFill>
                  <a:srgbClr val="A8D8EA"/>
                </a:solidFill>
                <a:latin typeface="Courier New"/>
                <a:ea typeface="Courier New"/>
                <a:cs typeface="Courier New"/>
                <a:sym typeface="Courier New"/>
              </a:rPr>
              <a:t>      target: { type: AverageValue, averageValue: "0.80" }</a:t>
            </a:r>
            <a:endParaRPr b="0" i="0" sz="850" u="none" cap="none" strike="noStrike">
              <a:solidFill>
                <a:schemeClr val="dk1"/>
              </a:solidFill>
              <a:latin typeface="Calibri"/>
              <a:ea typeface="Calibri"/>
              <a:cs typeface="Calibri"/>
              <a:sym typeface="Calibri"/>
            </a:endParaRPr>
          </a:p>
        </p:txBody>
      </p:sp>
      <p:sp>
        <p:nvSpPr>
          <p:cNvPr id="602" name="Google Shape;602;p23"/>
          <p:cNvSpPr/>
          <p:nvPr/>
        </p:nvSpPr>
        <p:spPr>
          <a:xfrm>
            <a:off x="320040" y="4910328"/>
            <a:ext cx="85039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A623"/>
              </a:buClr>
              <a:buSzPts val="950"/>
              <a:buFont typeface="Calibri"/>
              <a:buNone/>
            </a:pPr>
            <a:r>
              <a:rPr b="0" i="0" lang="en-US" sz="950" u="none" cap="none" strike="noStrike">
                <a:solidFill>
                  <a:srgbClr val="F5A623"/>
                </a:solidFill>
                <a:latin typeface="Calibri"/>
                <a:ea typeface="Calibri"/>
                <a:cs typeface="Calibri"/>
                <a:sym typeface="Calibri"/>
              </a:rPr>
              <a:t>📖  SRE with Java Microservices: Autoscale on throughput metrics, not CPU — GC pauses create false CPU spikes</a:t>
            </a:r>
            <a:endParaRPr b="0" i="0" sz="950" u="none" cap="none" strike="noStrike">
              <a:solidFill>
                <a:schemeClr val="dk1"/>
              </a:solidFill>
              <a:latin typeface="Calibri"/>
              <a:ea typeface="Calibri"/>
              <a:cs typeface="Calibri"/>
              <a:sym typeface="Calibri"/>
            </a:endParaRPr>
          </a:p>
        </p:txBody>
      </p:sp>
      <p:sp>
        <p:nvSpPr>
          <p:cNvPr id="603" name="Google Shape;603;p2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F0F7"/>
        </a:solidFill>
      </p:bgPr>
    </p:bg>
    <p:spTree>
      <p:nvGrpSpPr>
        <p:cNvPr id="608" name="Shape 608"/>
        <p:cNvGrpSpPr/>
        <p:nvPr/>
      </p:nvGrpSpPr>
      <p:grpSpPr>
        <a:xfrm>
          <a:off x="0" y="0"/>
          <a:ext cx="0" cy="0"/>
          <a:chOff x="0" y="0"/>
          <a:chExt cx="0" cy="0"/>
        </a:xfrm>
      </p:grpSpPr>
      <p:sp>
        <p:nvSpPr>
          <p:cNvPr id="609" name="Google Shape;609;p24"/>
          <p:cNvSpPr/>
          <p:nvPr/>
        </p:nvSpPr>
        <p:spPr>
          <a:xfrm>
            <a:off x="0" y="0"/>
            <a:ext cx="9144000" cy="64008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4"/>
          <p:cNvSpPr/>
          <p:nvPr/>
        </p:nvSpPr>
        <p:spPr>
          <a:xfrm>
            <a:off x="365760" y="0"/>
            <a:ext cx="6858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000"/>
              <a:buFont typeface="Calibri"/>
              <a:buNone/>
            </a:pPr>
            <a:r>
              <a:rPr b="1" i="0" lang="en-US" sz="2000" u="none" cap="none" strike="noStrike">
                <a:solidFill>
                  <a:srgbClr val="00BCD4"/>
                </a:solidFill>
                <a:latin typeface="Calibri"/>
                <a:ea typeface="Calibri"/>
                <a:cs typeface="Calibri"/>
                <a:sym typeface="Calibri"/>
              </a:rPr>
              <a:t>Vertical Pod Autoscaler (VPA) for Java</a:t>
            </a:r>
            <a:endParaRPr b="0" i="0" sz="2000" u="none" cap="none" strike="noStrike">
              <a:solidFill>
                <a:schemeClr val="dk1"/>
              </a:solidFill>
              <a:latin typeface="Calibri"/>
              <a:ea typeface="Calibri"/>
              <a:cs typeface="Calibri"/>
              <a:sym typeface="Calibri"/>
            </a:endParaRPr>
          </a:p>
        </p:txBody>
      </p:sp>
      <p:sp>
        <p:nvSpPr>
          <p:cNvPr id="611" name="Google Shape;611;p24"/>
          <p:cNvSpPr/>
          <p:nvPr/>
        </p:nvSpPr>
        <p:spPr>
          <a:xfrm>
            <a:off x="7315200" y="73152"/>
            <a:ext cx="1645920" cy="502920"/>
          </a:xfrm>
          <a:prstGeom prst="rect">
            <a:avLst/>
          </a:prstGeom>
          <a:solidFill>
            <a:srgbClr val="1E6FC8"/>
          </a:solidFill>
          <a:ln>
            <a:noFill/>
          </a:ln>
        </p:spPr>
        <p:txBody>
          <a:bodyPr anchorCtr="0" anchor="ctr" bIns="0" lIns="0" spcFirstLastPara="1" rIns="76200" wrap="square" tIns="76200">
            <a:noAutofit/>
          </a:bodyPr>
          <a:lstStyle/>
          <a:p>
            <a:pPr indent="0" lvl="0" marL="0" marR="0" rtl="0" algn="r">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Section 06</a:t>
            </a:r>
            <a:endParaRPr b="0" i="0" sz="1000" u="none" cap="none" strike="noStrike">
              <a:solidFill>
                <a:schemeClr val="dk1"/>
              </a:solidFill>
              <a:latin typeface="Calibri"/>
              <a:ea typeface="Calibri"/>
              <a:cs typeface="Calibri"/>
              <a:sym typeface="Calibri"/>
            </a:endParaRPr>
          </a:p>
        </p:txBody>
      </p:sp>
      <p:sp>
        <p:nvSpPr>
          <p:cNvPr id="612" name="Google Shape;612;p24"/>
          <p:cNvSpPr/>
          <p:nvPr/>
        </p:nvSpPr>
        <p:spPr>
          <a:xfrm>
            <a:off x="0" y="4960620"/>
            <a:ext cx="9144000" cy="18288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24"/>
          <p:cNvSpPr/>
          <p:nvPr/>
        </p:nvSpPr>
        <p:spPr>
          <a:xfrm>
            <a:off x="365760" y="4956048"/>
            <a:ext cx="841248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00"/>
              <a:buFont typeface="Calibri"/>
              <a:buNone/>
            </a:pPr>
            <a:r>
              <a:rPr b="0" i="0" lang="en-US" sz="900" u="none" cap="none" strike="noStrike">
                <a:solidFill>
                  <a:srgbClr val="ECF0F1"/>
                </a:solidFill>
                <a:latin typeface="Calibri"/>
                <a:ea typeface="Calibri"/>
                <a:cs typeface="Calibri"/>
                <a:sym typeface="Calibri"/>
              </a:rPr>
              <a:t>Taming the JVM: Java Optimization on OpenShift</a:t>
            </a:r>
            <a:endParaRPr b="0" i="0" sz="900" u="none" cap="none" strike="noStrike">
              <a:solidFill>
                <a:schemeClr val="dk1"/>
              </a:solidFill>
              <a:latin typeface="Calibri"/>
              <a:ea typeface="Calibri"/>
              <a:cs typeface="Calibri"/>
              <a:sym typeface="Calibri"/>
            </a:endParaRPr>
          </a:p>
        </p:txBody>
      </p:sp>
      <p:sp>
        <p:nvSpPr>
          <p:cNvPr id="614" name="Google Shape;614;p24"/>
          <p:cNvSpPr/>
          <p:nvPr/>
        </p:nvSpPr>
        <p:spPr>
          <a:xfrm>
            <a:off x="365760" y="777240"/>
            <a:ext cx="4206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FC8"/>
              </a:buClr>
              <a:buSzPts val="1300"/>
              <a:buFont typeface="Calibri"/>
              <a:buNone/>
            </a:pPr>
            <a:r>
              <a:rPr b="1" i="0" lang="en-US" sz="1300" u="none" cap="none" strike="noStrike">
                <a:solidFill>
                  <a:srgbClr val="1E6FC8"/>
                </a:solidFill>
                <a:latin typeface="Calibri"/>
                <a:ea typeface="Calibri"/>
                <a:cs typeface="Calibri"/>
                <a:sym typeface="Calibri"/>
              </a:rPr>
              <a:t>VPA Configuration:</a:t>
            </a:r>
            <a:endParaRPr b="0" i="0" sz="1300" u="none" cap="none" strike="noStrike">
              <a:solidFill>
                <a:schemeClr val="dk1"/>
              </a:solidFill>
              <a:latin typeface="Calibri"/>
              <a:ea typeface="Calibri"/>
              <a:cs typeface="Calibri"/>
              <a:sym typeface="Calibri"/>
            </a:endParaRPr>
          </a:p>
        </p:txBody>
      </p:sp>
      <p:sp>
        <p:nvSpPr>
          <p:cNvPr id="615" name="Google Shape;615;p24"/>
          <p:cNvSpPr/>
          <p:nvPr/>
        </p:nvSpPr>
        <p:spPr>
          <a:xfrm>
            <a:off x="320040" y="1097280"/>
            <a:ext cx="4160520" cy="3017520"/>
          </a:xfrm>
          <a:prstGeom prst="rect">
            <a:avLst/>
          </a:prstGeom>
          <a:solidFill>
            <a:srgbClr val="0D2137"/>
          </a:solidFill>
          <a:ln cap="flat" cmpd="sng" w="1905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24"/>
          <p:cNvSpPr/>
          <p:nvPr/>
        </p:nvSpPr>
        <p:spPr>
          <a:xfrm>
            <a:off x="393192" y="1143000"/>
            <a:ext cx="4014216" cy="2926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apiVersion: autoscaling.k8s.io/v1</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kind: VerticalPodAutoscaler</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metadata:</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name: java-app-vpa</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spec:</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targetRef:</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apiVersion: apps/v1</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kind: Deployment</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name: java-app</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updatePolicy:</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updateMode: "Auto"   # or "Off" for recommendations-only</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resourcePolicy:</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containerPolicies:</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 containerName: java-app</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minAllowed:</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memory: "256Mi"</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cpu: "100m"</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maxAllowed:</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memory: "4Gi"</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cpu: "4000m"</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controlledResources:</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 memory</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 cpu</a:t>
            </a:r>
            <a:endParaRPr b="0" i="0" sz="950" u="none" cap="none" strike="noStrike">
              <a:solidFill>
                <a:schemeClr val="dk1"/>
              </a:solidFill>
              <a:latin typeface="Calibri"/>
              <a:ea typeface="Calibri"/>
              <a:cs typeface="Calibri"/>
              <a:sym typeface="Calibri"/>
            </a:endParaRPr>
          </a:p>
        </p:txBody>
      </p:sp>
      <p:sp>
        <p:nvSpPr>
          <p:cNvPr id="617" name="Google Shape;617;p24"/>
          <p:cNvSpPr/>
          <p:nvPr/>
        </p:nvSpPr>
        <p:spPr>
          <a:xfrm>
            <a:off x="4663440" y="777240"/>
            <a:ext cx="4206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FC8"/>
              </a:buClr>
              <a:buSzPts val="1300"/>
              <a:buFont typeface="Calibri"/>
              <a:buNone/>
            </a:pPr>
            <a:r>
              <a:rPr b="1" i="0" lang="en-US" sz="1300" u="none" cap="none" strike="noStrike">
                <a:solidFill>
                  <a:srgbClr val="1E6FC8"/>
                </a:solidFill>
                <a:latin typeface="Calibri"/>
                <a:ea typeface="Calibri"/>
                <a:cs typeface="Calibri"/>
                <a:sym typeface="Calibri"/>
              </a:rPr>
              <a:t>VPA Workflow for Java:</a:t>
            </a:r>
            <a:endParaRPr b="0" i="0" sz="1300" u="none" cap="none" strike="noStrike">
              <a:solidFill>
                <a:schemeClr val="dk1"/>
              </a:solidFill>
              <a:latin typeface="Calibri"/>
              <a:ea typeface="Calibri"/>
              <a:cs typeface="Calibri"/>
              <a:sym typeface="Calibri"/>
            </a:endParaRPr>
          </a:p>
        </p:txBody>
      </p:sp>
      <p:sp>
        <p:nvSpPr>
          <p:cNvPr id="618" name="Google Shape;618;p24"/>
          <p:cNvSpPr/>
          <p:nvPr/>
        </p:nvSpPr>
        <p:spPr>
          <a:xfrm>
            <a:off x="4663440" y="1097280"/>
            <a:ext cx="4160520" cy="77724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4"/>
          <p:cNvSpPr/>
          <p:nvPr/>
        </p:nvSpPr>
        <p:spPr>
          <a:xfrm>
            <a:off x="4709160" y="1115568"/>
            <a:ext cx="347472" cy="347472"/>
          </a:xfrm>
          <a:prstGeom prst="ellipse">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24"/>
          <p:cNvSpPr/>
          <p:nvPr/>
        </p:nvSpPr>
        <p:spPr>
          <a:xfrm>
            <a:off x="4709160" y="1115568"/>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621" name="Google Shape;621;p24"/>
          <p:cNvSpPr/>
          <p:nvPr/>
        </p:nvSpPr>
        <p:spPr>
          <a:xfrm>
            <a:off x="5166360" y="1115568"/>
            <a:ext cx="35661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FC8"/>
              </a:buClr>
              <a:buSzPts val="1100"/>
              <a:buFont typeface="Calibri"/>
              <a:buNone/>
            </a:pPr>
            <a:r>
              <a:rPr b="1" i="0" lang="en-US" sz="1100" u="none" cap="none" strike="noStrike">
                <a:solidFill>
                  <a:srgbClr val="1E6FC8"/>
                </a:solidFill>
                <a:latin typeface="Calibri"/>
                <a:ea typeface="Calibri"/>
                <a:cs typeface="Calibri"/>
                <a:sym typeface="Calibri"/>
              </a:rPr>
              <a:t>Observe (Off mode)</a:t>
            </a:r>
            <a:endParaRPr b="0" i="0" sz="1100" u="none" cap="none" strike="noStrike">
              <a:solidFill>
                <a:schemeClr val="dk1"/>
              </a:solidFill>
              <a:latin typeface="Calibri"/>
              <a:ea typeface="Calibri"/>
              <a:cs typeface="Calibri"/>
              <a:sym typeface="Calibri"/>
            </a:endParaRPr>
          </a:p>
        </p:txBody>
      </p:sp>
      <p:sp>
        <p:nvSpPr>
          <p:cNvPr id="622" name="Google Shape;622;p24"/>
          <p:cNvSpPr/>
          <p:nvPr/>
        </p:nvSpPr>
        <p:spPr>
          <a:xfrm>
            <a:off x="5166360" y="1389888"/>
            <a:ext cx="3566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C"/>
              </a:buClr>
              <a:buSzPts val="950"/>
              <a:buFont typeface="Calibri"/>
              <a:buNone/>
            </a:pPr>
            <a:r>
              <a:rPr b="0" i="0" lang="en-US" sz="950" u="none" cap="none" strike="noStrike">
                <a:solidFill>
                  <a:srgbClr val="1A2B3C"/>
                </a:solidFill>
                <a:latin typeface="Calibri"/>
                <a:ea typeface="Calibri"/>
                <a:cs typeface="Calibri"/>
                <a:sym typeface="Calibri"/>
              </a:rPr>
              <a:t>Run VPA in Off mode for 48-72 hrs. Collect memory/CPU recommendations without applying changes.</a:t>
            </a:r>
            <a:endParaRPr b="0" i="0" sz="950" u="none" cap="none" strike="noStrike">
              <a:solidFill>
                <a:schemeClr val="dk1"/>
              </a:solidFill>
              <a:latin typeface="Calibri"/>
              <a:ea typeface="Calibri"/>
              <a:cs typeface="Calibri"/>
              <a:sym typeface="Calibri"/>
            </a:endParaRPr>
          </a:p>
        </p:txBody>
      </p:sp>
      <p:sp>
        <p:nvSpPr>
          <p:cNvPr id="623" name="Google Shape;623;p24"/>
          <p:cNvSpPr/>
          <p:nvPr/>
        </p:nvSpPr>
        <p:spPr>
          <a:xfrm>
            <a:off x="4663440" y="1993392"/>
            <a:ext cx="4160520" cy="77724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24"/>
          <p:cNvSpPr/>
          <p:nvPr/>
        </p:nvSpPr>
        <p:spPr>
          <a:xfrm>
            <a:off x="4709160" y="2011680"/>
            <a:ext cx="347472" cy="347472"/>
          </a:xfrm>
          <a:prstGeom prst="ellipse">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4"/>
          <p:cNvSpPr/>
          <p:nvPr/>
        </p:nvSpPr>
        <p:spPr>
          <a:xfrm>
            <a:off x="4709160" y="2011680"/>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626" name="Google Shape;626;p24"/>
          <p:cNvSpPr/>
          <p:nvPr/>
        </p:nvSpPr>
        <p:spPr>
          <a:xfrm>
            <a:off x="5166360" y="2011680"/>
            <a:ext cx="35661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FC8"/>
              </a:buClr>
              <a:buSzPts val="1100"/>
              <a:buFont typeface="Calibri"/>
              <a:buNone/>
            </a:pPr>
            <a:r>
              <a:rPr b="1" i="0" lang="en-US" sz="1100" u="none" cap="none" strike="noStrike">
                <a:solidFill>
                  <a:srgbClr val="1E6FC8"/>
                </a:solidFill>
                <a:latin typeface="Calibri"/>
                <a:ea typeface="Calibri"/>
                <a:cs typeface="Calibri"/>
                <a:sym typeface="Calibri"/>
              </a:rPr>
              <a:t>Validate Recommendations</a:t>
            </a:r>
            <a:endParaRPr b="0" i="0" sz="1100" u="none" cap="none" strike="noStrike">
              <a:solidFill>
                <a:schemeClr val="dk1"/>
              </a:solidFill>
              <a:latin typeface="Calibri"/>
              <a:ea typeface="Calibri"/>
              <a:cs typeface="Calibri"/>
              <a:sym typeface="Calibri"/>
            </a:endParaRPr>
          </a:p>
        </p:txBody>
      </p:sp>
      <p:sp>
        <p:nvSpPr>
          <p:cNvPr id="627" name="Google Shape;627;p24"/>
          <p:cNvSpPr/>
          <p:nvPr/>
        </p:nvSpPr>
        <p:spPr>
          <a:xfrm>
            <a:off x="5166360" y="2286000"/>
            <a:ext cx="3566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C"/>
              </a:buClr>
              <a:buSzPts val="950"/>
              <a:buFont typeface="Calibri"/>
              <a:buNone/>
            </a:pPr>
            <a:r>
              <a:rPr b="0" i="0" lang="en-US" sz="950" u="none" cap="none" strike="noStrike">
                <a:solidFill>
                  <a:srgbClr val="1A2B3C"/>
                </a:solidFill>
                <a:latin typeface="Calibri"/>
                <a:ea typeface="Calibri"/>
                <a:cs typeface="Calibri"/>
                <a:sym typeface="Calibri"/>
              </a:rPr>
              <a:t>Compare VPA suggestions vs. your JVM memory budget (heap + off-heap). Ensure MaxRAMPercentage aligns.</a:t>
            </a:r>
            <a:endParaRPr b="0" i="0" sz="950" u="none" cap="none" strike="noStrike">
              <a:solidFill>
                <a:schemeClr val="dk1"/>
              </a:solidFill>
              <a:latin typeface="Calibri"/>
              <a:ea typeface="Calibri"/>
              <a:cs typeface="Calibri"/>
              <a:sym typeface="Calibri"/>
            </a:endParaRPr>
          </a:p>
        </p:txBody>
      </p:sp>
      <p:sp>
        <p:nvSpPr>
          <p:cNvPr id="628" name="Google Shape;628;p24"/>
          <p:cNvSpPr/>
          <p:nvPr/>
        </p:nvSpPr>
        <p:spPr>
          <a:xfrm>
            <a:off x="4663440" y="2889504"/>
            <a:ext cx="4160520" cy="77724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24"/>
          <p:cNvSpPr/>
          <p:nvPr/>
        </p:nvSpPr>
        <p:spPr>
          <a:xfrm>
            <a:off x="4709160" y="2907792"/>
            <a:ext cx="347472" cy="347472"/>
          </a:xfrm>
          <a:prstGeom prst="ellipse">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24"/>
          <p:cNvSpPr/>
          <p:nvPr/>
        </p:nvSpPr>
        <p:spPr>
          <a:xfrm>
            <a:off x="4709160" y="290779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631" name="Google Shape;631;p24"/>
          <p:cNvSpPr/>
          <p:nvPr/>
        </p:nvSpPr>
        <p:spPr>
          <a:xfrm>
            <a:off x="5166360" y="2907792"/>
            <a:ext cx="35661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FC8"/>
              </a:buClr>
              <a:buSzPts val="1100"/>
              <a:buFont typeface="Calibri"/>
              <a:buNone/>
            </a:pPr>
            <a:r>
              <a:rPr b="1" i="0" lang="en-US" sz="1100" u="none" cap="none" strike="noStrike">
                <a:solidFill>
                  <a:srgbClr val="1E6FC8"/>
                </a:solidFill>
                <a:latin typeface="Calibri"/>
                <a:ea typeface="Calibri"/>
                <a:cs typeface="Calibri"/>
                <a:sym typeface="Calibri"/>
              </a:rPr>
              <a:t>Apply (Auto mode)</a:t>
            </a:r>
            <a:endParaRPr b="0" i="0" sz="1100" u="none" cap="none" strike="noStrike">
              <a:solidFill>
                <a:schemeClr val="dk1"/>
              </a:solidFill>
              <a:latin typeface="Calibri"/>
              <a:ea typeface="Calibri"/>
              <a:cs typeface="Calibri"/>
              <a:sym typeface="Calibri"/>
            </a:endParaRPr>
          </a:p>
        </p:txBody>
      </p:sp>
      <p:sp>
        <p:nvSpPr>
          <p:cNvPr id="632" name="Google Shape;632;p24"/>
          <p:cNvSpPr/>
          <p:nvPr/>
        </p:nvSpPr>
        <p:spPr>
          <a:xfrm>
            <a:off x="5166360" y="3182112"/>
            <a:ext cx="3566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C"/>
              </a:buClr>
              <a:buSzPts val="950"/>
              <a:buFont typeface="Calibri"/>
              <a:buNone/>
            </a:pPr>
            <a:r>
              <a:rPr b="0" i="0" lang="en-US" sz="950" u="none" cap="none" strike="noStrike">
                <a:solidFill>
                  <a:srgbClr val="1A2B3C"/>
                </a:solidFill>
                <a:latin typeface="Calibri"/>
                <a:ea typeface="Calibri"/>
                <a:cs typeface="Calibri"/>
                <a:sym typeface="Calibri"/>
              </a:rPr>
              <a:t>Enable Auto mode during low-traffic window. VPA will restart pods with new resource settings.</a:t>
            </a:r>
            <a:endParaRPr b="0" i="0" sz="950" u="none" cap="none" strike="noStrike">
              <a:solidFill>
                <a:schemeClr val="dk1"/>
              </a:solidFill>
              <a:latin typeface="Calibri"/>
              <a:ea typeface="Calibri"/>
              <a:cs typeface="Calibri"/>
              <a:sym typeface="Calibri"/>
            </a:endParaRPr>
          </a:p>
        </p:txBody>
      </p:sp>
      <p:sp>
        <p:nvSpPr>
          <p:cNvPr id="633" name="Google Shape;633;p24"/>
          <p:cNvSpPr/>
          <p:nvPr/>
        </p:nvSpPr>
        <p:spPr>
          <a:xfrm>
            <a:off x="4663440" y="3785616"/>
            <a:ext cx="4160520" cy="77724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4"/>
          <p:cNvSpPr/>
          <p:nvPr/>
        </p:nvSpPr>
        <p:spPr>
          <a:xfrm>
            <a:off x="4709160" y="3803904"/>
            <a:ext cx="347472" cy="347472"/>
          </a:xfrm>
          <a:prstGeom prst="ellipse">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4"/>
          <p:cNvSpPr/>
          <p:nvPr/>
        </p:nvSpPr>
        <p:spPr>
          <a:xfrm>
            <a:off x="4709160" y="3803904"/>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636" name="Google Shape;636;p24"/>
          <p:cNvSpPr/>
          <p:nvPr/>
        </p:nvSpPr>
        <p:spPr>
          <a:xfrm>
            <a:off x="5166360" y="3803904"/>
            <a:ext cx="35661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FC8"/>
              </a:buClr>
              <a:buSzPts val="1100"/>
              <a:buFont typeface="Calibri"/>
              <a:buNone/>
            </a:pPr>
            <a:r>
              <a:rPr b="1" i="0" lang="en-US" sz="1100" u="none" cap="none" strike="noStrike">
                <a:solidFill>
                  <a:srgbClr val="1E6FC8"/>
                </a:solidFill>
                <a:latin typeface="Calibri"/>
                <a:ea typeface="Calibri"/>
                <a:cs typeface="Calibri"/>
                <a:sym typeface="Calibri"/>
              </a:rPr>
              <a:t>Monitor &amp; Iterate</a:t>
            </a:r>
            <a:endParaRPr b="0" i="0" sz="1100" u="none" cap="none" strike="noStrike">
              <a:solidFill>
                <a:schemeClr val="dk1"/>
              </a:solidFill>
              <a:latin typeface="Calibri"/>
              <a:ea typeface="Calibri"/>
              <a:cs typeface="Calibri"/>
              <a:sym typeface="Calibri"/>
            </a:endParaRPr>
          </a:p>
        </p:txBody>
      </p:sp>
      <p:sp>
        <p:nvSpPr>
          <p:cNvPr id="637" name="Google Shape;637;p24"/>
          <p:cNvSpPr/>
          <p:nvPr/>
        </p:nvSpPr>
        <p:spPr>
          <a:xfrm>
            <a:off x="5166360" y="4078224"/>
            <a:ext cx="3566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C"/>
              </a:buClr>
              <a:buSzPts val="950"/>
              <a:buFont typeface="Calibri"/>
              <a:buNone/>
            </a:pPr>
            <a:r>
              <a:rPr b="0" i="0" lang="en-US" sz="950" u="none" cap="none" strike="noStrike">
                <a:solidFill>
                  <a:srgbClr val="1A2B3C"/>
                </a:solidFill>
                <a:latin typeface="Calibri"/>
                <a:ea typeface="Calibri"/>
                <a:cs typeface="Calibri"/>
                <a:sym typeface="Calibri"/>
              </a:rPr>
              <a:t>Watch for OOMKills and GC pressure changes. Tune MaxRAMPercentage to match new limits.</a:t>
            </a:r>
            <a:endParaRPr b="0" i="0" sz="950" u="none" cap="none" strike="noStrike">
              <a:solidFill>
                <a:schemeClr val="dk1"/>
              </a:solidFill>
              <a:latin typeface="Calibri"/>
              <a:ea typeface="Calibri"/>
              <a:cs typeface="Calibri"/>
              <a:sym typeface="Calibri"/>
            </a:endParaRPr>
          </a:p>
        </p:txBody>
      </p:sp>
      <p:sp>
        <p:nvSpPr>
          <p:cNvPr id="638" name="Google Shape;638;p24"/>
          <p:cNvSpPr/>
          <p:nvPr/>
        </p:nvSpPr>
        <p:spPr>
          <a:xfrm>
            <a:off x="320090" y="4453122"/>
            <a:ext cx="8503800" cy="685800"/>
          </a:xfrm>
          <a:prstGeom prst="rect">
            <a:avLst/>
          </a:prstGeom>
          <a:solidFill>
            <a:srgbClr val="0A16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4"/>
          <p:cNvSpPr/>
          <p:nvPr/>
        </p:nvSpPr>
        <p:spPr>
          <a:xfrm>
            <a:off x="457250" y="4453122"/>
            <a:ext cx="83211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A623"/>
              </a:buClr>
              <a:buSzPts val="1050"/>
              <a:buFont typeface="Calibri"/>
              <a:buNone/>
            </a:pPr>
            <a:r>
              <a:rPr b="0" i="0" lang="en-US" sz="1050" u="none" cap="none" strike="noStrike">
                <a:solidFill>
                  <a:srgbClr val="F5A623"/>
                </a:solidFill>
                <a:latin typeface="Calibri"/>
                <a:ea typeface="Calibri"/>
                <a:cs typeface="Calibri"/>
                <a:sym typeface="Calibri"/>
              </a:rPr>
              <a:t>⚠  VPA + HPA Conflict: Don't use both on CPU/memory simultaneously. Use HPA on custom metrics (RPS) + VPA on resource right-sizing, or use KEDA for combined scaling.</a:t>
            </a:r>
            <a:endParaRPr b="0" i="0" sz="1050" u="none" cap="none" strike="noStrike">
              <a:solidFill>
                <a:schemeClr val="dk1"/>
              </a:solidFill>
              <a:latin typeface="Calibri"/>
              <a:ea typeface="Calibri"/>
              <a:cs typeface="Calibri"/>
              <a:sym typeface="Calibri"/>
            </a:endParaRPr>
          </a:p>
        </p:txBody>
      </p:sp>
      <p:sp>
        <p:nvSpPr>
          <p:cNvPr id="640" name="Google Shape;640;p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645" name="Shape 645"/>
        <p:cNvGrpSpPr/>
        <p:nvPr/>
      </p:nvGrpSpPr>
      <p:grpSpPr>
        <a:xfrm>
          <a:off x="0" y="0"/>
          <a:ext cx="0" cy="0"/>
          <a:chOff x="0" y="0"/>
          <a:chExt cx="0" cy="0"/>
        </a:xfrm>
      </p:grpSpPr>
      <p:sp>
        <p:nvSpPr>
          <p:cNvPr id="646" name="Google Shape;646;p25"/>
          <p:cNvSpPr/>
          <p:nvPr/>
        </p:nvSpPr>
        <p:spPr>
          <a:xfrm>
            <a:off x="0" y="0"/>
            <a:ext cx="9144000" cy="64008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25"/>
          <p:cNvSpPr/>
          <p:nvPr/>
        </p:nvSpPr>
        <p:spPr>
          <a:xfrm>
            <a:off x="365760" y="0"/>
            <a:ext cx="6858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000"/>
              <a:buFont typeface="Calibri"/>
              <a:buNone/>
            </a:pPr>
            <a:r>
              <a:rPr b="1" i="0" lang="en-US" sz="2000" u="none" cap="none" strike="noStrike">
                <a:solidFill>
                  <a:srgbClr val="00BCD4"/>
                </a:solidFill>
                <a:latin typeface="Calibri"/>
                <a:ea typeface="Calibri"/>
                <a:cs typeface="Calibri"/>
                <a:sym typeface="Calibri"/>
              </a:rPr>
              <a:t>Preventing GC-Induced Autoscaling Thrash</a:t>
            </a:r>
            <a:endParaRPr b="0" i="0" sz="2000" u="none" cap="none" strike="noStrike">
              <a:solidFill>
                <a:schemeClr val="dk1"/>
              </a:solidFill>
              <a:latin typeface="Calibri"/>
              <a:ea typeface="Calibri"/>
              <a:cs typeface="Calibri"/>
              <a:sym typeface="Calibri"/>
            </a:endParaRPr>
          </a:p>
        </p:txBody>
      </p:sp>
      <p:sp>
        <p:nvSpPr>
          <p:cNvPr id="648" name="Google Shape;648;p25"/>
          <p:cNvSpPr/>
          <p:nvPr/>
        </p:nvSpPr>
        <p:spPr>
          <a:xfrm>
            <a:off x="7315200" y="73152"/>
            <a:ext cx="1645920" cy="502920"/>
          </a:xfrm>
          <a:prstGeom prst="rect">
            <a:avLst/>
          </a:prstGeom>
          <a:solidFill>
            <a:srgbClr val="1E6FC8"/>
          </a:solidFill>
          <a:ln>
            <a:noFill/>
          </a:ln>
        </p:spPr>
        <p:txBody>
          <a:bodyPr anchorCtr="0" anchor="ctr" bIns="0" lIns="0" spcFirstLastPara="1" rIns="76200" wrap="square" tIns="76200">
            <a:noAutofit/>
          </a:bodyPr>
          <a:lstStyle/>
          <a:p>
            <a:pPr indent="0" lvl="0" marL="0" marR="0" rtl="0" algn="r">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Section 06</a:t>
            </a:r>
            <a:endParaRPr b="0" i="0" sz="1000" u="none" cap="none" strike="noStrike">
              <a:solidFill>
                <a:schemeClr val="dk1"/>
              </a:solidFill>
              <a:latin typeface="Calibri"/>
              <a:ea typeface="Calibri"/>
              <a:cs typeface="Calibri"/>
              <a:sym typeface="Calibri"/>
            </a:endParaRPr>
          </a:p>
        </p:txBody>
      </p:sp>
      <p:sp>
        <p:nvSpPr>
          <p:cNvPr id="649" name="Google Shape;649;p25"/>
          <p:cNvSpPr/>
          <p:nvPr/>
        </p:nvSpPr>
        <p:spPr>
          <a:xfrm>
            <a:off x="0" y="4960620"/>
            <a:ext cx="9144000" cy="18288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25"/>
          <p:cNvSpPr/>
          <p:nvPr/>
        </p:nvSpPr>
        <p:spPr>
          <a:xfrm>
            <a:off x="365760" y="4956048"/>
            <a:ext cx="841248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00"/>
              <a:buFont typeface="Calibri"/>
              <a:buNone/>
            </a:pPr>
            <a:r>
              <a:rPr b="0" i="0" lang="en-US" sz="900" u="none" cap="none" strike="noStrike">
                <a:solidFill>
                  <a:srgbClr val="ECF0F1"/>
                </a:solidFill>
                <a:latin typeface="Calibri"/>
                <a:ea typeface="Calibri"/>
                <a:cs typeface="Calibri"/>
                <a:sym typeface="Calibri"/>
              </a:rPr>
              <a:t>Taming the JVM: Java Optimization on OpenShift</a:t>
            </a:r>
            <a:endParaRPr b="0" i="0" sz="900" u="none" cap="none" strike="noStrike">
              <a:solidFill>
                <a:schemeClr val="dk1"/>
              </a:solidFill>
              <a:latin typeface="Calibri"/>
              <a:ea typeface="Calibri"/>
              <a:cs typeface="Calibri"/>
              <a:sym typeface="Calibri"/>
            </a:endParaRPr>
          </a:p>
        </p:txBody>
      </p:sp>
      <p:sp>
        <p:nvSpPr>
          <p:cNvPr id="651" name="Google Shape;651;p25"/>
          <p:cNvSpPr/>
          <p:nvPr/>
        </p:nvSpPr>
        <p:spPr>
          <a:xfrm>
            <a:off x="320040" y="749808"/>
            <a:ext cx="4069080" cy="1261872"/>
          </a:xfrm>
          <a:prstGeom prst="rect">
            <a:avLst/>
          </a:prstGeom>
          <a:solidFill>
            <a:srgbClr val="122040"/>
          </a:solidFill>
          <a:ln>
            <a:noFill/>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25"/>
          <p:cNvSpPr/>
          <p:nvPr/>
        </p:nvSpPr>
        <p:spPr>
          <a:xfrm>
            <a:off x="457200" y="841248"/>
            <a:ext cx="3840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200"/>
              <a:buFont typeface="Calibri"/>
              <a:buNone/>
            </a:pPr>
            <a:r>
              <a:rPr b="1" i="0" lang="en-US" sz="1200" u="none" cap="none" strike="noStrike">
                <a:solidFill>
                  <a:srgbClr val="00BCD4"/>
                </a:solidFill>
                <a:latin typeface="Calibri"/>
                <a:ea typeface="Calibri"/>
                <a:cs typeface="Calibri"/>
                <a:sym typeface="Calibri"/>
              </a:rPr>
              <a:t>🎯  Use Request-Rate HPA, Not CPU</a:t>
            </a:r>
            <a:endParaRPr b="0" i="0" sz="1200" u="none" cap="none" strike="noStrike">
              <a:solidFill>
                <a:schemeClr val="dk1"/>
              </a:solidFill>
              <a:latin typeface="Calibri"/>
              <a:ea typeface="Calibri"/>
              <a:cs typeface="Calibri"/>
              <a:sym typeface="Calibri"/>
            </a:endParaRPr>
          </a:p>
        </p:txBody>
      </p:sp>
      <p:sp>
        <p:nvSpPr>
          <p:cNvPr id="653" name="Google Shape;653;p25"/>
          <p:cNvSpPr/>
          <p:nvPr/>
        </p:nvSpPr>
        <p:spPr>
          <a:xfrm>
            <a:off x="457200" y="1207008"/>
            <a:ext cx="38404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GC pauses create CPU spikes that mislead CPU-based HPA. Scale on http_requests_total or queue depth instead.</a:t>
            </a:r>
            <a:endParaRPr b="0" i="0" sz="1050" u="none" cap="none" strike="noStrike">
              <a:solidFill>
                <a:schemeClr val="dk1"/>
              </a:solidFill>
              <a:latin typeface="Calibri"/>
              <a:ea typeface="Calibri"/>
              <a:cs typeface="Calibri"/>
              <a:sym typeface="Calibri"/>
            </a:endParaRPr>
          </a:p>
        </p:txBody>
      </p:sp>
      <p:sp>
        <p:nvSpPr>
          <p:cNvPr id="654" name="Google Shape;654;p25"/>
          <p:cNvSpPr/>
          <p:nvPr/>
        </p:nvSpPr>
        <p:spPr>
          <a:xfrm>
            <a:off x="4663440" y="749808"/>
            <a:ext cx="4069080" cy="1261872"/>
          </a:xfrm>
          <a:prstGeom prst="rect">
            <a:avLst/>
          </a:prstGeom>
          <a:solidFill>
            <a:srgbClr val="122040"/>
          </a:solidFill>
          <a:ln>
            <a:noFill/>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5"/>
          <p:cNvSpPr/>
          <p:nvPr/>
        </p:nvSpPr>
        <p:spPr>
          <a:xfrm>
            <a:off x="4800600" y="841248"/>
            <a:ext cx="3840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200"/>
              <a:buFont typeface="Calibri"/>
              <a:buNone/>
            </a:pPr>
            <a:r>
              <a:rPr b="1" i="0" lang="en-US" sz="1200" u="none" cap="none" strike="noStrike">
                <a:solidFill>
                  <a:srgbClr val="00BCD4"/>
                </a:solidFill>
                <a:latin typeface="Calibri"/>
                <a:ea typeface="Calibri"/>
                <a:cs typeface="Calibri"/>
                <a:sym typeface="Calibri"/>
              </a:rPr>
              <a:t>⏱  Extend Stabilization Windows</a:t>
            </a:r>
            <a:endParaRPr b="0" i="0" sz="1200" u="none" cap="none" strike="noStrike">
              <a:solidFill>
                <a:schemeClr val="dk1"/>
              </a:solidFill>
              <a:latin typeface="Calibri"/>
              <a:ea typeface="Calibri"/>
              <a:cs typeface="Calibri"/>
              <a:sym typeface="Calibri"/>
            </a:endParaRPr>
          </a:p>
        </p:txBody>
      </p:sp>
      <p:sp>
        <p:nvSpPr>
          <p:cNvPr id="656" name="Google Shape;656;p25"/>
          <p:cNvSpPr/>
          <p:nvPr/>
        </p:nvSpPr>
        <p:spPr>
          <a:xfrm>
            <a:off x="4800600" y="1207008"/>
            <a:ext cx="38404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GC pauses are transient (100-500ms). Default HPA window (0s scaleUp) creates false scale-out. Use stabilizationWindowSeconds: 120-300.</a:t>
            </a:r>
            <a:endParaRPr b="0" i="0" sz="1050" u="none" cap="none" strike="noStrike">
              <a:solidFill>
                <a:schemeClr val="dk1"/>
              </a:solidFill>
              <a:latin typeface="Calibri"/>
              <a:ea typeface="Calibri"/>
              <a:cs typeface="Calibri"/>
              <a:sym typeface="Calibri"/>
            </a:endParaRPr>
          </a:p>
        </p:txBody>
      </p:sp>
      <p:sp>
        <p:nvSpPr>
          <p:cNvPr id="657" name="Google Shape;657;p25"/>
          <p:cNvSpPr/>
          <p:nvPr/>
        </p:nvSpPr>
        <p:spPr>
          <a:xfrm>
            <a:off x="320040" y="2167128"/>
            <a:ext cx="4069080" cy="1261872"/>
          </a:xfrm>
          <a:prstGeom prst="rect">
            <a:avLst/>
          </a:prstGeom>
          <a:solidFill>
            <a:srgbClr val="122040"/>
          </a:solidFill>
          <a:ln>
            <a:noFill/>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5"/>
          <p:cNvSpPr/>
          <p:nvPr/>
        </p:nvSpPr>
        <p:spPr>
          <a:xfrm>
            <a:off x="457200" y="2258568"/>
            <a:ext cx="3840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200"/>
              <a:buFont typeface="Calibri"/>
              <a:buNone/>
            </a:pPr>
            <a:r>
              <a:rPr b="1" i="0" lang="en-US" sz="1200" u="none" cap="none" strike="noStrike">
                <a:solidFill>
                  <a:srgbClr val="00BCD4"/>
                </a:solidFill>
                <a:latin typeface="Calibri"/>
                <a:ea typeface="Calibri"/>
                <a:cs typeface="Calibri"/>
                <a:sym typeface="Calibri"/>
              </a:rPr>
              <a:t>📊  Add GC-Aware Alerting</a:t>
            </a:r>
            <a:endParaRPr b="0" i="0" sz="1200" u="none" cap="none" strike="noStrike">
              <a:solidFill>
                <a:schemeClr val="dk1"/>
              </a:solidFill>
              <a:latin typeface="Calibri"/>
              <a:ea typeface="Calibri"/>
              <a:cs typeface="Calibri"/>
              <a:sym typeface="Calibri"/>
            </a:endParaRPr>
          </a:p>
        </p:txBody>
      </p:sp>
      <p:sp>
        <p:nvSpPr>
          <p:cNvPr id="659" name="Google Shape;659;p25"/>
          <p:cNvSpPr/>
          <p:nvPr/>
        </p:nvSpPr>
        <p:spPr>
          <a:xfrm>
            <a:off x="457200" y="2624328"/>
            <a:ext cx="38404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Alert on jvm_gc_pause P99 &gt; 500ms independently of scaling. Distinguish GC events from true load increases.</a:t>
            </a:r>
            <a:endParaRPr b="0" i="0" sz="1050" u="none" cap="none" strike="noStrike">
              <a:solidFill>
                <a:schemeClr val="dk1"/>
              </a:solidFill>
              <a:latin typeface="Calibri"/>
              <a:ea typeface="Calibri"/>
              <a:cs typeface="Calibri"/>
              <a:sym typeface="Calibri"/>
            </a:endParaRPr>
          </a:p>
        </p:txBody>
      </p:sp>
      <p:sp>
        <p:nvSpPr>
          <p:cNvPr id="660" name="Google Shape;660;p25"/>
          <p:cNvSpPr/>
          <p:nvPr/>
        </p:nvSpPr>
        <p:spPr>
          <a:xfrm>
            <a:off x="4663440" y="2167128"/>
            <a:ext cx="4069080" cy="1261872"/>
          </a:xfrm>
          <a:prstGeom prst="rect">
            <a:avLst/>
          </a:prstGeom>
          <a:solidFill>
            <a:srgbClr val="122040"/>
          </a:solidFill>
          <a:ln>
            <a:noFill/>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5"/>
          <p:cNvSpPr/>
          <p:nvPr/>
        </p:nvSpPr>
        <p:spPr>
          <a:xfrm>
            <a:off x="4800600" y="2258568"/>
            <a:ext cx="3840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200"/>
              <a:buFont typeface="Calibri"/>
              <a:buNone/>
            </a:pPr>
            <a:r>
              <a:rPr b="1" i="0" lang="en-US" sz="1200" u="none" cap="none" strike="noStrike">
                <a:solidFill>
                  <a:srgbClr val="00BCD4"/>
                </a:solidFill>
                <a:latin typeface="Calibri"/>
                <a:ea typeface="Calibri"/>
                <a:cs typeface="Calibri"/>
                <a:sym typeface="Calibri"/>
              </a:rPr>
              <a:t>🔢  Minimum Replica Count</a:t>
            </a:r>
            <a:endParaRPr b="0" i="0" sz="1200" u="none" cap="none" strike="noStrike">
              <a:solidFill>
                <a:schemeClr val="dk1"/>
              </a:solidFill>
              <a:latin typeface="Calibri"/>
              <a:ea typeface="Calibri"/>
              <a:cs typeface="Calibri"/>
              <a:sym typeface="Calibri"/>
            </a:endParaRPr>
          </a:p>
        </p:txBody>
      </p:sp>
      <p:sp>
        <p:nvSpPr>
          <p:cNvPr id="662" name="Google Shape;662;p25"/>
          <p:cNvSpPr/>
          <p:nvPr/>
        </p:nvSpPr>
        <p:spPr>
          <a:xfrm>
            <a:off x="4800600" y="2624328"/>
            <a:ext cx="38404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Keep minReplicas ≥ 2. Single-pod deployments with GC pauses = 100% downtime during GC stop-the-world phase.</a:t>
            </a:r>
            <a:endParaRPr b="0" i="0" sz="1050" u="none" cap="none" strike="noStrike">
              <a:solidFill>
                <a:schemeClr val="dk1"/>
              </a:solidFill>
              <a:latin typeface="Calibri"/>
              <a:ea typeface="Calibri"/>
              <a:cs typeface="Calibri"/>
              <a:sym typeface="Calibri"/>
            </a:endParaRPr>
          </a:p>
        </p:txBody>
      </p:sp>
      <p:sp>
        <p:nvSpPr>
          <p:cNvPr id="663" name="Google Shape;663;p25"/>
          <p:cNvSpPr/>
          <p:nvPr/>
        </p:nvSpPr>
        <p:spPr>
          <a:xfrm>
            <a:off x="320040" y="3584448"/>
            <a:ext cx="4069080" cy="1261872"/>
          </a:xfrm>
          <a:prstGeom prst="rect">
            <a:avLst/>
          </a:prstGeom>
          <a:solidFill>
            <a:srgbClr val="122040"/>
          </a:solidFill>
          <a:ln>
            <a:noFill/>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5"/>
          <p:cNvSpPr/>
          <p:nvPr/>
        </p:nvSpPr>
        <p:spPr>
          <a:xfrm>
            <a:off x="457200" y="3675888"/>
            <a:ext cx="3840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200"/>
              <a:buFont typeface="Calibri"/>
              <a:buNone/>
            </a:pPr>
            <a:r>
              <a:rPr b="1" i="0" lang="en-US" sz="1200" u="none" cap="none" strike="noStrike">
                <a:solidFill>
                  <a:srgbClr val="00BCD4"/>
                </a:solidFill>
                <a:latin typeface="Calibri"/>
                <a:ea typeface="Calibri"/>
                <a:cs typeface="Calibri"/>
                <a:sym typeface="Calibri"/>
              </a:rPr>
              <a:t>🔄  Correlate GC with Business Metrics</a:t>
            </a:r>
            <a:endParaRPr b="0" i="0" sz="1200" u="none" cap="none" strike="noStrike">
              <a:solidFill>
                <a:schemeClr val="dk1"/>
              </a:solidFill>
              <a:latin typeface="Calibri"/>
              <a:ea typeface="Calibri"/>
              <a:cs typeface="Calibri"/>
              <a:sym typeface="Calibri"/>
            </a:endParaRPr>
          </a:p>
        </p:txBody>
      </p:sp>
      <p:sp>
        <p:nvSpPr>
          <p:cNvPr id="665" name="Google Shape;665;p25"/>
          <p:cNvSpPr/>
          <p:nvPr/>
        </p:nvSpPr>
        <p:spPr>
          <a:xfrm>
            <a:off x="457200" y="4041648"/>
            <a:ext cx="38404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Join GC pause timestamps with error rate and latency. If GC causes SLO breach, tune GC first before scaling out.</a:t>
            </a:r>
            <a:endParaRPr b="0" i="0" sz="1050" u="none" cap="none" strike="noStrike">
              <a:solidFill>
                <a:schemeClr val="dk1"/>
              </a:solidFill>
              <a:latin typeface="Calibri"/>
              <a:ea typeface="Calibri"/>
              <a:cs typeface="Calibri"/>
              <a:sym typeface="Calibri"/>
            </a:endParaRPr>
          </a:p>
        </p:txBody>
      </p:sp>
      <p:sp>
        <p:nvSpPr>
          <p:cNvPr id="666" name="Google Shape;666;p25"/>
          <p:cNvSpPr/>
          <p:nvPr/>
        </p:nvSpPr>
        <p:spPr>
          <a:xfrm>
            <a:off x="4663440" y="3584448"/>
            <a:ext cx="4069080" cy="1261872"/>
          </a:xfrm>
          <a:prstGeom prst="rect">
            <a:avLst/>
          </a:prstGeom>
          <a:solidFill>
            <a:srgbClr val="122040"/>
          </a:solidFill>
          <a:ln>
            <a:noFill/>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25"/>
          <p:cNvSpPr/>
          <p:nvPr/>
        </p:nvSpPr>
        <p:spPr>
          <a:xfrm>
            <a:off x="4800600" y="3675888"/>
            <a:ext cx="3840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200"/>
              <a:buFont typeface="Calibri"/>
              <a:buNone/>
            </a:pPr>
            <a:r>
              <a:rPr b="1" i="0" lang="en-US" sz="1200" u="none" cap="none" strike="noStrike">
                <a:solidFill>
                  <a:srgbClr val="00BCD4"/>
                </a:solidFill>
                <a:latin typeface="Calibri"/>
                <a:ea typeface="Calibri"/>
                <a:cs typeface="Calibri"/>
                <a:sym typeface="Calibri"/>
              </a:rPr>
              <a:t>💾  Memory Limit Buffer</a:t>
            </a:r>
            <a:endParaRPr b="0" i="0" sz="1200" u="none" cap="none" strike="noStrike">
              <a:solidFill>
                <a:schemeClr val="dk1"/>
              </a:solidFill>
              <a:latin typeface="Calibri"/>
              <a:ea typeface="Calibri"/>
              <a:cs typeface="Calibri"/>
              <a:sym typeface="Calibri"/>
            </a:endParaRPr>
          </a:p>
        </p:txBody>
      </p:sp>
      <p:sp>
        <p:nvSpPr>
          <p:cNvPr id="668" name="Google Shape;668;p25"/>
          <p:cNvSpPr/>
          <p:nvPr/>
        </p:nvSpPr>
        <p:spPr>
          <a:xfrm>
            <a:off x="4800600" y="4041648"/>
            <a:ext cx="38404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Set limit 25-30% above request. Prevents OOMKill during GC surges. Use jvm_memory_used ratio metric for early warning.</a:t>
            </a:r>
            <a:endParaRPr b="0" i="0" sz="1050" u="none" cap="none" strike="noStrike">
              <a:solidFill>
                <a:schemeClr val="dk1"/>
              </a:solidFill>
              <a:latin typeface="Calibri"/>
              <a:ea typeface="Calibri"/>
              <a:cs typeface="Calibri"/>
              <a:sym typeface="Calibri"/>
            </a:endParaRPr>
          </a:p>
        </p:txBody>
      </p:sp>
      <p:sp>
        <p:nvSpPr>
          <p:cNvPr id="669" name="Google Shape;669;p2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F0F7"/>
        </a:solidFill>
      </p:bgPr>
    </p:bg>
    <p:spTree>
      <p:nvGrpSpPr>
        <p:cNvPr id="674" name="Shape 674"/>
        <p:cNvGrpSpPr/>
        <p:nvPr/>
      </p:nvGrpSpPr>
      <p:grpSpPr>
        <a:xfrm>
          <a:off x="0" y="0"/>
          <a:ext cx="0" cy="0"/>
          <a:chOff x="0" y="0"/>
          <a:chExt cx="0" cy="0"/>
        </a:xfrm>
      </p:grpSpPr>
      <p:sp>
        <p:nvSpPr>
          <p:cNvPr id="675" name="Google Shape;675;p26"/>
          <p:cNvSpPr/>
          <p:nvPr/>
        </p:nvSpPr>
        <p:spPr>
          <a:xfrm>
            <a:off x="0" y="0"/>
            <a:ext cx="9144000" cy="64008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26"/>
          <p:cNvSpPr/>
          <p:nvPr/>
        </p:nvSpPr>
        <p:spPr>
          <a:xfrm>
            <a:off x="365760" y="0"/>
            <a:ext cx="6858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000"/>
              <a:buFont typeface="Calibri"/>
              <a:buNone/>
            </a:pPr>
            <a:r>
              <a:rPr b="1" i="0" lang="en-US" sz="2000" u="none" cap="none" strike="noStrike">
                <a:solidFill>
                  <a:srgbClr val="00BCD4"/>
                </a:solidFill>
                <a:latin typeface="Calibri"/>
                <a:ea typeface="Calibri"/>
                <a:cs typeface="Calibri"/>
                <a:sym typeface="Calibri"/>
              </a:rPr>
              <a:t>Systematic Tuning Workflow</a:t>
            </a:r>
            <a:endParaRPr b="0" i="0" sz="2000" u="none" cap="none" strike="noStrike">
              <a:solidFill>
                <a:schemeClr val="dk1"/>
              </a:solidFill>
              <a:latin typeface="Calibri"/>
              <a:ea typeface="Calibri"/>
              <a:cs typeface="Calibri"/>
              <a:sym typeface="Calibri"/>
            </a:endParaRPr>
          </a:p>
        </p:txBody>
      </p:sp>
      <p:sp>
        <p:nvSpPr>
          <p:cNvPr id="677" name="Google Shape;677;p26"/>
          <p:cNvSpPr/>
          <p:nvPr/>
        </p:nvSpPr>
        <p:spPr>
          <a:xfrm>
            <a:off x="7315200" y="73152"/>
            <a:ext cx="1645920" cy="502920"/>
          </a:xfrm>
          <a:prstGeom prst="rect">
            <a:avLst/>
          </a:prstGeom>
          <a:solidFill>
            <a:srgbClr val="1E6FC8"/>
          </a:solidFill>
          <a:ln>
            <a:noFill/>
          </a:ln>
        </p:spPr>
        <p:txBody>
          <a:bodyPr anchorCtr="0" anchor="ctr" bIns="0" lIns="0" spcFirstLastPara="1" rIns="76200" wrap="square" tIns="76200">
            <a:noAutofit/>
          </a:bodyPr>
          <a:lstStyle/>
          <a:p>
            <a:pPr indent="0" lvl="0" marL="0" marR="0" rtl="0" algn="r">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Section 07</a:t>
            </a:r>
            <a:endParaRPr b="0" i="0" sz="1000" u="none" cap="none" strike="noStrike">
              <a:solidFill>
                <a:schemeClr val="dk1"/>
              </a:solidFill>
              <a:latin typeface="Calibri"/>
              <a:ea typeface="Calibri"/>
              <a:cs typeface="Calibri"/>
              <a:sym typeface="Calibri"/>
            </a:endParaRPr>
          </a:p>
        </p:txBody>
      </p:sp>
      <p:sp>
        <p:nvSpPr>
          <p:cNvPr id="678" name="Google Shape;678;p26"/>
          <p:cNvSpPr/>
          <p:nvPr/>
        </p:nvSpPr>
        <p:spPr>
          <a:xfrm>
            <a:off x="0" y="4960620"/>
            <a:ext cx="9144000" cy="18288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26"/>
          <p:cNvSpPr/>
          <p:nvPr/>
        </p:nvSpPr>
        <p:spPr>
          <a:xfrm>
            <a:off x="365760" y="4956048"/>
            <a:ext cx="841248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00"/>
              <a:buFont typeface="Calibri"/>
              <a:buNone/>
            </a:pPr>
            <a:r>
              <a:rPr b="0" i="0" lang="en-US" sz="900" u="none" cap="none" strike="noStrike">
                <a:solidFill>
                  <a:srgbClr val="ECF0F1"/>
                </a:solidFill>
                <a:latin typeface="Calibri"/>
                <a:ea typeface="Calibri"/>
                <a:cs typeface="Calibri"/>
                <a:sym typeface="Calibri"/>
              </a:rPr>
              <a:t>Taming the JVM: Java Optimization on OpenShift</a:t>
            </a:r>
            <a:endParaRPr b="0" i="0" sz="900" u="none" cap="none" strike="noStrike">
              <a:solidFill>
                <a:schemeClr val="dk1"/>
              </a:solidFill>
              <a:latin typeface="Calibri"/>
              <a:ea typeface="Calibri"/>
              <a:cs typeface="Calibri"/>
              <a:sym typeface="Calibri"/>
            </a:endParaRPr>
          </a:p>
        </p:txBody>
      </p:sp>
      <p:sp>
        <p:nvSpPr>
          <p:cNvPr id="680" name="Google Shape;680;p26"/>
          <p:cNvSpPr/>
          <p:nvPr/>
        </p:nvSpPr>
        <p:spPr>
          <a:xfrm>
            <a:off x="365760" y="749808"/>
            <a:ext cx="8229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C"/>
              </a:buClr>
              <a:buSzPts val="1400"/>
              <a:buFont typeface="Calibri"/>
              <a:buNone/>
            </a:pPr>
            <a:r>
              <a:rPr b="1" i="0" lang="en-US" sz="1400" u="none" cap="none" strike="noStrike">
                <a:solidFill>
                  <a:srgbClr val="1A2B3C"/>
                </a:solidFill>
                <a:latin typeface="Calibri"/>
                <a:ea typeface="Calibri"/>
                <a:cs typeface="Calibri"/>
                <a:sym typeface="Calibri"/>
              </a:rPr>
              <a:t>Iterative Instrumentation → Diagnosis → Tuning Loop</a:t>
            </a:r>
            <a:endParaRPr b="0" i="0" sz="1400" u="none" cap="none" strike="noStrike">
              <a:solidFill>
                <a:schemeClr val="dk1"/>
              </a:solidFill>
              <a:latin typeface="Calibri"/>
              <a:ea typeface="Calibri"/>
              <a:cs typeface="Calibri"/>
              <a:sym typeface="Calibri"/>
            </a:endParaRPr>
          </a:p>
        </p:txBody>
      </p:sp>
      <p:sp>
        <p:nvSpPr>
          <p:cNvPr id="681" name="Google Shape;681;p26"/>
          <p:cNvSpPr/>
          <p:nvPr/>
        </p:nvSpPr>
        <p:spPr>
          <a:xfrm>
            <a:off x="320040" y="1188720"/>
            <a:ext cx="2103120" cy="260604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26"/>
          <p:cNvSpPr/>
          <p:nvPr/>
        </p:nvSpPr>
        <p:spPr>
          <a:xfrm>
            <a:off x="320040" y="1188720"/>
            <a:ext cx="2103120" cy="475488"/>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6"/>
          <p:cNvSpPr/>
          <p:nvPr/>
        </p:nvSpPr>
        <p:spPr>
          <a:xfrm>
            <a:off x="320040" y="1188720"/>
            <a:ext cx="438912"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1</a:t>
            </a:r>
            <a:endParaRPr b="0" i="0" sz="1800" u="none" cap="none" strike="noStrike">
              <a:solidFill>
                <a:schemeClr val="dk1"/>
              </a:solidFill>
              <a:latin typeface="Calibri"/>
              <a:ea typeface="Calibri"/>
              <a:cs typeface="Calibri"/>
              <a:sym typeface="Calibri"/>
            </a:endParaRPr>
          </a:p>
        </p:txBody>
      </p:sp>
      <p:sp>
        <p:nvSpPr>
          <p:cNvPr id="684" name="Google Shape;684;p26"/>
          <p:cNvSpPr/>
          <p:nvPr/>
        </p:nvSpPr>
        <p:spPr>
          <a:xfrm>
            <a:off x="777240" y="1188720"/>
            <a:ext cx="16002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Instrument</a:t>
            </a:r>
            <a:endParaRPr b="0" i="0" sz="1400" u="none" cap="none" strike="noStrike">
              <a:solidFill>
                <a:schemeClr val="dk1"/>
              </a:solidFill>
              <a:latin typeface="Calibri"/>
              <a:ea typeface="Calibri"/>
              <a:cs typeface="Calibri"/>
              <a:sym typeface="Calibri"/>
            </a:endParaRPr>
          </a:p>
        </p:txBody>
      </p:sp>
      <p:sp>
        <p:nvSpPr>
          <p:cNvPr id="685" name="Google Shape;685;p26"/>
          <p:cNvSpPr/>
          <p:nvPr/>
        </p:nvSpPr>
        <p:spPr>
          <a:xfrm>
            <a:off x="429768" y="1737360"/>
            <a:ext cx="1920240" cy="2011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B3C"/>
              </a:buClr>
              <a:buSzPts val="1050"/>
              <a:buFont typeface="Calibri"/>
              <a:buNone/>
            </a:pPr>
            <a:r>
              <a:rPr b="0" i="0" lang="en-US" sz="1050" u="none" cap="none" strike="noStrike">
                <a:solidFill>
                  <a:srgbClr val="1A2B3C"/>
                </a:solidFill>
                <a:latin typeface="Calibri"/>
                <a:ea typeface="Calibri"/>
                <a:cs typeface="Calibri"/>
                <a:sym typeface="Calibri"/>
              </a:rPr>
              <a:t>Enable JFR + Prometheus</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B3C"/>
              </a:buClr>
              <a:buSzPts val="1050"/>
              <a:buFont typeface="Calibri"/>
              <a:buNone/>
            </a:pPr>
            <a:r>
              <a:rPr b="0" i="0" lang="en-US" sz="1050" u="none" cap="none" strike="noStrike">
                <a:solidFill>
                  <a:srgbClr val="1A2B3C"/>
                </a:solidFill>
                <a:latin typeface="Calibri"/>
                <a:ea typeface="Calibri"/>
                <a:cs typeface="Calibri"/>
                <a:sym typeface="Calibri"/>
              </a:rPr>
              <a:t>Add Cryostat agent</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B3C"/>
              </a:buClr>
              <a:buSzPts val="1050"/>
              <a:buFont typeface="Calibri"/>
              <a:buNone/>
            </a:pPr>
            <a:r>
              <a:rPr b="0" i="0" lang="en-US" sz="1050" u="none" cap="none" strike="noStrike">
                <a:solidFill>
                  <a:srgbClr val="1A2B3C"/>
                </a:solidFill>
                <a:latin typeface="Calibri"/>
                <a:ea typeface="Calibri"/>
                <a:cs typeface="Calibri"/>
                <a:sym typeface="Calibri"/>
              </a:rPr>
              <a:t>Deploy Grafana dashboards</a:t>
            </a:r>
            <a:endParaRPr b="0" i="0" sz="1050" u="none" cap="none" strike="noStrike">
              <a:solidFill>
                <a:schemeClr val="dk1"/>
              </a:solidFill>
              <a:latin typeface="Calibri"/>
              <a:ea typeface="Calibri"/>
              <a:cs typeface="Calibri"/>
              <a:sym typeface="Calibri"/>
            </a:endParaRPr>
          </a:p>
        </p:txBody>
      </p:sp>
      <p:sp>
        <p:nvSpPr>
          <p:cNvPr id="686" name="Google Shape;686;p26"/>
          <p:cNvSpPr/>
          <p:nvPr/>
        </p:nvSpPr>
        <p:spPr>
          <a:xfrm>
            <a:off x="2441448" y="2194560"/>
            <a:ext cx="5029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6FC8"/>
              </a:buClr>
              <a:buSzPts val="2200"/>
              <a:buFont typeface="Calibri"/>
              <a:buNone/>
            </a:pPr>
            <a:r>
              <a:rPr b="1" i="0" lang="en-US" sz="2200" u="none" cap="none" strike="noStrike">
                <a:solidFill>
                  <a:srgbClr val="1E6FC8"/>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687" name="Google Shape;687;p26"/>
          <p:cNvSpPr/>
          <p:nvPr/>
        </p:nvSpPr>
        <p:spPr>
          <a:xfrm>
            <a:off x="2697480" y="1188720"/>
            <a:ext cx="2103120" cy="260604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26"/>
          <p:cNvSpPr/>
          <p:nvPr/>
        </p:nvSpPr>
        <p:spPr>
          <a:xfrm>
            <a:off x="2697480" y="1188720"/>
            <a:ext cx="2103120" cy="475488"/>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26"/>
          <p:cNvSpPr/>
          <p:nvPr/>
        </p:nvSpPr>
        <p:spPr>
          <a:xfrm>
            <a:off x="2697480" y="1188720"/>
            <a:ext cx="438912"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2</a:t>
            </a:r>
            <a:endParaRPr b="0" i="0" sz="1800" u="none" cap="none" strike="noStrike">
              <a:solidFill>
                <a:schemeClr val="dk1"/>
              </a:solidFill>
              <a:latin typeface="Calibri"/>
              <a:ea typeface="Calibri"/>
              <a:cs typeface="Calibri"/>
              <a:sym typeface="Calibri"/>
            </a:endParaRPr>
          </a:p>
        </p:txBody>
      </p:sp>
      <p:sp>
        <p:nvSpPr>
          <p:cNvPr id="690" name="Google Shape;690;p26"/>
          <p:cNvSpPr/>
          <p:nvPr/>
        </p:nvSpPr>
        <p:spPr>
          <a:xfrm>
            <a:off x="3154680" y="1188720"/>
            <a:ext cx="16002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Baseline</a:t>
            </a:r>
            <a:endParaRPr b="0" i="0" sz="1400" u="none" cap="none" strike="noStrike">
              <a:solidFill>
                <a:schemeClr val="dk1"/>
              </a:solidFill>
              <a:latin typeface="Calibri"/>
              <a:ea typeface="Calibri"/>
              <a:cs typeface="Calibri"/>
              <a:sym typeface="Calibri"/>
            </a:endParaRPr>
          </a:p>
        </p:txBody>
      </p:sp>
      <p:sp>
        <p:nvSpPr>
          <p:cNvPr id="691" name="Google Shape;691;p26"/>
          <p:cNvSpPr/>
          <p:nvPr/>
        </p:nvSpPr>
        <p:spPr>
          <a:xfrm>
            <a:off x="2807208" y="1737360"/>
            <a:ext cx="1920240" cy="2011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B3C"/>
              </a:buClr>
              <a:buSzPts val="1050"/>
              <a:buFont typeface="Calibri"/>
              <a:buNone/>
            </a:pPr>
            <a:r>
              <a:rPr b="0" i="0" lang="en-US" sz="1050" u="none" cap="none" strike="noStrike">
                <a:solidFill>
                  <a:srgbClr val="1A2B3C"/>
                </a:solidFill>
                <a:latin typeface="Calibri"/>
                <a:ea typeface="Calibri"/>
                <a:cs typeface="Calibri"/>
                <a:sym typeface="Calibri"/>
              </a:rPr>
              <a:t>Run load test (k6 / Gatling)</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B3C"/>
              </a:buClr>
              <a:buSzPts val="1050"/>
              <a:buFont typeface="Calibri"/>
              <a:buNone/>
            </a:pPr>
            <a:r>
              <a:rPr b="0" i="0" lang="en-US" sz="1050" u="none" cap="none" strike="noStrike">
                <a:solidFill>
                  <a:srgbClr val="1A2B3C"/>
                </a:solidFill>
                <a:latin typeface="Calibri"/>
                <a:ea typeface="Calibri"/>
                <a:cs typeface="Calibri"/>
                <a:sym typeface="Calibri"/>
              </a:rPr>
              <a:t>Capture P50/P99 latency &amp; GC</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B3C"/>
              </a:buClr>
              <a:buSzPts val="1050"/>
              <a:buFont typeface="Calibri"/>
              <a:buNone/>
            </a:pPr>
            <a:r>
              <a:rPr b="0" i="0" lang="en-US" sz="1050" u="none" cap="none" strike="noStrike">
                <a:solidFill>
                  <a:srgbClr val="1A2B3C"/>
                </a:solidFill>
                <a:latin typeface="Calibri"/>
                <a:ea typeface="Calibri"/>
                <a:cs typeface="Calibri"/>
                <a:sym typeface="Calibri"/>
              </a:rPr>
              <a:t>Record resource RSS</a:t>
            </a:r>
            <a:endParaRPr b="0" i="0" sz="1050" u="none" cap="none" strike="noStrike">
              <a:solidFill>
                <a:schemeClr val="dk1"/>
              </a:solidFill>
              <a:latin typeface="Calibri"/>
              <a:ea typeface="Calibri"/>
              <a:cs typeface="Calibri"/>
              <a:sym typeface="Calibri"/>
            </a:endParaRPr>
          </a:p>
        </p:txBody>
      </p:sp>
      <p:sp>
        <p:nvSpPr>
          <p:cNvPr id="692" name="Google Shape;692;p26"/>
          <p:cNvSpPr/>
          <p:nvPr/>
        </p:nvSpPr>
        <p:spPr>
          <a:xfrm>
            <a:off x="4818888" y="2194560"/>
            <a:ext cx="5029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BCD4"/>
              </a:buClr>
              <a:buSzPts val="2200"/>
              <a:buFont typeface="Calibri"/>
              <a:buNone/>
            </a:pPr>
            <a:r>
              <a:rPr b="1" i="0" lang="en-US" sz="2200" u="none" cap="none" strike="noStrike">
                <a:solidFill>
                  <a:srgbClr val="00BCD4"/>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693" name="Google Shape;693;p26"/>
          <p:cNvSpPr/>
          <p:nvPr/>
        </p:nvSpPr>
        <p:spPr>
          <a:xfrm>
            <a:off x="4892040" y="1188720"/>
            <a:ext cx="2103120" cy="260604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6"/>
          <p:cNvSpPr/>
          <p:nvPr/>
        </p:nvSpPr>
        <p:spPr>
          <a:xfrm>
            <a:off x="4892040" y="1188720"/>
            <a:ext cx="2103120" cy="475488"/>
          </a:xfrm>
          <a:prstGeom prst="rect">
            <a:avLst/>
          </a:prstGeom>
          <a:solidFill>
            <a:srgbClr val="F5A6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6"/>
          <p:cNvSpPr/>
          <p:nvPr/>
        </p:nvSpPr>
        <p:spPr>
          <a:xfrm>
            <a:off x="4892040" y="1188720"/>
            <a:ext cx="438912"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3</a:t>
            </a:r>
            <a:endParaRPr b="0" i="0" sz="1800" u="none" cap="none" strike="noStrike">
              <a:solidFill>
                <a:schemeClr val="dk1"/>
              </a:solidFill>
              <a:latin typeface="Calibri"/>
              <a:ea typeface="Calibri"/>
              <a:cs typeface="Calibri"/>
              <a:sym typeface="Calibri"/>
            </a:endParaRPr>
          </a:p>
        </p:txBody>
      </p:sp>
      <p:sp>
        <p:nvSpPr>
          <p:cNvPr id="696" name="Google Shape;696;p26"/>
          <p:cNvSpPr/>
          <p:nvPr/>
        </p:nvSpPr>
        <p:spPr>
          <a:xfrm>
            <a:off x="5349240" y="1188720"/>
            <a:ext cx="16002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Diagnose</a:t>
            </a:r>
            <a:endParaRPr b="0" i="0" sz="1400" u="none" cap="none" strike="noStrike">
              <a:solidFill>
                <a:schemeClr val="dk1"/>
              </a:solidFill>
              <a:latin typeface="Calibri"/>
              <a:ea typeface="Calibri"/>
              <a:cs typeface="Calibri"/>
              <a:sym typeface="Calibri"/>
            </a:endParaRPr>
          </a:p>
        </p:txBody>
      </p:sp>
      <p:sp>
        <p:nvSpPr>
          <p:cNvPr id="697" name="Google Shape;697;p26"/>
          <p:cNvSpPr/>
          <p:nvPr/>
        </p:nvSpPr>
        <p:spPr>
          <a:xfrm>
            <a:off x="5001768" y="1737360"/>
            <a:ext cx="1920240" cy="2011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B3C"/>
              </a:buClr>
              <a:buSzPts val="1050"/>
              <a:buFont typeface="Calibri"/>
              <a:buNone/>
            </a:pPr>
            <a:r>
              <a:rPr b="0" i="0" lang="en-US" sz="1050" u="none" cap="none" strike="noStrike">
                <a:solidFill>
                  <a:srgbClr val="1A2B3C"/>
                </a:solidFill>
                <a:latin typeface="Calibri"/>
                <a:ea typeface="Calibri"/>
                <a:cs typeface="Calibri"/>
                <a:sym typeface="Calibri"/>
              </a:rPr>
              <a:t>Analyze JFR in JMC</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B3C"/>
              </a:buClr>
              <a:buSzPts val="1050"/>
              <a:buFont typeface="Calibri"/>
              <a:buNone/>
            </a:pPr>
            <a:r>
              <a:rPr b="0" i="0" lang="en-US" sz="1050" u="none" cap="none" strike="noStrike">
                <a:solidFill>
                  <a:srgbClr val="1A2B3C"/>
                </a:solidFill>
                <a:latin typeface="Calibri"/>
                <a:ea typeface="Calibri"/>
                <a:cs typeface="Calibri"/>
                <a:sym typeface="Calibri"/>
              </a:rPr>
              <a:t>Identify top allocation sites</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B3C"/>
              </a:buClr>
              <a:buSzPts val="1050"/>
              <a:buFont typeface="Calibri"/>
              <a:buNone/>
            </a:pPr>
            <a:r>
              <a:rPr b="0" i="0" lang="en-US" sz="1050" u="none" cap="none" strike="noStrike">
                <a:solidFill>
                  <a:srgbClr val="1A2B3C"/>
                </a:solidFill>
                <a:latin typeface="Calibri"/>
                <a:ea typeface="Calibri"/>
                <a:cs typeface="Calibri"/>
                <a:sym typeface="Calibri"/>
              </a:rPr>
              <a:t>Correlate GC with latency spikes</a:t>
            </a:r>
            <a:endParaRPr b="0" i="0" sz="1050" u="none" cap="none" strike="noStrike">
              <a:solidFill>
                <a:schemeClr val="dk1"/>
              </a:solidFill>
              <a:latin typeface="Calibri"/>
              <a:ea typeface="Calibri"/>
              <a:cs typeface="Calibri"/>
              <a:sym typeface="Calibri"/>
            </a:endParaRPr>
          </a:p>
        </p:txBody>
      </p:sp>
      <p:sp>
        <p:nvSpPr>
          <p:cNvPr id="698" name="Google Shape;698;p26"/>
          <p:cNvSpPr/>
          <p:nvPr/>
        </p:nvSpPr>
        <p:spPr>
          <a:xfrm>
            <a:off x="7013448" y="2194560"/>
            <a:ext cx="5029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A623"/>
              </a:buClr>
              <a:buSzPts val="2200"/>
              <a:buFont typeface="Calibri"/>
              <a:buNone/>
            </a:pPr>
            <a:r>
              <a:rPr b="1" i="0" lang="en-US" sz="2200" u="none" cap="none" strike="noStrike">
                <a:solidFill>
                  <a:srgbClr val="F5A623"/>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699" name="Google Shape;699;p26"/>
          <p:cNvSpPr/>
          <p:nvPr/>
        </p:nvSpPr>
        <p:spPr>
          <a:xfrm>
            <a:off x="7086600" y="1188720"/>
            <a:ext cx="2103120" cy="260604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6"/>
          <p:cNvSpPr/>
          <p:nvPr/>
        </p:nvSpPr>
        <p:spPr>
          <a:xfrm>
            <a:off x="7086600" y="1188720"/>
            <a:ext cx="2103120" cy="475488"/>
          </a:xfrm>
          <a:prstGeom prst="rect">
            <a:avLst/>
          </a:prstGeom>
          <a:solidFill>
            <a:srgbClr val="27AE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26"/>
          <p:cNvSpPr/>
          <p:nvPr/>
        </p:nvSpPr>
        <p:spPr>
          <a:xfrm>
            <a:off x="7086600" y="1188720"/>
            <a:ext cx="438912"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4</a:t>
            </a:r>
            <a:endParaRPr b="0" i="0" sz="1800" u="none" cap="none" strike="noStrike">
              <a:solidFill>
                <a:schemeClr val="dk1"/>
              </a:solidFill>
              <a:latin typeface="Calibri"/>
              <a:ea typeface="Calibri"/>
              <a:cs typeface="Calibri"/>
              <a:sym typeface="Calibri"/>
            </a:endParaRPr>
          </a:p>
        </p:txBody>
      </p:sp>
      <p:sp>
        <p:nvSpPr>
          <p:cNvPr id="702" name="Google Shape;702;p26"/>
          <p:cNvSpPr/>
          <p:nvPr/>
        </p:nvSpPr>
        <p:spPr>
          <a:xfrm>
            <a:off x="7543800" y="1188720"/>
            <a:ext cx="16002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Tune</a:t>
            </a:r>
            <a:endParaRPr b="0" i="0" sz="1400" u="none" cap="none" strike="noStrike">
              <a:solidFill>
                <a:schemeClr val="dk1"/>
              </a:solidFill>
              <a:latin typeface="Calibri"/>
              <a:ea typeface="Calibri"/>
              <a:cs typeface="Calibri"/>
              <a:sym typeface="Calibri"/>
            </a:endParaRPr>
          </a:p>
        </p:txBody>
      </p:sp>
      <p:sp>
        <p:nvSpPr>
          <p:cNvPr id="703" name="Google Shape;703;p26"/>
          <p:cNvSpPr/>
          <p:nvPr/>
        </p:nvSpPr>
        <p:spPr>
          <a:xfrm>
            <a:off x="7196328" y="1737360"/>
            <a:ext cx="1920240" cy="2011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B3C"/>
              </a:buClr>
              <a:buSzPts val="1050"/>
              <a:buFont typeface="Calibri"/>
              <a:buNone/>
            </a:pPr>
            <a:r>
              <a:rPr b="0" i="0" lang="en-US" sz="1050" u="none" cap="none" strike="noStrike">
                <a:solidFill>
                  <a:srgbClr val="1A2B3C"/>
                </a:solidFill>
                <a:latin typeface="Calibri"/>
                <a:ea typeface="Calibri"/>
                <a:cs typeface="Calibri"/>
                <a:sym typeface="Calibri"/>
              </a:rPr>
              <a:t>Apply one change at a time</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B3C"/>
              </a:buClr>
              <a:buSzPts val="1050"/>
              <a:buFont typeface="Calibri"/>
              <a:buNone/>
            </a:pPr>
            <a:r>
              <a:rPr b="0" i="0" lang="en-US" sz="1050" u="none" cap="none" strike="noStrike">
                <a:solidFill>
                  <a:srgbClr val="1A2B3C"/>
                </a:solidFill>
                <a:latin typeface="Calibri"/>
                <a:ea typeface="Calibri"/>
                <a:cs typeface="Calibri"/>
                <a:sym typeface="Calibri"/>
              </a:rPr>
              <a:t>GC flags, heap size, thread count</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B3C"/>
              </a:buClr>
              <a:buSzPts val="1050"/>
              <a:buFont typeface="Calibri"/>
              <a:buNone/>
            </a:pPr>
            <a:r>
              <a:rPr b="0" i="0" lang="en-US" sz="1050" u="none" cap="none" strike="noStrike">
                <a:solidFill>
                  <a:srgbClr val="1A2B3C"/>
                </a:solidFill>
                <a:latin typeface="Calibri"/>
                <a:ea typeface="Calibri"/>
                <a:cs typeface="Calibri"/>
                <a:sym typeface="Calibri"/>
              </a:rPr>
              <a:t>Document hypothesis</a:t>
            </a:r>
            <a:endParaRPr b="0" i="0" sz="1050" u="none" cap="none" strike="noStrike">
              <a:solidFill>
                <a:schemeClr val="dk1"/>
              </a:solidFill>
              <a:latin typeface="Calibri"/>
              <a:ea typeface="Calibri"/>
              <a:cs typeface="Calibri"/>
              <a:sym typeface="Calibri"/>
            </a:endParaRPr>
          </a:p>
        </p:txBody>
      </p:sp>
      <p:sp>
        <p:nvSpPr>
          <p:cNvPr id="704" name="Google Shape;704;p26"/>
          <p:cNvSpPr/>
          <p:nvPr/>
        </p:nvSpPr>
        <p:spPr>
          <a:xfrm>
            <a:off x="320040" y="3886200"/>
            <a:ext cx="8503920" cy="868680"/>
          </a:xfrm>
          <a:prstGeom prst="rect">
            <a:avLst/>
          </a:prstGeom>
          <a:solidFill>
            <a:srgbClr val="0A1628"/>
          </a:solidFill>
          <a:ln>
            <a:noFill/>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26"/>
          <p:cNvSpPr/>
          <p:nvPr/>
        </p:nvSpPr>
        <p:spPr>
          <a:xfrm>
            <a:off x="457200" y="393192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E5C3"/>
              </a:buClr>
              <a:buSzPts val="1300"/>
              <a:buFont typeface="Calibri"/>
              <a:buNone/>
            </a:pPr>
            <a:r>
              <a:rPr b="1" i="0" lang="en-US" sz="1300" u="none" cap="none" strike="noStrike">
                <a:solidFill>
                  <a:srgbClr val="00E5C3"/>
                </a:solidFill>
                <a:latin typeface="Calibri"/>
                <a:ea typeface="Calibri"/>
                <a:cs typeface="Calibri"/>
                <a:sym typeface="Calibri"/>
              </a:rPr>
              <a:t>5  Validate &amp; Repeat</a:t>
            </a:r>
            <a:endParaRPr b="0" i="0" sz="1300" u="none" cap="none" strike="noStrike">
              <a:solidFill>
                <a:schemeClr val="dk1"/>
              </a:solidFill>
              <a:latin typeface="Calibri"/>
              <a:ea typeface="Calibri"/>
              <a:cs typeface="Calibri"/>
              <a:sym typeface="Calibri"/>
            </a:endParaRPr>
          </a:p>
        </p:txBody>
      </p:sp>
      <p:sp>
        <p:nvSpPr>
          <p:cNvPr id="706" name="Google Shape;706;p26"/>
          <p:cNvSpPr/>
          <p:nvPr/>
        </p:nvSpPr>
        <p:spPr>
          <a:xfrm>
            <a:off x="457200" y="4224528"/>
            <a:ext cx="82296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Re-run load test → compare against baseline → did P99 latency improve? Did cost decrease?</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If yes: commit config. If no: revert + try next hypothesis. Document every change.</a:t>
            </a:r>
            <a:endParaRPr b="0" i="0" sz="1050" u="none" cap="none" strike="noStrike">
              <a:solidFill>
                <a:schemeClr val="dk1"/>
              </a:solidFill>
              <a:latin typeface="Calibri"/>
              <a:ea typeface="Calibri"/>
              <a:cs typeface="Calibri"/>
              <a:sym typeface="Calibri"/>
            </a:endParaRPr>
          </a:p>
        </p:txBody>
      </p:sp>
      <p:sp>
        <p:nvSpPr>
          <p:cNvPr id="707" name="Google Shape;707;p2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712" name="Shape 712"/>
        <p:cNvGrpSpPr/>
        <p:nvPr/>
      </p:nvGrpSpPr>
      <p:grpSpPr>
        <a:xfrm>
          <a:off x="0" y="0"/>
          <a:ext cx="0" cy="0"/>
          <a:chOff x="0" y="0"/>
          <a:chExt cx="0" cy="0"/>
        </a:xfrm>
      </p:grpSpPr>
      <p:sp>
        <p:nvSpPr>
          <p:cNvPr id="713" name="Google Shape;713;p27"/>
          <p:cNvSpPr/>
          <p:nvPr/>
        </p:nvSpPr>
        <p:spPr>
          <a:xfrm>
            <a:off x="0" y="0"/>
            <a:ext cx="9144000" cy="64008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27"/>
          <p:cNvSpPr/>
          <p:nvPr/>
        </p:nvSpPr>
        <p:spPr>
          <a:xfrm>
            <a:off x="365760" y="0"/>
            <a:ext cx="6858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000"/>
              <a:buFont typeface="Calibri"/>
              <a:buNone/>
            </a:pPr>
            <a:r>
              <a:rPr b="1" i="0" lang="en-US" sz="2000" u="none" cap="none" strike="noStrike">
                <a:solidFill>
                  <a:srgbClr val="00BCD4"/>
                </a:solidFill>
                <a:latin typeface="Calibri"/>
                <a:ea typeface="Calibri"/>
                <a:cs typeface="Calibri"/>
                <a:sym typeface="Calibri"/>
              </a:rPr>
              <a:t>Cost Optimization &amp; Business Value</a:t>
            </a:r>
            <a:endParaRPr b="0" i="0" sz="2000" u="none" cap="none" strike="noStrike">
              <a:solidFill>
                <a:schemeClr val="dk1"/>
              </a:solidFill>
              <a:latin typeface="Calibri"/>
              <a:ea typeface="Calibri"/>
              <a:cs typeface="Calibri"/>
              <a:sym typeface="Calibri"/>
            </a:endParaRPr>
          </a:p>
        </p:txBody>
      </p:sp>
      <p:sp>
        <p:nvSpPr>
          <p:cNvPr id="715" name="Google Shape;715;p27"/>
          <p:cNvSpPr/>
          <p:nvPr/>
        </p:nvSpPr>
        <p:spPr>
          <a:xfrm>
            <a:off x="7315200" y="73152"/>
            <a:ext cx="1645920" cy="502920"/>
          </a:xfrm>
          <a:prstGeom prst="rect">
            <a:avLst/>
          </a:prstGeom>
          <a:solidFill>
            <a:srgbClr val="1E6FC8"/>
          </a:solidFill>
          <a:ln>
            <a:noFill/>
          </a:ln>
        </p:spPr>
        <p:txBody>
          <a:bodyPr anchorCtr="0" anchor="ctr" bIns="0" lIns="0" spcFirstLastPara="1" rIns="76200" wrap="square" tIns="76200">
            <a:noAutofit/>
          </a:bodyPr>
          <a:lstStyle/>
          <a:p>
            <a:pPr indent="0" lvl="0" marL="0" marR="0" rtl="0" algn="r">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Section 07</a:t>
            </a:r>
            <a:endParaRPr b="0" i="0" sz="1000" u="none" cap="none" strike="noStrike">
              <a:solidFill>
                <a:schemeClr val="dk1"/>
              </a:solidFill>
              <a:latin typeface="Calibri"/>
              <a:ea typeface="Calibri"/>
              <a:cs typeface="Calibri"/>
              <a:sym typeface="Calibri"/>
            </a:endParaRPr>
          </a:p>
        </p:txBody>
      </p:sp>
      <p:sp>
        <p:nvSpPr>
          <p:cNvPr id="716" name="Google Shape;716;p27"/>
          <p:cNvSpPr/>
          <p:nvPr/>
        </p:nvSpPr>
        <p:spPr>
          <a:xfrm>
            <a:off x="0" y="4960620"/>
            <a:ext cx="9144000" cy="18288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7"/>
          <p:cNvSpPr/>
          <p:nvPr/>
        </p:nvSpPr>
        <p:spPr>
          <a:xfrm>
            <a:off x="365760" y="4956048"/>
            <a:ext cx="841248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00"/>
              <a:buFont typeface="Calibri"/>
              <a:buNone/>
            </a:pPr>
            <a:r>
              <a:rPr b="0" i="0" lang="en-US" sz="900" u="none" cap="none" strike="noStrike">
                <a:solidFill>
                  <a:srgbClr val="ECF0F1"/>
                </a:solidFill>
                <a:latin typeface="Calibri"/>
                <a:ea typeface="Calibri"/>
                <a:cs typeface="Calibri"/>
                <a:sym typeface="Calibri"/>
              </a:rPr>
              <a:t>Taming the JVM: Java Optimization on OpenShift</a:t>
            </a:r>
            <a:endParaRPr b="0" i="0" sz="900" u="none" cap="none" strike="noStrike">
              <a:solidFill>
                <a:schemeClr val="dk1"/>
              </a:solidFill>
              <a:latin typeface="Calibri"/>
              <a:ea typeface="Calibri"/>
              <a:cs typeface="Calibri"/>
              <a:sym typeface="Calibri"/>
            </a:endParaRPr>
          </a:p>
        </p:txBody>
      </p:sp>
      <p:sp>
        <p:nvSpPr>
          <p:cNvPr id="718" name="Google Shape;718;p27"/>
          <p:cNvSpPr/>
          <p:nvPr/>
        </p:nvSpPr>
        <p:spPr>
          <a:xfrm>
            <a:off x="274320" y="777240"/>
            <a:ext cx="2011680" cy="1188720"/>
          </a:xfrm>
          <a:prstGeom prst="rect">
            <a:avLst/>
          </a:prstGeom>
          <a:solidFill>
            <a:srgbClr val="122040"/>
          </a:solidFill>
          <a:ln>
            <a:noFill/>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27"/>
          <p:cNvSpPr/>
          <p:nvPr/>
        </p:nvSpPr>
        <p:spPr>
          <a:xfrm>
            <a:off x="274320" y="868680"/>
            <a:ext cx="2011680" cy="653796"/>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27AE60"/>
              </a:buClr>
              <a:buSzPts val="3600"/>
              <a:buFont typeface="Calibri"/>
              <a:buNone/>
            </a:pPr>
            <a:r>
              <a:rPr b="1" i="0" lang="en-US" sz="3600" u="none" cap="none" strike="noStrike">
                <a:solidFill>
                  <a:srgbClr val="27AE60"/>
                </a:solidFill>
                <a:latin typeface="Calibri"/>
                <a:ea typeface="Calibri"/>
                <a:cs typeface="Calibri"/>
                <a:sym typeface="Calibri"/>
              </a:rPr>
              <a:t>40-60%</a:t>
            </a:r>
            <a:endParaRPr b="0" i="0" sz="3600" u="none" cap="none" strike="noStrike">
              <a:solidFill>
                <a:schemeClr val="dk1"/>
              </a:solidFill>
              <a:latin typeface="Calibri"/>
              <a:ea typeface="Calibri"/>
              <a:cs typeface="Calibri"/>
              <a:sym typeface="Calibri"/>
            </a:endParaRPr>
          </a:p>
        </p:txBody>
      </p:sp>
      <p:sp>
        <p:nvSpPr>
          <p:cNvPr id="720" name="Google Shape;720;p27"/>
          <p:cNvSpPr/>
          <p:nvPr/>
        </p:nvSpPr>
        <p:spPr>
          <a:xfrm>
            <a:off x="274320" y="1431036"/>
            <a:ext cx="2011680" cy="47548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0A4AE"/>
              </a:buClr>
              <a:buSzPts val="1100"/>
              <a:buFont typeface="Calibri"/>
              <a:buNone/>
            </a:pPr>
            <a:r>
              <a:rPr b="0" i="0" lang="en-US" sz="1100" u="none" cap="none" strike="noStrike">
                <a:solidFill>
                  <a:srgbClr val="90A4AE"/>
                </a:solidFill>
                <a:latin typeface="Calibri"/>
                <a:ea typeface="Calibri"/>
                <a:cs typeface="Calibri"/>
                <a:sym typeface="Calibri"/>
              </a:rPr>
              <a:t>Memory reduction</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0A4AE"/>
              </a:buClr>
              <a:buSzPts val="1100"/>
              <a:buFont typeface="Calibri"/>
              <a:buNone/>
            </a:pPr>
            <a:r>
              <a:rPr b="0" i="0" lang="en-US" sz="1100" u="none" cap="none" strike="noStrike">
                <a:solidFill>
                  <a:srgbClr val="90A4AE"/>
                </a:solidFill>
                <a:latin typeface="Calibri"/>
                <a:ea typeface="Calibri"/>
                <a:cs typeface="Calibri"/>
                <a:sym typeface="Calibri"/>
              </a:rPr>
              <a:t>after right-sizing</a:t>
            </a:r>
            <a:endParaRPr b="0" i="0" sz="1100" u="none" cap="none" strike="noStrike">
              <a:solidFill>
                <a:schemeClr val="dk1"/>
              </a:solidFill>
              <a:latin typeface="Calibri"/>
              <a:ea typeface="Calibri"/>
              <a:cs typeface="Calibri"/>
              <a:sym typeface="Calibri"/>
            </a:endParaRPr>
          </a:p>
        </p:txBody>
      </p:sp>
      <p:sp>
        <p:nvSpPr>
          <p:cNvPr id="721" name="Google Shape;721;p27"/>
          <p:cNvSpPr/>
          <p:nvPr/>
        </p:nvSpPr>
        <p:spPr>
          <a:xfrm>
            <a:off x="2441448" y="777240"/>
            <a:ext cx="2011680" cy="1188720"/>
          </a:xfrm>
          <a:prstGeom prst="rect">
            <a:avLst/>
          </a:prstGeom>
          <a:solidFill>
            <a:srgbClr val="122040"/>
          </a:solidFill>
          <a:ln>
            <a:noFill/>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27"/>
          <p:cNvSpPr/>
          <p:nvPr/>
        </p:nvSpPr>
        <p:spPr>
          <a:xfrm>
            <a:off x="2441448" y="868680"/>
            <a:ext cx="2011680" cy="653796"/>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00BCD4"/>
              </a:buClr>
              <a:buSzPts val="3600"/>
              <a:buFont typeface="Calibri"/>
              <a:buNone/>
            </a:pPr>
            <a:r>
              <a:rPr b="1" i="0" lang="en-US" sz="3600" u="none" cap="none" strike="noStrike">
                <a:solidFill>
                  <a:srgbClr val="00BCD4"/>
                </a:solidFill>
                <a:latin typeface="Calibri"/>
                <a:ea typeface="Calibri"/>
                <a:cs typeface="Calibri"/>
                <a:sym typeface="Calibri"/>
              </a:rPr>
              <a:t>2-3×</a:t>
            </a:r>
            <a:endParaRPr b="0" i="0" sz="3600" u="none" cap="none" strike="noStrike">
              <a:solidFill>
                <a:schemeClr val="dk1"/>
              </a:solidFill>
              <a:latin typeface="Calibri"/>
              <a:ea typeface="Calibri"/>
              <a:cs typeface="Calibri"/>
              <a:sym typeface="Calibri"/>
            </a:endParaRPr>
          </a:p>
        </p:txBody>
      </p:sp>
      <p:sp>
        <p:nvSpPr>
          <p:cNvPr id="723" name="Google Shape;723;p27"/>
          <p:cNvSpPr/>
          <p:nvPr/>
        </p:nvSpPr>
        <p:spPr>
          <a:xfrm>
            <a:off x="2441448" y="1431036"/>
            <a:ext cx="2011680" cy="47548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0A4AE"/>
              </a:buClr>
              <a:buSzPts val="1100"/>
              <a:buFont typeface="Calibri"/>
              <a:buNone/>
            </a:pPr>
            <a:r>
              <a:rPr b="0" i="0" lang="en-US" sz="1100" u="none" cap="none" strike="noStrike">
                <a:solidFill>
                  <a:srgbClr val="90A4AE"/>
                </a:solidFill>
                <a:latin typeface="Calibri"/>
                <a:ea typeface="Calibri"/>
                <a:cs typeface="Calibri"/>
                <a:sym typeface="Calibri"/>
              </a:rPr>
              <a:t>Pod density increase</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0A4AE"/>
              </a:buClr>
              <a:buSzPts val="1100"/>
              <a:buFont typeface="Calibri"/>
              <a:buNone/>
            </a:pPr>
            <a:r>
              <a:rPr b="0" i="0" lang="en-US" sz="1100" u="none" cap="none" strike="noStrike">
                <a:solidFill>
                  <a:srgbClr val="90A4AE"/>
                </a:solidFill>
                <a:latin typeface="Calibri"/>
                <a:ea typeface="Calibri"/>
                <a:cs typeface="Calibri"/>
                <a:sym typeface="Calibri"/>
              </a:rPr>
              <a:t>per node</a:t>
            </a:r>
            <a:endParaRPr b="0" i="0" sz="1100" u="none" cap="none" strike="noStrike">
              <a:solidFill>
                <a:schemeClr val="dk1"/>
              </a:solidFill>
              <a:latin typeface="Calibri"/>
              <a:ea typeface="Calibri"/>
              <a:cs typeface="Calibri"/>
              <a:sym typeface="Calibri"/>
            </a:endParaRPr>
          </a:p>
        </p:txBody>
      </p:sp>
      <p:sp>
        <p:nvSpPr>
          <p:cNvPr id="724" name="Google Shape;724;p27"/>
          <p:cNvSpPr/>
          <p:nvPr/>
        </p:nvSpPr>
        <p:spPr>
          <a:xfrm>
            <a:off x="4608576" y="777240"/>
            <a:ext cx="2011680" cy="1188720"/>
          </a:xfrm>
          <a:prstGeom prst="rect">
            <a:avLst/>
          </a:prstGeom>
          <a:solidFill>
            <a:srgbClr val="122040"/>
          </a:solidFill>
          <a:ln>
            <a:noFill/>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27"/>
          <p:cNvSpPr/>
          <p:nvPr/>
        </p:nvSpPr>
        <p:spPr>
          <a:xfrm>
            <a:off x="4608576" y="868680"/>
            <a:ext cx="2011680" cy="653796"/>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1E6FC8"/>
              </a:buClr>
              <a:buSzPts val="3600"/>
              <a:buFont typeface="Calibri"/>
              <a:buNone/>
            </a:pPr>
            <a:r>
              <a:rPr b="1" i="0" lang="en-US" sz="3600" u="none" cap="none" strike="noStrike">
                <a:solidFill>
                  <a:srgbClr val="1E6FC8"/>
                </a:solidFill>
                <a:latin typeface="Calibri"/>
                <a:ea typeface="Calibri"/>
                <a:cs typeface="Calibri"/>
                <a:sym typeface="Calibri"/>
              </a:rPr>
              <a:t>~75%</a:t>
            </a:r>
            <a:endParaRPr b="0" i="0" sz="3600" u="none" cap="none" strike="noStrike">
              <a:solidFill>
                <a:schemeClr val="dk1"/>
              </a:solidFill>
              <a:latin typeface="Calibri"/>
              <a:ea typeface="Calibri"/>
              <a:cs typeface="Calibri"/>
              <a:sym typeface="Calibri"/>
            </a:endParaRPr>
          </a:p>
        </p:txBody>
      </p:sp>
      <p:sp>
        <p:nvSpPr>
          <p:cNvPr id="726" name="Google Shape;726;p27"/>
          <p:cNvSpPr/>
          <p:nvPr/>
        </p:nvSpPr>
        <p:spPr>
          <a:xfrm>
            <a:off x="4608576" y="1431036"/>
            <a:ext cx="2011680" cy="47548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0A4AE"/>
              </a:buClr>
              <a:buSzPts val="1100"/>
              <a:buFont typeface="Calibri"/>
              <a:buNone/>
            </a:pPr>
            <a:r>
              <a:rPr b="0" i="0" lang="en-US" sz="1100" u="none" cap="none" strike="noStrike">
                <a:solidFill>
                  <a:srgbClr val="90A4AE"/>
                </a:solidFill>
                <a:latin typeface="Calibri"/>
                <a:ea typeface="Calibri"/>
                <a:cs typeface="Calibri"/>
                <a:sym typeface="Calibri"/>
              </a:rPr>
              <a:t>Startup time reduction</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0A4AE"/>
              </a:buClr>
              <a:buSzPts val="1100"/>
              <a:buFont typeface="Calibri"/>
              <a:buNone/>
            </a:pPr>
            <a:r>
              <a:rPr b="0" i="0" lang="en-US" sz="1100" u="none" cap="none" strike="noStrike">
                <a:solidFill>
                  <a:srgbClr val="90A4AE"/>
                </a:solidFill>
                <a:latin typeface="Calibri"/>
                <a:ea typeface="Calibri"/>
                <a:cs typeface="Calibri"/>
                <a:sym typeface="Calibri"/>
              </a:rPr>
              <a:t>with Leyden AOT (JDK 25)</a:t>
            </a:r>
            <a:endParaRPr b="0" i="0" sz="1100" u="none" cap="none" strike="noStrike">
              <a:solidFill>
                <a:schemeClr val="dk1"/>
              </a:solidFill>
              <a:latin typeface="Calibri"/>
              <a:ea typeface="Calibri"/>
              <a:cs typeface="Calibri"/>
              <a:sym typeface="Calibri"/>
            </a:endParaRPr>
          </a:p>
        </p:txBody>
      </p:sp>
      <p:sp>
        <p:nvSpPr>
          <p:cNvPr id="727" name="Google Shape;727;p27"/>
          <p:cNvSpPr/>
          <p:nvPr/>
        </p:nvSpPr>
        <p:spPr>
          <a:xfrm>
            <a:off x="6775704" y="777240"/>
            <a:ext cx="2011680" cy="1188720"/>
          </a:xfrm>
          <a:prstGeom prst="rect">
            <a:avLst/>
          </a:prstGeom>
          <a:solidFill>
            <a:srgbClr val="122040"/>
          </a:solidFill>
          <a:ln>
            <a:noFill/>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27"/>
          <p:cNvSpPr/>
          <p:nvPr/>
        </p:nvSpPr>
        <p:spPr>
          <a:xfrm>
            <a:off x="6775704" y="868680"/>
            <a:ext cx="2011680" cy="653796"/>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F5A623"/>
              </a:buClr>
              <a:buSzPts val="3600"/>
              <a:buFont typeface="Calibri"/>
              <a:buNone/>
            </a:pPr>
            <a:r>
              <a:rPr b="1" i="0" lang="en-US" sz="3600" u="none" cap="none" strike="noStrike">
                <a:solidFill>
                  <a:srgbClr val="F5A623"/>
                </a:solidFill>
                <a:latin typeface="Calibri"/>
                <a:ea typeface="Calibri"/>
                <a:cs typeface="Calibri"/>
                <a:sym typeface="Calibri"/>
              </a:rPr>
              <a:t>$$$</a:t>
            </a:r>
            <a:endParaRPr b="0" i="0" sz="3600" u="none" cap="none" strike="noStrike">
              <a:solidFill>
                <a:schemeClr val="dk1"/>
              </a:solidFill>
              <a:latin typeface="Calibri"/>
              <a:ea typeface="Calibri"/>
              <a:cs typeface="Calibri"/>
              <a:sym typeface="Calibri"/>
            </a:endParaRPr>
          </a:p>
        </p:txBody>
      </p:sp>
      <p:sp>
        <p:nvSpPr>
          <p:cNvPr id="729" name="Google Shape;729;p27"/>
          <p:cNvSpPr/>
          <p:nvPr/>
        </p:nvSpPr>
        <p:spPr>
          <a:xfrm>
            <a:off x="6775704" y="1431036"/>
            <a:ext cx="2011680" cy="47548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0A4AE"/>
              </a:buClr>
              <a:buSzPts val="1100"/>
              <a:buFont typeface="Calibri"/>
              <a:buNone/>
            </a:pPr>
            <a:r>
              <a:rPr b="0" i="0" lang="en-US" sz="1100" u="none" cap="none" strike="noStrike">
                <a:solidFill>
                  <a:srgbClr val="90A4AE"/>
                </a:solidFill>
                <a:latin typeface="Calibri"/>
                <a:ea typeface="Calibri"/>
                <a:cs typeface="Calibri"/>
                <a:sym typeface="Calibri"/>
              </a:rPr>
              <a:t>Node cost savings</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0A4AE"/>
              </a:buClr>
              <a:buSzPts val="1100"/>
              <a:buFont typeface="Calibri"/>
              <a:buNone/>
            </a:pPr>
            <a:r>
              <a:rPr b="0" i="0" lang="en-US" sz="1100" u="none" cap="none" strike="noStrike">
                <a:solidFill>
                  <a:srgbClr val="90A4AE"/>
                </a:solidFill>
                <a:latin typeface="Calibri"/>
                <a:ea typeface="Calibri"/>
                <a:cs typeface="Calibri"/>
                <a:sym typeface="Calibri"/>
              </a:rPr>
              <a:t>from bin-packing</a:t>
            </a:r>
            <a:endParaRPr b="0" i="0" sz="1100" u="none" cap="none" strike="noStrike">
              <a:solidFill>
                <a:schemeClr val="dk1"/>
              </a:solidFill>
              <a:latin typeface="Calibri"/>
              <a:ea typeface="Calibri"/>
              <a:cs typeface="Calibri"/>
              <a:sym typeface="Calibri"/>
            </a:endParaRPr>
          </a:p>
        </p:txBody>
      </p:sp>
      <p:sp>
        <p:nvSpPr>
          <p:cNvPr id="730" name="Google Shape;730;p27"/>
          <p:cNvSpPr/>
          <p:nvPr/>
        </p:nvSpPr>
        <p:spPr>
          <a:xfrm>
            <a:off x="365760" y="2084832"/>
            <a:ext cx="8229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400"/>
              <a:buFont typeface="Calibri"/>
              <a:buNone/>
            </a:pPr>
            <a:r>
              <a:rPr b="1" i="0" lang="en-US" sz="1400" u="none" cap="none" strike="noStrike">
                <a:solidFill>
                  <a:srgbClr val="ECF0F1"/>
                </a:solidFill>
                <a:latin typeface="Calibri"/>
                <a:ea typeface="Calibri"/>
                <a:cs typeface="Calibri"/>
                <a:sym typeface="Calibri"/>
              </a:rPr>
              <a:t>Measuring ROI:</a:t>
            </a:r>
            <a:endParaRPr b="0" i="0" sz="1400" u="none" cap="none" strike="noStrike">
              <a:solidFill>
                <a:schemeClr val="dk1"/>
              </a:solidFill>
              <a:latin typeface="Calibri"/>
              <a:ea typeface="Calibri"/>
              <a:cs typeface="Calibri"/>
              <a:sym typeface="Calibri"/>
            </a:endParaRPr>
          </a:p>
        </p:txBody>
      </p:sp>
      <p:sp>
        <p:nvSpPr>
          <p:cNvPr id="731" name="Google Shape;731;p27"/>
          <p:cNvSpPr/>
          <p:nvPr/>
        </p:nvSpPr>
        <p:spPr>
          <a:xfrm>
            <a:off x="320040" y="2468880"/>
            <a:ext cx="8503920" cy="512064"/>
          </a:xfrm>
          <a:prstGeom prst="rect">
            <a:avLst/>
          </a:prstGeom>
          <a:solidFill>
            <a:srgbClr val="122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7"/>
          <p:cNvSpPr/>
          <p:nvPr/>
        </p:nvSpPr>
        <p:spPr>
          <a:xfrm>
            <a:off x="320040" y="2468880"/>
            <a:ext cx="54864" cy="512064"/>
          </a:xfrm>
          <a:prstGeom prst="rect">
            <a:avLst/>
          </a:prstGeom>
          <a:solidFill>
            <a:srgbClr val="27AE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27"/>
          <p:cNvSpPr/>
          <p:nvPr/>
        </p:nvSpPr>
        <p:spPr>
          <a:xfrm>
            <a:off x="502920" y="2505456"/>
            <a:ext cx="25603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1100"/>
              <a:buFont typeface="Calibri"/>
              <a:buNone/>
            </a:pPr>
            <a:r>
              <a:rPr b="1" i="0" lang="en-US" sz="1100" u="none" cap="none" strike="noStrike">
                <a:solidFill>
                  <a:srgbClr val="27AE60"/>
                </a:solidFill>
                <a:latin typeface="Calibri"/>
                <a:ea typeface="Calibri"/>
                <a:cs typeface="Calibri"/>
                <a:sym typeface="Calibri"/>
              </a:rPr>
              <a:t>OpenShift Cost Management</a:t>
            </a:r>
            <a:endParaRPr b="0" i="0" sz="1100" u="none" cap="none" strike="noStrike">
              <a:solidFill>
                <a:schemeClr val="dk1"/>
              </a:solidFill>
              <a:latin typeface="Calibri"/>
              <a:ea typeface="Calibri"/>
              <a:cs typeface="Calibri"/>
              <a:sym typeface="Calibri"/>
            </a:endParaRPr>
          </a:p>
        </p:txBody>
      </p:sp>
      <p:sp>
        <p:nvSpPr>
          <p:cNvPr id="734" name="Google Shape;734;p27"/>
          <p:cNvSpPr/>
          <p:nvPr/>
        </p:nvSpPr>
        <p:spPr>
          <a:xfrm>
            <a:off x="3154680" y="2505456"/>
            <a:ext cx="557784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Track pod/namespace resource usage vs. allocated. Compare cost before/after optimization sprint.</a:t>
            </a:r>
            <a:endParaRPr b="0" i="0" sz="1050" u="none" cap="none" strike="noStrike">
              <a:solidFill>
                <a:schemeClr val="dk1"/>
              </a:solidFill>
              <a:latin typeface="Calibri"/>
              <a:ea typeface="Calibri"/>
              <a:cs typeface="Calibri"/>
              <a:sym typeface="Calibri"/>
            </a:endParaRPr>
          </a:p>
        </p:txBody>
      </p:sp>
      <p:sp>
        <p:nvSpPr>
          <p:cNvPr id="735" name="Google Shape;735;p27"/>
          <p:cNvSpPr/>
          <p:nvPr/>
        </p:nvSpPr>
        <p:spPr>
          <a:xfrm>
            <a:off x="320040" y="3054096"/>
            <a:ext cx="8503920" cy="512064"/>
          </a:xfrm>
          <a:prstGeom prst="rect">
            <a:avLst/>
          </a:prstGeom>
          <a:solidFill>
            <a:srgbClr val="122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27"/>
          <p:cNvSpPr/>
          <p:nvPr/>
        </p:nvSpPr>
        <p:spPr>
          <a:xfrm>
            <a:off x="320040" y="3054096"/>
            <a:ext cx="54864" cy="512064"/>
          </a:xfrm>
          <a:prstGeom prst="rect">
            <a:avLst/>
          </a:prstGeom>
          <a:solidFill>
            <a:srgbClr val="27AE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27"/>
          <p:cNvSpPr/>
          <p:nvPr/>
        </p:nvSpPr>
        <p:spPr>
          <a:xfrm>
            <a:off x="502920" y="3090672"/>
            <a:ext cx="25603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1100"/>
              <a:buFont typeface="Calibri"/>
              <a:buNone/>
            </a:pPr>
            <a:r>
              <a:rPr b="1" i="0" lang="en-US" sz="1100" u="none" cap="none" strike="noStrike">
                <a:solidFill>
                  <a:srgbClr val="27AE60"/>
                </a:solidFill>
                <a:latin typeface="Calibri"/>
                <a:ea typeface="Calibri"/>
                <a:cs typeface="Calibri"/>
                <a:sym typeface="Calibri"/>
              </a:rPr>
              <a:t>Node Reduction Formula</a:t>
            </a:r>
            <a:endParaRPr b="0" i="0" sz="1100" u="none" cap="none" strike="noStrike">
              <a:solidFill>
                <a:schemeClr val="dk1"/>
              </a:solidFill>
              <a:latin typeface="Calibri"/>
              <a:ea typeface="Calibri"/>
              <a:cs typeface="Calibri"/>
              <a:sym typeface="Calibri"/>
            </a:endParaRPr>
          </a:p>
        </p:txBody>
      </p:sp>
      <p:sp>
        <p:nvSpPr>
          <p:cNvPr id="738" name="Google Shape;738;p27"/>
          <p:cNvSpPr/>
          <p:nvPr/>
        </p:nvSpPr>
        <p:spPr>
          <a:xfrm>
            <a:off x="3154680" y="3090672"/>
            <a:ext cx="557784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Nodes saved = (total pods) / (old density) − (total pods) / (new density). Multiply by node hourly rate.</a:t>
            </a:r>
            <a:endParaRPr b="0" i="0" sz="1050" u="none" cap="none" strike="noStrike">
              <a:solidFill>
                <a:schemeClr val="dk1"/>
              </a:solidFill>
              <a:latin typeface="Calibri"/>
              <a:ea typeface="Calibri"/>
              <a:cs typeface="Calibri"/>
              <a:sym typeface="Calibri"/>
            </a:endParaRPr>
          </a:p>
        </p:txBody>
      </p:sp>
      <p:sp>
        <p:nvSpPr>
          <p:cNvPr id="739" name="Google Shape;739;p27"/>
          <p:cNvSpPr/>
          <p:nvPr/>
        </p:nvSpPr>
        <p:spPr>
          <a:xfrm>
            <a:off x="320040" y="3639312"/>
            <a:ext cx="8503920" cy="512064"/>
          </a:xfrm>
          <a:prstGeom prst="rect">
            <a:avLst/>
          </a:prstGeom>
          <a:solidFill>
            <a:srgbClr val="122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27"/>
          <p:cNvSpPr/>
          <p:nvPr/>
        </p:nvSpPr>
        <p:spPr>
          <a:xfrm>
            <a:off x="320040" y="3639312"/>
            <a:ext cx="54864" cy="512064"/>
          </a:xfrm>
          <a:prstGeom prst="rect">
            <a:avLst/>
          </a:prstGeom>
          <a:solidFill>
            <a:srgbClr val="27AE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27"/>
          <p:cNvSpPr/>
          <p:nvPr/>
        </p:nvSpPr>
        <p:spPr>
          <a:xfrm>
            <a:off x="502920" y="3675888"/>
            <a:ext cx="25603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1100"/>
              <a:buFont typeface="Calibri"/>
              <a:buNone/>
            </a:pPr>
            <a:r>
              <a:rPr b="1" i="0" lang="en-US" sz="1100" u="none" cap="none" strike="noStrike">
                <a:solidFill>
                  <a:srgbClr val="27AE60"/>
                </a:solidFill>
                <a:latin typeface="Calibri"/>
                <a:ea typeface="Calibri"/>
                <a:cs typeface="Calibri"/>
                <a:sym typeface="Calibri"/>
              </a:rPr>
              <a:t>SLO Improvement Value</a:t>
            </a:r>
            <a:endParaRPr b="0" i="0" sz="1100" u="none" cap="none" strike="noStrike">
              <a:solidFill>
                <a:schemeClr val="dk1"/>
              </a:solidFill>
              <a:latin typeface="Calibri"/>
              <a:ea typeface="Calibri"/>
              <a:cs typeface="Calibri"/>
              <a:sym typeface="Calibri"/>
            </a:endParaRPr>
          </a:p>
        </p:txBody>
      </p:sp>
      <p:sp>
        <p:nvSpPr>
          <p:cNvPr id="742" name="Google Shape;742;p27"/>
          <p:cNvSpPr/>
          <p:nvPr/>
        </p:nvSpPr>
        <p:spPr>
          <a:xfrm>
            <a:off x="3154680" y="3675888"/>
            <a:ext cx="557784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Fewer OOMKills and GC pauses → fewer on-call incidents → quantify engineer time saved per quarter.</a:t>
            </a:r>
            <a:endParaRPr b="0" i="0" sz="1050" u="none" cap="none" strike="noStrike">
              <a:solidFill>
                <a:schemeClr val="dk1"/>
              </a:solidFill>
              <a:latin typeface="Calibri"/>
              <a:ea typeface="Calibri"/>
              <a:cs typeface="Calibri"/>
              <a:sym typeface="Calibri"/>
            </a:endParaRPr>
          </a:p>
        </p:txBody>
      </p:sp>
      <p:sp>
        <p:nvSpPr>
          <p:cNvPr id="743" name="Google Shape;743;p27"/>
          <p:cNvSpPr/>
          <p:nvPr/>
        </p:nvSpPr>
        <p:spPr>
          <a:xfrm>
            <a:off x="320040" y="4224528"/>
            <a:ext cx="8503920" cy="512064"/>
          </a:xfrm>
          <a:prstGeom prst="rect">
            <a:avLst/>
          </a:prstGeom>
          <a:solidFill>
            <a:srgbClr val="122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27"/>
          <p:cNvSpPr/>
          <p:nvPr/>
        </p:nvSpPr>
        <p:spPr>
          <a:xfrm>
            <a:off x="320040" y="4224528"/>
            <a:ext cx="54864" cy="512064"/>
          </a:xfrm>
          <a:prstGeom prst="rect">
            <a:avLst/>
          </a:prstGeom>
          <a:solidFill>
            <a:srgbClr val="27AE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27"/>
          <p:cNvSpPr/>
          <p:nvPr/>
        </p:nvSpPr>
        <p:spPr>
          <a:xfrm>
            <a:off x="502920" y="4261104"/>
            <a:ext cx="25603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1100"/>
              <a:buFont typeface="Calibri"/>
              <a:buNone/>
            </a:pPr>
            <a:r>
              <a:rPr b="1" i="0" lang="en-US" sz="1100" u="none" cap="none" strike="noStrike">
                <a:solidFill>
                  <a:srgbClr val="27AE60"/>
                </a:solidFill>
                <a:latin typeface="Calibri"/>
                <a:ea typeface="Calibri"/>
                <a:cs typeface="Calibri"/>
                <a:sym typeface="Calibri"/>
              </a:rPr>
              <a:t>Cloud Spend Dashboard</a:t>
            </a:r>
            <a:endParaRPr b="0" i="0" sz="1100" u="none" cap="none" strike="noStrike">
              <a:solidFill>
                <a:schemeClr val="dk1"/>
              </a:solidFill>
              <a:latin typeface="Calibri"/>
              <a:ea typeface="Calibri"/>
              <a:cs typeface="Calibri"/>
              <a:sym typeface="Calibri"/>
            </a:endParaRPr>
          </a:p>
        </p:txBody>
      </p:sp>
      <p:sp>
        <p:nvSpPr>
          <p:cNvPr id="746" name="Google Shape;746;p27"/>
          <p:cNvSpPr/>
          <p:nvPr/>
        </p:nvSpPr>
        <p:spPr>
          <a:xfrm>
            <a:off x="3154680" y="4261104"/>
            <a:ext cx="557784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Use cost.openshift.io + Grafana to create executive-visible cost-per-service trend dashboards.</a:t>
            </a:r>
            <a:endParaRPr b="0" i="0" sz="1050" u="none" cap="none" strike="noStrike">
              <a:solidFill>
                <a:schemeClr val="dk1"/>
              </a:solidFill>
              <a:latin typeface="Calibri"/>
              <a:ea typeface="Calibri"/>
              <a:cs typeface="Calibri"/>
              <a:sym typeface="Calibri"/>
            </a:endParaRPr>
          </a:p>
        </p:txBody>
      </p:sp>
      <p:sp>
        <p:nvSpPr>
          <p:cNvPr id="747" name="Google Shape;747;p2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752" name="Shape 752"/>
        <p:cNvGrpSpPr/>
        <p:nvPr/>
      </p:nvGrpSpPr>
      <p:grpSpPr>
        <a:xfrm>
          <a:off x="0" y="0"/>
          <a:ext cx="0" cy="0"/>
          <a:chOff x="0" y="0"/>
          <a:chExt cx="0" cy="0"/>
        </a:xfrm>
      </p:grpSpPr>
      <p:sp>
        <p:nvSpPr>
          <p:cNvPr id="753" name="Google Shape;753;p28"/>
          <p:cNvSpPr/>
          <p:nvPr/>
        </p:nvSpPr>
        <p:spPr>
          <a:xfrm>
            <a:off x="0" y="0"/>
            <a:ext cx="9144000" cy="514350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28"/>
          <p:cNvSpPr/>
          <p:nvPr/>
        </p:nvSpPr>
        <p:spPr>
          <a:xfrm>
            <a:off x="0" y="0"/>
            <a:ext cx="228600" cy="5143500"/>
          </a:xfrm>
          <a:prstGeom prst="rect">
            <a:avLst/>
          </a:prstGeom>
          <a:solidFill>
            <a:srgbClr val="E848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28"/>
          <p:cNvSpPr/>
          <p:nvPr/>
        </p:nvSpPr>
        <p:spPr>
          <a:xfrm>
            <a:off x="457200" y="45720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855"/>
              </a:buClr>
              <a:buSzPts val="1400"/>
              <a:buFont typeface="Calibri"/>
              <a:buNone/>
            </a:pPr>
            <a:r>
              <a:rPr b="1" i="0" lang="en-US" sz="1400" u="none" cap="none" strike="noStrike">
                <a:solidFill>
                  <a:srgbClr val="E84855"/>
                </a:solidFill>
                <a:latin typeface="Calibri"/>
                <a:ea typeface="Calibri"/>
                <a:cs typeface="Calibri"/>
                <a:sym typeface="Calibri"/>
              </a:rPr>
              <a:t>DEMO 01</a:t>
            </a:r>
            <a:endParaRPr b="0" i="0" sz="1400" u="none" cap="none" strike="noStrike">
              <a:solidFill>
                <a:schemeClr val="dk1"/>
              </a:solidFill>
              <a:latin typeface="Calibri"/>
              <a:ea typeface="Calibri"/>
              <a:cs typeface="Calibri"/>
              <a:sym typeface="Calibri"/>
            </a:endParaRPr>
          </a:p>
        </p:txBody>
      </p:sp>
      <p:sp>
        <p:nvSpPr>
          <p:cNvPr id="756" name="Google Shape;756;p28"/>
          <p:cNvSpPr/>
          <p:nvPr/>
        </p:nvSpPr>
        <p:spPr>
          <a:xfrm>
            <a:off x="457200" y="1005840"/>
            <a:ext cx="502920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4000"/>
              <a:buFont typeface="Calibri"/>
              <a:buNone/>
            </a:pPr>
            <a:r>
              <a:rPr b="1" i="0" lang="en-US" sz="4000" u="none" cap="none" strike="noStrike">
                <a:solidFill>
                  <a:srgbClr val="ECF0F1"/>
                </a:solidFill>
                <a:latin typeface="Calibri"/>
                <a:ea typeface="Calibri"/>
                <a:cs typeface="Calibri"/>
                <a:sym typeface="Calibri"/>
              </a:rPr>
              <a:t>Container-Aware</a:t>
            </a:r>
            <a:endParaRPr b="0" i="0" sz="4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4000"/>
              <a:buFont typeface="Calibri"/>
              <a:buNone/>
            </a:pPr>
            <a:r>
              <a:rPr b="1" i="0" lang="en-US" sz="4000" u="none" cap="none" strike="noStrike">
                <a:solidFill>
                  <a:srgbClr val="ECF0F1"/>
                </a:solidFill>
                <a:latin typeface="Calibri"/>
                <a:ea typeface="Calibri"/>
                <a:cs typeface="Calibri"/>
                <a:sym typeface="Calibri"/>
              </a:rPr>
              <a:t>Heap Sizing</a:t>
            </a:r>
            <a:endParaRPr b="0" i="0" sz="4000" u="none" cap="none" strike="noStrike">
              <a:solidFill>
                <a:schemeClr val="dk1"/>
              </a:solidFill>
              <a:latin typeface="Calibri"/>
              <a:ea typeface="Calibri"/>
              <a:cs typeface="Calibri"/>
              <a:sym typeface="Calibri"/>
            </a:endParaRPr>
          </a:p>
        </p:txBody>
      </p:sp>
      <p:sp>
        <p:nvSpPr>
          <p:cNvPr id="757" name="Google Shape;757;p28"/>
          <p:cNvSpPr/>
          <p:nvPr/>
        </p:nvSpPr>
        <p:spPr>
          <a:xfrm>
            <a:off x="457200" y="2606040"/>
            <a:ext cx="8229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855"/>
              </a:buClr>
              <a:buSzPts val="1400"/>
              <a:buFont typeface="Calibri"/>
              <a:buNone/>
            </a:pPr>
            <a:r>
              <a:rPr b="1" i="0" lang="en-US" sz="1400" u="none" cap="none" strike="noStrike">
                <a:solidFill>
                  <a:srgbClr val="E84855"/>
                </a:solidFill>
                <a:latin typeface="Calibri"/>
                <a:ea typeface="Calibri"/>
                <a:cs typeface="Calibri"/>
                <a:sym typeface="Calibri"/>
              </a:rPr>
              <a:t>What you'll see:</a:t>
            </a:r>
            <a:endParaRPr b="0" i="0" sz="1400" u="none" cap="none" strike="noStrike">
              <a:solidFill>
                <a:schemeClr val="dk1"/>
              </a:solidFill>
              <a:latin typeface="Calibri"/>
              <a:ea typeface="Calibri"/>
              <a:cs typeface="Calibri"/>
              <a:sym typeface="Calibri"/>
            </a:endParaRPr>
          </a:p>
        </p:txBody>
      </p:sp>
      <p:sp>
        <p:nvSpPr>
          <p:cNvPr id="758" name="Google Shape;758;p28"/>
          <p:cNvSpPr/>
          <p:nvPr/>
        </p:nvSpPr>
        <p:spPr>
          <a:xfrm>
            <a:off x="457200" y="2971800"/>
            <a:ext cx="5212080" cy="192024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ECF0F1"/>
              </a:buClr>
              <a:buSzPts val="1300"/>
              <a:buFont typeface="Calibri"/>
              <a:buChar char="•"/>
            </a:pPr>
            <a:r>
              <a:rPr b="0" i="0" lang="en-US" sz="1300" u="none" cap="none" strike="noStrike">
                <a:solidFill>
                  <a:srgbClr val="ECF0F1"/>
                </a:solidFill>
                <a:latin typeface="Calibri"/>
                <a:ea typeface="Calibri"/>
                <a:cs typeface="Calibri"/>
                <a:sym typeface="Calibri"/>
              </a:rPr>
              <a:t>Run Java app WITHOUT UseContainerSupport → observe JVM claiming host RAM</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CF0F1"/>
              </a:buClr>
              <a:buSzPts val="1300"/>
              <a:buFont typeface="Calibri"/>
              <a:buChar char="•"/>
            </a:pPr>
            <a:r>
              <a:rPr b="0" i="0" lang="en-US" sz="1300" u="none" cap="none" strike="noStrike">
                <a:solidFill>
                  <a:srgbClr val="ECF0F1"/>
                </a:solidFill>
                <a:latin typeface="Calibri"/>
                <a:ea typeface="Calibri"/>
                <a:cs typeface="Calibri"/>
                <a:sym typeface="Calibri"/>
              </a:rPr>
              <a:t>Run same app WITH UseContainerSupport + MaxRAMPercentage=75.0 → JVM respects 512m limit</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CF0F1"/>
              </a:buClr>
              <a:buSzPts val="1300"/>
              <a:buFont typeface="Calibri"/>
              <a:buChar char="•"/>
            </a:pPr>
            <a:r>
              <a:rPr b="0" i="0" lang="en-US" sz="1300" u="none" cap="none" strike="noStrike">
                <a:solidFill>
                  <a:srgbClr val="ECF0F1"/>
                </a:solidFill>
                <a:latin typeface="Calibri"/>
                <a:ea typeface="Calibri"/>
                <a:cs typeface="Calibri"/>
                <a:sym typeface="Calibri"/>
              </a:rPr>
              <a:t>Live: jcmd output showing heap sizes before and after</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CF0F1"/>
              </a:buClr>
              <a:buSzPts val="1300"/>
              <a:buFont typeface="Calibri"/>
              <a:buChar char="•"/>
            </a:pPr>
            <a:r>
              <a:rPr b="0" i="0" lang="en-US" sz="1300" u="none" cap="none" strike="noStrike">
                <a:solidFill>
                  <a:srgbClr val="ECF0F1"/>
                </a:solidFill>
                <a:latin typeface="Calibri"/>
                <a:ea typeface="Calibri"/>
                <a:cs typeface="Calibri"/>
                <a:sym typeface="Calibri"/>
              </a:rPr>
              <a:t>Show OOMKill simulation when JVM ignores container limits</a:t>
            </a:r>
            <a:endParaRPr b="0" i="0" sz="1300" u="none" cap="none" strike="noStrike">
              <a:solidFill>
                <a:schemeClr val="dk1"/>
              </a:solidFill>
              <a:latin typeface="Calibri"/>
              <a:ea typeface="Calibri"/>
              <a:cs typeface="Calibri"/>
              <a:sym typeface="Calibri"/>
            </a:endParaRPr>
          </a:p>
        </p:txBody>
      </p:sp>
      <p:sp>
        <p:nvSpPr>
          <p:cNvPr id="759" name="Google Shape;759;p28"/>
          <p:cNvSpPr/>
          <p:nvPr/>
        </p:nvSpPr>
        <p:spPr>
          <a:xfrm>
            <a:off x="5943600" y="3017520"/>
            <a:ext cx="2926080" cy="731520"/>
          </a:xfrm>
          <a:prstGeom prst="rect">
            <a:avLst/>
          </a:prstGeom>
          <a:solidFill>
            <a:srgbClr val="122040"/>
          </a:solidFill>
          <a:ln>
            <a:noFill/>
          </a:ln>
        </p:spPr>
        <p:txBody>
          <a:bodyPr anchorCtr="0" anchor="ctr" bIns="127000" lIns="127000" spcFirstLastPara="1" rIns="127000" wrap="square" tIns="127000">
            <a:noAutofit/>
          </a:bodyPr>
          <a:lstStyle/>
          <a:p>
            <a:pPr indent="0" lvl="0" marL="0" marR="0" rtl="0" algn="ctr">
              <a:spcBef>
                <a:spcPts val="0"/>
              </a:spcBef>
              <a:spcAft>
                <a:spcPts val="0"/>
              </a:spcAft>
              <a:buClr>
                <a:srgbClr val="E84855"/>
              </a:buClr>
              <a:buSzPts val="1300"/>
              <a:buFont typeface="Courier New"/>
              <a:buNone/>
            </a:pPr>
            <a:r>
              <a:rPr lang="en-US" sz="1300">
                <a:solidFill>
                  <a:srgbClr val="E84855"/>
                </a:solidFill>
                <a:latin typeface="Courier New"/>
                <a:ea typeface="Courier New"/>
                <a:cs typeface="Courier New"/>
                <a:sym typeface="Courier New"/>
              </a:rPr>
              <a:t>podman</a:t>
            </a:r>
            <a:r>
              <a:rPr b="0" i="0" lang="en-US" sz="1300" u="none" cap="none" strike="noStrike">
                <a:solidFill>
                  <a:srgbClr val="E84855"/>
                </a:solidFill>
                <a:latin typeface="Courier New"/>
                <a:ea typeface="Courier New"/>
                <a:cs typeface="Courier New"/>
                <a:sym typeface="Courier New"/>
              </a:rPr>
              <a:t> run  →  kubectl apply  →  jcmd</a:t>
            </a:r>
            <a:endParaRPr b="0" i="0" sz="1300" u="none" cap="none" strike="noStrike">
              <a:solidFill>
                <a:schemeClr val="dk1"/>
              </a:solidFill>
              <a:latin typeface="Calibri"/>
              <a:ea typeface="Calibri"/>
              <a:cs typeface="Calibri"/>
              <a:sym typeface="Calibri"/>
            </a:endParaRPr>
          </a:p>
        </p:txBody>
      </p:sp>
      <p:sp>
        <p:nvSpPr>
          <p:cNvPr id="760" name="Google Shape;760;p28"/>
          <p:cNvSpPr/>
          <p:nvPr/>
        </p:nvSpPr>
        <p:spPr>
          <a:xfrm>
            <a:off x="0" y="4960620"/>
            <a:ext cx="9144000" cy="18288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8"/>
          <p:cNvSpPr/>
          <p:nvPr/>
        </p:nvSpPr>
        <p:spPr>
          <a:xfrm>
            <a:off x="365760" y="4956048"/>
            <a:ext cx="841248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00"/>
              <a:buFont typeface="Calibri"/>
              <a:buNone/>
            </a:pPr>
            <a:r>
              <a:rPr b="0" i="0" lang="en-US" sz="900" u="none" cap="none" strike="noStrike">
                <a:solidFill>
                  <a:srgbClr val="ECF0F1"/>
                </a:solidFill>
                <a:latin typeface="Calibri"/>
                <a:ea typeface="Calibri"/>
                <a:cs typeface="Calibri"/>
                <a:sym typeface="Calibri"/>
              </a:rPr>
              <a:t>Taming the JVM: Java Optimization on OpenShift</a:t>
            </a:r>
            <a:endParaRPr b="0" i="0" sz="900" u="none" cap="none" strike="noStrike">
              <a:solidFill>
                <a:schemeClr val="dk1"/>
              </a:solidFill>
              <a:latin typeface="Calibri"/>
              <a:ea typeface="Calibri"/>
              <a:cs typeface="Calibri"/>
              <a:sym typeface="Calibri"/>
            </a:endParaRPr>
          </a:p>
        </p:txBody>
      </p:sp>
      <p:sp>
        <p:nvSpPr>
          <p:cNvPr id="762" name="Google Shape;762;p2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11F"/>
        </a:solidFill>
      </p:bgPr>
    </p:bg>
    <p:spTree>
      <p:nvGrpSpPr>
        <p:cNvPr id="767" name="Shape 767"/>
        <p:cNvGrpSpPr/>
        <p:nvPr/>
      </p:nvGrpSpPr>
      <p:grpSpPr>
        <a:xfrm>
          <a:off x="0" y="0"/>
          <a:ext cx="0" cy="0"/>
          <a:chOff x="0" y="0"/>
          <a:chExt cx="0" cy="0"/>
        </a:xfrm>
      </p:grpSpPr>
      <p:sp>
        <p:nvSpPr>
          <p:cNvPr id="768" name="Google Shape;768;p29"/>
          <p:cNvSpPr/>
          <p:nvPr/>
        </p:nvSpPr>
        <p:spPr>
          <a:xfrm>
            <a:off x="0" y="0"/>
            <a:ext cx="228600" cy="5143500"/>
          </a:xfrm>
          <a:prstGeom prst="rect">
            <a:avLst/>
          </a:prstGeom>
          <a:solidFill>
            <a:srgbClr val="F5A6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9"/>
          <p:cNvSpPr/>
          <p:nvPr/>
        </p:nvSpPr>
        <p:spPr>
          <a:xfrm>
            <a:off x="457200" y="45720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A623"/>
              </a:buClr>
              <a:buSzPts val="1400"/>
              <a:buFont typeface="Calibri"/>
              <a:buNone/>
            </a:pPr>
            <a:r>
              <a:rPr b="1" i="0" lang="en-US" sz="1400" u="none" cap="none" strike="noStrike">
                <a:solidFill>
                  <a:srgbClr val="F5A623"/>
                </a:solidFill>
                <a:latin typeface="Calibri"/>
                <a:ea typeface="Calibri"/>
                <a:cs typeface="Calibri"/>
                <a:sym typeface="Calibri"/>
              </a:rPr>
              <a:t>DEMO 02</a:t>
            </a:r>
            <a:endParaRPr b="0" i="0" sz="1400" u="none" cap="none" strike="noStrike">
              <a:solidFill>
                <a:schemeClr val="dk1"/>
              </a:solidFill>
              <a:latin typeface="Calibri"/>
              <a:ea typeface="Calibri"/>
              <a:cs typeface="Calibri"/>
              <a:sym typeface="Calibri"/>
            </a:endParaRPr>
          </a:p>
        </p:txBody>
      </p:sp>
      <p:sp>
        <p:nvSpPr>
          <p:cNvPr id="770" name="Google Shape;770;p29"/>
          <p:cNvSpPr/>
          <p:nvPr/>
        </p:nvSpPr>
        <p:spPr>
          <a:xfrm>
            <a:off x="457200" y="1005840"/>
            <a:ext cx="502920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4000"/>
              <a:buFont typeface="Calibri"/>
              <a:buNone/>
            </a:pPr>
            <a:r>
              <a:rPr b="1" i="0" lang="en-US" sz="4000" u="none" cap="none" strike="noStrike">
                <a:solidFill>
                  <a:srgbClr val="ECF0F1"/>
                </a:solidFill>
                <a:latin typeface="Calibri"/>
                <a:ea typeface="Calibri"/>
                <a:cs typeface="Calibri"/>
                <a:sym typeface="Calibri"/>
              </a:rPr>
              <a:t>GC Monitoring</a:t>
            </a:r>
            <a:endParaRPr b="0" i="0" sz="4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4000"/>
              <a:buFont typeface="Calibri"/>
              <a:buNone/>
            </a:pPr>
            <a:r>
              <a:rPr b="1" i="0" lang="en-US" sz="4000" u="none" cap="none" strike="noStrike">
                <a:solidFill>
                  <a:srgbClr val="ECF0F1"/>
                </a:solidFill>
                <a:latin typeface="Calibri"/>
                <a:ea typeface="Calibri"/>
                <a:cs typeface="Calibri"/>
                <a:sym typeface="Calibri"/>
              </a:rPr>
              <a:t>with Prometheus</a:t>
            </a:r>
            <a:endParaRPr b="0" i="0" sz="4000" u="none" cap="none" strike="noStrike">
              <a:solidFill>
                <a:schemeClr val="dk1"/>
              </a:solidFill>
              <a:latin typeface="Calibri"/>
              <a:ea typeface="Calibri"/>
              <a:cs typeface="Calibri"/>
              <a:sym typeface="Calibri"/>
            </a:endParaRPr>
          </a:p>
        </p:txBody>
      </p:sp>
      <p:sp>
        <p:nvSpPr>
          <p:cNvPr id="771" name="Google Shape;771;p29"/>
          <p:cNvSpPr/>
          <p:nvPr/>
        </p:nvSpPr>
        <p:spPr>
          <a:xfrm>
            <a:off x="457200" y="2606040"/>
            <a:ext cx="8229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A623"/>
              </a:buClr>
              <a:buSzPts val="1400"/>
              <a:buFont typeface="Calibri"/>
              <a:buNone/>
            </a:pPr>
            <a:r>
              <a:rPr b="1" i="0" lang="en-US" sz="1400" u="none" cap="none" strike="noStrike">
                <a:solidFill>
                  <a:srgbClr val="F5A623"/>
                </a:solidFill>
                <a:latin typeface="Calibri"/>
                <a:ea typeface="Calibri"/>
                <a:cs typeface="Calibri"/>
                <a:sym typeface="Calibri"/>
              </a:rPr>
              <a:t>What you'll see:</a:t>
            </a:r>
            <a:endParaRPr b="0" i="0" sz="1400" u="none" cap="none" strike="noStrike">
              <a:solidFill>
                <a:schemeClr val="dk1"/>
              </a:solidFill>
              <a:latin typeface="Calibri"/>
              <a:ea typeface="Calibri"/>
              <a:cs typeface="Calibri"/>
              <a:sym typeface="Calibri"/>
            </a:endParaRPr>
          </a:p>
        </p:txBody>
      </p:sp>
      <p:sp>
        <p:nvSpPr>
          <p:cNvPr id="772" name="Google Shape;772;p29"/>
          <p:cNvSpPr/>
          <p:nvPr/>
        </p:nvSpPr>
        <p:spPr>
          <a:xfrm>
            <a:off x="457200" y="2971800"/>
            <a:ext cx="5212080" cy="192024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ECF0F1"/>
              </a:buClr>
              <a:buSzPts val="1300"/>
              <a:buFont typeface="Calibri"/>
              <a:buChar char="•"/>
            </a:pPr>
            <a:r>
              <a:rPr b="0" i="0" lang="en-US" sz="1300" u="none" cap="none" strike="noStrike">
                <a:solidFill>
                  <a:srgbClr val="ECF0F1"/>
                </a:solidFill>
                <a:latin typeface="Calibri"/>
                <a:ea typeface="Calibri"/>
                <a:cs typeface="Calibri"/>
                <a:sym typeface="Calibri"/>
              </a:rPr>
              <a:t>Stack: Quarkus 3.33.1 LTS + quarkus-micrometer-opentelemetry + Grafana LGTM (Tempo + Prometheus)</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CF0F1"/>
              </a:buClr>
              <a:buSzPts val="1300"/>
              <a:buFont typeface="Calibri"/>
              <a:buChar char="•"/>
            </a:pPr>
            <a:r>
              <a:rPr b="0" i="0" lang="en-US" sz="1300" u="none" cap="none" strike="noStrike">
                <a:solidFill>
                  <a:srgbClr val="ECF0F1"/>
                </a:solidFill>
                <a:latin typeface="Calibri"/>
                <a:ea typeface="Calibri"/>
                <a:cs typeface="Calibri"/>
                <a:sym typeface="Calibri"/>
              </a:rPr>
              <a:t>Live GC pause histograms at /q/metrics: jvm_gc_pause_seconds</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CF0F1"/>
              </a:buClr>
              <a:buSzPts val="1300"/>
              <a:buFont typeface="Calibri"/>
              <a:buChar char="•"/>
            </a:pPr>
            <a:r>
              <a:rPr b="0" i="0" lang="en-US" sz="1300" u="none" cap="none" strike="noStrike">
                <a:solidFill>
                  <a:srgbClr val="ECF0F1"/>
                </a:solidFill>
                <a:latin typeface="Calibri"/>
                <a:ea typeface="Calibri"/>
                <a:cs typeface="Calibri"/>
                <a:sym typeface="Calibri"/>
              </a:rPr>
              <a:t>Generate GC pressure — watch Grafana (metrics) and Grafana Tempo (traces) simultaneously</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CF0F1"/>
              </a:buClr>
              <a:buSzPts val="1300"/>
              <a:buFont typeface="Calibri"/>
              <a:buChar char="•"/>
            </a:pPr>
            <a:r>
              <a:rPr b="0" i="0" lang="en-US" sz="1300" u="none" cap="none" strike="noStrike">
                <a:solidFill>
                  <a:srgbClr val="ECF0F1"/>
                </a:solidFill>
                <a:latin typeface="Calibri"/>
                <a:ea typeface="Calibri"/>
                <a:cs typeface="Calibri"/>
                <a:sym typeface="Calibri"/>
              </a:rPr>
              <a:t>G1GC vs Generational ZGC side-by-side pause comparison</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CF0F1"/>
              </a:buClr>
              <a:buSzPts val="1300"/>
              <a:buFont typeface="Calibri"/>
              <a:buChar char="•"/>
            </a:pPr>
            <a:r>
              <a:rPr b="0" i="0" lang="en-US" sz="1300" u="none" cap="none" strike="noStrike">
                <a:solidFill>
                  <a:srgbClr val="ECF0F1"/>
                </a:solidFill>
                <a:latin typeface="Calibri"/>
                <a:ea typeface="Calibri"/>
                <a:cs typeface="Calibri"/>
                <a:sym typeface="Calibri"/>
              </a:rPr>
              <a:t>Virtual threads demo: 500 concurrent tasks, minimal platform thread count</a:t>
            </a:r>
            <a:endParaRPr b="0" i="0" sz="1300" u="none" cap="none" strike="noStrike">
              <a:solidFill>
                <a:schemeClr val="dk1"/>
              </a:solidFill>
              <a:latin typeface="Calibri"/>
              <a:ea typeface="Calibri"/>
              <a:cs typeface="Calibri"/>
              <a:sym typeface="Calibri"/>
            </a:endParaRPr>
          </a:p>
        </p:txBody>
      </p:sp>
      <p:sp>
        <p:nvSpPr>
          <p:cNvPr id="773" name="Google Shape;773;p29"/>
          <p:cNvSpPr/>
          <p:nvPr/>
        </p:nvSpPr>
        <p:spPr>
          <a:xfrm>
            <a:off x="5943600" y="3017520"/>
            <a:ext cx="2926080" cy="731520"/>
          </a:xfrm>
          <a:prstGeom prst="rect">
            <a:avLst/>
          </a:prstGeom>
          <a:solidFill>
            <a:srgbClr val="122040"/>
          </a:solidFill>
          <a:ln>
            <a:noFill/>
          </a:ln>
        </p:spPr>
        <p:txBody>
          <a:bodyPr anchorCtr="0" anchor="ctr" bIns="127000" lIns="127000" spcFirstLastPara="1" rIns="127000" wrap="square" tIns="127000">
            <a:noAutofit/>
          </a:bodyPr>
          <a:lstStyle/>
          <a:p>
            <a:pPr indent="0" lvl="0" marL="0" marR="0" rtl="0" algn="ctr">
              <a:spcBef>
                <a:spcPts val="0"/>
              </a:spcBef>
              <a:spcAft>
                <a:spcPts val="0"/>
              </a:spcAft>
              <a:buClr>
                <a:srgbClr val="F5A623"/>
              </a:buClr>
              <a:buSzPts val="1300"/>
              <a:buFont typeface="Courier New"/>
              <a:buNone/>
            </a:pPr>
            <a:r>
              <a:rPr lang="en-US" sz="1300">
                <a:solidFill>
                  <a:srgbClr val="F5A623"/>
                </a:solidFill>
                <a:latin typeface="Courier New"/>
                <a:ea typeface="Courier New"/>
                <a:cs typeface="Courier New"/>
                <a:sym typeface="Courier New"/>
              </a:rPr>
              <a:t>podman-</a:t>
            </a:r>
            <a:r>
              <a:rPr b="0" i="0" lang="en-US" sz="1300" u="none" cap="none" strike="noStrike">
                <a:solidFill>
                  <a:srgbClr val="F5A623"/>
                </a:solidFill>
                <a:latin typeface="Courier New"/>
                <a:ea typeface="Courier New"/>
                <a:cs typeface="Courier New"/>
                <a:sym typeface="Courier New"/>
              </a:rPr>
              <a:t>compose up  (quarkus-demo-02-gc-monitoring/) — Grafana LGTM stack</a:t>
            </a:r>
            <a:endParaRPr b="0" i="0" sz="1300" u="none" cap="none" strike="noStrike">
              <a:solidFill>
                <a:schemeClr val="dk1"/>
              </a:solidFill>
              <a:latin typeface="Calibri"/>
              <a:ea typeface="Calibri"/>
              <a:cs typeface="Calibri"/>
              <a:sym typeface="Calibri"/>
            </a:endParaRPr>
          </a:p>
        </p:txBody>
      </p:sp>
      <p:sp>
        <p:nvSpPr>
          <p:cNvPr id="774" name="Google Shape;774;p29"/>
          <p:cNvSpPr/>
          <p:nvPr/>
        </p:nvSpPr>
        <p:spPr>
          <a:xfrm>
            <a:off x="0" y="4960620"/>
            <a:ext cx="9144000" cy="18288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29"/>
          <p:cNvSpPr/>
          <p:nvPr/>
        </p:nvSpPr>
        <p:spPr>
          <a:xfrm>
            <a:off x="365760" y="4956048"/>
            <a:ext cx="841248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00"/>
              <a:buFont typeface="Calibri"/>
              <a:buNone/>
            </a:pPr>
            <a:r>
              <a:rPr b="0" i="0" lang="en-US" sz="900" u="none" cap="none" strike="noStrike">
                <a:solidFill>
                  <a:srgbClr val="ECF0F1"/>
                </a:solidFill>
                <a:latin typeface="Calibri"/>
                <a:ea typeface="Calibri"/>
                <a:cs typeface="Calibri"/>
                <a:sym typeface="Calibri"/>
              </a:rPr>
              <a:t>Taming the JVM: Java Optimization on OpenShift</a:t>
            </a:r>
            <a:endParaRPr b="0" i="0" sz="900" u="none" cap="none" strike="noStrike">
              <a:solidFill>
                <a:schemeClr val="dk1"/>
              </a:solidFill>
              <a:latin typeface="Calibri"/>
              <a:ea typeface="Calibri"/>
              <a:cs typeface="Calibri"/>
              <a:sym typeface="Calibri"/>
            </a:endParaRPr>
          </a:p>
        </p:txBody>
      </p:sp>
      <p:sp>
        <p:nvSpPr>
          <p:cNvPr id="776" name="Google Shape;776;p2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11F"/>
        </a:solidFill>
      </p:bgPr>
    </p:bg>
    <p:spTree>
      <p:nvGrpSpPr>
        <p:cNvPr id="781" name="Shape 781"/>
        <p:cNvGrpSpPr/>
        <p:nvPr/>
      </p:nvGrpSpPr>
      <p:grpSpPr>
        <a:xfrm>
          <a:off x="0" y="0"/>
          <a:ext cx="0" cy="0"/>
          <a:chOff x="0" y="0"/>
          <a:chExt cx="0" cy="0"/>
        </a:xfrm>
      </p:grpSpPr>
      <p:sp>
        <p:nvSpPr>
          <p:cNvPr id="782" name="Google Shape;782;p30"/>
          <p:cNvSpPr/>
          <p:nvPr/>
        </p:nvSpPr>
        <p:spPr>
          <a:xfrm>
            <a:off x="0" y="0"/>
            <a:ext cx="228600" cy="5143500"/>
          </a:xfrm>
          <a:prstGeom prst="rect">
            <a:avLst/>
          </a:prstGeom>
          <a:solidFill>
            <a:srgbClr val="27AE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30"/>
          <p:cNvSpPr/>
          <p:nvPr/>
        </p:nvSpPr>
        <p:spPr>
          <a:xfrm>
            <a:off x="457200" y="45720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1400"/>
              <a:buFont typeface="Calibri"/>
              <a:buNone/>
            </a:pPr>
            <a:r>
              <a:rPr b="1" i="0" lang="en-US" sz="1400" u="none" cap="none" strike="noStrike">
                <a:solidFill>
                  <a:srgbClr val="27AE60"/>
                </a:solidFill>
                <a:latin typeface="Calibri"/>
                <a:ea typeface="Calibri"/>
                <a:cs typeface="Calibri"/>
                <a:sym typeface="Calibri"/>
              </a:rPr>
              <a:t>DEMO 03</a:t>
            </a:r>
            <a:endParaRPr b="0" i="0" sz="1400" u="none" cap="none" strike="noStrike">
              <a:solidFill>
                <a:schemeClr val="dk1"/>
              </a:solidFill>
              <a:latin typeface="Calibri"/>
              <a:ea typeface="Calibri"/>
              <a:cs typeface="Calibri"/>
              <a:sym typeface="Calibri"/>
            </a:endParaRPr>
          </a:p>
        </p:txBody>
      </p:sp>
      <p:sp>
        <p:nvSpPr>
          <p:cNvPr id="784" name="Google Shape;784;p30"/>
          <p:cNvSpPr/>
          <p:nvPr/>
        </p:nvSpPr>
        <p:spPr>
          <a:xfrm>
            <a:off x="457200" y="1005840"/>
            <a:ext cx="502920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4000"/>
              <a:buFont typeface="Calibri"/>
              <a:buNone/>
            </a:pPr>
            <a:r>
              <a:rPr b="1" i="0" lang="en-US" sz="4000" u="none" cap="none" strike="noStrike">
                <a:solidFill>
                  <a:srgbClr val="ECF0F1"/>
                </a:solidFill>
                <a:latin typeface="Calibri"/>
                <a:ea typeface="Calibri"/>
                <a:cs typeface="Calibri"/>
                <a:sym typeface="Calibri"/>
              </a:rPr>
              <a:t>AppCDS Startup</a:t>
            </a:r>
            <a:endParaRPr b="0" i="0" sz="4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4000"/>
              <a:buFont typeface="Calibri"/>
              <a:buNone/>
            </a:pPr>
            <a:r>
              <a:rPr b="1" i="0" lang="en-US" sz="4000" u="none" cap="none" strike="noStrike">
                <a:solidFill>
                  <a:srgbClr val="ECF0F1"/>
                </a:solidFill>
                <a:latin typeface="Calibri"/>
                <a:ea typeface="Calibri"/>
                <a:cs typeface="Calibri"/>
                <a:sym typeface="Calibri"/>
              </a:rPr>
              <a:t>Acceleration</a:t>
            </a:r>
            <a:endParaRPr b="0" i="0" sz="4000" u="none" cap="none" strike="noStrike">
              <a:solidFill>
                <a:schemeClr val="dk1"/>
              </a:solidFill>
              <a:latin typeface="Calibri"/>
              <a:ea typeface="Calibri"/>
              <a:cs typeface="Calibri"/>
              <a:sym typeface="Calibri"/>
            </a:endParaRPr>
          </a:p>
        </p:txBody>
      </p:sp>
      <p:sp>
        <p:nvSpPr>
          <p:cNvPr id="785" name="Google Shape;785;p30"/>
          <p:cNvSpPr/>
          <p:nvPr/>
        </p:nvSpPr>
        <p:spPr>
          <a:xfrm>
            <a:off x="457200" y="2606040"/>
            <a:ext cx="8229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1400"/>
              <a:buFont typeface="Calibri"/>
              <a:buNone/>
            </a:pPr>
            <a:r>
              <a:rPr b="1" i="0" lang="en-US" sz="1400" u="none" cap="none" strike="noStrike">
                <a:solidFill>
                  <a:srgbClr val="27AE60"/>
                </a:solidFill>
                <a:latin typeface="Calibri"/>
                <a:ea typeface="Calibri"/>
                <a:cs typeface="Calibri"/>
                <a:sym typeface="Calibri"/>
              </a:rPr>
              <a:t>What you'll see:</a:t>
            </a:r>
            <a:endParaRPr b="0" i="0" sz="1400" u="none" cap="none" strike="noStrike">
              <a:solidFill>
                <a:schemeClr val="dk1"/>
              </a:solidFill>
              <a:latin typeface="Calibri"/>
              <a:ea typeface="Calibri"/>
              <a:cs typeface="Calibri"/>
              <a:sym typeface="Calibri"/>
            </a:endParaRPr>
          </a:p>
        </p:txBody>
      </p:sp>
      <p:sp>
        <p:nvSpPr>
          <p:cNvPr id="786" name="Google Shape;786;p30"/>
          <p:cNvSpPr/>
          <p:nvPr/>
        </p:nvSpPr>
        <p:spPr>
          <a:xfrm>
            <a:off x="457200" y="2971800"/>
            <a:ext cx="5212080" cy="1828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ECF0F1"/>
              </a:buClr>
              <a:buSzPts val="1300"/>
              <a:buFont typeface="Calibri"/>
              <a:buChar char="•"/>
            </a:pPr>
            <a:r>
              <a:rPr b="0" i="0" lang="en-US" sz="1300" u="none" cap="none" strike="noStrike">
                <a:solidFill>
                  <a:srgbClr val="ECF0F1"/>
                </a:solidFill>
                <a:latin typeface="Calibri"/>
                <a:ea typeface="Calibri"/>
                <a:cs typeface="Calibri"/>
                <a:sym typeface="Calibri"/>
              </a:rPr>
              <a:t>Quarkus JVM baseline: ~0.3-0.8s (Spring Boot baseline ~6.6s cited — Quarkus project benchmark, not measured here)</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CF0F1"/>
              </a:buClr>
              <a:buSzPts val="1300"/>
              <a:buFont typeface="Calibri"/>
              <a:buChar char="•"/>
            </a:pPr>
            <a:r>
              <a:rPr b="0" i="0" lang="en-US" sz="1300" u="none" cap="none" strike="noStrike">
                <a:solidFill>
                  <a:srgbClr val="ECF0F1"/>
                </a:solidFill>
                <a:latin typeface="Calibri"/>
                <a:ea typeface="Calibri"/>
                <a:cs typeface="Calibri"/>
                <a:sym typeface="Calibri"/>
              </a:rPr>
              <a:t>Quarkus AOT Cache: quarkus.package.jar.aot.enabled=true — trains on @QuarkusIntegrationTest suite</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CF0F1"/>
              </a:buClr>
              <a:buSzPts val="1300"/>
              <a:buFont typeface="Calibri"/>
              <a:buChar char="•"/>
            </a:pPr>
            <a:r>
              <a:rPr b="0" i="0" lang="en-US" sz="1300" u="none" cap="none" strike="noStrike">
                <a:solidFill>
                  <a:srgbClr val="ECF0F1"/>
                </a:solidFill>
                <a:latin typeface="Calibri"/>
                <a:ea typeface="Calibri"/>
                <a:cs typeface="Calibri"/>
                <a:sym typeface="Calibri"/>
              </a:rPr>
              <a:t>Maven plugin handles training automatically — no manual -Xshare:dump steps</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ECF0F1"/>
              </a:buClr>
              <a:buSzPts val="1300"/>
              <a:buFont typeface="Calibri"/>
              <a:buChar char="•"/>
            </a:pPr>
            <a:r>
              <a:rPr b="0" i="0" lang="en-US" sz="1300" u="none" cap="none" strike="noStrike">
                <a:solidFill>
                  <a:srgbClr val="ECF0F1"/>
                </a:solidFill>
                <a:latin typeface="Calibri"/>
                <a:ea typeface="Calibri"/>
                <a:cs typeface="Calibri"/>
                <a:sym typeface="Calibri"/>
              </a:rPr>
              <a:t>Quarkus + AOT Cache: ~0.15-0.4s (30-50% gain) — AppCDS on JDK ≤21, Leyden -XX:AOTCache on JDK 25</a:t>
            </a:r>
            <a:endParaRPr b="0" i="0" sz="1300" u="none" cap="none" strike="noStrike">
              <a:solidFill>
                <a:schemeClr val="dk1"/>
              </a:solidFill>
              <a:latin typeface="Calibri"/>
              <a:ea typeface="Calibri"/>
              <a:cs typeface="Calibri"/>
              <a:sym typeface="Calibri"/>
            </a:endParaRPr>
          </a:p>
        </p:txBody>
      </p:sp>
      <p:sp>
        <p:nvSpPr>
          <p:cNvPr id="787" name="Google Shape;787;p30"/>
          <p:cNvSpPr/>
          <p:nvPr/>
        </p:nvSpPr>
        <p:spPr>
          <a:xfrm>
            <a:off x="5943600" y="3017520"/>
            <a:ext cx="2926080" cy="731520"/>
          </a:xfrm>
          <a:prstGeom prst="rect">
            <a:avLst/>
          </a:prstGeom>
          <a:solidFill>
            <a:srgbClr val="122040"/>
          </a:solidFill>
          <a:ln>
            <a:noFill/>
          </a:ln>
        </p:spPr>
        <p:txBody>
          <a:bodyPr anchorCtr="0" anchor="ctr" bIns="127000" lIns="127000" spcFirstLastPara="1" rIns="127000" wrap="square" tIns="127000">
            <a:noAutofit/>
          </a:bodyPr>
          <a:lstStyle/>
          <a:p>
            <a:pPr indent="0" lvl="0" marL="0" marR="0" rtl="0" algn="ctr">
              <a:spcBef>
                <a:spcPts val="0"/>
              </a:spcBef>
              <a:spcAft>
                <a:spcPts val="0"/>
              </a:spcAft>
              <a:buClr>
                <a:srgbClr val="27AE60"/>
              </a:buClr>
              <a:buSzPts val="1600"/>
              <a:buFont typeface="Courier New"/>
              <a:buNone/>
            </a:pPr>
            <a:r>
              <a:rPr b="0" i="0" lang="en-US" sz="1600" u="none" cap="none" strike="noStrike">
                <a:solidFill>
                  <a:srgbClr val="27AE60"/>
                </a:solidFill>
                <a:latin typeface="Courier New"/>
                <a:ea typeface="Courier New"/>
                <a:cs typeface="Courier New"/>
                <a:sym typeface="Courier New"/>
              </a:rPr>
              <a:t>./demo.sh  (quarkus-demo-03-appcds/)</a:t>
            </a:r>
            <a:endParaRPr b="0" i="0" sz="1600" u="none" cap="none" strike="noStrike">
              <a:solidFill>
                <a:schemeClr val="dk1"/>
              </a:solidFill>
              <a:latin typeface="Calibri"/>
              <a:ea typeface="Calibri"/>
              <a:cs typeface="Calibri"/>
              <a:sym typeface="Calibri"/>
            </a:endParaRPr>
          </a:p>
        </p:txBody>
      </p:sp>
      <p:sp>
        <p:nvSpPr>
          <p:cNvPr id="788" name="Google Shape;788;p30"/>
          <p:cNvSpPr/>
          <p:nvPr/>
        </p:nvSpPr>
        <p:spPr>
          <a:xfrm>
            <a:off x="0" y="4960620"/>
            <a:ext cx="9144000" cy="18288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30"/>
          <p:cNvSpPr/>
          <p:nvPr/>
        </p:nvSpPr>
        <p:spPr>
          <a:xfrm>
            <a:off x="365760" y="4956048"/>
            <a:ext cx="841248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00"/>
              <a:buFont typeface="Calibri"/>
              <a:buNone/>
            </a:pPr>
            <a:r>
              <a:rPr b="0" i="0" lang="en-US" sz="900" u="none" cap="none" strike="noStrike">
                <a:solidFill>
                  <a:srgbClr val="ECF0F1"/>
                </a:solidFill>
                <a:latin typeface="Calibri"/>
                <a:ea typeface="Calibri"/>
                <a:cs typeface="Calibri"/>
                <a:sym typeface="Calibri"/>
              </a:rPr>
              <a:t>Taming the JVM: Java Optimization on OpenShift</a:t>
            </a:r>
            <a:endParaRPr b="0" i="0" sz="900" u="none" cap="none" strike="noStrike">
              <a:solidFill>
                <a:schemeClr val="dk1"/>
              </a:solidFill>
              <a:latin typeface="Calibri"/>
              <a:ea typeface="Calibri"/>
              <a:cs typeface="Calibri"/>
              <a:sym typeface="Calibri"/>
            </a:endParaRPr>
          </a:p>
        </p:txBody>
      </p:sp>
      <p:sp>
        <p:nvSpPr>
          <p:cNvPr id="790" name="Google Shape;790;p3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F0F7"/>
        </a:solidFill>
      </p:bgPr>
    </p:bg>
    <p:spTree>
      <p:nvGrpSpPr>
        <p:cNvPr id="795" name="Shape 795"/>
        <p:cNvGrpSpPr/>
        <p:nvPr/>
      </p:nvGrpSpPr>
      <p:grpSpPr>
        <a:xfrm>
          <a:off x="0" y="0"/>
          <a:ext cx="0" cy="0"/>
          <a:chOff x="0" y="0"/>
          <a:chExt cx="0" cy="0"/>
        </a:xfrm>
      </p:grpSpPr>
      <p:sp>
        <p:nvSpPr>
          <p:cNvPr id="796" name="Google Shape;796;p31"/>
          <p:cNvSpPr/>
          <p:nvPr/>
        </p:nvSpPr>
        <p:spPr>
          <a:xfrm>
            <a:off x="0" y="0"/>
            <a:ext cx="9144000" cy="64008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31"/>
          <p:cNvSpPr/>
          <p:nvPr/>
        </p:nvSpPr>
        <p:spPr>
          <a:xfrm>
            <a:off x="365760" y="0"/>
            <a:ext cx="6858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000"/>
              <a:buFont typeface="Calibri"/>
              <a:buNone/>
            </a:pPr>
            <a:r>
              <a:rPr b="1" i="0" lang="en-US" sz="2000" u="none" cap="none" strike="noStrike">
                <a:solidFill>
                  <a:srgbClr val="00BCD4"/>
                </a:solidFill>
                <a:latin typeface="Calibri"/>
                <a:ea typeface="Calibri"/>
                <a:cs typeface="Calibri"/>
                <a:sym typeface="Calibri"/>
              </a:rPr>
              <a:t>Key Takeaways</a:t>
            </a:r>
            <a:endParaRPr b="0" i="0" sz="2000" u="none" cap="none" strike="noStrike">
              <a:solidFill>
                <a:schemeClr val="dk1"/>
              </a:solidFill>
              <a:latin typeface="Calibri"/>
              <a:ea typeface="Calibri"/>
              <a:cs typeface="Calibri"/>
              <a:sym typeface="Calibri"/>
            </a:endParaRPr>
          </a:p>
        </p:txBody>
      </p:sp>
      <p:sp>
        <p:nvSpPr>
          <p:cNvPr id="798" name="Google Shape;798;p31"/>
          <p:cNvSpPr/>
          <p:nvPr/>
        </p:nvSpPr>
        <p:spPr>
          <a:xfrm>
            <a:off x="7315200" y="73152"/>
            <a:ext cx="1645920" cy="502920"/>
          </a:xfrm>
          <a:prstGeom prst="rect">
            <a:avLst/>
          </a:prstGeom>
          <a:solidFill>
            <a:srgbClr val="1E6FC8"/>
          </a:solidFill>
          <a:ln>
            <a:noFill/>
          </a:ln>
        </p:spPr>
        <p:txBody>
          <a:bodyPr anchorCtr="0" anchor="ctr" bIns="0" lIns="0" spcFirstLastPara="1" rIns="76200" wrap="square" tIns="76200">
            <a:noAutofit/>
          </a:bodyPr>
          <a:lstStyle/>
          <a:p>
            <a:pPr indent="0" lvl="0" marL="0" marR="0" rtl="0" algn="r">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Summary</a:t>
            </a:r>
            <a:endParaRPr b="0" i="0" sz="1000" u="none" cap="none" strike="noStrike">
              <a:solidFill>
                <a:schemeClr val="dk1"/>
              </a:solidFill>
              <a:latin typeface="Calibri"/>
              <a:ea typeface="Calibri"/>
              <a:cs typeface="Calibri"/>
              <a:sym typeface="Calibri"/>
            </a:endParaRPr>
          </a:p>
        </p:txBody>
      </p:sp>
      <p:sp>
        <p:nvSpPr>
          <p:cNvPr id="799" name="Google Shape;799;p31"/>
          <p:cNvSpPr/>
          <p:nvPr/>
        </p:nvSpPr>
        <p:spPr>
          <a:xfrm>
            <a:off x="0" y="4960620"/>
            <a:ext cx="9144000" cy="18288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31"/>
          <p:cNvSpPr/>
          <p:nvPr/>
        </p:nvSpPr>
        <p:spPr>
          <a:xfrm>
            <a:off x="365760" y="4956048"/>
            <a:ext cx="841248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00"/>
              <a:buFont typeface="Calibri"/>
              <a:buNone/>
            </a:pPr>
            <a:r>
              <a:rPr b="0" i="0" lang="en-US" sz="900" u="none" cap="none" strike="noStrike">
                <a:solidFill>
                  <a:srgbClr val="ECF0F1"/>
                </a:solidFill>
                <a:latin typeface="Calibri"/>
                <a:ea typeface="Calibri"/>
                <a:cs typeface="Calibri"/>
                <a:sym typeface="Calibri"/>
              </a:rPr>
              <a:t>Taming the JVM: Java Optimization on OpenShift</a:t>
            </a:r>
            <a:endParaRPr b="0" i="0" sz="900" u="none" cap="none" strike="noStrike">
              <a:solidFill>
                <a:schemeClr val="dk1"/>
              </a:solidFill>
              <a:latin typeface="Calibri"/>
              <a:ea typeface="Calibri"/>
              <a:cs typeface="Calibri"/>
              <a:sym typeface="Calibri"/>
            </a:endParaRPr>
          </a:p>
        </p:txBody>
      </p:sp>
      <p:sp>
        <p:nvSpPr>
          <p:cNvPr id="801" name="Google Shape;801;p31"/>
          <p:cNvSpPr/>
          <p:nvPr/>
        </p:nvSpPr>
        <p:spPr>
          <a:xfrm>
            <a:off x="320040" y="822960"/>
            <a:ext cx="8503920" cy="521208"/>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31"/>
          <p:cNvSpPr/>
          <p:nvPr/>
        </p:nvSpPr>
        <p:spPr>
          <a:xfrm>
            <a:off x="347472" y="909828"/>
            <a:ext cx="347472" cy="347472"/>
          </a:xfrm>
          <a:prstGeom prst="ellipse">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31"/>
          <p:cNvSpPr/>
          <p:nvPr/>
        </p:nvSpPr>
        <p:spPr>
          <a:xfrm>
            <a:off x="347472" y="909828"/>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804" name="Google Shape;804;p31"/>
          <p:cNvSpPr/>
          <p:nvPr/>
        </p:nvSpPr>
        <p:spPr>
          <a:xfrm>
            <a:off x="822960" y="859536"/>
            <a:ext cx="79095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C"/>
              </a:buClr>
              <a:buSzPts val="1150"/>
              <a:buFont typeface="Calibri"/>
              <a:buNone/>
            </a:pPr>
            <a:r>
              <a:rPr b="0" i="0" lang="en-US" sz="1150" u="none" cap="none" strike="noStrike">
                <a:solidFill>
                  <a:srgbClr val="1A2B3C"/>
                </a:solidFill>
                <a:latin typeface="Calibri"/>
                <a:ea typeface="Calibri"/>
                <a:cs typeface="Calibri"/>
                <a:sym typeface="Calibri"/>
              </a:rPr>
              <a:t>Always enable UseContainerSupport + MaxRAMPercentage — hardcoded -Xmx is a container anti-pattern</a:t>
            </a:r>
            <a:endParaRPr b="0" i="0" sz="1150" u="none" cap="none" strike="noStrike">
              <a:solidFill>
                <a:schemeClr val="dk1"/>
              </a:solidFill>
              <a:latin typeface="Calibri"/>
              <a:ea typeface="Calibri"/>
              <a:cs typeface="Calibri"/>
              <a:sym typeface="Calibri"/>
            </a:endParaRPr>
          </a:p>
        </p:txBody>
      </p:sp>
      <p:sp>
        <p:nvSpPr>
          <p:cNvPr id="805" name="Google Shape;805;p31"/>
          <p:cNvSpPr/>
          <p:nvPr/>
        </p:nvSpPr>
        <p:spPr>
          <a:xfrm>
            <a:off x="320040" y="1417320"/>
            <a:ext cx="8503920" cy="521208"/>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31"/>
          <p:cNvSpPr/>
          <p:nvPr/>
        </p:nvSpPr>
        <p:spPr>
          <a:xfrm>
            <a:off x="347472" y="1504188"/>
            <a:ext cx="347472" cy="347472"/>
          </a:xfrm>
          <a:prstGeom prst="ellipse">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31"/>
          <p:cNvSpPr/>
          <p:nvPr/>
        </p:nvSpPr>
        <p:spPr>
          <a:xfrm>
            <a:off x="347472" y="1504188"/>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808" name="Google Shape;808;p31"/>
          <p:cNvSpPr/>
          <p:nvPr/>
        </p:nvSpPr>
        <p:spPr>
          <a:xfrm>
            <a:off x="822960" y="1453896"/>
            <a:ext cx="79095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C"/>
              </a:buClr>
              <a:buSzPts val="1150"/>
              <a:buFont typeface="Calibri"/>
              <a:buNone/>
            </a:pPr>
            <a:r>
              <a:rPr b="0" i="0" lang="en-US" sz="1150" u="none" cap="none" strike="noStrike">
                <a:solidFill>
                  <a:srgbClr val="1A2B3C"/>
                </a:solidFill>
                <a:latin typeface="Calibri"/>
                <a:ea typeface="Calibri"/>
                <a:cs typeface="Calibri"/>
                <a:sym typeface="Calibri"/>
              </a:rPr>
              <a:t>Right-size first, then tune — measure RSS + off-heap before setting resource requests and limits</a:t>
            </a:r>
            <a:endParaRPr b="0" i="0" sz="1150" u="none" cap="none" strike="noStrike">
              <a:solidFill>
                <a:schemeClr val="dk1"/>
              </a:solidFill>
              <a:latin typeface="Calibri"/>
              <a:ea typeface="Calibri"/>
              <a:cs typeface="Calibri"/>
              <a:sym typeface="Calibri"/>
            </a:endParaRPr>
          </a:p>
        </p:txBody>
      </p:sp>
      <p:sp>
        <p:nvSpPr>
          <p:cNvPr id="809" name="Google Shape;809;p31"/>
          <p:cNvSpPr/>
          <p:nvPr/>
        </p:nvSpPr>
        <p:spPr>
          <a:xfrm>
            <a:off x="320040" y="2011680"/>
            <a:ext cx="8503920" cy="521208"/>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31"/>
          <p:cNvSpPr/>
          <p:nvPr/>
        </p:nvSpPr>
        <p:spPr>
          <a:xfrm>
            <a:off x="347472" y="2098548"/>
            <a:ext cx="347472" cy="347472"/>
          </a:xfrm>
          <a:prstGeom prst="ellipse">
            <a:avLst/>
          </a:prstGeom>
          <a:solidFill>
            <a:srgbClr val="F5A6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31"/>
          <p:cNvSpPr/>
          <p:nvPr/>
        </p:nvSpPr>
        <p:spPr>
          <a:xfrm>
            <a:off x="347472" y="2098548"/>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812" name="Google Shape;812;p31"/>
          <p:cNvSpPr/>
          <p:nvPr/>
        </p:nvSpPr>
        <p:spPr>
          <a:xfrm>
            <a:off x="822960" y="2048256"/>
            <a:ext cx="79095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C"/>
              </a:buClr>
              <a:buSzPts val="1150"/>
              <a:buFont typeface="Calibri"/>
              <a:buNone/>
            </a:pPr>
            <a:r>
              <a:rPr b="0" i="0" lang="en-US" sz="1150" u="none" cap="none" strike="noStrike">
                <a:solidFill>
                  <a:srgbClr val="1A2B3C"/>
                </a:solidFill>
                <a:latin typeface="Calibri"/>
                <a:ea typeface="Calibri"/>
                <a:cs typeface="Calibri"/>
                <a:sym typeface="Calibri"/>
              </a:rPr>
              <a:t>Match GC to workload — G1GC for general use, ZGC/Shenandoah for latency-sensitive APIs</a:t>
            </a:r>
            <a:endParaRPr b="0" i="0" sz="1150" u="none" cap="none" strike="noStrike">
              <a:solidFill>
                <a:schemeClr val="dk1"/>
              </a:solidFill>
              <a:latin typeface="Calibri"/>
              <a:ea typeface="Calibri"/>
              <a:cs typeface="Calibri"/>
              <a:sym typeface="Calibri"/>
            </a:endParaRPr>
          </a:p>
        </p:txBody>
      </p:sp>
      <p:sp>
        <p:nvSpPr>
          <p:cNvPr id="813" name="Google Shape;813;p31"/>
          <p:cNvSpPr/>
          <p:nvPr/>
        </p:nvSpPr>
        <p:spPr>
          <a:xfrm>
            <a:off x="320040" y="2606040"/>
            <a:ext cx="8503920" cy="521208"/>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31"/>
          <p:cNvSpPr/>
          <p:nvPr/>
        </p:nvSpPr>
        <p:spPr>
          <a:xfrm>
            <a:off x="347472" y="2692908"/>
            <a:ext cx="347472" cy="347472"/>
          </a:xfrm>
          <a:prstGeom prst="ellipse">
            <a:avLst/>
          </a:prstGeom>
          <a:solidFill>
            <a:srgbClr val="27AE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31"/>
          <p:cNvSpPr/>
          <p:nvPr/>
        </p:nvSpPr>
        <p:spPr>
          <a:xfrm>
            <a:off x="347472" y="2692908"/>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816" name="Google Shape;816;p31"/>
          <p:cNvSpPr/>
          <p:nvPr/>
        </p:nvSpPr>
        <p:spPr>
          <a:xfrm>
            <a:off x="822960" y="2642616"/>
            <a:ext cx="79095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C"/>
              </a:buClr>
              <a:buSzPts val="1150"/>
              <a:buFont typeface="Calibri"/>
              <a:buNone/>
            </a:pPr>
            <a:r>
              <a:rPr b="0" i="0" lang="en-US" sz="1150" u="none" cap="none" strike="noStrike">
                <a:solidFill>
                  <a:srgbClr val="1A2B3C"/>
                </a:solidFill>
                <a:latin typeface="Calibri"/>
                <a:ea typeface="Calibri"/>
                <a:cs typeface="Calibri"/>
                <a:sym typeface="Calibri"/>
              </a:rPr>
              <a:t>Quarkus AppCDS: one property — quarkus.package.jar.aot.enabled=true. Quarkus baseline is already 5-10x faster than Spring Boot</a:t>
            </a:r>
            <a:endParaRPr b="0" i="0" sz="1150" u="none" cap="none" strike="noStrike">
              <a:solidFill>
                <a:schemeClr val="dk1"/>
              </a:solidFill>
              <a:latin typeface="Calibri"/>
              <a:ea typeface="Calibri"/>
              <a:cs typeface="Calibri"/>
              <a:sym typeface="Calibri"/>
            </a:endParaRPr>
          </a:p>
        </p:txBody>
      </p:sp>
      <p:sp>
        <p:nvSpPr>
          <p:cNvPr id="817" name="Google Shape;817;p31"/>
          <p:cNvSpPr/>
          <p:nvPr/>
        </p:nvSpPr>
        <p:spPr>
          <a:xfrm>
            <a:off x="320040" y="3200400"/>
            <a:ext cx="8503920" cy="521208"/>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31"/>
          <p:cNvSpPr/>
          <p:nvPr/>
        </p:nvSpPr>
        <p:spPr>
          <a:xfrm>
            <a:off x="347472" y="3287268"/>
            <a:ext cx="347472" cy="347472"/>
          </a:xfrm>
          <a:prstGeom prst="ellipse">
            <a:avLst/>
          </a:prstGeom>
          <a:solidFill>
            <a:srgbClr val="E848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31"/>
          <p:cNvSpPr/>
          <p:nvPr/>
        </p:nvSpPr>
        <p:spPr>
          <a:xfrm>
            <a:off x="347472" y="3287268"/>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5</a:t>
            </a:r>
            <a:endParaRPr b="0" i="0" sz="1300" u="none" cap="none" strike="noStrike">
              <a:solidFill>
                <a:schemeClr val="dk1"/>
              </a:solidFill>
              <a:latin typeface="Calibri"/>
              <a:ea typeface="Calibri"/>
              <a:cs typeface="Calibri"/>
              <a:sym typeface="Calibri"/>
            </a:endParaRPr>
          </a:p>
        </p:txBody>
      </p:sp>
      <p:sp>
        <p:nvSpPr>
          <p:cNvPr id="820" name="Google Shape;820;p31"/>
          <p:cNvSpPr/>
          <p:nvPr/>
        </p:nvSpPr>
        <p:spPr>
          <a:xfrm>
            <a:off x="822960" y="3236976"/>
            <a:ext cx="79095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C"/>
              </a:buClr>
              <a:buSzPts val="1150"/>
              <a:buFont typeface="Calibri"/>
              <a:buNone/>
            </a:pPr>
            <a:r>
              <a:rPr b="0" i="0" lang="en-US" sz="1150" u="none" cap="none" strike="noStrike">
                <a:solidFill>
                  <a:srgbClr val="1A2B3C"/>
                </a:solidFill>
                <a:latin typeface="Calibri"/>
                <a:ea typeface="Calibri"/>
                <a:cs typeface="Calibri"/>
                <a:sym typeface="Calibri"/>
              </a:rPr>
              <a:t>Observe before you tune — JFR + Cryostat + Prometheus gives you data to validate every change</a:t>
            </a:r>
            <a:endParaRPr b="0" i="0" sz="1150" u="none" cap="none" strike="noStrike">
              <a:solidFill>
                <a:schemeClr val="dk1"/>
              </a:solidFill>
              <a:latin typeface="Calibri"/>
              <a:ea typeface="Calibri"/>
              <a:cs typeface="Calibri"/>
              <a:sym typeface="Calibri"/>
            </a:endParaRPr>
          </a:p>
        </p:txBody>
      </p:sp>
      <p:sp>
        <p:nvSpPr>
          <p:cNvPr id="821" name="Google Shape;821;p31"/>
          <p:cNvSpPr/>
          <p:nvPr/>
        </p:nvSpPr>
        <p:spPr>
          <a:xfrm>
            <a:off x="320040" y="3794760"/>
            <a:ext cx="8503920" cy="521208"/>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31"/>
          <p:cNvSpPr/>
          <p:nvPr/>
        </p:nvSpPr>
        <p:spPr>
          <a:xfrm>
            <a:off x="347472" y="3881628"/>
            <a:ext cx="347472" cy="347472"/>
          </a:xfrm>
          <a:prstGeom prst="ellipse">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31"/>
          <p:cNvSpPr/>
          <p:nvPr/>
        </p:nvSpPr>
        <p:spPr>
          <a:xfrm>
            <a:off x="347472" y="3881628"/>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6</a:t>
            </a:r>
            <a:endParaRPr b="0" i="0" sz="1300" u="none" cap="none" strike="noStrike">
              <a:solidFill>
                <a:schemeClr val="dk1"/>
              </a:solidFill>
              <a:latin typeface="Calibri"/>
              <a:ea typeface="Calibri"/>
              <a:cs typeface="Calibri"/>
              <a:sym typeface="Calibri"/>
            </a:endParaRPr>
          </a:p>
        </p:txBody>
      </p:sp>
      <p:sp>
        <p:nvSpPr>
          <p:cNvPr id="824" name="Google Shape;824;p31"/>
          <p:cNvSpPr/>
          <p:nvPr/>
        </p:nvSpPr>
        <p:spPr>
          <a:xfrm>
            <a:off x="822960" y="3831336"/>
            <a:ext cx="79095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C"/>
              </a:buClr>
              <a:buSzPts val="1150"/>
              <a:buFont typeface="Calibri"/>
              <a:buNone/>
            </a:pPr>
            <a:r>
              <a:rPr b="0" i="0" lang="en-US" sz="1150" u="none" cap="none" strike="noStrike">
                <a:solidFill>
                  <a:srgbClr val="1A2B3C"/>
                </a:solidFill>
                <a:latin typeface="Calibri"/>
                <a:ea typeface="Calibri"/>
                <a:cs typeface="Calibri"/>
                <a:sym typeface="Calibri"/>
              </a:rPr>
              <a:t>Autoscale on RPS not CPU — GC pauses mislead HPA. Quarkus: @RunOnVirtualThread on resource methods</a:t>
            </a:r>
            <a:endParaRPr b="0" i="0" sz="1150" u="none" cap="none" strike="noStrike">
              <a:solidFill>
                <a:schemeClr val="dk1"/>
              </a:solidFill>
              <a:latin typeface="Calibri"/>
              <a:ea typeface="Calibri"/>
              <a:cs typeface="Calibri"/>
              <a:sym typeface="Calibri"/>
            </a:endParaRPr>
          </a:p>
        </p:txBody>
      </p:sp>
      <p:sp>
        <p:nvSpPr>
          <p:cNvPr id="825" name="Google Shape;825;p31"/>
          <p:cNvSpPr/>
          <p:nvPr/>
        </p:nvSpPr>
        <p:spPr>
          <a:xfrm>
            <a:off x="320040" y="4389120"/>
            <a:ext cx="8503920" cy="521208"/>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31"/>
          <p:cNvSpPr/>
          <p:nvPr/>
        </p:nvSpPr>
        <p:spPr>
          <a:xfrm>
            <a:off x="347472" y="4475988"/>
            <a:ext cx="347472" cy="347472"/>
          </a:xfrm>
          <a:prstGeom prst="ellipse">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31"/>
          <p:cNvSpPr/>
          <p:nvPr/>
        </p:nvSpPr>
        <p:spPr>
          <a:xfrm>
            <a:off x="347472" y="4475988"/>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7</a:t>
            </a:r>
            <a:endParaRPr b="0" i="0" sz="1300" u="none" cap="none" strike="noStrike">
              <a:solidFill>
                <a:schemeClr val="dk1"/>
              </a:solidFill>
              <a:latin typeface="Calibri"/>
              <a:ea typeface="Calibri"/>
              <a:cs typeface="Calibri"/>
              <a:sym typeface="Calibri"/>
            </a:endParaRPr>
          </a:p>
        </p:txBody>
      </p:sp>
      <p:sp>
        <p:nvSpPr>
          <p:cNvPr id="828" name="Google Shape;828;p31"/>
          <p:cNvSpPr/>
          <p:nvPr/>
        </p:nvSpPr>
        <p:spPr>
          <a:xfrm>
            <a:off x="822960" y="4425696"/>
            <a:ext cx="79095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C"/>
              </a:buClr>
              <a:buSzPts val="1150"/>
              <a:buFont typeface="Calibri"/>
              <a:buNone/>
            </a:pPr>
            <a:r>
              <a:rPr b="0" i="0" lang="en-US" sz="1150" u="none" cap="none" strike="noStrike">
                <a:solidFill>
                  <a:srgbClr val="1A2B3C"/>
                </a:solidFill>
                <a:latin typeface="Calibri"/>
                <a:ea typeface="Calibri"/>
                <a:cs typeface="Calibri"/>
                <a:sym typeface="Calibri"/>
              </a:rPr>
              <a:t>Quantify savings — track cost per namespace before/after to show business value from engineering work</a:t>
            </a:r>
            <a:endParaRPr b="0" i="0" sz="1150" u="none" cap="none" strike="noStrike">
              <a:solidFill>
                <a:schemeClr val="dk1"/>
              </a:solidFill>
              <a:latin typeface="Calibri"/>
              <a:ea typeface="Calibri"/>
              <a:cs typeface="Calibri"/>
              <a:sym typeface="Calibri"/>
            </a:endParaRPr>
          </a:p>
        </p:txBody>
      </p:sp>
      <p:sp>
        <p:nvSpPr>
          <p:cNvPr id="829" name="Google Shape;829;p3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834" name="Shape 834"/>
        <p:cNvGrpSpPr/>
        <p:nvPr/>
      </p:nvGrpSpPr>
      <p:grpSpPr>
        <a:xfrm>
          <a:off x="0" y="0"/>
          <a:ext cx="0" cy="0"/>
          <a:chOff x="0" y="0"/>
          <a:chExt cx="0" cy="0"/>
        </a:xfrm>
      </p:grpSpPr>
      <p:sp>
        <p:nvSpPr>
          <p:cNvPr id="835" name="Google Shape;835;p32"/>
          <p:cNvSpPr/>
          <p:nvPr/>
        </p:nvSpPr>
        <p:spPr>
          <a:xfrm>
            <a:off x="0" y="0"/>
            <a:ext cx="9144000" cy="109728"/>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32"/>
          <p:cNvSpPr/>
          <p:nvPr/>
        </p:nvSpPr>
        <p:spPr>
          <a:xfrm>
            <a:off x="0" y="5033772"/>
            <a:ext cx="9144000" cy="109728"/>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32"/>
          <p:cNvSpPr/>
          <p:nvPr/>
        </p:nvSpPr>
        <p:spPr>
          <a:xfrm>
            <a:off x="457200" y="22860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3000"/>
              <a:buFont typeface="Calibri"/>
              <a:buNone/>
            </a:pPr>
            <a:r>
              <a:rPr b="1" i="0" lang="en-US" sz="3000" u="none" cap="none" strike="noStrike">
                <a:solidFill>
                  <a:srgbClr val="ECF0F1"/>
                </a:solidFill>
                <a:latin typeface="Calibri"/>
                <a:ea typeface="Calibri"/>
                <a:cs typeface="Calibri"/>
                <a:sym typeface="Calibri"/>
              </a:rPr>
              <a:t>Resources &amp; Q&amp;A</a:t>
            </a:r>
            <a:endParaRPr b="0" i="0" sz="3000" u="none" cap="none" strike="noStrike">
              <a:solidFill>
                <a:schemeClr val="dk1"/>
              </a:solidFill>
              <a:latin typeface="Calibri"/>
              <a:ea typeface="Calibri"/>
              <a:cs typeface="Calibri"/>
              <a:sym typeface="Calibri"/>
            </a:endParaRPr>
          </a:p>
        </p:txBody>
      </p:sp>
      <p:sp>
        <p:nvSpPr>
          <p:cNvPr id="838" name="Google Shape;838;p32"/>
          <p:cNvSpPr/>
          <p:nvPr/>
        </p:nvSpPr>
        <p:spPr>
          <a:xfrm>
            <a:off x="320040" y="914400"/>
            <a:ext cx="4069080" cy="1005840"/>
          </a:xfrm>
          <a:prstGeom prst="rect">
            <a:avLst/>
          </a:prstGeom>
          <a:solidFill>
            <a:srgbClr val="1E6FC8">
              <a:alpha val="80000"/>
            </a:srgbClr>
          </a:solidFill>
          <a:ln cap="flat" cmpd="sng" w="19050">
            <a:solidFill>
              <a:srgbClr val="1E6F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32"/>
          <p:cNvSpPr/>
          <p:nvPr/>
        </p:nvSpPr>
        <p:spPr>
          <a:xfrm>
            <a:off x="457200" y="960120"/>
            <a:ext cx="3840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  Optimizing Cloud Native Java</a:t>
            </a:r>
            <a:endParaRPr b="0" i="0" sz="1200" u="none" cap="none" strike="noStrike">
              <a:solidFill>
                <a:schemeClr val="dk1"/>
              </a:solidFill>
              <a:latin typeface="Calibri"/>
              <a:ea typeface="Calibri"/>
              <a:cs typeface="Calibri"/>
              <a:sym typeface="Calibri"/>
            </a:endParaRPr>
          </a:p>
        </p:txBody>
      </p:sp>
      <p:sp>
        <p:nvSpPr>
          <p:cNvPr id="840" name="Google Shape;840;p32"/>
          <p:cNvSpPr/>
          <p:nvPr/>
        </p:nvSpPr>
        <p:spPr>
          <a:xfrm>
            <a:off x="457200" y="1389888"/>
            <a:ext cx="3840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000"/>
              <a:buFont typeface="Calibri"/>
              <a:buNone/>
            </a:pPr>
            <a:r>
              <a:rPr b="0" i="0" lang="en-US" sz="1000" u="none" cap="none" strike="noStrike">
                <a:solidFill>
                  <a:schemeClr val="dk1"/>
                </a:solidFill>
                <a:latin typeface="Calibri"/>
                <a:ea typeface="Calibri"/>
                <a:cs typeface="Calibri"/>
                <a:sym typeface="Calibri"/>
              </a:rPr>
              <a:t>Benjamin J. Evans &amp; James Gough  |  O'Reilly 2024 · 2nd ed. · ISBN 9781098149345</a:t>
            </a:r>
            <a:endParaRPr b="0" i="0" sz="1000" u="none" cap="none" strike="noStrike">
              <a:solidFill>
                <a:schemeClr val="dk1"/>
              </a:solidFill>
              <a:latin typeface="Calibri"/>
              <a:ea typeface="Calibri"/>
              <a:cs typeface="Calibri"/>
              <a:sym typeface="Calibri"/>
            </a:endParaRPr>
          </a:p>
        </p:txBody>
      </p:sp>
      <p:sp>
        <p:nvSpPr>
          <p:cNvPr id="841" name="Google Shape;841;p32"/>
          <p:cNvSpPr/>
          <p:nvPr/>
        </p:nvSpPr>
        <p:spPr>
          <a:xfrm>
            <a:off x="4663440" y="914400"/>
            <a:ext cx="4069080" cy="1005840"/>
          </a:xfrm>
          <a:prstGeom prst="rect">
            <a:avLst/>
          </a:prstGeom>
          <a:solidFill>
            <a:srgbClr val="00BCD4">
              <a:alpha val="80000"/>
            </a:srgbClr>
          </a:solidFill>
          <a:ln cap="flat" cmpd="sng" w="1905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32"/>
          <p:cNvSpPr/>
          <p:nvPr/>
        </p:nvSpPr>
        <p:spPr>
          <a:xfrm>
            <a:off x="4800600" y="960120"/>
            <a:ext cx="3840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  SRE with Java Microservices</a:t>
            </a:r>
            <a:endParaRPr b="0" i="0" sz="1200" u="none" cap="none" strike="noStrike">
              <a:solidFill>
                <a:schemeClr val="dk1"/>
              </a:solidFill>
              <a:latin typeface="Calibri"/>
              <a:ea typeface="Calibri"/>
              <a:cs typeface="Calibri"/>
              <a:sym typeface="Calibri"/>
            </a:endParaRPr>
          </a:p>
        </p:txBody>
      </p:sp>
      <p:sp>
        <p:nvSpPr>
          <p:cNvPr id="843" name="Google Shape;843;p32"/>
          <p:cNvSpPr/>
          <p:nvPr/>
        </p:nvSpPr>
        <p:spPr>
          <a:xfrm>
            <a:off x="4800600" y="1389888"/>
            <a:ext cx="3840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000"/>
              <a:buFont typeface="Calibri"/>
              <a:buNone/>
            </a:pPr>
            <a:r>
              <a:rPr b="0" i="0" lang="en-US" sz="1000" u="none" cap="none" strike="noStrike">
                <a:solidFill>
                  <a:schemeClr val="dk1"/>
                </a:solidFill>
                <a:latin typeface="Calibri"/>
                <a:ea typeface="Calibri"/>
                <a:cs typeface="Calibri"/>
                <a:sym typeface="Calibri"/>
              </a:rPr>
              <a:t>Jonathan Schneider  |  O'Reilly 2020 · ISBN 9781492073925</a:t>
            </a:r>
            <a:endParaRPr b="0" i="0" sz="1000" u="none" cap="none" strike="noStrike">
              <a:solidFill>
                <a:schemeClr val="dk1"/>
              </a:solidFill>
              <a:latin typeface="Calibri"/>
              <a:ea typeface="Calibri"/>
              <a:cs typeface="Calibri"/>
              <a:sym typeface="Calibri"/>
            </a:endParaRPr>
          </a:p>
        </p:txBody>
      </p:sp>
      <p:sp>
        <p:nvSpPr>
          <p:cNvPr id="844" name="Google Shape;844;p32"/>
          <p:cNvSpPr/>
          <p:nvPr/>
        </p:nvSpPr>
        <p:spPr>
          <a:xfrm>
            <a:off x="320040" y="2103120"/>
            <a:ext cx="4069080" cy="402336"/>
          </a:xfrm>
          <a:prstGeom prst="rect">
            <a:avLst/>
          </a:prstGeom>
          <a:solidFill>
            <a:srgbClr val="122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32"/>
          <p:cNvSpPr/>
          <p:nvPr/>
        </p:nvSpPr>
        <p:spPr>
          <a:xfrm>
            <a:off x="429768" y="2103120"/>
            <a:ext cx="393192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000"/>
              <a:buFont typeface="Courier New"/>
              <a:buNone/>
            </a:pPr>
            <a:r>
              <a:rPr b="0" i="0" lang="en-US" sz="1000" u="none" cap="none" strike="noStrike">
                <a:solidFill>
                  <a:srgbClr val="00BCD4"/>
                </a:solidFill>
                <a:latin typeface="Courier New"/>
                <a:ea typeface="Courier New"/>
                <a:cs typeface="Courier New"/>
                <a:sym typeface="Courier New"/>
              </a:rPr>
              <a:t>Demo Repo:  github.com/</a:t>
            </a:r>
            <a:r>
              <a:rPr lang="en-US" sz="1000">
                <a:solidFill>
                  <a:srgbClr val="00BCD4"/>
                </a:solidFill>
                <a:latin typeface="Courier New"/>
                <a:ea typeface="Courier New"/>
                <a:cs typeface="Courier New"/>
                <a:sym typeface="Courier New"/>
              </a:rPr>
              <a:t>patterncatalyst</a:t>
            </a:r>
            <a:r>
              <a:rPr b="0" i="0" lang="en-US" sz="1000" u="none" cap="none" strike="noStrike">
                <a:solidFill>
                  <a:srgbClr val="00BCD4"/>
                </a:solidFill>
                <a:latin typeface="Courier New"/>
                <a:ea typeface="Courier New"/>
                <a:cs typeface="Courier New"/>
                <a:sym typeface="Courier New"/>
              </a:rPr>
              <a:t>/</a:t>
            </a:r>
            <a:r>
              <a:rPr lang="en-US" sz="1000">
                <a:solidFill>
                  <a:srgbClr val="00BCD4"/>
                </a:solidFill>
                <a:latin typeface="Courier New"/>
                <a:ea typeface="Courier New"/>
                <a:cs typeface="Courier New"/>
                <a:sym typeface="Courier New"/>
              </a:rPr>
              <a:t>quarkus-</a:t>
            </a:r>
            <a:r>
              <a:rPr b="0" i="0" lang="en-US" sz="1000" u="none" cap="none" strike="noStrike">
                <a:solidFill>
                  <a:srgbClr val="00BCD4"/>
                </a:solidFill>
                <a:latin typeface="Courier New"/>
                <a:ea typeface="Courier New"/>
                <a:cs typeface="Courier New"/>
                <a:sym typeface="Courier New"/>
              </a:rPr>
              <a:t>optimization  (Spring Boot + Quarkus)</a:t>
            </a:r>
            <a:endParaRPr b="0" i="0" sz="1000" u="none" cap="none" strike="noStrike">
              <a:solidFill>
                <a:schemeClr val="dk1"/>
              </a:solidFill>
              <a:latin typeface="Calibri"/>
              <a:ea typeface="Calibri"/>
              <a:cs typeface="Calibri"/>
              <a:sym typeface="Calibri"/>
            </a:endParaRPr>
          </a:p>
        </p:txBody>
      </p:sp>
      <p:sp>
        <p:nvSpPr>
          <p:cNvPr id="846" name="Google Shape;846;p32"/>
          <p:cNvSpPr/>
          <p:nvPr/>
        </p:nvSpPr>
        <p:spPr>
          <a:xfrm>
            <a:off x="4663440" y="2103120"/>
            <a:ext cx="4069080" cy="402336"/>
          </a:xfrm>
          <a:prstGeom prst="rect">
            <a:avLst/>
          </a:prstGeom>
          <a:solidFill>
            <a:srgbClr val="122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32"/>
          <p:cNvSpPr/>
          <p:nvPr/>
        </p:nvSpPr>
        <p:spPr>
          <a:xfrm>
            <a:off x="4773168" y="2103120"/>
            <a:ext cx="393192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000"/>
              <a:buFont typeface="Courier New"/>
              <a:buNone/>
            </a:pPr>
            <a:r>
              <a:rPr b="0" i="0" lang="en-US" sz="1000" u="none" cap="none" strike="noStrike">
                <a:solidFill>
                  <a:srgbClr val="00BCD4"/>
                </a:solidFill>
                <a:latin typeface="Courier New"/>
                <a:ea typeface="Courier New"/>
                <a:cs typeface="Courier New"/>
                <a:sym typeface="Courier New"/>
              </a:rPr>
              <a:t>Quarkus 3.33 LTS:  quarkus.io/blog/quarkus-3-33-released/  |  quarkus.io/guides/aot</a:t>
            </a:r>
            <a:endParaRPr b="0" i="0" sz="1000" u="none" cap="none" strike="noStrike">
              <a:solidFill>
                <a:schemeClr val="dk1"/>
              </a:solidFill>
              <a:latin typeface="Calibri"/>
              <a:ea typeface="Calibri"/>
              <a:cs typeface="Calibri"/>
              <a:sym typeface="Calibri"/>
            </a:endParaRPr>
          </a:p>
        </p:txBody>
      </p:sp>
      <p:sp>
        <p:nvSpPr>
          <p:cNvPr id="848" name="Google Shape;848;p32"/>
          <p:cNvSpPr/>
          <p:nvPr/>
        </p:nvSpPr>
        <p:spPr>
          <a:xfrm>
            <a:off x="320040" y="2578608"/>
            <a:ext cx="4069080" cy="402336"/>
          </a:xfrm>
          <a:prstGeom prst="rect">
            <a:avLst/>
          </a:prstGeom>
          <a:solidFill>
            <a:srgbClr val="122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32"/>
          <p:cNvSpPr/>
          <p:nvPr/>
        </p:nvSpPr>
        <p:spPr>
          <a:xfrm>
            <a:off x="429768" y="2578608"/>
            <a:ext cx="393192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000"/>
              <a:buFont typeface="Courier New"/>
              <a:buNone/>
            </a:pPr>
            <a:r>
              <a:rPr b="0" i="0" lang="en-US" sz="1000" u="none" cap="none" strike="noStrike">
                <a:solidFill>
                  <a:srgbClr val="00BCD4"/>
                </a:solidFill>
                <a:latin typeface="Courier New"/>
                <a:ea typeface="Courier New"/>
                <a:cs typeface="Courier New"/>
                <a:sym typeface="Courier New"/>
              </a:rPr>
              <a:t>JVM Tuning Guide:  access.redhat.com/articles/2988411</a:t>
            </a:r>
            <a:endParaRPr b="0" i="0" sz="1000" u="none" cap="none" strike="noStrike">
              <a:solidFill>
                <a:schemeClr val="dk1"/>
              </a:solidFill>
              <a:latin typeface="Calibri"/>
              <a:ea typeface="Calibri"/>
              <a:cs typeface="Calibri"/>
              <a:sym typeface="Calibri"/>
            </a:endParaRPr>
          </a:p>
        </p:txBody>
      </p:sp>
      <p:sp>
        <p:nvSpPr>
          <p:cNvPr id="850" name="Google Shape;850;p32"/>
          <p:cNvSpPr/>
          <p:nvPr/>
        </p:nvSpPr>
        <p:spPr>
          <a:xfrm>
            <a:off x="4663440" y="2578608"/>
            <a:ext cx="4069080" cy="402336"/>
          </a:xfrm>
          <a:prstGeom prst="rect">
            <a:avLst/>
          </a:prstGeom>
          <a:solidFill>
            <a:srgbClr val="122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32"/>
          <p:cNvSpPr/>
          <p:nvPr/>
        </p:nvSpPr>
        <p:spPr>
          <a:xfrm>
            <a:off x="4773168" y="2578608"/>
            <a:ext cx="393192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000"/>
              <a:buFont typeface="Courier New"/>
              <a:buNone/>
            </a:pPr>
            <a:r>
              <a:rPr b="0" i="0" lang="en-US" sz="1000" u="none" cap="none" strike="noStrike">
                <a:solidFill>
                  <a:srgbClr val="00BCD4"/>
                </a:solidFill>
                <a:latin typeface="Courier New"/>
                <a:ea typeface="Courier New"/>
                <a:cs typeface="Courier New"/>
                <a:sym typeface="Courier New"/>
              </a:rPr>
              <a:t>Grafana JVM:  grafana.com/grafana/dashboards/4701  (Quarkus Micrometer: /q/metrics)</a:t>
            </a:r>
            <a:endParaRPr b="0" i="0" sz="1000" u="none" cap="none" strike="noStrike">
              <a:solidFill>
                <a:schemeClr val="dk1"/>
              </a:solidFill>
              <a:latin typeface="Calibri"/>
              <a:ea typeface="Calibri"/>
              <a:cs typeface="Calibri"/>
              <a:sym typeface="Calibri"/>
            </a:endParaRPr>
          </a:p>
        </p:txBody>
      </p:sp>
      <p:sp>
        <p:nvSpPr>
          <p:cNvPr id="852" name="Google Shape;852;p32"/>
          <p:cNvSpPr/>
          <p:nvPr/>
        </p:nvSpPr>
        <p:spPr>
          <a:xfrm>
            <a:off x="320040" y="3054096"/>
            <a:ext cx="4069080" cy="402336"/>
          </a:xfrm>
          <a:prstGeom prst="rect">
            <a:avLst/>
          </a:prstGeom>
          <a:solidFill>
            <a:srgbClr val="122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32"/>
          <p:cNvSpPr/>
          <p:nvPr/>
        </p:nvSpPr>
        <p:spPr>
          <a:xfrm>
            <a:off x="429768" y="3054096"/>
            <a:ext cx="393192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000"/>
              <a:buFont typeface="Courier New"/>
              <a:buNone/>
            </a:pPr>
            <a:r>
              <a:rPr b="0" i="0" lang="en-US" sz="1000" u="none" cap="none" strike="noStrike">
                <a:solidFill>
                  <a:srgbClr val="00BCD4"/>
                </a:solidFill>
                <a:latin typeface="Courier New"/>
                <a:ea typeface="Courier New"/>
                <a:cs typeface="Courier New"/>
                <a:sym typeface="Courier New"/>
              </a:rPr>
              <a:t>Quarkus VT:  quarkus.io/guides/virtual-threads  (@RunOnVirtualThread — JEP 444)</a:t>
            </a:r>
            <a:endParaRPr b="0" i="0" sz="1000" u="none" cap="none" strike="noStrike">
              <a:solidFill>
                <a:schemeClr val="dk1"/>
              </a:solidFill>
              <a:latin typeface="Calibri"/>
              <a:ea typeface="Calibri"/>
              <a:cs typeface="Calibri"/>
              <a:sym typeface="Calibri"/>
            </a:endParaRPr>
          </a:p>
        </p:txBody>
      </p:sp>
      <p:sp>
        <p:nvSpPr>
          <p:cNvPr id="854" name="Google Shape;854;p32"/>
          <p:cNvSpPr/>
          <p:nvPr/>
        </p:nvSpPr>
        <p:spPr>
          <a:xfrm>
            <a:off x="4663440" y="3054096"/>
            <a:ext cx="4069080" cy="402336"/>
          </a:xfrm>
          <a:prstGeom prst="rect">
            <a:avLst/>
          </a:prstGeom>
          <a:solidFill>
            <a:srgbClr val="122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32"/>
          <p:cNvSpPr/>
          <p:nvPr/>
        </p:nvSpPr>
        <p:spPr>
          <a:xfrm>
            <a:off x="4773168" y="3054096"/>
            <a:ext cx="393192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000"/>
              <a:buFont typeface="Courier New"/>
              <a:buNone/>
            </a:pPr>
            <a:r>
              <a:rPr b="0" i="0" lang="en-US" sz="1000" u="none" cap="none" strike="noStrike">
                <a:solidFill>
                  <a:srgbClr val="00BCD4"/>
                </a:solidFill>
                <a:latin typeface="Courier New"/>
                <a:ea typeface="Courier New"/>
                <a:cs typeface="Courier New"/>
                <a:sym typeface="Courier New"/>
              </a:rPr>
              <a:t>Quarkus OTel:  quarkus.io/guides/telemetry-micrometer-to-opentelemetry  (Grafana LGTM stack)</a:t>
            </a:r>
            <a:endParaRPr b="0" i="0" sz="1000" u="none" cap="none" strike="noStrike">
              <a:solidFill>
                <a:schemeClr val="dk1"/>
              </a:solidFill>
              <a:latin typeface="Calibri"/>
              <a:ea typeface="Calibri"/>
              <a:cs typeface="Calibri"/>
              <a:sym typeface="Calibri"/>
            </a:endParaRPr>
          </a:p>
        </p:txBody>
      </p:sp>
      <p:sp>
        <p:nvSpPr>
          <p:cNvPr id="856" name="Google Shape;856;p32"/>
          <p:cNvSpPr/>
          <p:nvPr/>
        </p:nvSpPr>
        <p:spPr>
          <a:xfrm>
            <a:off x="457200" y="3794760"/>
            <a:ext cx="3657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3800"/>
              <a:buFont typeface="Calibri"/>
              <a:buNone/>
            </a:pPr>
            <a:r>
              <a:rPr b="1" i="0" lang="en-US" sz="3800" u="none" cap="none" strike="noStrike">
                <a:solidFill>
                  <a:srgbClr val="00BCD4"/>
                </a:solidFill>
                <a:latin typeface="Calibri"/>
                <a:ea typeface="Calibri"/>
                <a:cs typeface="Calibri"/>
                <a:sym typeface="Calibri"/>
              </a:rPr>
              <a:t>Questions?</a:t>
            </a:r>
            <a:endParaRPr b="0" i="0" sz="3800" u="none" cap="none" strike="noStrike">
              <a:solidFill>
                <a:schemeClr val="dk1"/>
              </a:solidFill>
              <a:latin typeface="Calibri"/>
              <a:ea typeface="Calibri"/>
              <a:cs typeface="Calibri"/>
              <a:sym typeface="Calibri"/>
            </a:endParaRPr>
          </a:p>
        </p:txBody>
      </p:sp>
      <p:sp>
        <p:nvSpPr>
          <p:cNvPr id="857" name="Google Shape;857;p32"/>
          <p:cNvSpPr/>
          <p:nvPr/>
        </p:nvSpPr>
        <p:spPr>
          <a:xfrm>
            <a:off x="457200" y="4462272"/>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200"/>
              <a:buFont typeface="Calibri"/>
              <a:buNone/>
            </a:pPr>
            <a:r>
              <a:rPr b="0" i="0" lang="en-US" sz="1200" u="none" cap="none" strike="noStrike">
                <a:solidFill>
                  <a:srgbClr val="90A4AE"/>
                </a:solidFill>
                <a:latin typeface="Calibri"/>
                <a:ea typeface="Calibri"/>
                <a:cs typeface="Calibri"/>
                <a:sym typeface="Calibri"/>
              </a:rPr>
              <a:t>Slides + demos available at the GitHub repo above.</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0A4AE"/>
              </a:buClr>
              <a:buSzPts val="1200"/>
              <a:buFont typeface="Calibri"/>
              <a:buNone/>
            </a:pPr>
            <a:r>
              <a:rPr b="0" i="0" lang="en-US" sz="1200" u="none" cap="none" strike="noStrike">
                <a:solidFill>
                  <a:srgbClr val="90A4AE"/>
                </a:solidFill>
                <a:latin typeface="Calibri"/>
                <a:ea typeface="Calibri"/>
                <a:cs typeface="Calibri"/>
                <a:sym typeface="Calibri"/>
              </a:rPr>
              <a:t>Feedback &amp; PRs welcome!</a:t>
            </a:r>
            <a:endParaRPr b="0" i="0" sz="1200" u="none" cap="none" strike="noStrike">
              <a:solidFill>
                <a:schemeClr val="dk1"/>
              </a:solidFill>
              <a:latin typeface="Calibri"/>
              <a:ea typeface="Calibri"/>
              <a:cs typeface="Calibri"/>
              <a:sym typeface="Calibri"/>
            </a:endParaRPr>
          </a:p>
        </p:txBody>
      </p:sp>
      <p:sp>
        <p:nvSpPr>
          <p:cNvPr id="858" name="Google Shape;858;p32"/>
          <p:cNvSpPr/>
          <p:nvPr/>
        </p:nvSpPr>
        <p:spPr>
          <a:xfrm>
            <a:off x="6583680" y="3200400"/>
            <a:ext cx="2926080" cy="2926080"/>
          </a:xfrm>
          <a:prstGeom prst="ellipse">
            <a:avLst/>
          </a:prstGeom>
          <a:solidFill>
            <a:srgbClr val="00BCD4">
              <a:alpha val="10196"/>
            </a:srgbClr>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32"/>
          <p:cNvSpPr/>
          <p:nvPr/>
        </p:nvSpPr>
        <p:spPr>
          <a:xfrm>
            <a:off x="5943600" y="3657600"/>
            <a:ext cx="301752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BCD4"/>
              </a:buClr>
              <a:buSzPts val="2600"/>
              <a:buFont typeface="Calibri"/>
              <a:buNone/>
            </a:pPr>
            <a:r>
              <a:rPr b="1" i="0" lang="en-US" sz="2600" u="none" cap="none" strike="noStrike">
                <a:solidFill>
                  <a:srgbClr val="00BCD4"/>
                </a:solidFill>
                <a:latin typeface="Calibri"/>
                <a:ea typeface="Calibri"/>
                <a:cs typeface="Calibri"/>
                <a:sym typeface="Calibri"/>
              </a:rPr>
              <a:t>Thank You!</a:t>
            </a:r>
            <a:endParaRPr b="0" i="0" sz="2600" u="none" cap="none" strike="noStrike">
              <a:solidFill>
                <a:schemeClr val="dk1"/>
              </a:solidFill>
              <a:latin typeface="Calibri"/>
              <a:ea typeface="Calibri"/>
              <a:cs typeface="Calibri"/>
              <a:sym typeface="Calibri"/>
            </a:endParaRPr>
          </a:p>
        </p:txBody>
      </p:sp>
      <p:sp>
        <p:nvSpPr>
          <p:cNvPr id="860" name="Google Shape;860;p3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9000" name="Shape 9000"/>
        <p:cNvGrpSpPr/>
        <p:nvPr/>
      </p:nvGrpSpPr>
      <p:grpSpPr>
        <a:xfrm>
          <a:off x="0" y="0"/>
          <a:ext cx="0" cy="0"/>
          <a:chOff x="0" y="0"/>
          <a:chExt cx="0" cy="0"/>
        </a:xfrm>
      </p:grpSpPr>
      <p:sp>
        <p:nvSpPr>
          <p:cNvPr id="9001" name="Google Shape;9001;p57"/>
          <p:cNvSpPr/>
          <p:nvPr/>
        </p:nvSpPr>
        <p:spPr>
          <a:xfrm>
            <a:off x="0" y="0"/>
            <a:ext cx="9144000" cy="64008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2" name="Google Shape;9002;p57"/>
          <p:cNvSpPr/>
          <p:nvPr/>
        </p:nvSpPr>
        <p:spPr>
          <a:xfrm>
            <a:off x="7315200" y="73152"/>
            <a:ext cx="1645920" cy="502920"/>
          </a:xfrm>
          <a:prstGeom prst="rect">
            <a:avLst/>
          </a:prstGeom>
          <a:solidFill>
            <a:srgbClr val="1E6FC8"/>
          </a:solidFill>
          <a:ln>
            <a:noFill/>
          </a:ln>
        </p:spPr>
        <p:txBody>
          <a:bodyPr anchorCtr="0" anchor="ctr" bIns="0" lIns="0" spcFirstLastPara="1" rIns="76200" wrap="square" tIns="76200">
            <a:noAutofit/>
          </a:bodyPr>
          <a:lstStyle/>
          <a:p>
            <a:pPr indent="0" lvl="0" marL="0" marR="0" rtl="0" algn="r">
              <a:spcBef>
                <a:spcPts val="0"/>
              </a:spcBef>
              <a:spcAft>
                <a:spcPts val="0"/>
              </a:spcAft>
              <a:buClr>
                <a:srgbClr val="ECF0F1"/>
              </a:buClr>
              <a:buSzPts val="1000"/>
              <a:buFont typeface="Calibri"/>
              <a:buNone/>
            </a:pPr>
            <a:r>
              <a:rPr lang="en-US" sz="1000">
                <a:solidFill>
                  <a:srgbClr val="ECF0F1"/>
                </a:solidFill>
                <a:latin typeface="Calibri"/>
                <a:ea typeface="Calibri"/>
                <a:cs typeface="Calibri"/>
                <a:sym typeface="Calibri"/>
              </a:rPr>
              <a:t>Appendix</a:t>
            </a:r>
            <a:endParaRPr b="0" i="0" sz="1000" u="none" cap="none" strike="noStrike">
              <a:solidFill>
                <a:schemeClr val="dk1"/>
              </a:solidFill>
              <a:latin typeface="Calibri"/>
              <a:ea typeface="Calibri"/>
              <a:cs typeface="Calibri"/>
              <a:sym typeface="Calibri"/>
            </a:endParaRPr>
          </a:p>
        </p:txBody>
      </p:sp>
      <p:sp>
        <p:nvSpPr>
          <p:cNvPr id="9003" name="Google Shape;9003;p57"/>
          <p:cNvSpPr/>
          <p:nvPr/>
        </p:nvSpPr>
        <p:spPr>
          <a:xfrm>
            <a:off x="0" y="4960620"/>
            <a:ext cx="9144000" cy="18288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4" name="Google Shape;9004;p57"/>
          <p:cNvSpPr/>
          <p:nvPr/>
        </p:nvSpPr>
        <p:spPr>
          <a:xfrm>
            <a:off x="365760" y="4956048"/>
            <a:ext cx="841248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00"/>
              <a:buFont typeface="Calibri"/>
              <a:buNone/>
            </a:pPr>
            <a:r>
              <a:rPr b="0" i="0" lang="en-US" sz="900" u="none" cap="none" strike="noStrike">
                <a:solidFill>
                  <a:srgbClr val="ECF0F1"/>
                </a:solidFill>
                <a:latin typeface="Calibri"/>
                <a:ea typeface="Calibri"/>
                <a:cs typeface="Calibri"/>
                <a:sym typeface="Calibri"/>
              </a:rPr>
              <a:t>Taming the JVM: Java Optimization on OpenShift</a:t>
            </a:r>
            <a:endParaRPr b="0" i="0" sz="900" u="none" cap="none" strike="noStrike">
              <a:solidFill>
                <a:schemeClr val="dk1"/>
              </a:solidFill>
              <a:latin typeface="Calibri"/>
              <a:ea typeface="Calibri"/>
              <a:cs typeface="Calibri"/>
              <a:sym typeface="Calibri"/>
            </a:endParaRPr>
          </a:p>
        </p:txBody>
      </p:sp>
      <p:sp>
        <p:nvSpPr>
          <p:cNvPr id="9005" name="Google Shape;9005;p57"/>
          <p:cNvSpPr/>
          <p:nvPr/>
        </p:nvSpPr>
        <p:spPr>
          <a:xfrm>
            <a:off x="365760" y="1550350"/>
            <a:ext cx="8412480" cy="70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BCD4"/>
              </a:buClr>
              <a:buSzPts val="3600"/>
              <a:buFont typeface="Calibri"/>
              <a:buNone/>
            </a:pPr>
            <a:r>
              <a:rPr b="1" i="0" lang="en-US" sz="3600" u="none" cap="none" strike="noStrike">
                <a:solidFill>
                  <a:srgbClr val="00BCD4"/>
                </a:solidFill>
                <a:latin typeface="Calibri"/>
                <a:ea typeface="Calibri"/>
                <a:cs typeface="Calibri"/>
                <a:sym typeface="Calibri"/>
              </a:rPr>
              <a:t>Appendix — Bonus &amp; Deep-Dive Material</a:t>
            </a:r>
            <a:endParaRPr b="0" i="0" sz="3600" u="none" cap="none" strike="noStrike">
              <a:solidFill>
                <a:schemeClr val="dk1"/>
              </a:solidFill>
              <a:latin typeface="Calibri"/>
              <a:ea typeface="Calibri"/>
              <a:cs typeface="Calibri"/>
              <a:sym typeface="Calibri"/>
            </a:endParaRPr>
          </a:p>
        </p:txBody>
      </p:sp>
      <p:sp>
        <p:nvSpPr>
          <p:cNvPr id="9006" name="Google Shape;9006;p57"/>
          <p:cNvSpPr/>
          <p:nvPr/>
        </p:nvSpPr>
        <p:spPr>
          <a:xfrm>
            <a:off x="365760" y="2450350"/>
            <a:ext cx="8412480" cy="65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1400"/>
              <a:buFont typeface="Calibri"/>
              <a:buNone/>
            </a:pPr>
            <a:r>
              <a:rPr b="0" i="0" lang="en-US" sz="1400" u="none" cap="none" strike="noStrike">
                <a:solidFill>
                  <a:srgbClr val="ECF0F1"/>
                </a:solidFill>
                <a:latin typeface="Calibri"/>
                <a:ea typeface="Calibri"/>
                <a:cs typeface="Calibri"/>
                <a:sym typeface="Calibri"/>
              </a:rPr>
              <a:t>Optional deep dives beyond the 60-minute talk — pull individual slides as time and audience allow:</a:t>
            </a:r>
            <a:endParaRPr b="0" i="0" sz="1400" u="none" cap="none" strike="noStrike">
              <a:solidFill>
                <a:schemeClr val="dk1"/>
              </a:solidFill>
              <a:latin typeface="Calibri"/>
              <a:ea typeface="Calibri"/>
              <a:cs typeface="Calibri"/>
              <a:sym typeface="Calibri"/>
            </a:endParaRPr>
          </a:p>
        </p:txBody>
      </p:sp>
      <p:sp>
        <p:nvSpPr>
          <p:cNvPr id="9007" name="Google Shape;9007;p57"/>
          <p:cNvSpPr/>
          <p:nvPr/>
        </p:nvSpPr>
        <p:spPr>
          <a:xfrm>
            <a:off x="365760" y="3300350"/>
            <a:ext cx="8412480" cy="75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0A4AE"/>
              </a:buClr>
              <a:buSzPts val="1200"/>
              <a:buFont typeface="Calibri"/>
              <a:buNone/>
            </a:pPr>
            <a:r>
              <a:rPr b="0" i="0" lang="en-US" sz="1200" u="none" cap="none" strike="noStrike">
                <a:solidFill>
                  <a:srgbClr val="90A4AE"/>
                </a:solidFill>
                <a:latin typeface="Calibri"/>
                <a:ea typeface="Calibri"/>
                <a:cs typeface="Calibri"/>
                <a:sym typeface="Calibri"/>
              </a:rPr>
              <a:t>Project Leyden · REST vs gRPC · Low-Latency GC · Right-Sizing &amp; Cost · Project Panama (FFM) · ONNX / AI Inference · Project Valhalla · JVM Anti-Patterns</a:t>
            </a:r>
            <a:endParaRPr b="0" i="0" sz="1200" u="none" cap="none" strike="noStrike">
              <a:solidFill>
                <a:schemeClr val="dk1"/>
              </a:solidFill>
              <a:latin typeface="Calibri"/>
              <a:ea typeface="Calibri"/>
              <a:cs typeface="Calibri"/>
              <a:sym typeface="Calibri"/>
            </a:endParaRPr>
          </a:p>
        </p:txBody>
      </p:sp>
      <p:sp>
        <p:nvSpPr>
          <p:cNvPr id="9008" name="Google Shape;9008;p5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865" name="Shape 865"/>
        <p:cNvGrpSpPr/>
        <p:nvPr/>
      </p:nvGrpSpPr>
      <p:grpSpPr>
        <a:xfrm>
          <a:off x="0" y="0"/>
          <a:ext cx="0" cy="0"/>
          <a:chOff x="0" y="0"/>
          <a:chExt cx="0" cy="0"/>
        </a:xfrm>
      </p:grpSpPr>
      <p:sp>
        <p:nvSpPr>
          <p:cNvPr id="866" name="Google Shape;866;p33"/>
          <p:cNvSpPr/>
          <p:nvPr/>
        </p:nvSpPr>
        <p:spPr>
          <a:xfrm>
            <a:off x="0" y="0"/>
            <a:ext cx="9144000" cy="64008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33"/>
          <p:cNvSpPr/>
          <p:nvPr/>
        </p:nvSpPr>
        <p:spPr>
          <a:xfrm>
            <a:off x="365760" y="0"/>
            <a:ext cx="6858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000"/>
              <a:buFont typeface="Calibri"/>
              <a:buNone/>
            </a:pPr>
            <a:r>
              <a:rPr b="1" i="0" lang="en-US" sz="2000" u="none" cap="none" strike="noStrike">
                <a:solidFill>
                  <a:srgbClr val="00BCD4"/>
                </a:solidFill>
                <a:latin typeface="Calibri"/>
                <a:ea typeface="Calibri"/>
                <a:cs typeface="Calibri"/>
                <a:sym typeface="Calibri"/>
              </a:rPr>
              <a:t>Project Leyden — JVM AOT Cache</a:t>
            </a:r>
            <a:endParaRPr b="0" i="0" sz="2000" u="none" cap="none" strike="noStrike">
              <a:solidFill>
                <a:schemeClr val="dk1"/>
              </a:solidFill>
              <a:latin typeface="Calibri"/>
              <a:ea typeface="Calibri"/>
              <a:cs typeface="Calibri"/>
              <a:sym typeface="Calibri"/>
            </a:endParaRPr>
          </a:p>
        </p:txBody>
      </p:sp>
      <p:sp>
        <p:nvSpPr>
          <p:cNvPr id="868" name="Google Shape;868;p33"/>
          <p:cNvSpPr/>
          <p:nvPr/>
        </p:nvSpPr>
        <p:spPr>
          <a:xfrm>
            <a:off x="7315200" y="73152"/>
            <a:ext cx="1645920" cy="502920"/>
          </a:xfrm>
          <a:prstGeom prst="rect">
            <a:avLst/>
          </a:prstGeom>
          <a:solidFill>
            <a:srgbClr val="1E6FC8"/>
          </a:solidFill>
          <a:ln>
            <a:noFill/>
          </a:ln>
        </p:spPr>
        <p:txBody>
          <a:bodyPr anchorCtr="0" anchor="ctr" bIns="0" lIns="0" spcFirstLastPara="1" rIns="76200" wrap="square" tIns="76200">
            <a:noAutofit/>
          </a:bodyPr>
          <a:lstStyle/>
          <a:p>
            <a:pPr indent="0" lvl="0" marL="0" marR="0" rtl="0" algn="r">
              <a:spcBef>
                <a:spcPts val="0"/>
              </a:spcBef>
              <a:spcAft>
                <a:spcPts val="0"/>
              </a:spcAft>
              <a:buClr>
                <a:srgbClr val="ECF0F1"/>
              </a:buClr>
              <a:buSzPts val="1000"/>
              <a:buFont typeface="Calibri"/>
              <a:buNone/>
            </a:pPr>
            <a:r>
              <a:rPr lang="en-US" sz="1000">
                <a:solidFill>
                  <a:srgbClr val="ECF0F1"/>
                </a:solidFill>
                <a:latin typeface="Calibri"/>
                <a:ea typeface="Calibri"/>
                <a:cs typeface="Calibri"/>
                <a:sym typeface="Calibri"/>
              </a:rPr>
              <a:t>Leyden</a:t>
            </a:r>
            <a:endParaRPr b="0" i="0" sz="1000" u="none" cap="none" strike="noStrike">
              <a:solidFill>
                <a:schemeClr val="dk1"/>
              </a:solidFill>
              <a:latin typeface="Calibri"/>
              <a:ea typeface="Calibri"/>
              <a:cs typeface="Calibri"/>
              <a:sym typeface="Calibri"/>
            </a:endParaRPr>
          </a:p>
        </p:txBody>
      </p:sp>
      <p:sp>
        <p:nvSpPr>
          <p:cNvPr id="869" name="Google Shape;869;p33"/>
          <p:cNvSpPr/>
          <p:nvPr/>
        </p:nvSpPr>
        <p:spPr>
          <a:xfrm>
            <a:off x="0" y="4960620"/>
            <a:ext cx="9144000" cy="18288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33"/>
          <p:cNvSpPr/>
          <p:nvPr/>
        </p:nvSpPr>
        <p:spPr>
          <a:xfrm>
            <a:off x="365760" y="4956048"/>
            <a:ext cx="841248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00"/>
              <a:buFont typeface="Calibri"/>
              <a:buNone/>
            </a:pPr>
            <a:r>
              <a:rPr b="0" i="0" lang="en-US" sz="900" u="none" cap="none" strike="noStrike">
                <a:solidFill>
                  <a:srgbClr val="ECF0F1"/>
                </a:solidFill>
                <a:latin typeface="Calibri"/>
                <a:ea typeface="Calibri"/>
                <a:cs typeface="Calibri"/>
                <a:sym typeface="Calibri"/>
              </a:rPr>
              <a:t>Taming the JVM: Java Optimization on OpenShift</a:t>
            </a:r>
            <a:endParaRPr b="0" i="0" sz="900" u="none" cap="none" strike="noStrike">
              <a:solidFill>
                <a:schemeClr val="dk1"/>
              </a:solidFill>
              <a:latin typeface="Calibri"/>
              <a:ea typeface="Calibri"/>
              <a:cs typeface="Calibri"/>
              <a:sym typeface="Calibri"/>
            </a:endParaRPr>
          </a:p>
        </p:txBody>
      </p:sp>
      <p:sp>
        <p:nvSpPr>
          <p:cNvPr id="871" name="Google Shape;871;p33"/>
          <p:cNvSpPr/>
          <p:nvPr/>
        </p:nvSpPr>
        <p:spPr>
          <a:xfrm>
            <a:off x="365760" y="749808"/>
            <a:ext cx="8412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200"/>
              <a:buFont typeface="Calibri"/>
              <a:buNone/>
            </a:pPr>
            <a:r>
              <a:rPr b="0" i="1" lang="en-US" sz="1200" u="none" cap="none" strike="noStrike">
                <a:solidFill>
                  <a:srgbClr val="90A4AE"/>
                </a:solidFill>
                <a:latin typeface="Calibri"/>
                <a:ea typeface="Calibri"/>
                <a:cs typeface="Calibri"/>
                <a:sym typeface="Calibri"/>
              </a:rPr>
              <a:t>Shift class loading, linking and JIT profiling from every startup to a one-time training run</a:t>
            </a:r>
            <a:endParaRPr b="0" i="0" sz="1200" u="none" cap="none" strike="noStrike">
              <a:solidFill>
                <a:schemeClr val="dk1"/>
              </a:solidFill>
              <a:latin typeface="Calibri"/>
              <a:ea typeface="Calibri"/>
              <a:cs typeface="Calibri"/>
              <a:sym typeface="Calibri"/>
            </a:endParaRPr>
          </a:p>
        </p:txBody>
      </p:sp>
      <p:sp>
        <p:nvSpPr>
          <p:cNvPr id="872" name="Google Shape;872;p33"/>
          <p:cNvSpPr/>
          <p:nvPr/>
        </p:nvSpPr>
        <p:spPr>
          <a:xfrm>
            <a:off x="320040" y="1115568"/>
            <a:ext cx="2057400" cy="384048"/>
          </a:xfrm>
          <a:prstGeom prst="rect">
            <a:avLst/>
          </a:prstGeom>
          <a:solidFill>
            <a:srgbClr val="1E6FC8"/>
          </a:solidFill>
          <a:ln cap="flat" cmpd="sng" w="19050">
            <a:solidFill>
              <a:srgbClr val="1E6F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33"/>
          <p:cNvSpPr/>
          <p:nvPr/>
        </p:nvSpPr>
        <p:spPr>
          <a:xfrm>
            <a:off x="320040" y="1115568"/>
            <a:ext cx="205740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JDK 24  •  JEP 483</a:t>
            </a:r>
            <a:endParaRPr b="0" i="0" sz="900" u="none" cap="none" strike="noStrike">
              <a:solidFill>
                <a:schemeClr val="dk1"/>
              </a:solidFill>
              <a:latin typeface="Calibri"/>
              <a:ea typeface="Calibri"/>
              <a:cs typeface="Calibri"/>
              <a:sym typeface="Calibri"/>
            </a:endParaRPr>
          </a:p>
        </p:txBody>
      </p:sp>
      <p:sp>
        <p:nvSpPr>
          <p:cNvPr id="874" name="Google Shape;874;p33"/>
          <p:cNvSpPr/>
          <p:nvPr/>
        </p:nvSpPr>
        <p:spPr>
          <a:xfrm>
            <a:off x="2395728" y="1170432"/>
            <a:ext cx="10972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100"/>
              <a:buFont typeface="Calibri"/>
              <a:buNone/>
            </a:pPr>
            <a:r>
              <a:rPr b="1" i="0" lang="en-US" sz="1100" u="none" cap="none" strike="noStrike">
                <a:solidFill>
                  <a:srgbClr val="00BCD4"/>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875" name="Google Shape;875;p33"/>
          <p:cNvSpPr/>
          <p:nvPr/>
        </p:nvSpPr>
        <p:spPr>
          <a:xfrm>
            <a:off x="356616" y="1554480"/>
            <a:ext cx="1993392"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FC8"/>
              </a:buClr>
              <a:buSzPts val="950"/>
              <a:buFont typeface="Calibri"/>
              <a:buNone/>
            </a:pPr>
            <a:r>
              <a:rPr b="1" i="0" lang="en-US" sz="950" u="none" cap="none" strike="noStrike">
                <a:solidFill>
                  <a:srgbClr val="1E6FC8"/>
                </a:solidFill>
                <a:latin typeface="Calibri"/>
                <a:ea typeface="Calibri"/>
                <a:cs typeface="Calibri"/>
                <a:sym typeface="Calibri"/>
              </a:rPr>
              <a:t>AOT Class Loading &amp; Linking</a:t>
            </a:r>
            <a:endParaRPr b="0" i="0" sz="950" u="none" cap="none" strike="noStrike">
              <a:solidFill>
                <a:schemeClr val="dk1"/>
              </a:solidFill>
              <a:latin typeface="Calibri"/>
              <a:ea typeface="Calibri"/>
              <a:cs typeface="Calibri"/>
              <a:sym typeface="Calibri"/>
            </a:endParaRPr>
          </a:p>
        </p:txBody>
      </p:sp>
      <p:sp>
        <p:nvSpPr>
          <p:cNvPr id="876" name="Google Shape;876;p33"/>
          <p:cNvSpPr/>
          <p:nvPr/>
        </p:nvSpPr>
        <p:spPr>
          <a:xfrm>
            <a:off x="356616" y="1792224"/>
            <a:ext cx="1993392"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850"/>
              <a:buFont typeface="Calibri"/>
              <a:buNone/>
            </a:pPr>
            <a:r>
              <a:rPr b="0" i="0" lang="en-US" sz="850" u="none" cap="none" strike="noStrike">
                <a:solidFill>
                  <a:srgbClr val="ECF0F1"/>
                </a:solidFill>
                <a:latin typeface="Calibri"/>
                <a:ea typeface="Calibri"/>
                <a:cs typeface="Calibri"/>
                <a:sym typeface="Calibri"/>
              </a:rPr>
              <a:t>Pre-loads &amp; links classes into .aot cache</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0"/>
              <a:buFont typeface="Calibri"/>
              <a:buNone/>
            </a:pPr>
            <a:r>
              <a:rPr b="0" i="0" lang="en-US" sz="850" u="none" cap="none" strike="noStrike">
                <a:solidFill>
                  <a:srgbClr val="ECF0F1"/>
                </a:solidFill>
                <a:latin typeface="Calibri"/>
                <a:ea typeface="Calibri"/>
                <a:cs typeface="Calibri"/>
                <a:sym typeface="Calibri"/>
              </a:rPr>
              <a:t>~42% faster startup — PetClinic 4.5s→2.6s (JEP 483)</a:t>
            </a:r>
            <a:endParaRPr b="0" i="0" sz="850" u="none" cap="none" strike="noStrike">
              <a:solidFill>
                <a:schemeClr val="dk1"/>
              </a:solidFill>
              <a:latin typeface="Calibri"/>
              <a:ea typeface="Calibri"/>
              <a:cs typeface="Calibri"/>
              <a:sym typeface="Calibri"/>
            </a:endParaRPr>
          </a:p>
        </p:txBody>
      </p:sp>
      <p:sp>
        <p:nvSpPr>
          <p:cNvPr id="877" name="Google Shape;877;p33"/>
          <p:cNvSpPr/>
          <p:nvPr/>
        </p:nvSpPr>
        <p:spPr>
          <a:xfrm>
            <a:off x="2514600" y="1115568"/>
            <a:ext cx="2057400" cy="384048"/>
          </a:xfrm>
          <a:prstGeom prst="rect">
            <a:avLst/>
          </a:prstGeom>
          <a:solidFill>
            <a:srgbClr val="00BCD4"/>
          </a:solidFill>
          <a:ln cap="flat" cmpd="sng" w="1905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33"/>
          <p:cNvSpPr/>
          <p:nvPr/>
        </p:nvSpPr>
        <p:spPr>
          <a:xfrm>
            <a:off x="2514600" y="1115568"/>
            <a:ext cx="205740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JDK 25 LTS  •  JEP 514+515</a:t>
            </a:r>
            <a:endParaRPr b="0" i="0" sz="900" u="none" cap="none" strike="noStrike">
              <a:solidFill>
                <a:schemeClr val="dk1"/>
              </a:solidFill>
              <a:latin typeface="Calibri"/>
              <a:ea typeface="Calibri"/>
              <a:cs typeface="Calibri"/>
              <a:sym typeface="Calibri"/>
            </a:endParaRPr>
          </a:p>
        </p:txBody>
      </p:sp>
      <p:sp>
        <p:nvSpPr>
          <p:cNvPr id="879" name="Google Shape;879;p33"/>
          <p:cNvSpPr/>
          <p:nvPr/>
        </p:nvSpPr>
        <p:spPr>
          <a:xfrm>
            <a:off x="4590288" y="1170432"/>
            <a:ext cx="10972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100"/>
              <a:buFont typeface="Calibri"/>
              <a:buNone/>
            </a:pPr>
            <a:r>
              <a:rPr b="1" i="0" lang="en-US" sz="1100" u="none" cap="none" strike="noStrike">
                <a:solidFill>
                  <a:srgbClr val="00BCD4"/>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880" name="Google Shape;880;p33"/>
          <p:cNvSpPr/>
          <p:nvPr/>
        </p:nvSpPr>
        <p:spPr>
          <a:xfrm>
            <a:off x="2551176" y="1554480"/>
            <a:ext cx="1993392"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950"/>
              <a:buFont typeface="Calibri"/>
              <a:buNone/>
            </a:pPr>
            <a:r>
              <a:rPr b="1" i="0" lang="en-US" sz="950" u="none" cap="none" strike="noStrike">
                <a:solidFill>
                  <a:srgbClr val="00BCD4"/>
                </a:solidFill>
                <a:latin typeface="Calibri"/>
                <a:ea typeface="Calibri"/>
                <a:cs typeface="Calibri"/>
                <a:sym typeface="Calibri"/>
              </a:rPr>
              <a:t>Ergonomics + Method Profiling</a:t>
            </a:r>
            <a:endParaRPr b="0" i="0" sz="950" u="none" cap="none" strike="noStrike">
              <a:solidFill>
                <a:schemeClr val="dk1"/>
              </a:solidFill>
              <a:latin typeface="Calibri"/>
              <a:ea typeface="Calibri"/>
              <a:cs typeface="Calibri"/>
              <a:sym typeface="Calibri"/>
            </a:endParaRPr>
          </a:p>
        </p:txBody>
      </p:sp>
      <p:sp>
        <p:nvSpPr>
          <p:cNvPr id="881" name="Google Shape;881;p33"/>
          <p:cNvSpPr/>
          <p:nvPr/>
        </p:nvSpPr>
        <p:spPr>
          <a:xfrm>
            <a:off x="2551176" y="1792224"/>
            <a:ext cx="1993392"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850"/>
              <a:buFont typeface="Calibri"/>
              <a:buNone/>
            </a:pPr>
            <a:r>
              <a:rPr b="0" i="0" lang="en-US" sz="850" u="none" cap="none" strike="noStrike">
                <a:solidFill>
                  <a:srgbClr val="ECF0F1"/>
                </a:solidFill>
                <a:latin typeface="Calibri"/>
                <a:ea typeface="Calibri"/>
                <a:cs typeface="Calibri"/>
                <a:sym typeface="Calibri"/>
              </a:rPr>
              <a:t>2-step raw JVM workflow (train once, deploy with cache)</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0"/>
              <a:buFont typeface="Calibri"/>
              <a:buNone/>
            </a:pPr>
            <a:r>
              <a:rPr b="0" i="0" lang="en-US" sz="850" u="none" cap="none" strike="noStrike">
                <a:solidFill>
                  <a:srgbClr val="ECF0F1"/>
                </a:solidFill>
                <a:latin typeface="Calibri"/>
                <a:ea typeface="Calibri"/>
                <a:cs typeface="Calibri"/>
                <a:sym typeface="Calibri"/>
              </a:rPr>
              <a:t>Stores JIT hot-method profiles: +15-25% warmup</a:t>
            </a:r>
            <a:endParaRPr b="0" i="0" sz="850" u="none" cap="none" strike="noStrike">
              <a:solidFill>
                <a:schemeClr val="dk1"/>
              </a:solidFill>
              <a:latin typeface="Calibri"/>
              <a:ea typeface="Calibri"/>
              <a:cs typeface="Calibri"/>
              <a:sym typeface="Calibri"/>
            </a:endParaRPr>
          </a:p>
        </p:txBody>
      </p:sp>
      <p:sp>
        <p:nvSpPr>
          <p:cNvPr id="882" name="Google Shape;882;p33"/>
          <p:cNvSpPr/>
          <p:nvPr/>
        </p:nvSpPr>
        <p:spPr>
          <a:xfrm>
            <a:off x="4709160" y="1115568"/>
            <a:ext cx="2057400" cy="384048"/>
          </a:xfrm>
          <a:prstGeom prst="rect">
            <a:avLst/>
          </a:prstGeom>
          <a:solidFill>
            <a:srgbClr val="27AE60"/>
          </a:solidFill>
          <a:ln cap="flat" cmpd="sng" w="1905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33"/>
          <p:cNvSpPr/>
          <p:nvPr/>
        </p:nvSpPr>
        <p:spPr>
          <a:xfrm>
            <a:off x="4709160" y="1115568"/>
            <a:ext cx="205740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JDK 26  •  JEP 516</a:t>
            </a:r>
            <a:endParaRPr b="0" i="0" sz="900" u="none" cap="none" strike="noStrike">
              <a:solidFill>
                <a:schemeClr val="dk1"/>
              </a:solidFill>
              <a:latin typeface="Calibri"/>
              <a:ea typeface="Calibri"/>
              <a:cs typeface="Calibri"/>
              <a:sym typeface="Calibri"/>
            </a:endParaRPr>
          </a:p>
        </p:txBody>
      </p:sp>
      <p:sp>
        <p:nvSpPr>
          <p:cNvPr id="884" name="Google Shape;884;p33"/>
          <p:cNvSpPr/>
          <p:nvPr/>
        </p:nvSpPr>
        <p:spPr>
          <a:xfrm>
            <a:off x="6784848" y="1170432"/>
            <a:ext cx="10972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100"/>
              <a:buFont typeface="Calibri"/>
              <a:buNone/>
            </a:pPr>
            <a:r>
              <a:rPr b="1" i="0" lang="en-US" sz="1100" u="none" cap="none" strike="noStrike">
                <a:solidFill>
                  <a:srgbClr val="00BCD4"/>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885" name="Google Shape;885;p33"/>
          <p:cNvSpPr/>
          <p:nvPr/>
        </p:nvSpPr>
        <p:spPr>
          <a:xfrm>
            <a:off x="4745736" y="1554480"/>
            <a:ext cx="1993392"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950"/>
              <a:buFont typeface="Calibri"/>
              <a:buNone/>
            </a:pPr>
            <a:r>
              <a:rPr b="1" i="0" lang="en-US" sz="950" u="none" cap="none" strike="noStrike">
                <a:solidFill>
                  <a:srgbClr val="27AE60"/>
                </a:solidFill>
                <a:latin typeface="Calibri"/>
                <a:ea typeface="Calibri"/>
                <a:cs typeface="Calibri"/>
                <a:sym typeface="Calibri"/>
              </a:rPr>
              <a:t>Any GC — ZGC now supported</a:t>
            </a:r>
            <a:endParaRPr b="0" i="0" sz="950" u="none" cap="none" strike="noStrike">
              <a:solidFill>
                <a:schemeClr val="dk1"/>
              </a:solidFill>
              <a:latin typeface="Calibri"/>
              <a:ea typeface="Calibri"/>
              <a:cs typeface="Calibri"/>
              <a:sym typeface="Calibri"/>
            </a:endParaRPr>
          </a:p>
        </p:txBody>
      </p:sp>
      <p:sp>
        <p:nvSpPr>
          <p:cNvPr id="886" name="Google Shape;886;p33"/>
          <p:cNvSpPr/>
          <p:nvPr/>
        </p:nvSpPr>
        <p:spPr>
          <a:xfrm>
            <a:off x="4745736" y="1792224"/>
            <a:ext cx="1993392"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850"/>
              <a:buFont typeface="Calibri"/>
              <a:buNone/>
            </a:pPr>
            <a:r>
              <a:rPr b="0" i="0" lang="en-US" sz="850" u="none" cap="none" strike="noStrike">
                <a:solidFill>
                  <a:srgbClr val="ECF0F1"/>
                </a:solidFill>
                <a:latin typeface="Calibri"/>
                <a:ea typeface="Calibri"/>
                <a:cs typeface="Calibri"/>
                <a:sym typeface="Calibri"/>
              </a:rPr>
              <a:t>Previously the AOT cache was ZGC-incompatible — now GC-agnostic (works with all GCs)</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0"/>
              <a:buFont typeface="Calibri"/>
              <a:buNone/>
            </a:pPr>
            <a:r>
              <a:rPr b="0" i="0" lang="en-US" sz="850" u="none" cap="none" strike="noStrike">
                <a:solidFill>
                  <a:srgbClr val="ECF0F1"/>
                </a:solidFill>
                <a:latin typeface="Calibri"/>
                <a:ea typeface="Calibri"/>
                <a:cs typeface="Calibri"/>
                <a:sym typeface="Calibri"/>
              </a:rPr>
              <a:t>Baseline cache ships with the JDK itself</a:t>
            </a:r>
            <a:endParaRPr b="0" i="0" sz="850" u="none" cap="none" strike="noStrike">
              <a:solidFill>
                <a:schemeClr val="dk1"/>
              </a:solidFill>
              <a:latin typeface="Calibri"/>
              <a:ea typeface="Calibri"/>
              <a:cs typeface="Calibri"/>
              <a:sym typeface="Calibri"/>
            </a:endParaRPr>
          </a:p>
        </p:txBody>
      </p:sp>
      <p:sp>
        <p:nvSpPr>
          <p:cNvPr id="887" name="Google Shape;887;p33"/>
          <p:cNvSpPr/>
          <p:nvPr/>
        </p:nvSpPr>
        <p:spPr>
          <a:xfrm>
            <a:off x="6903720" y="1115568"/>
            <a:ext cx="2057400" cy="384048"/>
          </a:xfrm>
          <a:prstGeom prst="rect">
            <a:avLst/>
          </a:prstGeom>
          <a:solidFill>
            <a:srgbClr val="1A2640"/>
          </a:solidFill>
          <a:ln cap="flat" cmpd="sng" w="19050">
            <a:solidFill>
              <a:srgbClr val="2A3A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33"/>
          <p:cNvSpPr/>
          <p:nvPr/>
        </p:nvSpPr>
        <p:spPr>
          <a:xfrm>
            <a:off x="6903720" y="1115568"/>
            <a:ext cx="205740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0A4AE"/>
              </a:buClr>
              <a:buSzPts val="900"/>
              <a:buFont typeface="Calibri"/>
              <a:buNone/>
            </a:pPr>
            <a:r>
              <a:rPr b="1" i="0" lang="en-US" sz="900" u="none" cap="none" strike="noStrike">
                <a:solidFill>
                  <a:srgbClr val="90A4AE"/>
                </a:solidFill>
                <a:latin typeface="Calibri"/>
                <a:ea typeface="Calibri"/>
                <a:cs typeface="Calibri"/>
                <a:sym typeface="Calibri"/>
              </a:rPr>
              <a:t>Future  •  Draft</a:t>
            </a:r>
            <a:endParaRPr b="0" i="0" sz="900" u="none" cap="none" strike="noStrike">
              <a:solidFill>
                <a:schemeClr val="dk1"/>
              </a:solidFill>
              <a:latin typeface="Calibri"/>
              <a:ea typeface="Calibri"/>
              <a:cs typeface="Calibri"/>
              <a:sym typeface="Calibri"/>
            </a:endParaRPr>
          </a:p>
        </p:txBody>
      </p:sp>
      <p:sp>
        <p:nvSpPr>
          <p:cNvPr id="889" name="Google Shape;889;p33"/>
          <p:cNvSpPr/>
          <p:nvPr/>
        </p:nvSpPr>
        <p:spPr>
          <a:xfrm>
            <a:off x="6940296" y="1554480"/>
            <a:ext cx="1993392"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50"/>
              <a:buFont typeface="Calibri"/>
              <a:buNone/>
            </a:pPr>
            <a:r>
              <a:rPr b="1" i="0" lang="en-US" sz="950" u="none" cap="none" strike="noStrike">
                <a:solidFill>
                  <a:srgbClr val="90A4AE"/>
                </a:solidFill>
                <a:latin typeface="Calibri"/>
                <a:ea typeface="Calibri"/>
                <a:cs typeface="Calibri"/>
                <a:sym typeface="Calibri"/>
              </a:rPr>
              <a:t>AOT Code Compilation</a:t>
            </a:r>
            <a:endParaRPr b="0" i="0" sz="950" u="none" cap="none" strike="noStrike">
              <a:solidFill>
                <a:schemeClr val="dk1"/>
              </a:solidFill>
              <a:latin typeface="Calibri"/>
              <a:ea typeface="Calibri"/>
              <a:cs typeface="Calibri"/>
              <a:sym typeface="Calibri"/>
            </a:endParaRPr>
          </a:p>
        </p:txBody>
      </p:sp>
      <p:sp>
        <p:nvSpPr>
          <p:cNvPr id="890" name="Google Shape;890;p33"/>
          <p:cNvSpPr/>
          <p:nvPr/>
        </p:nvSpPr>
        <p:spPr>
          <a:xfrm>
            <a:off x="6940296" y="1792224"/>
            <a:ext cx="1993392"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850"/>
              <a:buFont typeface="Calibri"/>
              <a:buNone/>
            </a:pPr>
            <a:r>
              <a:rPr b="0" i="0" lang="en-US" sz="850" u="none" cap="none" strike="noStrike">
                <a:solidFill>
                  <a:srgbClr val="ECF0F1"/>
                </a:solidFill>
                <a:latin typeface="Calibri"/>
                <a:ea typeface="Calibri"/>
                <a:cs typeface="Calibri"/>
                <a:sym typeface="Calibri"/>
              </a:rPr>
              <a:t>Pre-compiled native code in the cache</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0"/>
              <a:buFont typeface="Calibri"/>
              <a:buNone/>
            </a:pPr>
            <a:r>
              <a:rPr b="0" i="0" lang="en-US" sz="850" u="none" cap="none" strike="noStrike">
                <a:solidFill>
                  <a:srgbClr val="ECF0F1"/>
                </a:solidFill>
                <a:latin typeface="Calibri"/>
                <a:ea typeface="Calibri"/>
                <a:cs typeface="Calibri"/>
                <a:sym typeface="Calibri"/>
              </a:rPr>
              <a:t>Instant peak performance from first request</a:t>
            </a:r>
            <a:endParaRPr b="0" i="0" sz="850" u="none" cap="none" strike="noStrike">
              <a:solidFill>
                <a:schemeClr val="dk1"/>
              </a:solidFill>
              <a:latin typeface="Calibri"/>
              <a:ea typeface="Calibri"/>
              <a:cs typeface="Calibri"/>
              <a:sym typeface="Calibri"/>
            </a:endParaRPr>
          </a:p>
        </p:txBody>
      </p:sp>
      <p:sp>
        <p:nvSpPr>
          <p:cNvPr id="891" name="Google Shape;891;p33"/>
          <p:cNvSpPr/>
          <p:nvPr/>
        </p:nvSpPr>
        <p:spPr>
          <a:xfrm>
            <a:off x="320040" y="2542032"/>
            <a:ext cx="2816352" cy="2304288"/>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892" name="Google Shape;892;p33"/>
          <p:cNvSpPr/>
          <p:nvPr/>
        </p:nvSpPr>
        <p:spPr>
          <a:xfrm>
            <a:off x="320040" y="2542032"/>
            <a:ext cx="2816352" cy="310896"/>
          </a:xfrm>
          <a:prstGeom prst="rect">
            <a:avLst/>
          </a:prstGeom>
          <a:solidFill>
            <a:srgbClr val="1E6FC8"/>
          </a:solidFill>
          <a:ln cap="flat" cmpd="sng" w="12700">
            <a:solidFill>
              <a:srgbClr val="1E6F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893" name="Google Shape;893;p33"/>
          <p:cNvSpPr/>
          <p:nvPr/>
        </p:nvSpPr>
        <p:spPr>
          <a:xfrm>
            <a:off x="393192" y="2542032"/>
            <a:ext cx="2670048"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chemeClr val="dk1"/>
                </a:solidFill>
                <a:latin typeface="Calibri"/>
                <a:ea typeface="Calibri"/>
                <a:cs typeface="Calibri"/>
                <a:sym typeface="Calibri"/>
              </a:rPr>
              <a:t>What the AOT Cache Stores</a:t>
            </a:r>
            <a:endParaRPr b="0" i="0" sz="1000" u="none" cap="none" strike="noStrike">
              <a:solidFill>
                <a:schemeClr val="dk1"/>
              </a:solidFill>
              <a:latin typeface="Calibri"/>
              <a:ea typeface="Calibri"/>
              <a:cs typeface="Calibri"/>
              <a:sym typeface="Calibri"/>
            </a:endParaRPr>
          </a:p>
        </p:txBody>
      </p:sp>
      <p:sp>
        <p:nvSpPr>
          <p:cNvPr id="894" name="Google Shape;894;p33"/>
          <p:cNvSpPr/>
          <p:nvPr/>
        </p:nvSpPr>
        <p:spPr>
          <a:xfrm>
            <a:off x="411480" y="2916936"/>
            <a:ext cx="2633472" cy="420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CF0F1"/>
              </a:buClr>
              <a:buSzPts val="880"/>
              <a:buFont typeface="Calibri"/>
              <a:buNone/>
            </a:pPr>
            <a:r>
              <a:rPr b="0" i="0" lang="en-US" sz="880" u="none" cap="none" strike="noStrike">
                <a:solidFill>
                  <a:schemeClr val="dk1"/>
                </a:solidFill>
                <a:latin typeface="Calibri"/>
                <a:ea typeface="Calibri"/>
                <a:cs typeface="Calibri"/>
                <a:sym typeface="Calibri"/>
              </a:rPr>
              <a:t>•  Extends AppCDS: not just parsed bytes but fully LOADED and LINKED class state</a:t>
            </a:r>
            <a:endParaRPr b="0" i="0" sz="880" u="none" cap="none" strike="noStrike">
              <a:solidFill>
                <a:schemeClr val="dk1"/>
              </a:solidFill>
              <a:latin typeface="Calibri"/>
              <a:ea typeface="Calibri"/>
              <a:cs typeface="Calibri"/>
              <a:sym typeface="Calibri"/>
            </a:endParaRPr>
          </a:p>
        </p:txBody>
      </p:sp>
      <p:sp>
        <p:nvSpPr>
          <p:cNvPr id="895" name="Google Shape;895;p33"/>
          <p:cNvSpPr/>
          <p:nvPr/>
        </p:nvSpPr>
        <p:spPr>
          <a:xfrm>
            <a:off x="411480" y="3364992"/>
            <a:ext cx="2633472" cy="420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CF0F1"/>
              </a:buClr>
              <a:buSzPts val="880"/>
              <a:buFont typeface="Calibri"/>
              <a:buNone/>
            </a:pPr>
            <a:r>
              <a:rPr b="0" i="0" lang="en-US" sz="880" u="none" cap="none" strike="noStrike">
                <a:solidFill>
                  <a:schemeClr val="dk1"/>
                </a:solidFill>
                <a:latin typeface="Calibri"/>
                <a:ea typeface="Calibri"/>
                <a:cs typeface="Calibri"/>
                <a:sym typeface="Calibri"/>
              </a:rPr>
              <a:t>•  JIT method profiles (JEP 515): hot paths pre-identified so JIT compiles immediately at startup</a:t>
            </a:r>
            <a:endParaRPr b="0" i="0" sz="880" u="none" cap="none" strike="noStrike">
              <a:solidFill>
                <a:schemeClr val="dk1"/>
              </a:solidFill>
              <a:latin typeface="Calibri"/>
              <a:ea typeface="Calibri"/>
              <a:cs typeface="Calibri"/>
              <a:sym typeface="Calibri"/>
            </a:endParaRPr>
          </a:p>
        </p:txBody>
      </p:sp>
      <p:sp>
        <p:nvSpPr>
          <p:cNvPr id="896" name="Google Shape;896;p33"/>
          <p:cNvSpPr/>
          <p:nvPr/>
        </p:nvSpPr>
        <p:spPr>
          <a:xfrm>
            <a:off x="411480" y="3813048"/>
            <a:ext cx="2633472" cy="420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CF0F1"/>
              </a:buClr>
              <a:buSzPts val="880"/>
              <a:buFont typeface="Calibri"/>
              <a:buNone/>
            </a:pPr>
            <a:r>
              <a:rPr b="0" i="0" lang="en-US" sz="880" u="none" cap="none" strike="noStrike">
                <a:solidFill>
                  <a:schemeClr val="dk1"/>
                </a:solidFill>
                <a:latin typeface="Calibri"/>
                <a:ea typeface="Calibri"/>
                <a:cs typeface="Calibri"/>
                <a:sym typeface="Calibri"/>
              </a:rPr>
              <a:t>•  Cache is self-invalidating — JVM detects changed JARs and rebuilds automatically</a:t>
            </a:r>
            <a:endParaRPr b="0" i="0" sz="880" u="none" cap="none" strike="noStrike">
              <a:solidFill>
                <a:schemeClr val="dk1"/>
              </a:solidFill>
              <a:latin typeface="Calibri"/>
              <a:ea typeface="Calibri"/>
              <a:cs typeface="Calibri"/>
              <a:sym typeface="Calibri"/>
            </a:endParaRPr>
          </a:p>
        </p:txBody>
      </p:sp>
      <p:sp>
        <p:nvSpPr>
          <p:cNvPr id="897" name="Google Shape;897;p33"/>
          <p:cNvSpPr/>
          <p:nvPr/>
        </p:nvSpPr>
        <p:spPr>
          <a:xfrm>
            <a:off x="411480" y="4261104"/>
            <a:ext cx="2633472" cy="420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CF0F1"/>
              </a:buClr>
              <a:buSzPts val="880"/>
              <a:buFont typeface="Calibri"/>
              <a:buNone/>
            </a:pPr>
            <a:r>
              <a:rPr b="0" i="0" lang="en-US" sz="880" u="none" cap="none" strike="noStrike">
                <a:solidFill>
                  <a:schemeClr val="dk1"/>
                </a:solidFill>
                <a:latin typeface="Calibri"/>
                <a:ea typeface="Calibri"/>
                <a:cs typeface="Calibri"/>
                <a:sym typeface="Calibri"/>
              </a:rPr>
              <a:t>•  Full JVM dynamics preserved: reflection, dynamic class loading and JIT still work</a:t>
            </a:r>
            <a:endParaRPr b="0" i="0" sz="880" u="none" cap="none" strike="noStrike">
              <a:solidFill>
                <a:schemeClr val="dk1"/>
              </a:solidFill>
              <a:latin typeface="Calibri"/>
              <a:ea typeface="Calibri"/>
              <a:cs typeface="Calibri"/>
              <a:sym typeface="Calibri"/>
            </a:endParaRPr>
          </a:p>
        </p:txBody>
      </p:sp>
      <p:sp>
        <p:nvSpPr>
          <p:cNvPr id="898" name="Google Shape;898;p33"/>
          <p:cNvSpPr/>
          <p:nvPr/>
        </p:nvSpPr>
        <p:spPr>
          <a:xfrm>
            <a:off x="3264408" y="2542032"/>
            <a:ext cx="2816352" cy="2304288"/>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899" name="Google Shape;899;p33"/>
          <p:cNvSpPr/>
          <p:nvPr/>
        </p:nvSpPr>
        <p:spPr>
          <a:xfrm>
            <a:off x="3264408" y="2542032"/>
            <a:ext cx="2816352" cy="310896"/>
          </a:xfrm>
          <a:prstGeom prst="rect">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900" name="Google Shape;900;p33"/>
          <p:cNvSpPr/>
          <p:nvPr/>
        </p:nvSpPr>
        <p:spPr>
          <a:xfrm>
            <a:off x="3337560" y="2542032"/>
            <a:ext cx="2670048"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chemeClr val="dk1"/>
                </a:solidFill>
                <a:latin typeface="Calibri"/>
                <a:ea typeface="Calibri"/>
                <a:cs typeface="Calibri"/>
                <a:sym typeface="Calibri"/>
              </a:rPr>
              <a:t>Quarkus 3.33.1 — One Property</a:t>
            </a:r>
            <a:endParaRPr b="0" i="0" sz="1000" u="none" cap="none" strike="noStrike">
              <a:solidFill>
                <a:schemeClr val="dk1"/>
              </a:solidFill>
              <a:latin typeface="Calibri"/>
              <a:ea typeface="Calibri"/>
              <a:cs typeface="Calibri"/>
              <a:sym typeface="Calibri"/>
            </a:endParaRPr>
          </a:p>
        </p:txBody>
      </p:sp>
      <p:sp>
        <p:nvSpPr>
          <p:cNvPr id="901" name="Google Shape;901;p33"/>
          <p:cNvSpPr/>
          <p:nvPr/>
        </p:nvSpPr>
        <p:spPr>
          <a:xfrm>
            <a:off x="3355848" y="2916936"/>
            <a:ext cx="2633472" cy="420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CF0F1"/>
              </a:buClr>
              <a:buSzPts val="880"/>
              <a:buFont typeface="Calibri"/>
              <a:buNone/>
            </a:pPr>
            <a:r>
              <a:rPr b="0" i="0" lang="en-US" sz="880" u="none" cap="none" strike="noStrike">
                <a:solidFill>
                  <a:schemeClr val="dk1"/>
                </a:solidFill>
                <a:latin typeface="Calibri"/>
                <a:ea typeface="Calibri"/>
                <a:cs typeface="Calibri"/>
                <a:sym typeface="Calibri"/>
              </a:rPr>
              <a:t>•  quarkus.package.jar.aot.enabled=true in application.properties</a:t>
            </a:r>
            <a:endParaRPr b="0" i="0" sz="880" u="none" cap="none" strike="noStrike">
              <a:solidFill>
                <a:schemeClr val="dk1"/>
              </a:solidFill>
              <a:latin typeface="Calibri"/>
              <a:ea typeface="Calibri"/>
              <a:cs typeface="Calibri"/>
              <a:sym typeface="Calibri"/>
            </a:endParaRPr>
          </a:p>
        </p:txBody>
      </p:sp>
      <p:sp>
        <p:nvSpPr>
          <p:cNvPr id="902" name="Google Shape;902;p33"/>
          <p:cNvSpPr/>
          <p:nvPr/>
        </p:nvSpPr>
        <p:spPr>
          <a:xfrm>
            <a:off x="3355848" y="3364992"/>
            <a:ext cx="2633472" cy="420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CF0F1"/>
              </a:buClr>
              <a:buSzPts val="880"/>
              <a:buFont typeface="Calibri"/>
              <a:buNone/>
            </a:pPr>
            <a:r>
              <a:rPr b="0" i="0" lang="en-US" sz="880" u="none" cap="none" strike="noStrike">
                <a:solidFill>
                  <a:schemeClr val="dk1"/>
                </a:solidFill>
                <a:latin typeface="Calibri"/>
                <a:ea typeface="Calibri"/>
                <a:cs typeface="Calibri"/>
                <a:sym typeface="Calibri"/>
              </a:rPr>
              <a:t>•  Quarkus Maven plugin trains on your @QuarkusIntegrationTest suite automatically</a:t>
            </a:r>
            <a:endParaRPr b="0" i="0" sz="880" u="none" cap="none" strike="noStrike">
              <a:solidFill>
                <a:schemeClr val="dk1"/>
              </a:solidFill>
              <a:latin typeface="Calibri"/>
              <a:ea typeface="Calibri"/>
              <a:cs typeface="Calibri"/>
              <a:sym typeface="Calibri"/>
            </a:endParaRPr>
          </a:p>
        </p:txBody>
      </p:sp>
      <p:sp>
        <p:nvSpPr>
          <p:cNvPr id="903" name="Google Shape;903;p33"/>
          <p:cNvSpPr/>
          <p:nvPr/>
        </p:nvSpPr>
        <p:spPr>
          <a:xfrm>
            <a:off x="3355848" y="3813048"/>
            <a:ext cx="2633472" cy="420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CF0F1"/>
              </a:buClr>
              <a:buSzPts val="880"/>
              <a:buFont typeface="Calibri"/>
              <a:buNone/>
            </a:pPr>
            <a:r>
              <a:rPr b="0" i="0" lang="en-US" sz="880" u="none" cap="none" strike="noStrike">
                <a:solidFill>
                  <a:schemeClr val="dk1"/>
                </a:solidFill>
                <a:latin typeface="Calibri"/>
                <a:ea typeface="Calibri"/>
                <a:cs typeface="Calibri"/>
                <a:sym typeface="Calibri"/>
              </a:rPr>
              <a:t>•  Bundles app.aot alongside quarkus-run.jar — no manual -XX flags in your Dockerfile</a:t>
            </a:r>
            <a:endParaRPr b="0" i="0" sz="880" u="none" cap="none" strike="noStrike">
              <a:solidFill>
                <a:schemeClr val="dk1"/>
              </a:solidFill>
              <a:latin typeface="Calibri"/>
              <a:ea typeface="Calibri"/>
              <a:cs typeface="Calibri"/>
              <a:sym typeface="Calibri"/>
            </a:endParaRPr>
          </a:p>
        </p:txBody>
      </p:sp>
      <p:sp>
        <p:nvSpPr>
          <p:cNvPr id="904" name="Google Shape;904;p33"/>
          <p:cNvSpPr/>
          <p:nvPr/>
        </p:nvSpPr>
        <p:spPr>
          <a:xfrm>
            <a:off x="3355848" y="4261104"/>
            <a:ext cx="2633472" cy="420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CF0F1"/>
              </a:buClr>
              <a:buSzPts val="880"/>
              <a:buFont typeface="Calibri"/>
              <a:buNone/>
            </a:pPr>
            <a:r>
              <a:rPr b="0" i="0" lang="en-US" sz="880" u="none" cap="none" strike="noStrike">
                <a:solidFill>
                  <a:schemeClr val="dk1"/>
                </a:solidFill>
                <a:latin typeface="Calibri"/>
                <a:ea typeface="Calibri"/>
                <a:cs typeface="Calibri"/>
                <a:sym typeface="Calibri"/>
              </a:rPr>
              <a:t>•  Runtime: java -XX:AOTCache=app.aot -jar quarkus-run.jar  (Quarkus sets this for you)</a:t>
            </a:r>
            <a:endParaRPr b="0" i="0" sz="880" u="none" cap="none" strike="noStrike">
              <a:solidFill>
                <a:schemeClr val="dk1"/>
              </a:solidFill>
              <a:latin typeface="Calibri"/>
              <a:ea typeface="Calibri"/>
              <a:cs typeface="Calibri"/>
              <a:sym typeface="Calibri"/>
            </a:endParaRPr>
          </a:p>
        </p:txBody>
      </p:sp>
      <p:sp>
        <p:nvSpPr>
          <p:cNvPr id="905" name="Google Shape;905;p33"/>
          <p:cNvSpPr/>
          <p:nvPr/>
        </p:nvSpPr>
        <p:spPr>
          <a:xfrm>
            <a:off x="6208776" y="2542032"/>
            <a:ext cx="2816352" cy="2304288"/>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906" name="Google Shape;906;p33"/>
          <p:cNvSpPr/>
          <p:nvPr/>
        </p:nvSpPr>
        <p:spPr>
          <a:xfrm>
            <a:off x="6208776" y="2542032"/>
            <a:ext cx="2816352" cy="310896"/>
          </a:xfrm>
          <a:prstGeom prst="rect">
            <a:avLst/>
          </a:prstGeom>
          <a:solidFill>
            <a:srgbClr val="F5A623"/>
          </a:solidFill>
          <a:ln cap="flat" cmpd="sng" w="12700">
            <a:solidFill>
              <a:srgbClr val="F5A6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907" name="Google Shape;907;p33"/>
          <p:cNvSpPr/>
          <p:nvPr/>
        </p:nvSpPr>
        <p:spPr>
          <a:xfrm>
            <a:off x="6281928" y="2542032"/>
            <a:ext cx="2670048"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chemeClr val="dk1"/>
                </a:solidFill>
                <a:latin typeface="Calibri"/>
                <a:ea typeface="Calibri"/>
                <a:cs typeface="Calibri"/>
                <a:sym typeface="Calibri"/>
              </a:rPr>
              <a:t>Leyden vs GraalVM Native Image</a:t>
            </a:r>
            <a:endParaRPr b="0" i="0" sz="1000" u="none" cap="none" strike="noStrike">
              <a:solidFill>
                <a:schemeClr val="dk1"/>
              </a:solidFill>
              <a:latin typeface="Calibri"/>
              <a:ea typeface="Calibri"/>
              <a:cs typeface="Calibri"/>
              <a:sym typeface="Calibri"/>
            </a:endParaRPr>
          </a:p>
        </p:txBody>
      </p:sp>
      <p:sp>
        <p:nvSpPr>
          <p:cNvPr id="908" name="Google Shape;908;p33"/>
          <p:cNvSpPr/>
          <p:nvPr/>
        </p:nvSpPr>
        <p:spPr>
          <a:xfrm>
            <a:off x="6300216" y="2916936"/>
            <a:ext cx="2633472" cy="420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CF0F1"/>
              </a:buClr>
              <a:buSzPts val="880"/>
              <a:buFont typeface="Calibri"/>
              <a:buNone/>
            </a:pPr>
            <a:r>
              <a:rPr b="0" i="0" lang="en-US" sz="880" u="none" cap="none" strike="noStrike">
                <a:solidFill>
                  <a:schemeClr val="dk1"/>
                </a:solidFill>
                <a:latin typeface="Calibri"/>
                <a:ea typeface="Calibri"/>
                <a:cs typeface="Calibri"/>
                <a:sym typeface="Calibri"/>
              </a:rPr>
              <a:t>•  Native Image: static binary, 95-99% faster startup, closed-world AOT — no JIT after start</a:t>
            </a:r>
            <a:endParaRPr b="0" i="0" sz="880" u="none" cap="none" strike="noStrike">
              <a:solidFill>
                <a:schemeClr val="dk1"/>
              </a:solidFill>
              <a:latin typeface="Calibri"/>
              <a:ea typeface="Calibri"/>
              <a:cs typeface="Calibri"/>
              <a:sym typeface="Calibri"/>
            </a:endParaRPr>
          </a:p>
        </p:txBody>
      </p:sp>
      <p:sp>
        <p:nvSpPr>
          <p:cNvPr id="909" name="Google Shape;909;p33"/>
          <p:cNvSpPr/>
          <p:nvPr/>
        </p:nvSpPr>
        <p:spPr>
          <a:xfrm>
            <a:off x="6300216" y="3364992"/>
            <a:ext cx="2633472" cy="420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CF0F1"/>
              </a:buClr>
              <a:buSzPts val="880"/>
              <a:buFont typeface="Calibri"/>
              <a:buNone/>
            </a:pPr>
            <a:r>
              <a:rPr b="0" i="0" lang="en-US" sz="880" u="none" cap="none" strike="noStrike">
                <a:solidFill>
                  <a:schemeClr val="dk1"/>
                </a:solidFill>
                <a:latin typeface="Calibri"/>
                <a:ea typeface="Calibri"/>
                <a:cs typeface="Calibri"/>
                <a:sym typeface="Calibri"/>
              </a:rPr>
              <a:t>•  Leyden: stays on the JVM — full reflection, dynamic loading, JIT all continue to work</a:t>
            </a:r>
            <a:endParaRPr b="0" i="0" sz="880" u="none" cap="none" strike="noStrike">
              <a:solidFill>
                <a:schemeClr val="dk1"/>
              </a:solidFill>
              <a:latin typeface="Calibri"/>
              <a:ea typeface="Calibri"/>
              <a:cs typeface="Calibri"/>
              <a:sym typeface="Calibri"/>
            </a:endParaRPr>
          </a:p>
        </p:txBody>
      </p:sp>
      <p:sp>
        <p:nvSpPr>
          <p:cNvPr id="910" name="Google Shape;910;p33"/>
          <p:cNvSpPr/>
          <p:nvPr/>
        </p:nvSpPr>
        <p:spPr>
          <a:xfrm>
            <a:off x="6300216" y="3813048"/>
            <a:ext cx="2633472" cy="420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CF0F1"/>
              </a:buClr>
              <a:buSzPts val="880"/>
              <a:buFont typeface="Calibri"/>
              <a:buNone/>
            </a:pPr>
            <a:r>
              <a:rPr b="0" i="0" lang="en-US" sz="880" u="none" cap="none" strike="noStrike">
                <a:solidFill>
                  <a:schemeClr val="dk1"/>
                </a:solidFill>
                <a:latin typeface="Calibri"/>
                <a:ea typeface="Calibri"/>
                <a:cs typeface="Calibri"/>
                <a:sym typeface="Calibri"/>
              </a:rPr>
              <a:t>•  Leyden: ~75% startup gain (Demo 04), 15-25% warmup gain — no code changes required</a:t>
            </a:r>
            <a:endParaRPr b="0" i="0" sz="880" u="none" cap="none" strike="noStrike">
              <a:solidFill>
                <a:schemeClr val="dk1"/>
              </a:solidFill>
              <a:latin typeface="Calibri"/>
              <a:ea typeface="Calibri"/>
              <a:cs typeface="Calibri"/>
              <a:sym typeface="Calibri"/>
            </a:endParaRPr>
          </a:p>
        </p:txBody>
      </p:sp>
      <p:sp>
        <p:nvSpPr>
          <p:cNvPr id="911" name="Google Shape;911;p33"/>
          <p:cNvSpPr/>
          <p:nvPr/>
        </p:nvSpPr>
        <p:spPr>
          <a:xfrm>
            <a:off x="6300216" y="4261104"/>
            <a:ext cx="2633472" cy="420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CF0F1"/>
              </a:buClr>
              <a:buSzPts val="880"/>
              <a:buFont typeface="Calibri"/>
              <a:buNone/>
            </a:pPr>
            <a:r>
              <a:rPr b="0" i="0" lang="en-US" sz="880" u="none" cap="none" strike="noStrike">
                <a:solidFill>
                  <a:schemeClr val="dk1"/>
                </a:solidFill>
                <a:latin typeface="Calibri"/>
                <a:ea typeface="Calibri"/>
                <a:cs typeface="Calibri"/>
                <a:sym typeface="Calibri"/>
              </a:rPr>
              <a:t>•  Different tools: Leyden for JVM workloads, Native for footprint-critical deployments</a:t>
            </a:r>
            <a:endParaRPr b="0" i="0" sz="880" u="none" cap="none" strike="noStrike">
              <a:solidFill>
                <a:schemeClr val="dk1"/>
              </a:solidFill>
              <a:latin typeface="Calibri"/>
              <a:ea typeface="Calibri"/>
              <a:cs typeface="Calibri"/>
              <a:sym typeface="Calibri"/>
            </a:endParaRPr>
          </a:p>
        </p:txBody>
      </p:sp>
      <p:sp>
        <p:nvSpPr>
          <p:cNvPr id="912" name="Google Shape;912;p33"/>
          <p:cNvSpPr/>
          <p:nvPr/>
        </p:nvSpPr>
        <p:spPr>
          <a:xfrm>
            <a:off x="320040" y="4910328"/>
            <a:ext cx="8503920" cy="201168"/>
          </a:xfrm>
          <a:prstGeom prst="rect">
            <a:avLst/>
          </a:prstGeom>
          <a:solidFill>
            <a:srgbClr val="0A16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33"/>
          <p:cNvSpPr/>
          <p:nvPr/>
        </p:nvSpPr>
        <p:spPr>
          <a:xfrm>
            <a:off x="320040" y="4910328"/>
            <a:ext cx="8503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900"/>
              <a:buFont typeface="Calibri"/>
              <a:buNone/>
            </a:pPr>
            <a:r>
              <a:rPr b="0" i="0" lang="en-US" sz="900" u="none" cap="none" strike="noStrike">
                <a:solidFill>
                  <a:srgbClr val="00BCD4"/>
                </a:solidFill>
                <a:latin typeface="Calibri"/>
                <a:ea typeface="Calibri"/>
                <a:cs typeface="Calibri"/>
                <a:sym typeface="Calibri"/>
              </a:rPr>
              <a:t>quarkus.io/guides/aot  |  JDK 25 LTS required  |  JDK 26: ZGC support (JEP 516)  |  quarkus.io/blog/quarkus-and-leyden</a:t>
            </a:r>
            <a:endParaRPr b="0" i="0" sz="900" u="none" cap="none" strike="noStrike">
              <a:solidFill>
                <a:schemeClr val="dk1"/>
              </a:solidFill>
              <a:latin typeface="Calibri"/>
              <a:ea typeface="Calibri"/>
              <a:cs typeface="Calibri"/>
              <a:sym typeface="Calibri"/>
            </a:endParaRPr>
          </a:p>
        </p:txBody>
      </p:sp>
      <p:sp>
        <p:nvSpPr>
          <p:cNvPr id="914" name="Google Shape;914;p3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919" name="Shape 919"/>
        <p:cNvGrpSpPr/>
        <p:nvPr/>
      </p:nvGrpSpPr>
      <p:grpSpPr>
        <a:xfrm>
          <a:off x="0" y="0"/>
          <a:ext cx="0" cy="0"/>
          <a:chOff x="0" y="0"/>
          <a:chExt cx="0" cy="0"/>
        </a:xfrm>
      </p:grpSpPr>
      <p:sp>
        <p:nvSpPr>
          <p:cNvPr id="920" name="Google Shape;920;p34"/>
          <p:cNvSpPr/>
          <p:nvPr/>
        </p:nvSpPr>
        <p:spPr>
          <a:xfrm>
            <a:off x="0" y="0"/>
            <a:ext cx="9144000" cy="64020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34"/>
          <p:cNvSpPr/>
          <p:nvPr/>
        </p:nvSpPr>
        <p:spPr>
          <a:xfrm>
            <a:off x="365760" y="0"/>
            <a:ext cx="68580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000"/>
              <a:buFont typeface="Calibri"/>
              <a:buNone/>
            </a:pPr>
            <a:r>
              <a:rPr b="1" lang="en-US" sz="2000">
                <a:solidFill>
                  <a:srgbClr val="00BCD4"/>
                </a:solidFill>
                <a:latin typeface="Calibri"/>
                <a:ea typeface="Calibri"/>
                <a:cs typeface="Calibri"/>
                <a:sym typeface="Calibri"/>
              </a:rPr>
              <a:t>How Project Leyden Works - Shift Work Left, Start Right</a:t>
            </a:r>
            <a:endParaRPr b="0" i="0" sz="2000" u="none" cap="none" strike="noStrike">
              <a:solidFill>
                <a:schemeClr val="dk1"/>
              </a:solidFill>
              <a:latin typeface="Calibri"/>
              <a:ea typeface="Calibri"/>
              <a:cs typeface="Calibri"/>
              <a:sym typeface="Calibri"/>
            </a:endParaRPr>
          </a:p>
        </p:txBody>
      </p:sp>
      <p:sp>
        <p:nvSpPr>
          <p:cNvPr id="922" name="Google Shape;922;p34"/>
          <p:cNvSpPr/>
          <p:nvPr/>
        </p:nvSpPr>
        <p:spPr>
          <a:xfrm>
            <a:off x="7315200" y="73152"/>
            <a:ext cx="1645800" cy="502800"/>
          </a:xfrm>
          <a:prstGeom prst="rect">
            <a:avLst/>
          </a:prstGeom>
          <a:solidFill>
            <a:srgbClr val="1E6FC8"/>
          </a:solidFill>
          <a:ln>
            <a:noFill/>
          </a:ln>
        </p:spPr>
        <p:txBody>
          <a:bodyPr anchorCtr="0" anchor="ctr" bIns="0" lIns="0" spcFirstLastPara="1" rIns="76200" wrap="square" tIns="76200">
            <a:noAutofit/>
          </a:bodyPr>
          <a:lstStyle/>
          <a:p>
            <a:pPr indent="0" lvl="0" marL="0" marR="0" rtl="0" algn="r">
              <a:spcBef>
                <a:spcPts val="0"/>
              </a:spcBef>
              <a:spcAft>
                <a:spcPts val="0"/>
              </a:spcAft>
              <a:buClr>
                <a:srgbClr val="ECF0F1"/>
              </a:buClr>
              <a:buSzPts val="1000"/>
              <a:buFont typeface="Calibri"/>
              <a:buNone/>
            </a:pPr>
            <a:r>
              <a:rPr lang="en-US" sz="1000">
                <a:solidFill>
                  <a:srgbClr val="ECF0F1"/>
                </a:solidFill>
                <a:latin typeface="Calibri"/>
                <a:ea typeface="Calibri"/>
                <a:cs typeface="Calibri"/>
                <a:sym typeface="Calibri"/>
              </a:rPr>
              <a:t>Leyden</a:t>
            </a:r>
            <a:endParaRPr b="0" i="0" sz="1000" u="none" cap="none" strike="noStrike">
              <a:solidFill>
                <a:schemeClr val="dk1"/>
              </a:solidFill>
              <a:latin typeface="Calibri"/>
              <a:ea typeface="Calibri"/>
              <a:cs typeface="Calibri"/>
              <a:sym typeface="Calibri"/>
            </a:endParaRPr>
          </a:p>
        </p:txBody>
      </p:sp>
      <p:sp>
        <p:nvSpPr>
          <p:cNvPr id="923" name="Google Shape;923;p34"/>
          <p:cNvSpPr/>
          <p:nvPr/>
        </p:nvSpPr>
        <p:spPr>
          <a:xfrm>
            <a:off x="0" y="4960620"/>
            <a:ext cx="9144000" cy="18300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34"/>
          <p:cNvSpPr/>
          <p:nvPr/>
        </p:nvSpPr>
        <p:spPr>
          <a:xfrm>
            <a:off x="365760" y="4956048"/>
            <a:ext cx="84126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00"/>
              <a:buFont typeface="Calibri"/>
              <a:buNone/>
            </a:pPr>
            <a:r>
              <a:rPr b="0" i="0" lang="en-US" sz="900" u="none" cap="none" strike="noStrike">
                <a:solidFill>
                  <a:srgbClr val="ECF0F1"/>
                </a:solidFill>
                <a:latin typeface="Calibri"/>
                <a:ea typeface="Calibri"/>
                <a:cs typeface="Calibri"/>
                <a:sym typeface="Calibri"/>
              </a:rPr>
              <a:t>Taming the JVM: Java Optimization on OpenShift</a:t>
            </a:r>
            <a:endParaRPr b="0" i="0" sz="900" u="none" cap="none" strike="noStrike">
              <a:solidFill>
                <a:schemeClr val="dk1"/>
              </a:solidFill>
              <a:latin typeface="Calibri"/>
              <a:ea typeface="Calibri"/>
              <a:cs typeface="Calibri"/>
              <a:sym typeface="Calibri"/>
            </a:endParaRPr>
          </a:p>
        </p:txBody>
      </p:sp>
      <p:sp>
        <p:nvSpPr>
          <p:cNvPr id="925" name="Google Shape;925;p34"/>
          <p:cNvSpPr/>
          <p:nvPr/>
        </p:nvSpPr>
        <p:spPr>
          <a:xfrm>
            <a:off x="320040" y="4910328"/>
            <a:ext cx="8503800" cy="201300"/>
          </a:xfrm>
          <a:prstGeom prst="rect">
            <a:avLst/>
          </a:prstGeom>
          <a:solidFill>
            <a:srgbClr val="0A16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34"/>
          <p:cNvSpPr/>
          <p:nvPr/>
        </p:nvSpPr>
        <p:spPr>
          <a:xfrm>
            <a:off x="320040" y="4910328"/>
            <a:ext cx="85038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900"/>
              <a:buFont typeface="Calibri"/>
              <a:buNone/>
            </a:pPr>
            <a:r>
              <a:rPr b="0" i="0" lang="en-US" sz="900" u="none" cap="none" strike="noStrike">
                <a:solidFill>
                  <a:srgbClr val="00BCD4"/>
                </a:solidFill>
                <a:latin typeface="Calibri"/>
                <a:ea typeface="Calibri"/>
                <a:cs typeface="Calibri"/>
                <a:sym typeface="Calibri"/>
              </a:rPr>
              <a:t>quarkus.io/guides/aot  |  JDK 25 LTS required  |  JDK 26: ZGC support (JEP 516)  |  quarkus.io/blog/quarkus-and-leyden</a:t>
            </a:r>
            <a:endParaRPr b="0" i="0" sz="900" u="none" cap="none" strike="noStrike">
              <a:solidFill>
                <a:schemeClr val="dk1"/>
              </a:solidFill>
              <a:latin typeface="Calibri"/>
              <a:ea typeface="Calibri"/>
              <a:cs typeface="Calibri"/>
              <a:sym typeface="Calibri"/>
            </a:endParaRPr>
          </a:p>
        </p:txBody>
      </p:sp>
      <p:pic>
        <p:nvPicPr>
          <p:cNvPr id="927" name="Google Shape;927;p34"/>
          <p:cNvPicPr preferRelativeResize="0"/>
          <p:nvPr/>
        </p:nvPicPr>
        <p:blipFill>
          <a:blip r:embed="rId3">
            <a:alphaModFix/>
          </a:blip>
          <a:stretch>
            <a:fillRect/>
          </a:stretch>
        </p:blipFill>
        <p:spPr>
          <a:xfrm>
            <a:off x="907313" y="684275"/>
            <a:ext cx="7329286" cy="41177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932" name="Shape 932"/>
        <p:cNvGrpSpPr/>
        <p:nvPr/>
      </p:nvGrpSpPr>
      <p:grpSpPr>
        <a:xfrm>
          <a:off x="0" y="0"/>
          <a:ext cx="0" cy="0"/>
          <a:chOff x="0" y="0"/>
          <a:chExt cx="0" cy="0"/>
        </a:xfrm>
      </p:grpSpPr>
      <p:sp>
        <p:nvSpPr>
          <p:cNvPr id="933" name="Google Shape;933;p35"/>
          <p:cNvSpPr/>
          <p:nvPr/>
        </p:nvSpPr>
        <p:spPr>
          <a:xfrm>
            <a:off x="0" y="4960620"/>
            <a:ext cx="9144000" cy="18288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35"/>
          <p:cNvSpPr/>
          <p:nvPr/>
        </p:nvSpPr>
        <p:spPr>
          <a:xfrm>
            <a:off x="365760" y="4956048"/>
            <a:ext cx="841248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00"/>
              <a:buFont typeface="Calibri"/>
              <a:buNone/>
            </a:pPr>
            <a:r>
              <a:rPr b="0" i="0" lang="en-US" sz="900" u="none" cap="none" strike="noStrike">
                <a:solidFill>
                  <a:srgbClr val="ECF0F1"/>
                </a:solidFill>
                <a:latin typeface="Calibri"/>
                <a:ea typeface="Calibri"/>
                <a:cs typeface="Calibri"/>
                <a:sym typeface="Calibri"/>
              </a:rPr>
              <a:t>Taming the JVM: Java Optimization on OpenShift</a:t>
            </a:r>
            <a:endParaRPr b="0" i="0" sz="900" u="none" cap="none" strike="noStrike">
              <a:solidFill>
                <a:schemeClr val="dk1"/>
              </a:solidFill>
              <a:latin typeface="Calibri"/>
              <a:ea typeface="Calibri"/>
              <a:cs typeface="Calibri"/>
              <a:sym typeface="Calibri"/>
            </a:endParaRPr>
          </a:p>
        </p:txBody>
      </p:sp>
      <p:sp>
        <p:nvSpPr>
          <p:cNvPr id="935" name="Google Shape;935;p35"/>
          <p:cNvSpPr/>
          <p:nvPr/>
        </p:nvSpPr>
        <p:spPr>
          <a:xfrm>
            <a:off x="457200" y="502920"/>
            <a:ext cx="1828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100"/>
              <a:buFont typeface="Calibri"/>
              <a:buNone/>
            </a:pPr>
            <a:r>
              <a:rPr b="1" i="0" lang="en-US" sz="1100" u="none" cap="none" strike="noStrike">
                <a:solidFill>
                  <a:srgbClr val="00BCD4"/>
                </a:solidFill>
                <a:latin typeface="Calibri"/>
                <a:ea typeface="Calibri"/>
                <a:cs typeface="Calibri"/>
                <a:sym typeface="Calibri"/>
              </a:rPr>
              <a:t>DEMO 04</a:t>
            </a:r>
            <a:endParaRPr b="0" i="0" sz="1100" u="none" cap="none" strike="noStrike">
              <a:solidFill>
                <a:schemeClr val="dk1"/>
              </a:solidFill>
              <a:latin typeface="Calibri"/>
              <a:ea typeface="Calibri"/>
              <a:cs typeface="Calibri"/>
              <a:sym typeface="Calibri"/>
            </a:endParaRPr>
          </a:p>
        </p:txBody>
      </p:sp>
      <p:sp>
        <p:nvSpPr>
          <p:cNvPr id="936" name="Google Shape;936;p35"/>
          <p:cNvSpPr/>
          <p:nvPr/>
        </p:nvSpPr>
        <p:spPr>
          <a:xfrm>
            <a:off x="457200" y="777240"/>
            <a:ext cx="77724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4400"/>
              <a:buFont typeface="Calibri"/>
              <a:buNone/>
            </a:pPr>
            <a:r>
              <a:rPr b="1" i="0" lang="en-US" sz="4400" u="none" cap="none" strike="noStrike">
                <a:solidFill>
                  <a:srgbClr val="EFEFEF"/>
                </a:solidFill>
                <a:latin typeface="Calibri"/>
                <a:ea typeface="Calibri"/>
                <a:cs typeface="Calibri"/>
                <a:sym typeface="Calibri"/>
              </a:rPr>
              <a:t>Quarkus + Project Leyden</a:t>
            </a:r>
            <a:endParaRPr b="0" i="0" sz="4400" u="none" cap="none" strike="noStrike">
              <a:solidFill>
                <a:srgbClr val="EFEFEF"/>
              </a:solidFill>
              <a:latin typeface="Calibri"/>
              <a:ea typeface="Calibri"/>
              <a:cs typeface="Calibri"/>
              <a:sym typeface="Calibri"/>
            </a:endParaRPr>
          </a:p>
        </p:txBody>
      </p:sp>
      <p:sp>
        <p:nvSpPr>
          <p:cNvPr id="937" name="Google Shape;937;p35"/>
          <p:cNvSpPr/>
          <p:nvPr/>
        </p:nvSpPr>
        <p:spPr>
          <a:xfrm>
            <a:off x="457200" y="1417320"/>
            <a:ext cx="4572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4400"/>
              <a:buFont typeface="Calibri"/>
              <a:buNone/>
            </a:pPr>
            <a:r>
              <a:rPr b="1" i="0" lang="en-US" sz="4400" u="none" cap="none" strike="noStrike">
                <a:solidFill>
                  <a:srgbClr val="00BCD4"/>
                </a:solidFill>
                <a:latin typeface="Calibri"/>
                <a:ea typeface="Calibri"/>
                <a:cs typeface="Calibri"/>
                <a:sym typeface="Calibri"/>
              </a:rPr>
              <a:t>AOT Cache</a:t>
            </a:r>
            <a:endParaRPr b="0" i="0" sz="4400" u="none" cap="none" strike="noStrike">
              <a:solidFill>
                <a:schemeClr val="dk1"/>
              </a:solidFill>
              <a:latin typeface="Calibri"/>
              <a:ea typeface="Calibri"/>
              <a:cs typeface="Calibri"/>
              <a:sym typeface="Calibri"/>
            </a:endParaRPr>
          </a:p>
        </p:txBody>
      </p:sp>
      <p:sp>
        <p:nvSpPr>
          <p:cNvPr id="938" name="Google Shape;938;p35"/>
          <p:cNvSpPr/>
          <p:nvPr/>
        </p:nvSpPr>
        <p:spPr>
          <a:xfrm>
            <a:off x="457200" y="2029968"/>
            <a:ext cx="7315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100"/>
              <a:buFont typeface="Calibri"/>
              <a:buNone/>
            </a:pPr>
            <a:r>
              <a:rPr b="0" i="0" lang="en-US" sz="1100" u="none" cap="none" strike="noStrike">
                <a:solidFill>
                  <a:srgbClr val="90A4AE"/>
                </a:solidFill>
                <a:latin typeface="Calibri"/>
                <a:ea typeface="Calibri"/>
                <a:cs typeface="Calibri"/>
                <a:sym typeface="Calibri"/>
              </a:rPr>
              <a:t>JDK 25 LTS  •  Quarkus 3.33.1 LTS  •  quarkus-demo-04-leyden/</a:t>
            </a:r>
            <a:endParaRPr b="0" i="0" sz="1100" u="none" cap="none" strike="noStrike">
              <a:solidFill>
                <a:schemeClr val="dk1"/>
              </a:solidFill>
              <a:latin typeface="Calibri"/>
              <a:ea typeface="Calibri"/>
              <a:cs typeface="Calibri"/>
              <a:sym typeface="Calibri"/>
            </a:endParaRPr>
          </a:p>
        </p:txBody>
      </p:sp>
      <p:sp>
        <p:nvSpPr>
          <p:cNvPr id="939" name="Google Shape;939;p35"/>
          <p:cNvSpPr/>
          <p:nvPr/>
        </p:nvSpPr>
        <p:spPr>
          <a:xfrm>
            <a:off x="457200" y="2322576"/>
            <a:ext cx="4572000" cy="36576"/>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35"/>
          <p:cNvSpPr/>
          <p:nvPr/>
        </p:nvSpPr>
        <p:spPr>
          <a:xfrm>
            <a:off x="457200" y="2450592"/>
            <a:ext cx="45720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300"/>
              <a:buFont typeface="Calibri"/>
              <a:buNone/>
            </a:pPr>
            <a:r>
              <a:rPr b="1" i="0" lang="en-US" sz="1300" u="none" cap="none" strike="noStrike">
                <a:solidFill>
                  <a:srgbClr val="00BCD4"/>
                </a:solidFill>
                <a:latin typeface="Calibri"/>
                <a:ea typeface="Calibri"/>
                <a:cs typeface="Calibri"/>
                <a:sym typeface="Calibri"/>
              </a:rPr>
              <a:t>What you’ll see:</a:t>
            </a:r>
            <a:endParaRPr b="0" i="0" sz="1300" u="none" cap="none" strike="noStrike">
              <a:solidFill>
                <a:schemeClr val="dk1"/>
              </a:solidFill>
              <a:latin typeface="Calibri"/>
              <a:ea typeface="Calibri"/>
              <a:cs typeface="Calibri"/>
              <a:sym typeface="Calibri"/>
            </a:endParaRPr>
          </a:p>
        </p:txBody>
      </p:sp>
      <p:sp>
        <p:nvSpPr>
          <p:cNvPr id="941" name="Google Shape;941;p35"/>
          <p:cNvSpPr/>
          <p:nvPr/>
        </p:nvSpPr>
        <p:spPr>
          <a:xfrm>
            <a:off x="457200" y="2761488"/>
            <a:ext cx="36576" cy="292608"/>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35"/>
          <p:cNvSpPr/>
          <p:nvPr/>
        </p:nvSpPr>
        <p:spPr>
          <a:xfrm>
            <a:off x="621792" y="2743200"/>
            <a:ext cx="51206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150"/>
              <a:buFont typeface="Calibri"/>
              <a:buNone/>
            </a:pPr>
            <a:r>
              <a:rPr b="0" i="0" lang="en-US" sz="1150" u="none" cap="none" strike="noStrike">
                <a:solidFill>
                  <a:srgbClr val="ECF0F1"/>
                </a:solidFill>
                <a:latin typeface="Calibri"/>
                <a:ea typeface="Calibri"/>
                <a:cs typeface="Calibri"/>
                <a:sym typeface="Calibri"/>
              </a:rPr>
              <a:t>One property: quarkus.package.jar.aot.enabled=true in application.properties</a:t>
            </a:r>
            <a:endParaRPr b="0" i="0" sz="1150" u="none" cap="none" strike="noStrike">
              <a:solidFill>
                <a:schemeClr val="dk1"/>
              </a:solidFill>
              <a:latin typeface="Calibri"/>
              <a:ea typeface="Calibri"/>
              <a:cs typeface="Calibri"/>
              <a:sym typeface="Calibri"/>
            </a:endParaRPr>
          </a:p>
        </p:txBody>
      </p:sp>
      <p:sp>
        <p:nvSpPr>
          <p:cNvPr id="943" name="Google Shape;943;p35"/>
          <p:cNvSpPr/>
          <p:nvPr/>
        </p:nvSpPr>
        <p:spPr>
          <a:xfrm>
            <a:off x="457200" y="3191256"/>
            <a:ext cx="36576" cy="292608"/>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35"/>
          <p:cNvSpPr/>
          <p:nvPr/>
        </p:nvSpPr>
        <p:spPr>
          <a:xfrm>
            <a:off x="621792" y="3172968"/>
            <a:ext cx="51206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150"/>
              <a:buFont typeface="Calibri"/>
              <a:buNone/>
            </a:pPr>
            <a:r>
              <a:rPr b="0" i="0" lang="en-US" sz="1150" u="none" cap="none" strike="noStrike">
                <a:solidFill>
                  <a:srgbClr val="ECF0F1"/>
                </a:solidFill>
                <a:latin typeface="Calibri"/>
                <a:ea typeface="Calibri"/>
                <a:cs typeface="Calibri"/>
                <a:sym typeface="Calibri"/>
              </a:rPr>
              <a:t>Build trains on @QuarkusIntegrationTest suite — Quarkus </a:t>
            </a:r>
            <a:r>
              <a:rPr lang="en-US" sz="1150">
                <a:solidFill>
                  <a:srgbClr val="ECF0F1"/>
                </a:solidFill>
                <a:latin typeface="Calibri"/>
                <a:ea typeface="Calibri"/>
                <a:cs typeface="Calibri"/>
                <a:sym typeface="Calibri"/>
              </a:rPr>
              <a:t>build process handles all the heavy lifting.</a:t>
            </a:r>
            <a:endParaRPr b="0" i="0" sz="1150" u="none" cap="none" strike="noStrike">
              <a:solidFill>
                <a:schemeClr val="dk1"/>
              </a:solidFill>
              <a:latin typeface="Calibri"/>
              <a:ea typeface="Calibri"/>
              <a:cs typeface="Calibri"/>
              <a:sym typeface="Calibri"/>
            </a:endParaRPr>
          </a:p>
        </p:txBody>
      </p:sp>
      <p:sp>
        <p:nvSpPr>
          <p:cNvPr id="945" name="Google Shape;945;p35"/>
          <p:cNvSpPr/>
          <p:nvPr/>
        </p:nvSpPr>
        <p:spPr>
          <a:xfrm>
            <a:off x="457200" y="3621024"/>
            <a:ext cx="36576" cy="292608"/>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35"/>
          <p:cNvSpPr/>
          <p:nvPr/>
        </p:nvSpPr>
        <p:spPr>
          <a:xfrm>
            <a:off x="621792" y="3602736"/>
            <a:ext cx="51206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150"/>
              <a:buFont typeface="Calibri"/>
              <a:buNone/>
            </a:pPr>
            <a:r>
              <a:rPr b="0" i="0" lang="en-US" sz="1150" u="none" cap="none" strike="noStrike">
                <a:solidFill>
                  <a:srgbClr val="ECF0F1"/>
                </a:solidFill>
                <a:latin typeface="Calibri"/>
                <a:ea typeface="Calibri"/>
                <a:cs typeface="Calibri"/>
                <a:sym typeface="Calibri"/>
              </a:rPr>
              <a:t>Output: app.aot alongside quarkus-run.jar — Quarkus sets -XX:AOTCache automatically</a:t>
            </a:r>
            <a:endParaRPr b="0" i="0" sz="1150" u="none" cap="none" strike="noStrike">
              <a:solidFill>
                <a:schemeClr val="dk1"/>
              </a:solidFill>
              <a:latin typeface="Calibri"/>
              <a:ea typeface="Calibri"/>
              <a:cs typeface="Calibri"/>
              <a:sym typeface="Calibri"/>
            </a:endParaRPr>
          </a:p>
        </p:txBody>
      </p:sp>
      <p:sp>
        <p:nvSpPr>
          <p:cNvPr id="947" name="Google Shape;947;p35"/>
          <p:cNvSpPr/>
          <p:nvPr/>
        </p:nvSpPr>
        <p:spPr>
          <a:xfrm>
            <a:off x="457200" y="4050792"/>
            <a:ext cx="36576" cy="292608"/>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35"/>
          <p:cNvSpPr/>
          <p:nvPr/>
        </p:nvSpPr>
        <p:spPr>
          <a:xfrm>
            <a:off x="621792" y="4032504"/>
            <a:ext cx="51206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150"/>
              <a:buFont typeface="Calibri"/>
              <a:buNone/>
            </a:pPr>
            <a:r>
              <a:rPr b="0" i="0" lang="en-US" sz="1150" u="none" cap="none" strike="noStrike">
                <a:solidFill>
                  <a:srgbClr val="ECF0F1"/>
                </a:solidFill>
                <a:latin typeface="Calibri"/>
                <a:ea typeface="Calibri"/>
                <a:cs typeface="Calibri"/>
                <a:sym typeface="Calibri"/>
              </a:rPr>
              <a:t>Compare baseline startup vs AOT cache startup: expect 30-50% improvement</a:t>
            </a:r>
            <a:endParaRPr b="0" i="0" sz="1150" u="none" cap="none" strike="noStrike">
              <a:solidFill>
                <a:schemeClr val="dk1"/>
              </a:solidFill>
              <a:latin typeface="Calibri"/>
              <a:ea typeface="Calibri"/>
              <a:cs typeface="Calibri"/>
              <a:sym typeface="Calibri"/>
            </a:endParaRPr>
          </a:p>
        </p:txBody>
      </p:sp>
      <p:sp>
        <p:nvSpPr>
          <p:cNvPr id="949" name="Google Shape;949;p35"/>
          <p:cNvSpPr/>
          <p:nvPr/>
        </p:nvSpPr>
        <p:spPr>
          <a:xfrm>
            <a:off x="457200" y="4480560"/>
            <a:ext cx="36576" cy="292608"/>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35"/>
          <p:cNvSpPr/>
          <p:nvPr/>
        </p:nvSpPr>
        <p:spPr>
          <a:xfrm>
            <a:off x="621792" y="4462272"/>
            <a:ext cx="51206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150"/>
              <a:buFont typeface="Calibri"/>
              <a:buNone/>
            </a:pPr>
            <a:r>
              <a:rPr b="0" i="0" lang="en-US" sz="1150" u="none" cap="none" strike="noStrike">
                <a:solidFill>
                  <a:srgbClr val="ECF0F1"/>
                </a:solidFill>
                <a:latin typeface="Calibri"/>
                <a:ea typeface="Calibri"/>
                <a:cs typeface="Calibri"/>
                <a:sym typeface="Calibri"/>
              </a:rPr>
              <a:t>Understand the progression: AppCDS (JDK 21) → Leyden AOT (JDK 25) → JDK 26 + ZGC</a:t>
            </a:r>
            <a:endParaRPr b="0" i="0" sz="1150" u="none" cap="none" strike="noStrike">
              <a:solidFill>
                <a:schemeClr val="dk1"/>
              </a:solidFill>
              <a:latin typeface="Calibri"/>
              <a:ea typeface="Calibri"/>
              <a:cs typeface="Calibri"/>
              <a:sym typeface="Calibri"/>
            </a:endParaRPr>
          </a:p>
        </p:txBody>
      </p:sp>
      <p:sp>
        <p:nvSpPr>
          <p:cNvPr id="951" name="Google Shape;951;p35"/>
          <p:cNvSpPr/>
          <p:nvPr/>
        </p:nvSpPr>
        <p:spPr>
          <a:xfrm>
            <a:off x="5989320" y="2450592"/>
            <a:ext cx="2834640" cy="2606040"/>
          </a:xfrm>
          <a:prstGeom prst="rect">
            <a:avLst/>
          </a:prstGeom>
          <a:solidFill>
            <a:srgbClr val="0D2137"/>
          </a:solidFill>
          <a:ln cap="flat" cmpd="sng" w="1905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35"/>
          <p:cNvSpPr/>
          <p:nvPr/>
        </p:nvSpPr>
        <p:spPr>
          <a:xfrm>
            <a:off x="6062472" y="2496312"/>
            <a:ext cx="2688336" cy="2514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quarkus-demo-04-leyden/</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./demo.sh</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application.properties:</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quarkus.package.jar.aot.enabled=true</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Build + train:</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./mvnw verify</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 runs @QuarkusIntegrationTest</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 writes target/quarkus-app/app.aot</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Run with cache:</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java -XX:AOTCache=app.aot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950"/>
              <a:buFont typeface="Courier New"/>
              <a:buNone/>
            </a:pPr>
            <a:r>
              <a:rPr b="0" i="0" lang="en-US" sz="950" u="none" cap="none" strike="noStrike">
                <a:solidFill>
                  <a:srgbClr val="A8D8EA"/>
                </a:solidFill>
                <a:latin typeface="Courier New"/>
                <a:ea typeface="Courier New"/>
                <a:cs typeface="Courier New"/>
                <a:sym typeface="Courier New"/>
              </a:rPr>
              <a:t>     -jar quarkus-run.jar</a:t>
            </a:r>
            <a:endParaRPr b="0" i="0" sz="950" u="none" cap="none" strike="noStrike">
              <a:solidFill>
                <a:schemeClr val="dk1"/>
              </a:solidFill>
              <a:latin typeface="Calibri"/>
              <a:ea typeface="Calibri"/>
              <a:cs typeface="Calibri"/>
              <a:sym typeface="Calibri"/>
            </a:endParaRPr>
          </a:p>
        </p:txBody>
      </p:sp>
      <p:sp>
        <p:nvSpPr>
          <p:cNvPr id="953" name="Google Shape;953;p35"/>
          <p:cNvSpPr/>
          <p:nvPr/>
        </p:nvSpPr>
        <p:spPr>
          <a:xfrm>
            <a:off x="6583680" y="-731520"/>
            <a:ext cx="3200400" cy="3200400"/>
          </a:xfrm>
          <a:prstGeom prst="ellipse">
            <a:avLst/>
          </a:prstGeom>
          <a:noFill/>
          <a:ln cap="flat" cmpd="sng" w="254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35"/>
          <p:cNvSpPr/>
          <p:nvPr/>
        </p:nvSpPr>
        <p:spPr>
          <a:xfrm>
            <a:off x="7406640" y="3474720"/>
            <a:ext cx="2011680" cy="2011680"/>
          </a:xfrm>
          <a:prstGeom prst="ellipse">
            <a:avLst/>
          </a:prstGeom>
          <a:noFill/>
          <a:ln cap="flat" cmpd="sng" w="19050">
            <a:solidFill>
              <a:srgbClr val="1E6F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3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960" name="Shape 960"/>
        <p:cNvGrpSpPr/>
        <p:nvPr/>
      </p:nvGrpSpPr>
      <p:grpSpPr>
        <a:xfrm>
          <a:off x="0" y="0"/>
          <a:ext cx="0" cy="0"/>
          <a:chOff x="0" y="0"/>
          <a:chExt cx="0" cy="0"/>
        </a:xfrm>
      </p:grpSpPr>
      <p:sp>
        <p:nvSpPr>
          <p:cNvPr id="961" name="Google Shape;961;p36"/>
          <p:cNvSpPr/>
          <p:nvPr/>
        </p:nvSpPr>
        <p:spPr>
          <a:xfrm>
            <a:off x="0" y="0"/>
            <a:ext cx="9144000" cy="64020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36"/>
          <p:cNvSpPr/>
          <p:nvPr/>
        </p:nvSpPr>
        <p:spPr>
          <a:xfrm>
            <a:off x="320040" y="9144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200"/>
              <a:buFont typeface="Calibri"/>
              <a:buNone/>
            </a:pPr>
            <a:r>
              <a:rPr b="1" i="0" lang="en-US" sz="2200" u="none" cap="none" strike="noStrike">
                <a:solidFill>
                  <a:srgbClr val="00BCD4"/>
                </a:solidFill>
                <a:latin typeface="Calibri"/>
                <a:ea typeface="Calibri"/>
                <a:cs typeface="Calibri"/>
                <a:sym typeface="Calibri"/>
              </a:rPr>
              <a:t>REST vs gRPC — Inside the Cluster</a:t>
            </a:r>
            <a:endParaRPr b="0" i="0" sz="2200" u="none" cap="none" strike="noStrike">
              <a:solidFill>
                <a:schemeClr val="dk1"/>
              </a:solidFill>
              <a:latin typeface="Calibri"/>
              <a:ea typeface="Calibri"/>
              <a:cs typeface="Calibri"/>
              <a:sym typeface="Calibri"/>
            </a:endParaRPr>
          </a:p>
        </p:txBody>
      </p:sp>
      <p:sp>
        <p:nvSpPr>
          <p:cNvPr id="963" name="Google Shape;963;p36"/>
          <p:cNvSpPr/>
          <p:nvPr/>
        </p:nvSpPr>
        <p:spPr>
          <a:xfrm>
            <a:off x="7772400" y="73152"/>
            <a:ext cx="1234500" cy="493800"/>
          </a:xfrm>
          <a:prstGeom prst="rect">
            <a:avLst/>
          </a:prstGeom>
          <a:solidFill>
            <a:srgbClr val="1E6FC8"/>
          </a:solidFill>
          <a:ln cap="flat" cmpd="sng" w="12700">
            <a:solidFill>
              <a:srgbClr val="1E6F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36"/>
          <p:cNvSpPr/>
          <p:nvPr/>
        </p:nvSpPr>
        <p:spPr>
          <a:xfrm>
            <a:off x="7772400" y="73152"/>
            <a:ext cx="1234500" cy="49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ECF0F1"/>
              </a:buClr>
              <a:buSzPts val="1000"/>
              <a:buFont typeface="Calibri"/>
              <a:buNone/>
            </a:pPr>
            <a:r>
              <a:rPr lang="en-US" sz="1000">
                <a:solidFill>
                  <a:srgbClr val="ECF0F1"/>
                </a:solidFill>
                <a:latin typeface="Calibri"/>
                <a:ea typeface="Calibri"/>
                <a:cs typeface="Calibri"/>
                <a:sym typeface="Calibri"/>
              </a:rPr>
              <a:t>                              </a:t>
            </a:r>
            <a:r>
              <a:rPr lang="en-US" sz="1000">
                <a:solidFill>
                  <a:srgbClr val="ECF0F1"/>
                </a:solidFill>
                <a:latin typeface="Calibri"/>
                <a:ea typeface="Calibri"/>
                <a:cs typeface="Calibri"/>
                <a:sym typeface="Calibri"/>
              </a:rPr>
              <a:t>gRPC</a:t>
            </a:r>
            <a:endParaRPr b="0" i="0" sz="1100" u="none" cap="none" strike="noStrike">
              <a:solidFill>
                <a:schemeClr val="dk1"/>
              </a:solidFill>
              <a:latin typeface="Calibri"/>
              <a:ea typeface="Calibri"/>
              <a:cs typeface="Calibri"/>
              <a:sym typeface="Calibri"/>
            </a:endParaRPr>
          </a:p>
        </p:txBody>
      </p:sp>
      <p:sp>
        <p:nvSpPr>
          <p:cNvPr id="965" name="Google Shape;965;p36"/>
          <p:cNvSpPr/>
          <p:nvPr/>
        </p:nvSpPr>
        <p:spPr>
          <a:xfrm>
            <a:off x="320040" y="749808"/>
            <a:ext cx="4023300" cy="4251900"/>
          </a:xfrm>
          <a:prstGeom prst="rect">
            <a:avLst/>
          </a:prstGeom>
          <a:solidFill>
            <a:srgbClr val="122040"/>
          </a:solidFill>
          <a:ln cap="flat" cmpd="sng" w="25400">
            <a:solidFill>
              <a:srgbClr val="1E6F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36"/>
          <p:cNvSpPr/>
          <p:nvPr/>
        </p:nvSpPr>
        <p:spPr>
          <a:xfrm>
            <a:off x="457200" y="859536"/>
            <a:ext cx="3749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FC8"/>
              </a:buClr>
              <a:buSzPts val="1400"/>
              <a:buFont typeface="Calibri"/>
              <a:buNone/>
            </a:pPr>
            <a:r>
              <a:rPr b="1" i="0" lang="en-US" sz="1400" u="none" cap="none" strike="noStrike">
                <a:solidFill>
                  <a:srgbClr val="1E6FC8"/>
                </a:solidFill>
                <a:latin typeface="Calibri"/>
                <a:ea typeface="Calibri"/>
                <a:cs typeface="Calibri"/>
                <a:sym typeface="Calibri"/>
              </a:rPr>
              <a:t>REST / JSON</a:t>
            </a:r>
            <a:endParaRPr b="0" i="0" sz="1400" u="none" cap="none" strike="noStrike">
              <a:solidFill>
                <a:schemeClr val="dk1"/>
              </a:solidFill>
              <a:latin typeface="Calibri"/>
              <a:ea typeface="Calibri"/>
              <a:cs typeface="Calibri"/>
              <a:sym typeface="Calibri"/>
            </a:endParaRPr>
          </a:p>
        </p:txBody>
      </p:sp>
      <p:sp>
        <p:nvSpPr>
          <p:cNvPr id="967" name="Google Shape;967;p36"/>
          <p:cNvSpPr/>
          <p:nvPr/>
        </p:nvSpPr>
        <p:spPr>
          <a:xfrm>
            <a:off x="457200" y="1252728"/>
            <a:ext cx="1326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000"/>
              <a:buFont typeface="Calibri"/>
              <a:buNone/>
            </a:pPr>
            <a:r>
              <a:rPr b="1" i="0" lang="en-US" sz="1000" u="none" cap="none" strike="noStrike">
                <a:solidFill>
                  <a:srgbClr val="90A4AE"/>
                </a:solidFill>
                <a:latin typeface="Calibri"/>
                <a:ea typeface="Calibri"/>
                <a:cs typeface="Calibri"/>
                <a:sym typeface="Calibri"/>
              </a:rPr>
              <a:t>Protocol</a:t>
            </a:r>
            <a:endParaRPr b="0" i="0" sz="1000" u="none" cap="none" strike="noStrike">
              <a:solidFill>
                <a:schemeClr val="dk1"/>
              </a:solidFill>
              <a:latin typeface="Calibri"/>
              <a:ea typeface="Calibri"/>
              <a:cs typeface="Calibri"/>
              <a:sym typeface="Calibri"/>
            </a:endParaRPr>
          </a:p>
        </p:txBody>
      </p:sp>
      <p:sp>
        <p:nvSpPr>
          <p:cNvPr id="968" name="Google Shape;968;p36"/>
          <p:cNvSpPr/>
          <p:nvPr/>
        </p:nvSpPr>
        <p:spPr>
          <a:xfrm>
            <a:off x="1810512" y="1252728"/>
            <a:ext cx="2423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HTTP/1.1 (or 2)</a:t>
            </a:r>
            <a:endParaRPr b="0" i="0" sz="1050" u="none" cap="none" strike="noStrike">
              <a:solidFill>
                <a:schemeClr val="dk1"/>
              </a:solidFill>
              <a:latin typeface="Calibri"/>
              <a:ea typeface="Calibri"/>
              <a:cs typeface="Calibri"/>
              <a:sym typeface="Calibri"/>
            </a:endParaRPr>
          </a:p>
        </p:txBody>
      </p:sp>
      <p:sp>
        <p:nvSpPr>
          <p:cNvPr id="969" name="Google Shape;969;p36"/>
          <p:cNvSpPr/>
          <p:nvPr/>
        </p:nvSpPr>
        <p:spPr>
          <a:xfrm>
            <a:off x="457200" y="1700784"/>
            <a:ext cx="1326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000"/>
              <a:buFont typeface="Calibri"/>
              <a:buNone/>
            </a:pPr>
            <a:r>
              <a:rPr b="1" i="0" lang="en-US" sz="1000" u="none" cap="none" strike="noStrike">
                <a:solidFill>
                  <a:srgbClr val="90A4AE"/>
                </a:solidFill>
                <a:latin typeface="Calibri"/>
                <a:ea typeface="Calibri"/>
                <a:cs typeface="Calibri"/>
                <a:sym typeface="Calibri"/>
              </a:rPr>
              <a:t>Format</a:t>
            </a:r>
            <a:endParaRPr b="0" i="0" sz="1000" u="none" cap="none" strike="noStrike">
              <a:solidFill>
                <a:schemeClr val="dk1"/>
              </a:solidFill>
              <a:latin typeface="Calibri"/>
              <a:ea typeface="Calibri"/>
              <a:cs typeface="Calibri"/>
              <a:sym typeface="Calibri"/>
            </a:endParaRPr>
          </a:p>
        </p:txBody>
      </p:sp>
      <p:sp>
        <p:nvSpPr>
          <p:cNvPr id="970" name="Google Shape;970;p36"/>
          <p:cNvSpPr/>
          <p:nvPr/>
        </p:nvSpPr>
        <p:spPr>
          <a:xfrm>
            <a:off x="1810512" y="1700784"/>
            <a:ext cx="2423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JSON text  (~220 bytes)</a:t>
            </a:r>
            <a:endParaRPr b="0" i="0" sz="1050" u="none" cap="none" strike="noStrike">
              <a:solidFill>
                <a:schemeClr val="dk1"/>
              </a:solidFill>
              <a:latin typeface="Calibri"/>
              <a:ea typeface="Calibri"/>
              <a:cs typeface="Calibri"/>
              <a:sym typeface="Calibri"/>
            </a:endParaRPr>
          </a:p>
        </p:txBody>
      </p:sp>
      <p:sp>
        <p:nvSpPr>
          <p:cNvPr id="971" name="Google Shape;971;p36"/>
          <p:cNvSpPr/>
          <p:nvPr/>
        </p:nvSpPr>
        <p:spPr>
          <a:xfrm>
            <a:off x="457200" y="2148840"/>
            <a:ext cx="1326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000"/>
              <a:buFont typeface="Calibri"/>
              <a:buNone/>
            </a:pPr>
            <a:r>
              <a:rPr b="1" i="0" lang="en-US" sz="1000" u="none" cap="none" strike="noStrike">
                <a:solidFill>
                  <a:srgbClr val="90A4AE"/>
                </a:solidFill>
                <a:latin typeface="Calibri"/>
                <a:ea typeface="Calibri"/>
                <a:cs typeface="Calibri"/>
                <a:sym typeface="Calibri"/>
              </a:rPr>
              <a:t>Connection</a:t>
            </a:r>
            <a:endParaRPr b="0" i="0" sz="1000" u="none" cap="none" strike="noStrike">
              <a:solidFill>
                <a:schemeClr val="dk1"/>
              </a:solidFill>
              <a:latin typeface="Calibri"/>
              <a:ea typeface="Calibri"/>
              <a:cs typeface="Calibri"/>
              <a:sym typeface="Calibri"/>
            </a:endParaRPr>
          </a:p>
        </p:txBody>
      </p:sp>
      <p:sp>
        <p:nvSpPr>
          <p:cNvPr id="972" name="Google Shape;972;p36"/>
          <p:cNvSpPr/>
          <p:nvPr/>
        </p:nvSpPr>
        <p:spPr>
          <a:xfrm>
            <a:off x="1810512" y="2148840"/>
            <a:ext cx="2423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New per request</a:t>
            </a:r>
            <a:endParaRPr b="0" i="0" sz="1050" u="none" cap="none" strike="noStrike">
              <a:solidFill>
                <a:schemeClr val="dk1"/>
              </a:solidFill>
              <a:latin typeface="Calibri"/>
              <a:ea typeface="Calibri"/>
              <a:cs typeface="Calibri"/>
              <a:sym typeface="Calibri"/>
            </a:endParaRPr>
          </a:p>
        </p:txBody>
      </p:sp>
      <p:sp>
        <p:nvSpPr>
          <p:cNvPr id="973" name="Google Shape;973;p36"/>
          <p:cNvSpPr/>
          <p:nvPr/>
        </p:nvSpPr>
        <p:spPr>
          <a:xfrm>
            <a:off x="457200" y="2596896"/>
            <a:ext cx="1326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000"/>
              <a:buFont typeface="Calibri"/>
              <a:buNone/>
            </a:pPr>
            <a:r>
              <a:rPr b="1" i="0" lang="en-US" sz="1000" u="none" cap="none" strike="noStrike">
                <a:solidFill>
                  <a:srgbClr val="90A4AE"/>
                </a:solidFill>
                <a:latin typeface="Calibri"/>
                <a:ea typeface="Calibri"/>
                <a:cs typeface="Calibri"/>
                <a:sym typeface="Calibri"/>
              </a:rPr>
              <a:t>Streaming</a:t>
            </a:r>
            <a:endParaRPr b="0" i="0" sz="1000" u="none" cap="none" strike="noStrike">
              <a:solidFill>
                <a:schemeClr val="dk1"/>
              </a:solidFill>
              <a:latin typeface="Calibri"/>
              <a:ea typeface="Calibri"/>
              <a:cs typeface="Calibri"/>
              <a:sym typeface="Calibri"/>
            </a:endParaRPr>
          </a:p>
        </p:txBody>
      </p:sp>
      <p:sp>
        <p:nvSpPr>
          <p:cNvPr id="974" name="Google Shape;974;p36"/>
          <p:cNvSpPr/>
          <p:nvPr/>
        </p:nvSpPr>
        <p:spPr>
          <a:xfrm>
            <a:off x="1810512" y="2596896"/>
            <a:ext cx="2423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SSE / WebSocket only</a:t>
            </a:r>
            <a:endParaRPr b="0" i="0" sz="1050" u="none" cap="none" strike="noStrike">
              <a:solidFill>
                <a:schemeClr val="dk1"/>
              </a:solidFill>
              <a:latin typeface="Calibri"/>
              <a:ea typeface="Calibri"/>
              <a:cs typeface="Calibri"/>
              <a:sym typeface="Calibri"/>
            </a:endParaRPr>
          </a:p>
        </p:txBody>
      </p:sp>
      <p:sp>
        <p:nvSpPr>
          <p:cNvPr id="975" name="Google Shape;975;p36"/>
          <p:cNvSpPr/>
          <p:nvPr/>
        </p:nvSpPr>
        <p:spPr>
          <a:xfrm>
            <a:off x="457200" y="3044952"/>
            <a:ext cx="1326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000"/>
              <a:buFont typeface="Calibri"/>
              <a:buNone/>
            </a:pPr>
            <a:r>
              <a:rPr b="1" i="0" lang="en-US" sz="1000" u="none" cap="none" strike="noStrike">
                <a:solidFill>
                  <a:srgbClr val="90A4AE"/>
                </a:solidFill>
                <a:latin typeface="Calibri"/>
                <a:ea typeface="Calibri"/>
                <a:cs typeface="Calibri"/>
                <a:sym typeface="Calibri"/>
              </a:rPr>
              <a:t>Debugging</a:t>
            </a:r>
            <a:endParaRPr b="0" i="0" sz="1000" u="none" cap="none" strike="noStrike">
              <a:solidFill>
                <a:schemeClr val="dk1"/>
              </a:solidFill>
              <a:latin typeface="Calibri"/>
              <a:ea typeface="Calibri"/>
              <a:cs typeface="Calibri"/>
              <a:sym typeface="Calibri"/>
            </a:endParaRPr>
          </a:p>
        </p:txBody>
      </p:sp>
      <p:sp>
        <p:nvSpPr>
          <p:cNvPr id="976" name="Google Shape;976;p36"/>
          <p:cNvSpPr/>
          <p:nvPr/>
        </p:nvSpPr>
        <p:spPr>
          <a:xfrm>
            <a:off x="1810512" y="3044952"/>
            <a:ext cx="2423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curl friendly  ✅</a:t>
            </a:r>
            <a:endParaRPr b="0" i="0" sz="1050" u="none" cap="none" strike="noStrike">
              <a:solidFill>
                <a:schemeClr val="dk1"/>
              </a:solidFill>
              <a:latin typeface="Calibri"/>
              <a:ea typeface="Calibri"/>
              <a:cs typeface="Calibri"/>
              <a:sym typeface="Calibri"/>
            </a:endParaRPr>
          </a:p>
        </p:txBody>
      </p:sp>
      <p:sp>
        <p:nvSpPr>
          <p:cNvPr id="977" name="Google Shape;977;p36"/>
          <p:cNvSpPr/>
          <p:nvPr/>
        </p:nvSpPr>
        <p:spPr>
          <a:xfrm>
            <a:off x="457200" y="3493008"/>
            <a:ext cx="1326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000"/>
              <a:buFont typeface="Calibri"/>
              <a:buNone/>
            </a:pPr>
            <a:r>
              <a:rPr b="1" i="0" lang="en-US" sz="1000" u="none" cap="none" strike="noStrike">
                <a:solidFill>
                  <a:srgbClr val="90A4AE"/>
                </a:solidFill>
                <a:latin typeface="Calibri"/>
                <a:ea typeface="Calibri"/>
                <a:cs typeface="Calibri"/>
                <a:sym typeface="Calibri"/>
              </a:rPr>
              <a:t>Clients</a:t>
            </a:r>
            <a:endParaRPr b="0" i="0" sz="1000" u="none" cap="none" strike="noStrike">
              <a:solidFill>
                <a:schemeClr val="dk1"/>
              </a:solidFill>
              <a:latin typeface="Calibri"/>
              <a:ea typeface="Calibri"/>
              <a:cs typeface="Calibri"/>
              <a:sym typeface="Calibri"/>
            </a:endParaRPr>
          </a:p>
        </p:txBody>
      </p:sp>
      <p:sp>
        <p:nvSpPr>
          <p:cNvPr id="978" name="Google Shape;978;p36"/>
          <p:cNvSpPr/>
          <p:nvPr/>
        </p:nvSpPr>
        <p:spPr>
          <a:xfrm>
            <a:off x="1810512" y="3493008"/>
            <a:ext cx="2423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Browser native  ✅</a:t>
            </a:r>
            <a:endParaRPr b="0" i="0" sz="1050" u="none" cap="none" strike="noStrike">
              <a:solidFill>
                <a:schemeClr val="dk1"/>
              </a:solidFill>
              <a:latin typeface="Calibri"/>
              <a:ea typeface="Calibri"/>
              <a:cs typeface="Calibri"/>
              <a:sym typeface="Calibri"/>
            </a:endParaRPr>
          </a:p>
        </p:txBody>
      </p:sp>
      <p:sp>
        <p:nvSpPr>
          <p:cNvPr id="979" name="Google Shape;979;p36"/>
          <p:cNvSpPr/>
          <p:nvPr/>
        </p:nvSpPr>
        <p:spPr>
          <a:xfrm>
            <a:off x="457200" y="3941064"/>
            <a:ext cx="1326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000"/>
              <a:buFont typeface="Calibri"/>
              <a:buNone/>
            </a:pPr>
            <a:r>
              <a:rPr b="1" i="0" lang="en-US" sz="1000" u="none" cap="none" strike="noStrike">
                <a:solidFill>
                  <a:srgbClr val="90A4AE"/>
                </a:solidFill>
                <a:latin typeface="Calibri"/>
                <a:ea typeface="Calibri"/>
                <a:cs typeface="Calibri"/>
                <a:sym typeface="Calibri"/>
              </a:rPr>
              <a:t>Best for</a:t>
            </a:r>
            <a:endParaRPr b="0" i="0" sz="1000" u="none" cap="none" strike="noStrike">
              <a:solidFill>
                <a:schemeClr val="dk1"/>
              </a:solidFill>
              <a:latin typeface="Calibri"/>
              <a:ea typeface="Calibri"/>
              <a:cs typeface="Calibri"/>
              <a:sym typeface="Calibri"/>
            </a:endParaRPr>
          </a:p>
        </p:txBody>
      </p:sp>
      <p:sp>
        <p:nvSpPr>
          <p:cNvPr id="980" name="Google Shape;980;p36"/>
          <p:cNvSpPr/>
          <p:nvPr/>
        </p:nvSpPr>
        <p:spPr>
          <a:xfrm>
            <a:off x="1810512" y="3941064"/>
            <a:ext cx="2423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Public APIs</a:t>
            </a:r>
            <a:endParaRPr b="0" i="0" sz="1050" u="none" cap="none" strike="noStrike">
              <a:solidFill>
                <a:schemeClr val="dk1"/>
              </a:solidFill>
              <a:latin typeface="Calibri"/>
              <a:ea typeface="Calibri"/>
              <a:cs typeface="Calibri"/>
              <a:sym typeface="Calibri"/>
            </a:endParaRPr>
          </a:p>
        </p:txBody>
      </p:sp>
      <p:sp>
        <p:nvSpPr>
          <p:cNvPr id="981" name="Google Shape;981;p36"/>
          <p:cNvSpPr/>
          <p:nvPr/>
        </p:nvSpPr>
        <p:spPr>
          <a:xfrm>
            <a:off x="4169664" y="2587752"/>
            <a:ext cx="804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4855"/>
              </a:buClr>
              <a:buSzPts val="1800"/>
              <a:buFont typeface="Calibri"/>
              <a:buNone/>
            </a:pPr>
            <a:r>
              <a:rPr b="1" i="0" lang="en-US" sz="1800" u="none" cap="none" strike="noStrike">
                <a:solidFill>
                  <a:srgbClr val="E84855"/>
                </a:solidFill>
                <a:latin typeface="Calibri"/>
                <a:ea typeface="Calibri"/>
                <a:cs typeface="Calibri"/>
                <a:sym typeface="Calibri"/>
              </a:rPr>
              <a:t>VS</a:t>
            </a:r>
            <a:endParaRPr b="0" i="0" sz="1800" u="none" cap="none" strike="noStrike">
              <a:solidFill>
                <a:schemeClr val="dk1"/>
              </a:solidFill>
              <a:latin typeface="Calibri"/>
              <a:ea typeface="Calibri"/>
              <a:cs typeface="Calibri"/>
              <a:sym typeface="Calibri"/>
            </a:endParaRPr>
          </a:p>
        </p:txBody>
      </p:sp>
      <p:sp>
        <p:nvSpPr>
          <p:cNvPr id="982" name="Google Shape;982;p36"/>
          <p:cNvSpPr/>
          <p:nvPr/>
        </p:nvSpPr>
        <p:spPr>
          <a:xfrm>
            <a:off x="4800600" y="749808"/>
            <a:ext cx="4023300" cy="4251900"/>
          </a:xfrm>
          <a:prstGeom prst="rect">
            <a:avLst/>
          </a:prstGeom>
          <a:solidFill>
            <a:srgbClr val="122040"/>
          </a:solidFill>
          <a:ln cap="flat" cmpd="sng" w="254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36"/>
          <p:cNvSpPr/>
          <p:nvPr/>
        </p:nvSpPr>
        <p:spPr>
          <a:xfrm>
            <a:off x="4937760" y="859536"/>
            <a:ext cx="3749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400"/>
              <a:buFont typeface="Calibri"/>
              <a:buNone/>
            </a:pPr>
            <a:r>
              <a:rPr b="1" i="0" lang="en-US" sz="1400" u="none" cap="none" strike="noStrike">
                <a:solidFill>
                  <a:srgbClr val="00BCD4"/>
                </a:solidFill>
                <a:latin typeface="Calibri"/>
                <a:ea typeface="Calibri"/>
                <a:cs typeface="Calibri"/>
                <a:sym typeface="Calibri"/>
              </a:rPr>
              <a:t>gRPC / Protobuf</a:t>
            </a:r>
            <a:endParaRPr b="0" i="0" sz="1400" u="none" cap="none" strike="noStrike">
              <a:solidFill>
                <a:schemeClr val="dk1"/>
              </a:solidFill>
              <a:latin typeface="Calibri"/>
              <a:ea typeface="Calibri"/>
              <a:cs typeface="Calibri"/>
              <a:sym typeface="Calibri"/>
            </a:endParaRPr>
          </a:p>
        </p:txBody>
      </p:sp>
      <p:sp>
        <p:nvSpPr>
          <p:cNvPr id="984" name="Google Shape;984;p36"/>
          <p:cNvSpPr/>
          <p:nvPr/>
        </p:nvSpPr>
        <p:spPr>
          <a:xfrm>
            <a:off x="4937760" y="1252728"/>
            <a:ext cx="1326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000"/>
              <a:buFont typeface="Calibri"/>
              <a:buNone/>
            </a:pPr>
            <a:r>
              <a:rPr b="1" i="0" lang="en-US" sz="1000" u="none" cap="none" strike="noStrike">
                <a:solidFill>
                  <a:srgbClr val="90A4AE"/>
                </a:solidFill>
                <a:latin typeface="Calibri"/>
                <a:ea typeface="Calibri"/>
                <a:cs typeface="Calibri"/>
                <a:sym typeface="Calibri"/>
              </a:rPr>
              <a:t>Protocol</a:t>
            </a:r>
            <a:endParaRPr b="0" i="0" sz="1000" u="none" cap="none" strike="noStrike">
              <a:solidFill>
                <a:schemeClr val="dk1"/>
              </a:solidFill>
              <a:latin typeface="Calibri"/>
              <a:ea typeface="Calibri"/>
              <a:cs typeface="Calibri"/>
              <a:sym typeface="Calibri"/>
            </a:endParaRPr>
          </a:p>
        </p:txBody>
      </p:sp>
      <p:sp>
        <p:nvSpPr>
          <p:cNvPr id="985" name="Google Shape;985;p36"/>
          <p:cNvSpPr/>
          <p:nvPr/>
        </p:nvSpPr>
        <p:spPr>
          <a:xfrm>
            <a:off x="6291072" y="1252728"/>
            <a:ext cx="2423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HTTP/2 always</a:t>
            </a:r>
            <a:endParaRPr b="0" i="0" sz="1050" u="none" cap="none" strike="noStrike">
              <a:solidFill>
                <a:schemeClr val="dk1"/>
              </a:solidFill>
              <a:latin typeface="Calibri"/>
              <a:ea typeface="Calibri"/>
              <a:cs typeface="Calibri"/>
              <a:sym typeface="Calibri"/>
            </a:endParaRPr>
          </a:p>
        </p:txBody>
      </p:sp>
      <p:sp>
        <p:nvSpPr>
          <p:cNvPr id="986" name="Google Shape;986;p36"/>
          <p:cNvSpPr/>
          <p:nvPr/>
        </p:nvSpPr>
        <p:spPr>
          <a:xfrm>
            <a:off x="4937760" y="1700784"/>
            <a:ext cx="1326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000"/>
              <a:buFont typeface="Calibri"/>
              <a:buNone/>
            </a:pPr>
            <a:r>
              <a:rPr b="1" i="0" lang="en-US" sz="1000" u="none" cap="none" strike="noStrike">
                <a:solidFill>
                  <a:srgbClr val="90A4AE"/>
                </a:solidFill>
                <a:latin typeface="Calibri"/>
                <a:ea typeface="Calibri"/>
                <a:cs typeface="Calibri"/>
                <a:sym typeface="Calibri"/>
              </a:rPr>
              <a:t>Format</a:t>
            </a:r>
            <a:endParaRPr b="0" i="0" sz="1000" u="none" cap="none" strike="noStrike">
              <a:solidFill>
                <a:schemeClr val="dk1"/>
              </a:solidFill>
              <a:latin typeface="Calibri"/>
              <a:ea typeface="Calibri"/>
              <a:cs typeface="Calibri"/>
              <a:sym typeface="Calibri"/>
            </a:endParaRPr>
          </a:p>
        </p:txBody>
      </p:sp>
      <p:sp>
        <p:nvSpPr>
          <p:cNvPr id="987" name="Google Shape;987;p36"/>
          <p:cNvSpPr/>
          <p:nvPr/>
        </p:nvSpPr>
        <p:spPr>
          <a:xfrm>
            <a:off x="6291072" y="1700784"/>
            <a:ext cx="2423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Binary Protobuf  (~40 bytes)</a:t>
            </a:r>
            <a:endParaRPr b="0" i="0" sz="1050" u="none" cap="none" strike="noStrike">
              <a:solidFill>
                <a:schemeClr val="dk1"/>
              </a:solidFill>
              <a:latin typeface="Calibri"/>
              <a:ea typeface="Calibri"/>
              <a:cs typeface="Calibri"/>
              <a:sym typeface="Calibri"/>
            </a:endParaRPr>
          </a:p>
        </p:txBody>
      </p:sp>
      <p:sp>
        <p:nvSpPr>
          <p:cNvPr id="988" name="Google Shape;988;p36"/>
          <p:cNvSpPr/>
          <p:nvPr/>
        </p:nvSpPr>
        <p:spPr>
          <a:xfrm>
            <a:off x="4937760" y="2148840"/>
            <a:ext cx="1326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000"/>
              <a:buFont typeface="Calibri"/>
              <a:buNone/>
            </a:pPr>
            <a:r>
              <a:rPr b="1" i="0" lang="en-US" sz="1000" u="none" cap="none" strike="noStrike">
                <a:solidFill>
                  <a:srgbClr val="90A4AE"/>
                </a:solidFill>
                <a:latin typeface="Calibri"/>
                <a:ea typeface="Calibri"/>
                <a:cs typeface="Calibri"/>
                <a:sym typeface="Calibri"/>
              </a:rPr>
              <a:t>Connection</a:t>
            </a:r>
            <a:endParaRPr b="0" i="0" sz="1000" u="none" cap="none" strike="noStrike">
              <a:solidFill>
                <a:schemeClr val="dk1"/>
              </a:solidFill>
              <a:latin typeface="Calibri"/>
              <a:ea typeface="Calibri"/>
              <a:cs typeface="Calibri"/>
              <a:sym typeface="Calibri"/>
            </a:endParaRPr>
          </a:p>
        </p:txBody>
      </p:sp>
      <p:sp>
        <p:nvSpPr>
          <p:cNvPr id="989" name="Google Shape;989;p36"/>
          <p:cNvSpPr/>
          <p:nvPr/>
        </p:nvSpPr>
        <p:spPr>
          <a:xfrm>
            <a:off x="6291072" y="2148840"/>
            <a:ext cx="2423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Multiplexed, persistent</a:t>
            </a:r>
            <a:endParaRPr b="0" i="0" sz="1050" u="none" cap="none" strike="noStrike">
              <a:solidFill>
                <a:schemeClr val="dk1"/>
              </a:solidFill>
              <a:latin typeface="Calibri"/>
              <a:ea typeface="Calibri"/>
              <a:cs typeface="Calibri"/>
              <a:sym typeface="Calibri"/>
            </a:endParaRPr>
          </a:p>
        </p:txBody>
      </p:sp>
      <p:sp>
        <p:nvSpPr>
          <p:cNvPr id="990" name="Google Shape;990;p36"/>
          <p:cNvSpPr/>
          <p:nvPr/>
        </p:nvSpPr>
        <p:spPr>
          <a:xfrm>
            <a:off x="4937760" y="2596896"/>
            <a:ext cx="1326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000"/>
              <a:buFont typeface="Calibri"/>
              <a:buNone/>
            </a:pPr>
            <a:r>
              <a:rPr b="1" i="0" lang="en-US" sz="1000" u="none" cap="none" strike="noStrike">
                <a:solidFill>
                  <a:srgbClr val="90A4AE"/>
                </a:solidFill>
                <a:latin typeface="Calibri"/>
                <a:ea typeface="Calibri"/>
                <a:cs typeface="Calibri"/>
                <a:sym typeface="Calibri"/>
              </a:rPr>
              <a:t>Streaming</a:t>
            </a:r>
            <a:endParaRPr b="0" i="0" sz="1000" u="none" cap="none" strike="noStrike">
              <a:solidFill>
                <a:schemeClr val="dk1"/>
              </a:solidFill>
              <a:latin typeface="Calibri"/>
              <a:ea typeface="Calibri"/>
              <a:cs typeface="Calibri"/>
              <a:sym typeface="Calibri"/>
            </a:endParaRPr>
          </a:p>
        </p:txBody>
      </p:sp>
      <p:sp>
        <p:nvSpPr>
          <p:cNvPr id="991" name="Google Shape;991;p36"/>
          <p:cNvSpPr/>
          <p:nvPr/>
        </p:nvSpPr>
        <p:spPr>
          <a:xfrm>
            <a:off x="6291072" y="2596896"/>
            <a:ext cx="2423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Built-in (4 modes)  ✅</a:t>
            </a:r>
            <a:endParaRPr b="0" i="0" sz="1050" u="none" cap="none" strike="noStrike">
              <a:solidFill>
                <a:schemeClr val="dk1"/>
              </a:solidFill>
              <a:latin typeface="Calibri"/>
              <a:ea typeface="Calibri"/>
              <a:cs typeface="Calibri"/>
              <a:sym typeface="Calibri"/>
            </a:endParaRPr>
          </a:p>
        </p:txBody>
      </p:sp>
      <p:sp>
        <p:nvSpPr>
          <p:cNvPr id="992" name="Google Shape;992;p36"/>
          <p:cNvSpPr/>
          <p:nvPr/>
        </p:nvSpPr>
        <p:spPr>
          <a:xfrm>
            <a:off x="4937760" y="3044952"/>
            <a:ext cx="1326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000"/>
              <a:buFont typeface="Calibri"/>
              <a:buNone/>
            </a:pPr>
            <a:r>
              <a:rPr b="1" i="0" lang="en-US" sz="1000" u="none" cap="none" strike="noStrike">
                <a:solidFill>
                  <a:srgbClr val="90A4AE"/>
                </a:solidFill>
                <a:latin typeface="Calibri"/>
                <a:ea typeface="Calibri"/>
                <a:cs typeface="Calibri"/>
                <a:sym typeface="Calibri"/>
              </a:rPr>
              <a:t>Debugging</a:t>
            </a:r>
            <a:endParaRPr b="0" i="0" sz="1000" u="none" cap="none" strike="noStrike">
              <a:solidFill>
                <a:schemeClr val="dk1"/>
              </a:solidFill>
              <a:latin typeface="Calibri"/>
              <a:ea typeface="Calibri"/>
              <a:cs typeface="Calibri"/>
              <a:sym typeface="Calibri"/>
            </a:endParaRPr>
          </a:p>
        </p:txBody>
      </p:sp>
      <p:sp>
        <p:nvSpPr>
          <p:cNvPr id="993" name="Google Shape;993;p36"/>
          <p:cNvSpPr/>
          <p:nvPr/>
        </p:nvSpPr>
        <p:spPr>
          <a:xfrm>
            <a:off x="6291072" y="3044952"/>
            <a:ext cx="2423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Needs grpcurl / Postman</a:t>
            </a:r>
            <a:endParaRPr b="0" i="0" sz="1050" u="none" cap="none" strike="noStrike">
              <a:solidFill>
                <a:schemeClr val="dk1"/>
              </a:solidFill>
              <a:latin typeface="Calibri"/>
              <a:ea typeface="Calibri"/>
              <a:cs typeface="Calibri"/>
              <a:sym typeface="Calibri"/>
            </a:endParaRPr>
          </a:p>
        </p:txBody>
      </p:sp>
      <p:sp>
        <p:nvSpPr>
          <p:cNvPr id="994" name="Google Shape;994;p36"/>
          <p:cNvSpPr/>
          <p:nvPr/>
        </p:nvSpPr>
        <p:spPr>
          <a:xfrm>
            <a:off x="4937760" y="3493008"/>
            <a:ext cx="1326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000"/>
              <a:buFont typeface="Calibri"/>
              <a:buNone/>
            </a:pPr>
            <a:r>
              <a:rPr b="1" i="0" lang="en-US" sz="1000" u="none" cap="none" strike="noStrike">
                <a:solidFill>
                  <a:srgbClr val="90A4AE"/>
                </a:solidFill>
                <a:latin typeface="Calibri"/>
                <a:ea typeface="Calibri"/>
                <a:cs typeface="Calibri"/>
                <a:sym typeface="Calibri"/>
              </a:rPr>
              <a:t>Clients</a:t>
            </a:r>
            <a:endParaRPr b="0" i="0" sz="1000" u="none" cap="none" strike="noStrike">
              <a:solidFill>
                <a:schemeClr val="dk1"/>
              </a:solidFill>
              <a:latin typeface="Calibri"/>
              <a:ea typeface="Calibri"/>
              <a:cs typeface="Calibri"/>
              <a:sym typeface="Calibri"/>
            </a:endParaRPr>
          </a:p>
        </p:txBody>
      </p:sp>
      <p:sp>
        <p:nvSpPr>
          <p:cNvPr id="995" name="Google Shape;995;p36"/>
          <p:cNvSpPr/>
          <p:nvPr/>
        </p:nvSpPr>
        <p:spPr>
          <a:xfrm>
            <a:off x="6291072" y="3493008"/>
            <a:ext cx="2423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Generated stubs</a:t>
            </a:r>
            <a:endParaRPr b="0" i="0" sz="1050" u="none" cap="none" strike="noStrike">
              <a:solidFill>
                <a:schemeClr val="dk1"/>
              </a:solidFill>
              <a:latin typeface="Calibri"/>
              <a:ea typeface="Calibri"/>
              <a:cs typeface="Calibri"/>
              <a:sym typeface="Calibri"/>
            </a:endParaRPr>
          </a:p>
        </p:txBody>
      </p:sp>
      <p:sp>
        <p:nvSpPr>
          <p:cNvPr id="996" name="Google Shape;996;p36"/>
          <p:cNvSpPr/>
          <p:nvPr/>
        </p:nvSpPr>
        <p:spPr>
          <a:xfrm>
            <a:off x="4937760" y="3941064"/>
            <a:ext cx="1326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000"/>
              <a:buFont typeface="Calibri"/>
              <a:buNone/>
            </a:pPr>
            <a:r>
              <a:rPr b="1" i="0" lang="en-US" sz="1000" u="none" cap="none" strike="noStrike">
                <a:solidFill>
                  <a:srgbClr val="90A4AE"/>
                </a:solidFill>
                <a:latin typeface="Calibri"/>
                <a:ea typeface="Calibri"/>
                <a:cs typeface="Calibri"/>
                <a:sym typeface="Calibri"/>
              </a:rPr>
              <a:t>Best for</a:t>
            </a:r>
            <a:endParaRPr b="0" i="0" sz="1000" u="none" cap="none" strike="noStrike">
              <a:solidFill>
                <a:schemeClr val="dk1"/>
              </a:solidFill>
              <a:latin typeface="Calibri"/>
              <a:ea typeface="Calibri"/>
              <a:cs typeface="Calibri"/>
              <a:sym typeface="Calibri"/>
            </a:endParaRPr>
          </a:p>
        </p:txBody>
      </p:sp>
      <p:sp>
        <p:nvSpPr>
          <p:cNvPr id="997" name="Google Shape;997;p36"/>
          <p:cNvSpPr/>
          <p:nvPr/>
        </p:nvSpPr>
        <p:spPr>
          <a:xfrm>
            <a:off x="6291072" y="3941064"/>
            <a:ext cx="2423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Internal microservices</a:t>
            </a:r>
            <a:endParaRPr b="0" i="0" sz="1050" u="none" cap="none" strike="noStrike">
              <a:solidFill>
                <a:schemeClr val="dk1"/>
              </a:solidFill>
              <a:latin typeface="Calibri"/>
              <a:ea typeface="Calibri"/>
              <a:cs typeface="Calibri"/>
              <a:sym typeface="Calibri"/>
            </a:endParaRPr>
          </a:p>
        </p:txBody>
      </p:sp>
      <p:sp>
        <p:nvSpPr>
          <p:cNvPr id="998" name="Google Shape;998;p36"/>
          <p:cNvSpPr/>
          <p:nvPr/>
        </p:nvSpPr>
        <p:spPr>
          <a:xfrm>
            <a:off x="320040" y="5074920"/>
            <a:ext cx="8503800" cy="475500"/>
          </a:xfrm>
          <a:prstGeom prst="rect">
            <a:avLst/>
          </a:prstGeom>
          <a:solidFill>
            <a:srgbClr val="0D2137"/>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36"/>
          <p:cNvSpPr/>
          <p:nvPr/>
        </p:nvSpPr>
        <p:spPr>
          <a:xfrm>
            <a:off x="457200" y="5120640"/>
            <a:ext cx="8229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050"/>
              <a:buFont typeface="Calibri"/>
              <a:buNone/>
            </a:pPr>
            <a:r>
              <a:rPr b="0" i="1" lang="en-US" sz="1050" u="none" cap="none" strike="noStrike">
                <a:solidFill>
                  <a:srgbClr val="00BCD4"/>
                </a:solidFill>
                <a:latin typeface="Calibri"/>
                <a:ea typeface="Calibri"/>
                <a:cs typeface="Calibri"/>
                <a:sym typeface="Calibri"/>
              </a:rPr>
              <a:t>🔴 Streaming: REST needs WebSocket or SSE boilerplate  |  gRPC: just return Multi&lt;MetricsResponse&gt;</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004" name="Shape 1004"/>
        <p:cNvGrpSpPr/>
        <p:nvPr/>
      </p:nvGrpSpPr>
      <p:grpSpPr>
        <a:xfrm>
          <a:off x="0" y="0"/>
          <a:ext cx="0" cy="0"/>
          <a:chOff x="0" y="0"/>
          <a:chExt cx="0" cy="0"/>
        </a:xfrm>
      </p:grpSpPr>
      <p:sp>
        <p:nvSpPr>
          <p:cNvPr id="1005" name="Google Shape;1005;p37"/>
          <p:cNvSpPr/>
          <p:nvPr/>
        </p:nvSpPr>
        <p:spPr>
          <a:xfrm>
            <a:off x="0" y="0"/>
            <a:ext cx="9144000" cy="64020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37"/>
          <p:cNvSpPr/>
          <p:nvPr/>
        </p:nvSpPr>
        <p:spPr>
          <a:xfrm>
            <a:off x="320040" y="9144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200"/>
              <a:buFont typeface="Calibri"/>
              <a:buNone/>
            </a:pPr>
            <a:r>
              <a:rPr b="1" i="0" lang="en-US" sz="2200" u="none" cap="none" strike="noStrike">
                <a:solidFill>
                  <a:srgbClr val="00BCD4"/>
                </a:solidFill>
                <a:latin typeface="Calibri"/>
                <a:ea typeface="Calibri"/>
                <a:cs typeface="Calibri"/>
                <a:sym typeface="Calibri"/>
              </a:rPr>
              <a:t>gRPC in Quarkus 3.33.1 — Setup &amp; Benchmarks (production projection · localhost: REST wins)</a:t>
            </a:r>
            <a:endParaRPr b="0" i="0" sz="2200" u="none" cap="none" strike="noStrike">
              <a:solidFill>
                <a:schemeClr val="dk1"/>
              </a:solidFill>
              <a:latin typeface="Calibri"/>
              <a:ea typeface="Calibri"/>
              <a:cs typeface="Calibri"/>
              <a:sym typeface="Calibri"/>
            </a:endParaRPr>
          </a:p>
        </p:txBody>
      </p:sp>
      <p:sp>
        <p:nvSpPr>
          <p:cNvPr id="1007" name="Google Shape;1007;p37"/>
          <p:cNvSpPr/>
          <p:nvPr/>
        </p:nvSpPr>
        <p:spPr>
          <a:xfrm>
            <a:off x="7772400" y="73152"/>
            <a:ext cx="1234500" cy="493800"/>
          </a:xfrm>
          <a:prstGeom prst="rect">
            <a:avLst/>
          </a:prstGeom>
          <a:solidFill>
            <a:srgbClr val="1E6FC8"/>
          </a:solidFill>
          <a:ln cap="flat" cmpd="sng" w="12700">
            <a:solidFill>
              <a:srgbClr val="1E6F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37"/>
          <p:cNvSpPr/>
          <p:nvPr/>
        </p:nvSpPr>
        <p:spPr>
          <a:xfrm>
            <a:off x="7772400" y="73152"/>
            <a:ext cx="1234500" cy="493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lang="en-US" sz="1000">
                <a:solidFill>
                  <a:srgbClr val="FFFFFF"/>
                </a:solidFill>
                <a:latin typeface="Calibri"/>
                <a:ea typeface="Calibri"/>
                <a:cs typeface="Calibri"/>
                <a:sym typeface="Calibri"/>
              </a:rPr>
              <a:t>                              gRPC</a:t>
            </a:r>
            <a:endParaRPr b="0" i="0" sz="1000" u="none" cap="none" strike="noStrike">
              <a:solidFill>
                <a:schemeClr val="dk1"/>
              </a:solidFill>
              <a:latin typeface="Calibri"/>
              <a:ea typeface="Calibri"/>
              <a:cs typeface="Calibri"/>
              <a:sym typeface="Calibri"/>
            </a:endParaRPr>
          </a:p>
        </p:txBody>
      </p:sp>
      <p:sp>
        <p:nvSpPr>
          <p:cNvPr id="1009" name="Google Shape;1009;p37"/>
          <p:cNvSpPr/>
          <p:nvPr/>
        </p:nvSpPr>
        <p:spPr>
          <a:xfrm>
            <a:off x="320040" y="749808"/>
            <a:ext cx="2743200" cy="1389900"/>
          </a:xfrm>
          <a:prstGeom prst="rect">
            <a:avLst/>
          </a:prstGeom>
          <a:solidFill>
            <a:srgbClr val="122040"/>
          </a:solidFill>
          <a:ln cap="flat" cmpd="sng" w="254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37"/>
          <p:cNvSpPr/>
          <p:nvPr/>
        </p:nvSpPr>
        <p:spPr>
          <a:xfrm>
            <a:off x="429768" y="804672"/>
            <a:ext cx="2523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000"/>
              <a:buFont typeface="Calibri"/>
              <a:buNone/>
            </a:pPr>
            <a:r>
              <a:rPr b="1" i="0" lang="en-US" sz="1000" u="none" cap="none" strike="noStrike">
                <a:solidFill>
                  <a:srgbClr val="90A4AE"/>
                </a:solidFill>
                <a:latin typeface="Calibri"/>
                <a:ea typeface="Calibri"/>
                <a:cs typeface="Calibri"/>
                <a:sym typeface="Calibri"/>
              </a:rPr>
              <a:t>Throughput</a:t>
            </a:r>
            <a:endParaRPr b="0" i="0" sz="1000" u="none" cap="none" strike="noStrike">
              <a:solidFill>
                <a:schemeClr val="dk1"/>
              </a:solidFill>
              <a:latin typeface="Calibri"/>
              <a:ea typeface="Calibri"/>
              <a:cs typeface="Calibri"/>
              <a:sym typeface="Calibri"/>
            </a:endParaRPr>
          </a:p>
        </p:txBody>
      </p:sp>
      <p:sp>
        <p:nvSpPr>
          <p:cNvPr id="1011" name="Google Shape;1011;p37"/>
          <p:cNvSpPr/>
          <p:nvPr/>
        </p:nvSpPr>
        <p:spPr>
          <a:xfrm>
            <a:off x="429768" y="1042416"/>
            <a:ext cx="25236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3000"/>
              <a:buFont typeface="Calibri"/>
              <a:buNone/>
            </a:pPr>
            <a:r>
              <a:rPr b="1" i="0" lang="en-US" sz="3000" u="none" cap="none" strike="noStrike">
                <a:solidFill>
                  <a:srgbClr val="00BCD4"/>
                </a:solidFill>
                <a:latin typeface="Calibri"/>
                <a:ea typeface="Calibri"/>
                <a:cs typeface="Calibri"/>
                <a:sym typeface="Calibri"/>
              </a:rPr>
              <a:t>~3–4×</a:t>
            </a:r>
            <a:endParaRPr b="0" i="0" sz="3000" u="none" cap="none" strike="noStrike">
              <a:solidFill>
                <a:schemeClr val="dk1"/>
              </a:solidFill>
              <a:latin typeface="Calibri"/>
              <a:ea typeface="Calibri"/>
              <a:cs typeface="Calibri"/>
              <a:sym typeface="Calibri"/>
            </a:endParaRPr>
          </a:p>
        </p:txBody>
      </p:sp>
      <p:sp>
        <p:nvSpPr>
          <p:cNvPr id="1012" name="Google Shape;1012;p37"/>
          <p:cNvSpPr/>
          <p:nvPr/>
        </p:nvSpPr>
        <p:spPr>
          <a:xfrm>
            <a:off x="429768" y="1536192"/>
            <a:ext cx="25236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00"/>
              <a:buFont typeface="Calibri"/>
              <a:buNone/>
            </a:pPr>
            <a:r>
              <a:rPr b="0" i="0" lang="en-US" sz="900" u="none" cap="none" strike="noStrike">
                <a:solidFill>
                  <a:srgbClr val="90A4AE"/>
                </a:solidFill>
                <a:latin typeface="Calibri"/>
                <a:ea typeface="Calibri"/>
                <a:cs typeface="Calibri"/>
                <a:sym typeface="Calibri"/>
              </a:rPr>
              <a:t>Production pod-to-pod (projection)</a:t>
            </a:r>
            <a:endParaRPr b="0" i="0" sz="900" u="none" cap="none" strike="noStrike">
              <a:solidFill>
                <a:schemeClr val="dk1"/>
              </a:solidFill>
              <a:latin typeface="Calibri"/>
              <a:ea typeface="Calibri"/>
              <a:cs typeface="Calibri"/>
              <a:sym typeface="Calibri"/>
            </a:endParaRPr>
          </a:p>
        </p:txBody>
      </p:sp>
      <p:sp>
        <p:nvSpPr>
          <p:cNvPr id="1013" name="Google Shape;1013;p37"/>
          <p:cNvSpPr/>
          <p:nvPr/>
        </p:nvSpPr>
        <p:spPr>
          <a:xfrm>
            <a:off x="3264408" y="749808"/>
            <a:ext cx="2743200" cy="1389900"/>
          </a:xfrm>
          <a:prstGeom prst="rect">
            <a:avLst/>
          </a:prstGeom>
          <a:solidFill>
            <a:srgbClr val="122040"/>
          </a:solidFill>
          <a:ln cap="flat" cmpd="sng" w="2540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37"/>
          <p:cNvSpPr/>
          <p:nvPr/>
        </p:nvSpPr>
        <p:spPr>
          <a:xfrm>
            <a:off x="3374136" y="804672"/>
            <a:ext cx="2523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000"/>
              <a:buFont typeface="Calibri"/>
              <a:buNone/>
            </a:pPr>
            <a:r>
              <a:rPr b="1" i="0" lang="en-US" sz="1000" u="none" cap="none" strike="noStrike">
                <a:solidFill>
                  <a:srgbClr val="90A4AE"/>
                </a:solidFill>
                <a:latin typeface="Calibri"/>
                <a:ea typeface="Calibri"/>
                <a:cs typeface="Calibri"/>
                <a:sym typeface="Calibri"/>
              </a:rPr>
              <a:t>Localhost unary</a:t>
            </a:r>
            <a:endParaRPr b="0" i="0" sz="1000" u="none" cap="none" strike="noStrike">
              <a:solidFill>
                <a:schemeClr val="dk1"/>
              </a:solidFill>
              <a:latin typeface="Calibri"/>
              <a:ea typeface="Calibri"/>
              <a:cs typeface="Calibri"/>
              <a:sym typeface="Calibri"/>
            </a:endParaRPr>
          </a:p>
        </p:txBody>
      </p:sp>
      <p:sp>
        <p:nvSpPr>
          <p:cNvPr id="1015" name="Google Shape;1015;p37"/>
          <p:cNvSpPr/>
          <p:nvPr/>
        </p:nvSpPr>
        <p:spPr>
          <a:xfrm>
            <a:off x="3374136" y="1042416"/>
            <a:ext cx="25236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3000"/>
              <a:buFont typeface="Calibri"/>
              <a:buNone/>
            </a:pPr>
            <a:r>
              <a:rPr b="1" i="0" lang="en-US" sz="3000" u="none" cap="none" strike="noStrike">
                <a:solidFill>
                  <a:srgbClr val="27AE60"/>
                </a:solidFill>
                <a:latin typeface="Calibri"/>
                <a:ea typeface="Calibri"/>
                <a:cs typeface="Calibri"/>
                <a:sym typeface="Calibri"/>
              </a:rPr>
              <a:t>REST wins</a:t>
            </a:r>
            <a:endParaRPr b="0" i="0" sz="3000" u="none" cap="none" strike="noStrike">
              <a:solidFill>
                <a:schemeClr val="dk1"/>
              </a:solidFill>
              <a:latin typeface="Calibri"/>
              <a:ea typeface="Calibri"/>
              <a:cs typeface="Calibri"/>
              <a:sym typeface="Calibri"/>
            </a:endParaRPr>
          </a:p>
        </p:txBody>
      </p:sp>
      <p:sp>
        <p:nvSpPr>
          <p:cNvPr id="1016" name="Google Shape;1016;p37"/>
          <p:cNvSpPr/>
          <p:nvPr/>
        </p:nvSpPr>
        <p:spPr>
          <a:xfrm>
            <a:off x="3374136" y="1536192"/>
            <a:ext cx="25236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00"/>
              <a:buFont typeface="Calibri"/>
              <a:buNone/>
            </a:pPr>
            <a:r>
              <a:rPr b="0" i="0" lang="en-US" sz="900" u="none" cap="none" strike="noStrike">
                <a:solidFill>
                  <a:srgbClr val="90A4AE"/>
                </a:solidFill>
                <a:latin typeface="Calibri"/>
                <a:ea typeface="Calibri"/>
                <a:cs typeface="Calibri"/>
                <a:sym typeface="Calibri"/>
              </a:rPr>
              <a:t>REST 26.7k · gRPC 10.2k rps</a:t>
            </a:r>
            <a:endParaRPr b="0" i="0" sz="900" u="none" cap="none" strike="noStrike">
              <a:solidFill>
                <a:schemeClr val="dk1"/>
              </a:solidFill>
              <a:latin typeface="Calibri"/>
              <a:ea typeface="Calibri"/>
              <a:cs typeface="Calibri"/>
              <a:sym typeface="Calibri"/>
            </a:endParaRPr>
          </a:p>
        </p:txBody>
      </p:sp>
      <p:sp>
        <p:nvSpPr>
          <p:cNvPr id="1017" name="Google Shape;1017;p37"/>
          <p:cNvSpPr/>
          <p:nvPr/>
        </p:nvSpPr>
        <p:spPr>
          <a:xfrm>
            <a:off x="6208776" y="749808"/>
            <a:ext cx="2743200" cy="1389900"/>
          </a:xfrm>
          <a:prstGeom prst="rect">
            <a:avLst/>
          </a:prstGeom>
          <a:solidFill>
            <a:srgbClr val="122040"/>
          </a:solidFill>
          <a:ln cap="flat" cmpd="sng" w="25400">
            <a:solidFill>
              <a:srgbClr val="E848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37"/>
          <p:cNvSpPr/>
          <p:nvPr/>
        </p:nvSpPr>
        <p:spPr>
          <a:xfrm>
            <a:off x="6318504" y="804672"/>
            <a:ext cx="2523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000"/>
              <a:buFont typeface="Calibri"/>
              <a:buNone/>
            </a:pPr>
            <a:r>
              <a:rPr b="1" i="0" lang="en-US" sz="1000" u="none" cap="none" strike="noStrike">
                <a:solidFill>
                  <a:srgbClr val="90A4AE"/>
                </a:solidFill>
                <a:latin typeface="Calibri"/>
                <a:ea typeface="Calibri"/>
                <a:cs typeface="Calibri"/>
                <a:sym typeface="Calibri"/>
              </a:rPr>
              <a:t>p50 latency (prod)</a:t>
            </a:r>
            <a:endParaRPr b="0" i="0" sz="1000" u="none" cap="none" strike="noStrike">
              <a:solidFill>
                <a:schemeClr val="dk1"/>
              </a:solidFill>
              <a:latin typeface="Calibri"/>
              <a:ea typeface="Calibri"/>
              <a:cs typeface="Calibri"/>
              <a:sym typeface="Calibri"/>
            </a:endParaRPr>
          </a:p>
        </p:txBody>
      </p:sp>
      <p:sp>
        <p:nvSpPr>
          <p:cNvPr id="1019" name="Google Shape;1019;p37"/>
          <p:cNvSpPr/>
          <p:nvPr/>
        </p:nvSpPr>
        <p:spPr>
          <a:xfrm>
            <a:off x="6318504" y="1042416"/>
            <a:ext cx="25236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855"/>
              </a:buClr>
              <a:buSzPts val="3000"/>
              <a:buFont typeface="Calibri"/>
              <a:buNone/>
            </a:pPr>
            <a:r>
              <a:rPr b="1" i="0" lang="en-US" sz="3000" u="none" cap="none" strike="noStrike">
                <a:solidFill>
                  <a:srgbClr val="E84855"/>
                </a:solidFill>
                <a:latin typeface="Calibri"/>
                <a:ea typeface="Calibri"/>
                <a:cs typeface="Calibri"/>
                <a:sym typeface="Calibri"/>
              </a:rPr>
              <a:t>~73%</a:t>
            </a:r>
            <a:endParaRPr b="0" i="0" sz="3000" u="none" cap="none" strike="noStrike">
              <a:solidFill>
                <a:schemeClr val="dk1"/>
              </a:solidFill>
              <a:latin typeface="Calibri"/>
              <a:ea typeface="Calibri"/>
              <a:cs typeface="Calibri"/>
              <a:sym typeface="Calibri"/>
            </a:endParaRPr>
          </a:p>
        </p:txBody>
      </p:sp>
      <p:sp>
        <p:nvSpPr>
          <p:cNvPr id="1020" name="Google Shape;1020;p37"/>
          <p:cNvSpPr/>
          <p:nvPr/>
        </p:nvSpPr>
        <p:spPr>
          <a:xfrm>
            <a:off x="6318504" y="1536192"/>
            <a:ext cx="25236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00"/>
              <a:buFont typeface="Calibri"/>
              <a:buNone/>
            </a:pPr>
            <a:r>
              <a:rPr b="0" i="0" lang="en-US" sz="900" u="none" cap="none" strike="noStrike">
                <a:solidFill>
                  <a:srgbClr val="90A4AE"/>
                </a:solidFill>
                <a:latin typeface="Calibri"/>
                <a:ea typeface="Calibri"/>
                <a:cs typeface="Calibri"/>
                <a:sym typeface="Calibri"/>
              </a:rPr>
              <a:t>Projection; localhost REST wins</a:t>
            </a:r>
            <a:endParaRPr b="0" i="0" sz="900" u="none" cap="none" strike="noStrike">
              <a:solidFill>
                <a:schemeClr val="dk1"/>
              </a:solidFill>
              <a:latin typeface="Calibri"/>
              <a:ea typeface="Calibri"/>
              <a:cs typeface="Calibri"/>
              <a:sym typeface="Calibri"/>
            </a:endParaRPr>
          </a:p>
        </p:txBody>
      </p:sp>
      <p:sp>
        <p:nvSpPr>
          <p:cNvPr id="1021" name="Google Shape;1021;p37"/>
          <p:cNvSpPr/>
          <p:nvPr/>
        </p:nvSpPr>
        <p:spPr>
          <a:xfrm>
            <a:off x="320040" y="2249424"/>
            <a:ext cx="8503800" cy="2523600"/>
          </a:xfrm>
          <a:prstGeom prst="rect">
            <a:avLst/>
          </a:prstGeom>
          <a:solidFill>
            <a:srgbClr val="0D2137"/>
          </a:solidFill>
          <a:ln cap="flat" cmpd="sng" w="12700">
            <a:solidFill>
              <a:srgbClr val="1E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37"/>
          <p:cNvSpPr/>
          <p:nvPr/>
        </p:nvSpPr>
        <p:spPr>
          <a:xfrm>
            <a:off x="475488" y="2331720"/>
            <a:ext cx="8229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00"/>
              <a:buFont typeface="Consolas"/>
              <a:buNone/>
            </a:pPr>
            <a:r>
              <a:rPr b="0" i="0" lang="en-US" sz="900" u="none" cap="none" strike="noStrike">
                <a:solidFill>
                  <a:srgbClr val="90A4AE"/>
                </a:solidFill>
                <a:latin typeface="Consolas"/>
                <a:ea typeface="Consolas"/>
                <a:cs typeface="Consolas"/>
                <a:sym typeface="Consolas"/>
              </a:rPr>
              <a:t>// 1. One dependency in pom.xml</a:t>
            </a:r>
            <a:endParaRPr b="0" i="0" sz="900" u="none" cap="none" strike="noStrike">
              <a:solidFill>
                <a:schemeClr val="dk1"/>
              </a:solidFill>
              <a:latin typeface="Calibri"/>
              <a:ea typeface="Calibri"/>
              <a:cs typeface="Calibri"/>
              <a:sym typeface="Calibri"/>
            </a:endParaRPr>
          </a:p>
        </p:txBody>
      </p:sp>
      <p:sp>
        <p:nvSpPr>
          <p:cNvPr id="1023" name="Google Shape;1023;p37"/>
          <p:cNvSpPr/>
          <p:nvPr/>
        </p:nvSpPr>
        <p:spPr>
          <a:xfrm>
            <a:off x="475488" y="2606040"/>
            <a:ext cx="8229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900"/>
              <a:buFont typeface="Consolas"/>
              <a:buNone/>
            </a:pPr>
            <a:r>
              <a:rPr b="0" i="0" lang="en-US" sz="900" u="none" cap="none" strike="noStrike">
                <a:solidFill>
                  <a:srgbClr val="00BCD4"/>
                </a:solidFill>
                <a:latin typeface="Consolas"/>
                <a:ea typeface="Consolas"/>
                <a:cs typeface="Consolas"/>
                <a:sym typeface="Consolas"/>
              </a:rPr>
              <a:t>&lt;dependency&gt;&lt;groupId&gt;io.quarkus&lt;/groupId&gt;&lt;artifactId&gt;quarkus-grpc&lt;/artifactId&gt;&lt;/dependency&gt;</a:t>
            </a:r>
            <a:endParaRPr b="0" i="0" sz="900" u="none" cap="none" strike="noStrike">
              <a:solidFill>
                <a:schemeClr val="dk1"/>
              </a:solidFill>
              <a:latin typeface="Calibri"/>
              <a:ea typeface="Calibri"/>
              <a:cs typeface="Calibri"/>
              <a:sym typeface="Calibri"/>
            </a:endParaRPr>
          </a:p>
        </p:txBody>
      </p:sp>
      <p:sp>
        <p:nvSpPr>
          <p:cNvPr id="1024" name="Google Shape;1024;p37"/>
          <p:cNvSpPr/>
          <p:nvPr/>
        </p:nvSpPr>
        <p:spPr>
          <a:xfrm>
            <a:off x="475488" y="2880360"/>
            <a:ext cx="8229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00"/>
              <a:buFont typeface="Consolas"/>
              <a:buNone/>
            </a:pPr>
            <a:r>
              <a:rPr b="0" i="0" lang="en-US" sz="900" u="none" cap="none" strike="noStrike">
                <a:solidFill>
                  <a:srgbClr val="90A4AE"/>
                </a:solidFill>
                <a:latin typeface="Consolas"/>
                <a:ea typeface="Consolas"/>
                <a:cs typeface="Consolas"/>
                <a:sym typeface="Consolas"/>
              </a:rPr>
              <a:t>// 2. Define contract in src/main/proto/metrics.proto  →  stubs generated at mvn compile</a:t>
            </a:r>
            <a:endParaRPr b="0" i="0" sz="900" u="none" cap="none" strike="noStrike">
              <a:solidFill>
                <a:schemeClr val="dk1"/>
              </a:solidFill>
              <a:latin typeface="Calibri"/>
              <a:ea typeface="Calibri"/>
              <a:cs typeface="Calibri"/>
              <a:sym typeface="Calibri"/>
            </a:endParaRPr>
          </a:p>
        </p:txBody>
      </p:sp>
      <p:sp>
        <p:nvSpPr>
          <p:cNvPr id="1025" name="Google Shape;1025;p37"/>
          <p:cNvSpPr/>
          <p:nvPr/>
        </p:nvSpPr>
        <p:spPr>
          <a:xfrm>
            <a:off x="475488" y="3154680"/>
            <a:ext cx="8229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00"/>
              <a:buFont typeface="Consolas"/>
              <a:buNone/>
            </a:pPr>
            <a:r>
              <a:rPr b="0" i="0" lang="en-US" sz="900" u="none" cap="none" strike="noStrike">
                <a:solidFill>
                  <a:srgbClr val="90A4AE"/>
                </a:solidFill>
                <a:latin typeface="Consolas"/>
                <a:ea typeface="Consolas"/>
                <a:cs typeface="Consolas"/>
                <a:sym typeface="Consolas"/>
              </a:rPr>
              <a:t>// 3. Implement</a:t>
            </a:r>
            <a:endParaRPr b="0" i="0" sz="900" u="none" cap="none" strike="noStrike">
              <a:solidFill>
                <a:schemeClr val="dk1"/>
              </a:solidFill>
              <a:latin typeface="Calibri"/>
              <a:ea typeface="Calibri"/>
              <a:cs typeface="Calibri"/>
              <a:sym typeface="Calibri"/>
            </a:endParaRPr>
          </a:p>
        </p:txBody>
      </p:sp>
      <p:sp>
        <p:nvSpPr>
          <p:cNvPr id="1026" name="Google Shape;1026;p37"/>
          <p:cNvSpPr/>
          <p:nvPr/>
        </p:nvSpPr>
        <p:spPr>
          <a:xfrm>
            <a:off x="475488" y="3429000"/>
            <a:ext cx="8229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855"/>
              </a:buClr>
              <a:buSzPts val="900"/>
              <a:buFont typeface="Consolas"/>
              <a:buNone/>
            </a:pPr>
            <a:r>
              <a:rPr b="0" i="0" lang="en-US" sz="900" u="none" cap="none" strike="noStrike">
                <a:solidFill>
                  <a:srgbClr val="E84855"/>
                </a:solidFill>
                <a:latin typeface="Consolas"/>
                <a:ea typeface="Consolas"/>
                <a:cs typeface="Consolas"/>
                <a:sym typeface="Consolas"/>
              </a:rPr>
              <a:t>@GrpcService</a:t>
            </a:r>
            <a:endParaRPr b="0" i="0" sz="900" u="none" cap="none" strike="noStrike">
              <a:solidFill>
                <a:schemeClr val="dk1"/>
              </a:solidFill>
              <a:latin typeface="Calibri"/>
              <a:ea typeface="Calibri"/>
              <a:cs typeface="Calibri"/>
              <a:sym typeface="Calibri"/>
            </a:endParaRPr>
          </a:p>
        </p:txBody>
      </p:sp>
      <p:sp>
        <p:nvSpPr>
          <p:cNvPr id="1027" name="Google Shape;1027;p37"/>
          <p:cNvSpPr/>
          <p:nvPr/>
        </p:nvSpPr>
        <p:spPr>
          <a:xfrm>
            <a:off x="475488" y="3703320"/>
            <a:ext cx="8229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900"/>
              <a:buFont typeface="Consolas"/>
              <a:buNone/>
            </a:pPr>
            <a:r>
              <a:rPr b="0" i="0" lang="en-US" sz="900" u="none" cap="none" strike="noStrike">
                <a:solidFill>
                  <a:srgbClr val="ECF0F1"/>
                </a:solidFill>
                <a:latin typeface="Consolas"/>
                <a:ea typeface="Consolas"/>
                <a:cs typeface="Consolas"/>
                <a:sym typeface="Consolas"/>
              </a:rPr>
              <a:t>public class MetricsServiceImpl extends MutinyMetricsServiceGrpc.MetricsServiceImplBase {</a:t>
            </a:r>
            <a:endParaRPr b="0" i="0" sz="900" u="none" cap="none" strike="noStrike">
              <a:solidFill>
                <a:schemeClr val="dk1"/>
              </a:solidFill>
              <a:latin typeface="Calibri"/>
              <a:ea typeface="Calibri"/>
              <a:cs typeface="Calibri"/>
              <a:sym typeface="Calibri"/>
            </a:endParaRPr>
          </a:p>
        </p:txBody>
      </p:sp>
      <p:sp>
        <p:nvSpPr>
          <p:cNvPr id="1028" name="Google Shape;1028;p37"/>
          <p:cNvSpPr/>
          <p:nvPr/>
        </p:nvSpPr>
        <p:spPr>
          <a:xfrm>
            <a:off x="475488" y="3977640"/>
            <a:ext cx="8229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900"/>
              <a:buFont typeface="Consolas"/>
              <a:buNone/>
            </a:pPr>
            <a:r>
              <a:rPr b="0" i="0" lang="en-US" sz="900" u="none" cap="none" strike="noStrike">
                <a:solidFill>
                  <a:srgbClr val="ECF0F1"/>
                </a:solidFill>
                <a:latin typeface="Consolas"/>
                <a:ea typeface="Consolas"/>
                <a:cs typeface="Consolas"/>
                <a:sym typeface="Consolas"/>
              </a:rPr>
              <a:t>    public Multi&lt;MetricsResponse&gt; streamMetrics(MetricsRequest req) {</a:t>
            </a:r>
            <a:endParaRPr b="0" i="0" sz="900" u="none" cap="none" strike="noStrike">
              <a:solidFill>
                <a:schemeClr val="dk1"/>
              </a:solidFill>
              <a:latin typeface="Calibri"/>
              <a:ea typeface="Calibri"/>
              <a:cs typeface="Calibri"/>
              <a:sym typeface="Calibri"/>
            </a:endParaRPr>
          </a:p>
        </p:txBody>
      </p:sp>
      <p:sp>
        <p:nvSpPr>
          <p:cNvPr id="1029" name="Google Shape;1029;p37"/>
          <p:cNvSpPr/>
          <p:nvPr/>
        </p:nvSpPr>
        <p:spPr>
          <a:xfrm>
            <a:off x="475488" y="4251960"/>
            <a:ext cx="8229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900"/>
              <a:buFont typeface="Consolas"/>
              <a:buNone/>
            </a:pPr>
            <a:r>
              <a:rPr b="0" i="0" lang="en-US" sz="900" u="none" cap="none" strike="noStrike">
                <a:solidFill>
                  <a:srgbClr val="00BCD4"/>
                </a:solidFill>
                <a:latin typeface="Consolas"/>
                <a:ea typeface="Consolas"/>
                <a:cs typeface="Consolas"/>
                <a:sym typeface="Consolas"/>
              </a:rPr>
              <a:t>        return Multi.createFrom().ticks().every(Duration.ofSeconds(1)).map(t -&gt; buildMetrics()); }}</a:t>
            </a:r>
            <a:endParaRPr b="0" i="0" sz="900" u="none" cap="none" strike="noStrike">
              <a:solidFill>
                <a:schemeClr val="dk1"/>
              </a:solidFill>
              <a:latin typeface="Calibri"/>
              <a:ea typeface="Calibri"/>
              <a:cs typeface="Calibri"/>
              <a:sym typeface="Calibri"/>
            </a:endParaRPr>
          </a:p>
        </p:txBody>
      </p:sp>
      <p:sp>
        <p:nvSpPr>
          <p:cNvPr id="1030" name="Google Shape;1030;p37"/>
          <p:cNvSpPr/>
          <p:nvPr/>
        </p:nvSpPr>
        <p:spPr>
          <a:xfrm>
            <a:off x="320040" y="4828032"/>
            <a:ext cx="8503800" cy="731400"/>
          </a:xfrm>
          <a:prstGeom prst="rect">
            <a:avLst/>
          </a:prstGeom>
          <a:solidFill>
            <a:srgbClr val="0D2137"/>
          </a:solidFill>
          <a:ln cap="flat" cmpd="sng" w="12700">
            <a:solidFill>
              <a:srgbClr val="1E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37"/>
          <p:cNvSpPr/>
          <p:nvPr/>
        </p:nvSpPr>
        <p:spPr>
          <a:xfrm>
            <a:off x="457200" y="4873752"/>
            <a:ext cx="8229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950"/>
              <a:buFont typeface="Consolas"/>
              <a:buNone/>
            </a:pPr>
            <a:r>
              <a:rPr b="0" i="0" lang="en-US" sz="950" u="none" cap="none" strike="noStrike">
                <a:solidFill>
                  <a:srgbClr val="00BCD4"/>
                </a:solidFill>
                <a:latin typeface="Consolas"/>
                <a:ea typeface="Consolas"/>
                <a:cs typeface="Consolas"/>
                <a:sym typeface="Consolas"/>
              </a:rPr>
              <a:t>ghz --insecure --proto metrics.proto --call MetricsService/GetJvmMetrics -n 10000 -c 50 localhost:9000</a:t>
            </a:r>
            <a:endParaRPr b="0" i="0" sz="950" u="none" cap="none" strike="noStrike">
              <a:solidFill>
                <a:schemeClr val="dk1"/>
              </a:solidFill>
              <a:latin typeface="Calibri"/>
              <a:ea typeface="Calibri"/>
              <a:cs typeface="Calibri"/>
              <a:sym typeface="Calibri"/>
            </a:endParaRPr>
          </a:p>
        </p:txBody>
      </p:sp>
      <p:sp>
        <p:nvSpPr>
          <p:cNvPr id="1032" name="Google Shape;1032;p37"/>
          <p:cNvSpPr/>
          <p:nvPr/>
        </p:nvSpPr>
        <p:spPr>
          <a:xfrm>
            <a:off x="457200" y="5157216"/>
            <a:ext cx="8229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50"/>
              <a:buFont typeface="Consolas"/>
              <a:buNone/>
            </a:pPr>
            <a:r>
              <a:rPr b="0" i="0" lang="en-US" sz="950" u="none" cap="none" strike="noStrike">
                <a:solidFill>
                  <a:srgbClr val="90A4AE"/>
                </a:solidFill>
                <a:latin typeface="Consolas"/>
                <a:ea typeface="Consolas"/>
                <a:cs typeface="Consolas"/>
                <a:sym typeface="Consolas"/>
              </a:rPr>
              <a:t>hey -n 10000 -c 50 http://localhost:8080/metrics            ← REST comparison</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037" name="Shape 1037"/>
        <p:cNvGrpSpPr/>
        <p:nvPr/>
      </p:nvGrpSpPr>
      <p:grpSpPr>
        <a:xfrm>
          <a:off x="0" y="0"/>
          <a:ext cx="0" cy="0"/>
          <a:chOff x="0" y="0"/>
          <a:chExt cx="0" cy="0"/>
        </a:xfrm>
      </p:grpSpPr>
      <p:sp>
        <p:nvSpPr>
          <p:cNvPr id="1038" name="Google Shape;1038;p38"/>
          <p:cNvSpPr/>
          <p:nvPr/>
        </p:nvSpPr>
        <p:spPr>
          <a:xfrm>
            <a:off x="0" y="0"/>
            <a:ext cx="9144000" cy="64020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38"/>
          <p:cNvSpPr/>
          <p:nvPr/>
        </p:nvSpPr>
        <p:spPr>
          <a:xfrm>
            <a:off x="365760" y="0"/>
            <a:ext cx="68580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000"/>
              <a:buFont typeface="Calibri"/>
              <a:buNone/>
            </a:pPr>
            <a:r>
              <a:rPr b="1" lang="en-US" sz="2000">
                <a:solidFill>
                  <a:srgbClr val="00BCD4"/>
                </a:solidFill>
                <a:latin typeface="Calibri"/>
                <a:ea typeface="Calibri"/>
                <a:cs typeface="Calibri"/>
                <a:sym typeface="Calibri"/>
              </a:rPr>
              <a:t>REST vs gRPC</a:t>
            </a:r>
            <a:endParaRPr b="0" i="0" sz="2000" u="none" cap="none" strike="noStrike">
              <a:solidFill>
                <a:schemeClr val="dk1"/>
              </a:solidFill>
              <a:latin typeface="Calibri"/>
              <a:ea typeface="Calibri"/>
              <a:cs typeface="Calibri"/>
              <a:sym typeface="Calibri"/>
            </a:endParaRPr>
          </a:p>
        </p:txBody>
      </p:sp>
      <p:sp>
        <p:nvSpPr>
          <p:cNvPr id="1040" name="Google Shape;1040;p38"/>
          <p:cNvSpPr/>
          <p:nvPr/>
        </p:nvSpPr>
        <p:spPr>
          <a:xfrm>
            <a:off x="7315200" y="73152"/>
            <a:ext cx="1645800" cy="502800"/>
          </a:xfrm>
          <a:prstGeom prst="rect">
            <a:avLst/>
          </a:prstGeom>
          <a:solidFill>
            <a:srgbClr val="1E6FC8"/>
          </a:solidFill>
          <a:ln>
            <a:noFill/>
          </a:ln>
        </p:spPr>
        <p:txBody>
          <a:bodyPr anchorCtr="0" anchor="ctr" bIns="0" lIns="0" spcFirstLastPara="1" rIns="76200" wrap="square" tIns="76200">
            <a:noAutofit/>
          </a:bodyPr>
          <a:lstStyle/>
          <a:p>
            <a:pPr indent="0" lvl="0" marL="0" marR="0" rtl="0" algn="ctr">
              <a:spcBef>
                <a:spcPts val="0"/>
              </a:spcBef>
              <a:spcAft>
                <a:spcPts val="0"/>
              </a:spcAft>
              <a:buClr>
                <a:srgbClr val="ECF0F1"/>
              </a:buClr>
              <a:buSzPts val="1000"/>
              <a:buFont typeface="Calibri"/>
              <a:buNone/>
            </a:pPr>
            <a:r>
              <a:rPr lang="en-US" sz="1000">
                <a:solidFill>
                  <a:srgbClr val="ECF0F1"/>
                </a:solidFill>
                <a:latin typeface="Calibri"/>
                <a:ea typeface="Calibri"/>
                <a:cs typeface="Calibri"/>
                <a:sym typeface="Calibri"/>
              </a:rPr>
              <a:t>                                             gRPC</a:t>
            </a:r>
            <a:endParaRPr b="0" i="0" sz="1000" u="none" cap="none" strike="noStrike">
              <a:solidFill>
                <a:schemeClr val="dk1"/>
              </a:solidFill>
              <a:latin typeface="Calibri"/>
              <a:ea typeface="Calibri"/>
              <a:cs typeface="Calibri"/>
              <a:sym typeface="Calibri"/>
            </a:endParaRPr>
          </a:p>
        </p:txBody>
      </p:sp>
      <p:sp>
        <p:nvSpPr>
          <p:cNvPr id="1041" name="Google Shape;1041;p38"/>
          <p:cNvSpPr/>
          <p:nvPr/>
        </p:nvSpPr>
        <p:spPr>
          <a:xfrm>
            <a:off x="0" y="4960620"/>
            <a:ext cx="9144000" cy="18300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38"/>
          <p:cNvSpPr/>
          <p:nvPr/>
        </p:nvSpPr>
        <p:spPr>
          <a:xfrm>
            <a:off x="365760" y="4956048"/>
            <a:ext cx="84126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00"/>
              <a:buFont typeface="Calibri"/>
              <a:buNone/>
            </a:pPr>
            <a:r>
              <a:rPr b="0" i="0" lang="en-US" sz="900" u="none" cap="none" strike="noStrike">
                <a:solidFill>
                  <a:srgbClr val="ECF0F1"/>
                </a:solidFill>
                <a:latin typeface="Calibri"/>
                <a:ea typeface="Calibri"/>
                <a:cs typeface="Calibri"/>
                <a:sym typeface="Calibri"/>
              </a:rPr>
              <a:t>Taming the JVM: Java Optimization on OpenShift</a:t>
            </a:r>
            <a:endParaRPr b="0" i="0" sz="900" u="none" cap="none" strike="noStrike">
              <a:solidFill>
                <a:schemeClr val="dk1"/>
              </a:solidFill>
              <a:latin typeface="Calibri"/>
              <a:ea typeface="Calibri"/>
              <a:cs typeface="Calibri"/>
              <a:sym typeface="Calibri"/>
            </a:endParaRPr>
          </a:p>
        </p:txBody>
      </p:sp>
      <p:pic>
        <p:nvPicPr>
          <p:cNvPr id="1043" name="Google Shape;1043;p38"/>
          <p:cNvPicPr preferRelativeResize="0"/>
          <p:nvPr/>
        </p:nvPicPr>
        <p:blipFill>
          <a:blip r:embed="rId3">
            <a:alphaModFix/>
          </a:blip>
          <a:stretch>
            <a:fillRect/>
          </a:stretch>
        </p:blipFill>
        <p:spPr>
          <a:xfrm>
            <a:off x="377438" y="792600"/>
            <a:ext cx="8389120" cy="4011048"/>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048" name="Shape 1048"/>
        <p:cNvGrpSpPr/>
        <p:nvPr/>
      </p:nvGrpSpPr>
      <p:grpSpPr>
        <a:xfrm>
          <a:off x="0" y="0"/>
          <a:ext cx="0" cy="0"/>
          <a:chOff x="0" y="0"/>
          <a:chExt cx="0" cy="0"/>
        </a:xfrm>
      </p:grpSpPr>
      <p:sp>
        <p:nvSpPr>
          <p:cNvPr id="1049" name="Google Shape;1049;p39"/>
          <p:cNvSpPr/>
          <p:nvPr/>
        </p:nvSpPr>
        <p:spPr>
          <a:xfrm>
            <a:off x="6583680" y="-731520"/>
            <a:ext cx="3200400" cy="3200400"/>
          </a:xfrm>
          <a:prstGeom prst="ellipse">
            <a:avLst/>
          </a:prstGeom>
          <a:noFill/>
          <a:ln cap="flat" cmpd="sng" w="254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39"/>
          <p:cNvSpPr/>
          <p:nvPr/>
        </p:nvSpPr>
        <p:spPr>
          <a:xfrm>
            <a:off x="7406640" y="3474720"/>
            <a:ext cx="2011800" cy="2011800"/>
          </a:xfrm>
          <a:prstGeom prst="ellipse">
            <a:avLst/>
          </a:prstGeom>
          <a:noFill/>
          <a:ln cap="flat" cmpd="sng" w="19050">
            <a:solidFill>
              <a:srgbClr val="1E6F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39"/>
          <p:cNvSpPr/>
          <p:nvPr/>
        </p:nvSpPr>
        <p:spPr>
          <a:xfrm>
            <a:off x="457200" y="502920"/>
            <a:ext cx="22860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100"/>
              <a:buFont typeface="Calibri"/>
              <a:buNone/>
            </a:pPr>
            <a:r>
              <a:rPr b="1" i="0" lang="en-US" sz="1100" u="none" cap="none" strike="noStrike">
                <a:solidFill>
                  <a:srgbClr val="00BCD4"/>
                </a:solidFill>
                <a:latin typeface="Calibri"/>
                <a:ea typeface="Calibri"/>
                <a:cs typeface="Calibri"/>
                <a:sym typeface="Calibri"/>
              </a:rPr>
              <a:t>DEMO 05</a:t>
            </a:r>
            <a:endParaRPr b="0" i="0" sz="1100" u="none" cap="none" strike="noStrike">
              <a:solidFill>
                <a:schemeClr val="dk1"/>
              </a:solidFill>
              <a:latin typeface="Calibri"/>
              <a:ea typeface="Calibri"/>
              <a:cs typeface="Calibri"/>
              <a:sym typeface="Calibri"/>
            </a:endParaRPr>
          </a:p>
        </p:txBody>
      </p:sp>
      <p:sp>
        <p:nvSpPr>
          <p:cNvPr id="1052" name="Google Shape;1052;p39"/>
          <p:cNvSpPr/>
          <p:nvPr/>
        </p:nvSpPr>
        <p:spPr>
          <a:xfrm>
            <a:off x="457200" y="777240"/>
            <a:ext cx="7772400" cy="65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Calibri"/>
              <a:buNone/>
            </a:pPr>
            <a:r>
              <a:rPr b="1" i="0" lang="en-US" sz="4400" u="none" cap="none" strike="noStrike">
                <a:solidFill>
                  <a:srgbClr val="FFFFFF"/>
                </a:solidFill>
                <a:latin typeface="Calibri"/>
                <a:ea typeface="Calibri"/>
                <a:cs typeface="Calibri"/>
                <a:sym typeface="Calibri"/>
              </a:rPr>
              <a:t>Quarkus REST vs gRPC</a:t>
            </a:r>
            <a:endParaRPr b="0" i="0" sz="4400" u="none" cap="none" strike="noStrike">
              <a:solidFill>
                <a:schemeClr val="dk1"/>
              </a:solidFill>
              <a:latin typeface="Calibri"/>
              <a:ea typeface="Calibri"/>
              <a:cs typeface="Calibri"/>
              <a:sym typeface="Calibri"/>
            </a:endParaRPr>
          </a:p>
        </p:txBody>
      </p:sp>
      <p:sp>
        <p:nvSpPr>
          <p:cNvPr id="1053" name="Google Shape;1053;p39"/>
          <p:cNvSpPr/>
          <p:nvPr/>
        </p:nvSpPr>
        <p:spPr>
          <a:xfrm>
            <a:off x="457200" y="1417320"/>
            <a:ext cx="64008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3600"/>
              <a:buFont typeface="Calibri"/>
              <a:buNone/>
            </a:pPr>
            <a:r>
              <a:rPr b="1" i="0" lang="en-US" sz="3600" u="none" cap="none" strike="noStrike">
                <a:solidFill>
                  <a:srgbClr val="00BCD4"/>
                </a:solidFill>
                <a:latin typeface="Calibri"/>
                <a:ea typeface="Calibri"/>
                <a:cs typeface="Calibri"/>
                <a:sym typeface="Calibri"/>
              </a:rPr>
              <a:t>Same Service, Two Protocols</a:t>
            </a:r>
            <a:endParaRPr b="0" i="0" sz="3600" u="none" cap="none" strike="noStrike">
              <a:solidFill>
                <a:schemeClr val="dk1"/>
              </a:solidFill>
              <a:latin typeface="Calibri"/>
              <a:ea typeface="Calibri"/>
              <a:cs typeface="Calibri"/>
              <a:sym typeface="Calibri"/>
            </a:endParaRPr>
          </a:p>
        </p:txBody>
      </p:sp>
      <p:sp>
        <p:nvSpPr>
          <p:cNvPr id="1054" name="Google Shape;1054;p39"/>
          <p:cNvSpPr/>
          <p:nvPr/>
        </p:nvSpPr>
        <p:spPr>
          <a:xfrm>
            <a:off x="457200" y="2029968"/>
            <a:ext cx="73152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100"/>
              <a:buFont typeface="Calibri"/>
              <a:buNone/>
            </a:pPr>
            <a:r>
              <a:rPr b="0" i="0" lang="en-US" sz="1100" u="none" cap="none" strike="noStrike">
                <a:solidFill>
                  <a:srgbClr val="90A4AE"/>
                </a:solidFill>
                <a:latin typeface="Calibri"/>
                <a:ea typeface="Calibri"/>
                <a:cs typeface="Calibri"/>
                <a:sym typeface="Calibri"/>
              </a:rPr>
              <a:t>Java 25  •  Quarkus 3.33.1 LTS  •  quarkus-demo-05-grpc/</a:t>
            </a:r>
            <a:endParaRPr b="0" i="0" sz="1100" u="none" cap="none" strike="noStrike">
              <a:solidFill>
                <a:schemeClr val="dk1"/>
              </a:solidFill>
              <a:latin typeface="Calibri"/>
              <a:ea typeface="Calibri"/>
              <a:cs typeface="Calibri"/>
              <a:sym typeface="Calibri"/>
            </a:endParaRPr>
          </a:p>
        </p:txBody>
      </p:sp>
      <p:sp>
        <p:nvSpPr>
          <p:cNvPr id="1055" name="Google Shape;1055;p39"/>
          <p:cNvSpPr/>
          <p:nvPr/>
        </p:nvSpPr>
        <p:spPr>
          <a:xfrm>
            <a:off x="457200" y="2322576"/>
            <a:ext cx="4572000" cy="36600"/>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39"/>
          <p:cNvSpPr/>
          <p:nvPr/>
        </p:nvSpPr>
        <p:spPr>
          <a:xfrm>
            <a:off x="457200" y="2450592"/>
            <a:ext cx="45720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300"/>
              <a:buFont typeface="Calibri"/>
              <a:buNone/>
            </a:pPr>
            <a:r>
              <a:rPr b="1" i="0" lang="en-US" sz="1300" u="none" cap="none" strike="noStrike">
                <a:solidFill>
                  <a:srgbClr val="00BCD4"/>
                </a:solidFill>
                <a:latin typeface="Calibri"/>
                <a:ea typeface="Calibri"/>
                <a:cs typeface="Calibri"/>
                <a:sym typeface="Calibri"/>
              </a:rPr>
              <a:t>What you’ll see:</a:t>
            </a:r>
            <a:endParaRPr b="0" i="0" sz="1300" u="none" cap="none" strike="noStrike">
              <a:solidFill>
                <a:schemeClr val="dk1"/>
              </a:solidFill>
              <a:latin typeface="Calibri"/>
              <a:ea typeface="Calibri"/>
              <a:cs typeface="Calibri"/>
              <a:sym typeface="Calibri"/>
            </a:endParaRPr>
          </a:p>
        </p:txBody>
      </p:sp>
      <p:sp>
        <p:nvSpPr>
          <p:cNvPr id="1057" name="Google Shape;1057;p39"/>
          <p:cNvSpPr/>
          <p:nvPr/>
        </p:nvSpPr>
        <p:spPr>
          <a:xfrm>
            <a:off x="457200" y="2761488"/>
            <a:ext cx="36600" cy="292500"/>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39"/>
          <p:cNvSpPr/>
          <p:nvPr/>
        </p:nvSpPr>
        <p:spPr>
          <a:xfrm>
            <a:off x="621792" y="2743200"/>
            <a:ext cx="51207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150"/>
              <a:buFont typeface="Calibri"/>
              <a:buNone/>
            </a:pPr>
            <a:r>
              <a:rPr b="0" i="0" lang="en-US" sz="1150" u="none" cap="none" strike="noStrike">
                <a:solidFill>
                  <a:srgbClr val="ECF0F1"/>
                </a:solidFill>
                <a:latin typeface="Calibri"/>
                <a:ea typeface="Calibri"/>
                <a:cs typeface="Calibri"/>
                <a:sym typeface="Calibri"/>
              </a:rPr>
              <a:t>Same JVM metrics endpoint exposed over REST (:8080) and gRPC (:9000) simultaneously</a:t>
            </a:r>
            <a:endParaRPr b="0" i="0" sz="1150" u="none" cap="none" strike="noStrike">
              <a:solidFill>
                <a:schemeClr val="dk1"/>
              </a:solidFill>
              <a:latin typeface="Calibri"/>
              <a:ea typeface="Calibri"/>
              <a:cs typeface="Calibri"/>
              <a:sym typeface="Calibri"/>
            </a:endParaRPr>
          </a:p>
        </p:txBody>
      </p:sp>
      <p:sp>
        <p:nvSpPr>
          <p:cNvPr id="1059" name="Google Shape;1059;p39"/>
          <p:cNvSpPr/>
          <p:nvPr/>
        </p:nvSpPr>
        <p:spPr>
          <a:xfrm>
            <a:off x="457200" y="3191256"/>
            <a:ext cx="36600" cy="292500"/>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39"/>
          <p:cNvSpPr/>
          <p:nvPr/>
        </p:nvSpPr>
        <p:spPr>
          <a:xfrm>
            <a:off x="621792" y="3172968"/>
            <a:ext cx="51207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150"/>
              <a:buFont typeface="Calibri"/>
              <a:buNone/>
            </a:pPr>
            <a:r>
              <a:rPr b="0" i="0" lang="en-US" sz="1150" u="none" cap="none" strike="noStrike">
                <a:solidFill>
                  <a:srgbClr val="ECF0F1"/>
                </a:solidFill>
                <a:latin typeface="Calibri"/>
                <a:ea typeface="Calibri"/>
                <a:cs typeface="Calibri"/>
                <a:sym typeface="Calibri"/>
              </a:rPr>
              <a:t>One dependency: quarkus-grpc  —  stubs generated from .proto at mvn compile</a:t>
            </a:r>
            <a:endParaRPr b="0" i="0" sz="1150" u="none" cap="none" strike="noStrike">
              <a:solidFill>
                <a:schemeClr val="dk1"/>
              </a:solidFill>
              <a:latin typeface="Calibri"/>
              <a:ea typeface="Calibri"/>
              <a:cs typeface="Calibri"/>
              <a:sym typeface="Calibri"/>
            </a:endParaRPr>
          </a:p>
        </p:txBody>
      </p:sp>
      <p:sp>
        <p:nvSpPr>
          <p:cNvPr id="1061" name="Google Shape;1061;p39"/>
          <p:cNvSpPr/>
          <p:nvPr/>
        </p:nvSpPr>
        <p:spPr>
          <a:xfrm>
            <a:off x="457200" y="3621024"/>
            <a:ext cx="36600" cy="292500"/>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39"/>
          <p:cNvSpPr/>
          <p:nvPr/>
        </p:nvSpPr>
        <p:spPr>
          <a:xfrm>
            <a:off x="621792" y="3602736"/>
            <a:ext cx="51207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150"/>
              <a:buFont typeface="Calibri"/>
              <a:buNone/>
            </a:pPr>
            <a:r>
              <a:rPr b="0" i="0" lang="en-US" sz="1150" u="none" cap="none" strike="noStrike">
                <a:solidFill>
                  <a:srgbClr val="ECF0F1"/>
                </a:solidFill>
                <a:latin typeface="Calibri"/>
                <a:ea typeface="Calibri"/>
                <a:cs typeface="Calibri"/>
                <a:sym typeface="Calibri"/>
              </a:rPr>
              <a:t>gRPC server streaming: Multi&lt;MetricsResponse&gt; — no WebSocket/SSE boilerplate</a:t>
            </a:r>
            <a:endParaRPr b="0" i="0" sz="1150" u="none" cap="none" strike="noStrike">
              <a:solidFill>
                <a:schemeClr val="dk1"/>
              </a:solidFill>
              <a:latin typeface="Calibri"/>
              <a:ea typeface="Calibri"/>
              <a:cs typeface="Calibri"/>
              <a:sym typeface="Calibri"/>
            </a:endParaRPr>
          </a:p>
        </p:txBody>
      </p:sp>
      <p:sp>
        <p:nvSpPr>
          <p:cNvPr id="1063" name="Google Shape;1063;p39"/>
          <p:cNvSpPr/>
          <p:nvPr/>
        </p:nvSpPr>
        <p:spPr>
          <a:xfrm>
            <a:off x="457200" y="4050792"/>
            <a:ext cx="36600" cy="292500"/>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39"/>
          <p:cNvSpPr/>
          <p:nvPr/>
        </p:nvSpPr>
        <p:spPr>
          <a:xfrm>
            <a:off x="621792" y="4032504"/>
            <a:ext cx="51207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150"/>
              <a:buFont typeface="Calibri"/>
              <a:buNone/>
            </a:pPr>
            <a:r>
              <a:rPr b="0" i="0" lang="en-US" sz="1150" u="none" cap="none" strike="noStrike">
                <a:solidFill>
                  <a:srgbClr val="ECF0F1"/>
                </a:solidFill>
                <a:latin typeface="Calibri"/>
                <a:ea typeface="Calibri"/>
                <a:cs typeface="Calibri"/>
                <a:sym typeface="Calibri"/>
              </a:rPr>
              <a:t>Live load test: hey vs ghz — throughput, p50, p99 side by side</a:t>
            </a:r>
            <a:endParaRPr b="0" i="0" sz="1150" u="none" cap="none" strike="noStrike">
              <a:solidFill>
                <a:schemeClr val="dk1"/>
              </a:solidFill>
              <a:latin typeface="Calibri"/>
              <a:ea typeface="Calibri"/>
              <a:cs typeface="Calibri"/>
              <a:sym typeface="Calibri"/>
            </a:endParaRPr>
          </a:p>
        </p:txBody>
      </p:sp>
      <p:sp>
        <p:nvSpPr>
          <p:cNvPr id="1065" name="Google Shape;1065;p39"/>
          <p:cNvSpPr/>
          <p:nvPr/>
        </p:nvSpPr>
        <p:spPr>
          <a:xfrm>
            <a:off x="457200" y="4480560"/>
            <a:ext cx="36600" cy="292500"/>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39"/>
          <p:cNvSpPr/>
          <p:nvPr/>
        </p:nvSpPr>
        <p:spPr>
          <a:xfrm>
            <a:off x="621792" y="4462272"/>
            <a:ext cx="51207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150"/>
              <a:buFont typeface="Calibri"/>
              <a:buNone/>
            </a:pPr>
            <a:r>
              <a:rPr b="0" i="0" lang="en-US" sz="1150" u="none" cap="none" strike="noStrike">
                <a:solidFill>
                  <a:srgbClr val="ECF0F1"/>
                </a:solidFill>
                <a:latin typeface="Calibri"/>
                <a:ea typeface="Calibri"/>
                <a:cs typeface="Calibri"/>
                <a:sym typeface="Calibri"/>
              </a:rPr>
              <a:t>When to choose each: public APIs → REST, internal pod-to-pod → gRPC</a:t>
            </a:r>
            <a:endParaRPr b="0" i="0" sz="1150" u="none" cap="none" strike="noStrike">
              <a:solidFill>
                <a:schemeClr val="dk1"/>
              </a:solidFill>
              <a:latin typeface="Calibri"/>
              <a:ea typeface="Calibri"/>
              <a:cs typeface="Calibri"/>
              <a:sym typeface="Calibri"/>
            </a:endParaRPr>
          </a:p>
        </p:txBody>
      </p:sp>
      <p:sp>
        <p:nvSpPr>
          <p:cNvPr id="1067" name="Google Shape;1067;p39"/>
          <p:cNvSpPr/>
          <p:nvPr/>
        </p:nvSpPr>
        <p:spPr>
          <a:xfrm>
            <a:off x="5989320" y="2450592"/>
            <a:ext cx="2834700" cy="2606100"/>
          </a:xfrm>
          <a:prstGeom prst="rect">
            <a:avLst/>
          </a:prstGeom>
          <a:solidFill>
            <a:srgbClr val="0D2137"/>
          </a:solidFill>
          <a:ln cap="flat" cmpd="sng" w="12700">
            <a:solidFill>
              <a:srgbClr val="1E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39"/>
          <p:cNvSpPr/>
          <p:nvPr/>
        </p:nvSpPr>
        <p:spPr>
          <a:xfrm>
            <a:off x="6126480" y="2542032"/>
            <a:ext cx="2560200" cy="242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CF0F1"/>
              </a:buClr>
              <a:buSzPts val="900"/>
              <a:buFont typeface="Consolas"/>
              <a:buNone/>
            </a:pPr>
            <a:r>
              <a:rPr b="0" i="0" lang="en-US" sz="900" u="none" cap="none" strike="noStrike">
                <a:solidFill>
                  <a:srgbClr val="ECF0F1"/>
                </a:solidFill>
                <a:latin typeface="Consolas"/>
                <a:ea typeface="Consolas"/>
                <a:cs typeface="Consolas"/>
                <a:sym typeface="Consolas"/>
              </a:rPr>
              <a:t># quarkus-demo-05-grpc/</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900"/>
              <a:buFont typeface="Consolas"/>
              <a:buNone/>
            </a:pPr>
            <a:r>
              <a:rPr b="0" i="0" lang="en-US" sz="900" u="none" cap="none" strike="noStrike">
                <a:solidFill>
                  <a:srgbClr val="ECF0F1"/>
                </a:solidFill>
                <a:latin typeface="Consolas"/>
                <a:ea typeface="Consolas"/>
                <a:cs typeface="Consolas"/>
                <a:sym typeface="Consolas"/>
              </a:rPr>
              <a:t>./demo.sh</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900"/>
              <a:buFont typeface="Consolas"/>
              <a:buNone/>
            </a:pPr>
            <a:r>
              <a:rPr b="0" i="0" lang="en-US" sz="900" u="none" cap="none" strike="noStrike">
                <a:solidFill>
                  <a:srgbClr val="ECF0F1"/>
                </a:solidFill>
                <a:latin typeface="Consolas"/>
                <a:ea typeface="Consolas"/>
                <a:cs typeface="Consolas"/>
                <a:sym typeface="Consolas"/>
              </a:rPr>
              <a:t># REST endpoint:</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900"/>
              <a:buFont typeface="Consolas"/>
              <a:buNone/>
            </a:pPr>
            <a:r>
              <a:rPr b="0" i="0" lang="en-US" sz="900" u="none" cap="none" strike="noStrike">
                <a:solidFill>
                  <a:srgbClr val="ECF0F1"/>
                </a:solidFill>
                <a:latin typeface="Consolas"/>
                <a:ea typeface="Consolas"/>
                <a:cs typeface="Consolas"/>
                <a:sym typeface="Consolas"/>
              </a:rPr>
              <a:t>GET http://localhost:8080/metrics</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900"/>
              <a:buFont typeface="Consolas"/>
              <a:buNone/>
            </a:pPr>
            <a:r>
              <a:rPr b="0" i="0" lang="en-US" sz="900" u="none" cap="none" strike="noStrike">
                <a:solidFill>
                  <a:srgbClr val="ECF0F1"/>
                </a:solidFill>
                <a:latin typeface="Consolas"/>
                <a:ea typeface="Consolas"/>
                <a:cs typeface="Consolas"/>
                <a:sym typeface="Consolas"/>
              </a:rPr>
              <a:t>→ JSON ~220 bytes</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900"/>
              <a:buFont typeface="Consolas"/>
              <a:buNone/>
            </a:pPr>
            <a:r>
              <a:rPr b="0" i="0" lang="en-US" sz="900" u="none" cap="none" strike="noStrike">
                <a:solidFill>
                  <a:srgbClr val="ECF0F1"/>
                </a:solidFill>
                <a:latin typeface="Consolas"/>
                <a:ea typeface="Consolas"/>
                <a:cs typeface="Consolas"/>
                <a:sym typeface="Consolas"/>
              </a:rPr>
              <a:t># gRPC unary:</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900"/>
              <a:buFont typeface="Consolas"/>
              <a:buNone/>
            </a:pPr>
            <a:r>
              <a:rPr b="0" i="0" lang="en-US" sz="900" u="none" cap="none" strike="noStrike">
                <a:solidFill>
                  <a:srgbClr val="ECF0F1"/>
                </a:solidFill>
                <a:latin typeface="Consolas"/>
                <a:ea typeface="Consolas"/>
                <a:cs typeface="Consolas"/>
                <a:sym typeface="Consolas"/>
              </a:rPr>
              <a:t>grpcurl localhost:9000 \</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900"/>
              <a:buFont typeface="Consolas"/>
              <a:buNone/>
            </a:pPr>
            <a:r>
              <a:rPr b="0" i="0" lang="en-US" sz="900" u="none" cap="none" strike="noStrike">
                <a:solidFill>
                  <a:srgbClr val="ECF0F1"/>
                </a:solidFill>
                <a:latin typeface="Consolas"/>
                <a:ea typeface="Consolas"/>
                <a:cs typeface="Consolas"/>
                <a:sym typeface="Consolas"/>
              </a:rPr>
              <a:t>  MetricsService/GetJvmMetrics</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900"/>
              <a:buFont typeface="Consolas"/>
              <a:buNone/>
            </a:pPr>
            <a:r>
              <a:rPr b="0" i="0" lang="en-US" sz="900" u="none" cap="none" strike="noStrike">
                <a:solidFill>
                  <a:srgbClr val="ECF0F1"/>
                </a:solidFill>
                <a:latin typeface="Consolas"/>
                <a:ea typeface="Consolas"/>
                <a:cs typeface="Consolas"/>
                <a:sym typeface="Consolas"/>
              </a:rPr>
              <a:t>→ Protobuf ~40 bytes</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900"/>
              <a:buFont typeface="Consolas"/>
              <a:buNone/>
            </a:pPr>
            <a:r>
              <a:rPr b="0" i="0" lang="en-US" sz="900" u="none" cap="none" strike="noStrike">
                <a:solidFill>
                  <a:srgbClr val="ECF0F1"/>
                </a:solidFill>
                <a:latin typeface="Consolas"/>
                <a:ea typeface="Consolas"/>
                <a:cs typeface="Consolas"/>
                <a:sym typeface="Consolas"/>
              </a:rPr>
              <a:t># gRPC streaming:</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900"/>
              <a:buFont typeface="Consolas"/>
              <a:buNone/>
            </a:pPr>
            <a:r>
              <a:rPr b="0" i="0" lang="en-US" sz="900" u="none" cap="none" strike="noStrike">
                <a:solidFill>
                  <a:srgbClr val="ECF0F1"/>
                </a:solidFill>
                <a:latin typeface="Consolas"/>
                <a:ea typeface="Consolas"/>
                <a:cs typeface="Consolas"/>
                <a:sym typeface="Consolas"/>
              </a:rPr>
              <a:t>grpcurl localhost:9000 \</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900"/>
              <a:buFont typeface="Consolas"/>
              <a:buNone/>
            </a:pPr>
            <a:r>
              <a:rPr b="0" i="0" lang="en-US" sz="900" u="none" cap="none" strike="noStrike">
                <a:solidFill>
                  <a:srgbClr val="ECF0F1"/>
                </a:solidFill>
                <a:latin typeface="Consolas"/>
                <a:ea typeface="Consolas"/>
                <a:cs typeface="Consolas"/>
                <a:sym typeface="Consolas"/>
              </a:rPr>
              <a:t>  MetricsService/StreamMetrics</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900"/>
              <a:buFont typeface="Consolas"/>
              <a:buNone/>
            </a:pPr>
            <a:r>
              <a:rPr b="0" i="0" lang="en-US" sz="900" u="none" cap="none" strike="noStrike">
                <a:solidFill>
                  <a:srgbClr val="ECF0F1"/>
                </a:solidFill>
                <a:latin typeface="Consolas"/>
                <a:ea typeface="Consolas"/>
                <a:cs typeface="Consolas"/>
                <a:sym typeface="Consolas"/>
              </a:rPr>
              <a:t>→ live push every 1s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073" name="Shape 1073"/>
        <p:cNvGrpSpPr/>
        <p:nvPr/>
      </p:nvGrpSpPr>
      <p:grpSpPr>
        <a:xfrm>
          <a:off x="0" y="0"/>
          <a:ext cx="0" cy="0"/>
          <a:chOff x="0" y="0"/>
          <a:chExt cx="0" cy="0"/>
        </a:xfrm>
      </p:grpSpPr>
      <p:sp>
        <p:nvSpPr>
          <p:cNvPr id="1074" name="Google Shape;1074;p40"/>
          <p:cNvSpPr/>
          <p:nvPr/>
        </p:nvSpPr>
        <p:spPr>
          <a:xfrm>
            <a:off x="0" y="0"/>
            <a:ext cx="9144000" cy="64020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40"/>
          <p:cNvSpPr/>
          <p:nvPr/>
        </p:nvSpPr>
        <p:spPr>
          <a:xfrm>
            <a:off x="320040" y="9144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200"/>
              <a:buFont typeface="Calibri"/>
              <a:buNone/>
            </a:pPr>
            <a:r>
              <a:rPr b="1" i="0" lang="en-US" sz="2200" u="none" cap="none" strike="noStrike">
                <a:solidFill>
                  <a:srgbClr val="00BCD4"/>
                </a:solidFill>
                <a:latin typeface="Calibri"/>
                <a:ea typeface="Calibri"/>
                <a:cs typeface="Calibri"/>
                <a:sym typeface="Calibri"/>
              </a:rPr>
              <a:t>Why the JVM Breaks Latency SLAs</a:t>
            </a:r>
            <a:endParaRPr b="0" i="0" sz="2200" u="none" cap="none" strike="noStrike">
              <a:solidFill>
                <a:schemeClr val="dk1"/>
              </a:solidFill>
              <a:latin typeface="Calibri"/>
              <a:ea typeface="Calibri"/>
              <a:cs typeface="Calibri"/>
              <a:sym typeface="Calibri"/>
            </a:endParaRPr>
          </a:p>
        </p:txBody>
      </p:sp>
      <p:sp>
        <p:nvSpPr>
          <p:cNvPr id="1076" name="Google Shape;1076;p40"/>
          <p:cNvSpPr/>
          <p:nvPr/>
        </p:nvSpPr>
        <p:spPr>
          <a:xfrm>
            <a:off x="7772400" y="73152"/>
            <a:ext cx="1234500" cy="493800"/>
          </a:xfrm>
          <a:prstGeom prst="rect">
            <a:avLst/>
          </a:prstGeom>
          <a:solidFill>
            <a:srgbClr val="1E6FC8"/>
          </a:solidFill>
          <a:ln cap="flat" cmpd="sng" w="12700">
            <a:solidFill>
              <a:srgbClr val="1E6F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40"/>
          <p:cNvSpPr/>
          <p:nvPr/>
        </p:nvSpPr>
        <p:spPr>
          <a:xfrm>
            <a:off x="7772400" y="73152"/>
            <a:ext cx="1234500" cy="493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000">
                <a:solidFill>
                  <a:srgbClr val="FFFFFF"/>
                </a:solidFill>
                <a:latin typeface="Calibri"/>
                <a:ea typeface="Calibri"/>
                <a:cs typeface="Calibri"/>
                <a:sym typeface="Calibri"/>
              </a:rPr>
              <a:t>             </a:t>
            </a:r>
            <a:r>
              <a:rPr b="1" i="0" lang="en-US" sz="1000" u="none" cap="none" strike="noStrike">
                <a:solidFill>
                  <a:srgbClr val="FFFFFF"/>
                </a:solidFill>
                <a:latin typeface="Calibri"/>
                <a:ea typeface="Calibri"/>
                <a:cs typeface="Calibri"/>
                <a:sym typeface="Calibri"/>
              </a:rPr>
              <a:t>LOW LATENCY</a:t>
            </a:r>
            <a:endParaRPr b="0" i="0" sz="1000" u="none" cap="none" strike="noStrike">
              <a:solidFill>
                <a:schemeClr val="dk1"/>
              </a:solidFill>
              <a:latin typeface="Calibri"/>
              <a:ea typeface="Calibri"/>
              <a:cs typeface="Calibri"/>
              <a:sym typeface="Calibri"/>
            </a:endParaRPr>
          </a:p>
        </p:txBody>
      </p:sp>
      <p:sp>
        <p:nvSpPr>
          <p:cNvPr id="1078" name="Google Shape;1078;p40"/>
          <p:cNvSpPr/>
          <p:nvPr/>
        </p:nvSpPr>
        <p:spPr>
          <a:xfrm>
            <a:off x="320040" y="777240"/>
            <a:ext cx="4023300" cy="4297800"/>
          </a:xfrm>
          <a:prstGeom prst="rect">
            <a:avLst/>
          </a:prstGeom>
          <a:solidFill>
            <a:srgbClr val="122040"/>
          </a:solidFill>
          <a:ln cap="flat" cmpd="sng" w="25400">
            <a:solidFill>
              <a:srgbClr val="E848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40"/>
          <p:cNvSpPr/>
          <p:nvPr/>
        </p:nvSpPr>
        <p:spPr>
          <a:xfrm>
            <a:off x="457200" y="841248"/>
            <a:ext cx="3749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855"/>
              </a:buClr>
              <a:buSzPts val="1400"/>
              <a:buFont typeface="Calibri"/>
              <a:buNone/>
            </a:pPr>
            <a:r>
              <a:rPr b="1" i="0" lang="en-US" sz="1400" u="none" cap="none" strike="noStrike">
                <a:solidFill>
                  <a:srgbClr val="E84855"/>
                </a:solidFill>
                <a:latin typeface="Calibri"/>
                <a:ea typeface="Calibri"/>
                <a:cs typeface="Calibri"/>
                <a:sym typeface="Calibri"/>
              </a:rPr>
              <a:t>G1GC — Default</a:t>
            </a:r>
            <a:endParaRPr b="0" i="0" sz="1400" u="none" cap="none" strike="noStrike">
              <a:solidFill>
                <a:schemeClr val="dk1"/>
              </a:solidFill>
              <a:latin typeface="Calibri"/>
              <a:ea typeface="Calibri"/>
              <a:cs typeface="Calibri"/>
              <a:sym typeface="Calibri"/>
            </a:endParaRPr>
          </a:p>
        </p:txBody>
      </p:sp>
      <p:sp>
        <p:nvSpPr>
          <p:cNvPr id="1080" name="Google Shape;1080;p40"/>
          <p:cNvSpPr/>
          <p:nvPr/>
        </p:nvSpPr>
        <p:spPr>
          <a:xfrm>
            <a:off x="457200" y="1152144"/>
            <a:ext cx="37491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000"/>
              <a:buFont typeface="Calibri"/>
              <a:buNone/>
            </a:pPr>
            <a:r>
              <a:rPr b="0" i="1" lang="en-US" sz="1000" u="none" cap="none" strike="noStrike">
                <a:solidFill>
                  <a:srgbClr val="90A4AE"/>
                </a:solidFill>
                <a:latin typeface="Calibri"/>
                <a:ea typeface="Calibri"/>
                <a:cs typeface="Calibri"/>
                <a:sym typeface="Calibri"/>
              </a:rPr>
              <a:t>Stop-the-world pauses</a:t>
            </a:r>
            <a:endParaRPr b="0" i="0" sz="1000" u="none" cap="none" strike="noStrike">
              <a:solidFill>
                <a:schemeClr val="dk1"/>
              </a:solidFill>
              <a:latin typeface="Calibri"/>
              <a:ea typeface="Calibri"/>
              <a:cs typeface="Calibri"/>
              <a:sym typeface="Calibri"/>
            </a:endParaRPr>
          </a:p>
        </p:txBody>
      </p:sp>
      <p:sp>
        <p:nvSpPr>
          <p:cNvPr id="1081" name="Google Shape;1081;p40"/>
          <p:cNvSpPr/>
          <p:nvPr/>
        </p:nvSpPr>
        <p:spPr>
          <a:xfrm>
            <a:off x="457200" y="1417320"/>
            <a:ext cx="1920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000"/>
              <a:buFont typeface="Calibri"/>
              <a:buNone/>
            </a:pPr>
            <a:r>
              <a:rPr b="1" i="0" lang="en-US" sz="1000" u="none" cap="none" strike="noStrike">
                <a:solidFill>
                  <a:srgbClr val="90A4AE"/>
                </a:solidFill>
                <a:latin typeface="Calibri"/>
                <a:ea typeface="Calibri"/>
                <a:cs typeface="Calibri"/>
                <a:sym typeface="Calibri"/>
              </a:rPr>
              <a:t>Young GC pause</a:t>
            </a:r>
            <a:endParaRPr b="0" i="0" sz="1000" u="none" cap="none" strike="noStrike">
              <a:solidFill>
                <a:schemeClr val="dk1"/>
              </a:solidFill>
              <a:latin typeface="Calibri"/>
              <a:ea typeface="Calibri"/>
              <a:cs typeface="Calibri"/>
              <a:sym typeface="Calibri"/>
            </a:endParaRPr>
          </a:p>
        </p:txBody>
      </p:sp>
      <p:sp>
        <p:nvSpPr>
          <p:cNvPr id="1082" name="Google Shape;1082;p40"/>
          <p:cNvSpPr/>
          <p:nvPr/>
        </p:nvSpPr>
        <p:spPr>
          <a:xfrm>
            <a:off x="2423160" y="1417320"/>
            <a:ext cx="1783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855"/>
              </a:buClr>
              <a:buSzPts val="1050"/>
              <a:buFont typeface="Calibri"/>
              <a:buNone/>
            </a:pPr>
            <a:r>
              <a:rPr b="0" i="0" lang="en-US" sz="1050" u="none" cap="none" strike="noStrike">
                <a:solidFill>
                  <a:srgbClr val="E84855"/>
                </a:solidFill>
                <a:latin typeface="Calibri"/>
                <a:ea typeface="Calibri"/>
                <a:cs typeface="Calibri"/>
                <a:sym typeface="Calibri"/>
              </a:rPr>
              <a:t>10 – 200 ms</a:t>
            </a:r>
            <a:endParaRPr b="0" i="0" sz="1050" u="none" cap="none" strike="noStrike">
              <a:solidFill>
                <a:schemeClr val="dk1"/>
              </a:solidFill>
              <a:latin typeface="Calibri"/>
              <a:ea typeface="Calibri"/>
              <a:cs typeface="Calibri"/>
              <a:sym typeface="Calibri"/>
            </a:endParaRPr>
          </a:p>
        </p:txBody>
      </p:sp>
      <p:sp>
        <p:nvSpPr>
          <p:cNvPr id="1083" name="Google Shape;1083;p40"/>
          <p:cNvSpPr/>
          <p:nvPr/>
        </p:nvSpPr>
        <p:spPr>
          <a:xfrm>
            <a:off x="457200" y="1837944"/>
            <a:ext cx="1920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000"/>
              <a:buFont typeface="Calibri"/>
              <a:buNone/>
            </a:pPr>
            <a:r>
              <a:rPr b="1" i="0" lang="en-US" sz="1000" u="none" cap="none" strike="noStrike">
                <a:solidFill>
                  <a:srgbClr val="90A4AE"/>
                </a:solidFill>
                <a:latin typeface="Calibri"/>
                <a:ea typeface="Calibri"/>
                <a:cs typeface="Calibri"/>
                <a:sym typeface="Calibri"/>
              </a:rPr>
              <a:t>Mixed GC pause</a:t>
            </a:r>
            <a:endParaRPr b="0" i="0" sz="1000" u="none" cap="none" strike="noStrike">
              <a:solidFill>
                <a:schemeClr val="dk1"/>
              </a:solidFill>
              <a:latin typeface="Calibri"/>
              <a:ea typeface="Calibri"/>
              <a:cs typeface="Calibri"/>
              <a:sym typeface="Calibri"/>
            </a:endParaRPr>
          </a:p>
        </p:txBody>
      </p:sp>
      <p:sp>
        <p:nvSpPr>
          <p:cNvPr id="1084" name="Google Shape;1084;p40"/>
          <p:cNvSpPr/>
          <p:nvPr/>
        </p:nvSpPr>
        <p:spPr>
          <a:xfrm>
            <a:off x="2423160" y="1837944"/>
            <a:ext cx="1783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855"/>
              </a:buClr>
              <a:buSzPts val="1050"/>
              <a:buFont typeface="Calibri"/>
              <a:buNone/>
            </a:pPr>
            <a:r>
              <a:rPr b="0" i="0" lang="en-US" sz="1050" u="none" cap="none" strike="noStrike">
                <a:solidFill>
                  <a:srgbClr val="E84855"/>
                </a:solidFill>
                <a:latin typeface="Calibri"/>
                <a:ea typeface="Calibri"/>
                <a:cs typeface="Calibri"/>
                <a:sym typeface="Calibri"/>
              </a:rPr>
              <a:t>50 – 500 ms</a:t>
            </a:r>
            <a:endParaRPr b="0" i="0" sz="1050" u="none" cap="none" strike="noStrike">
              <a:solidFill>
                <a:schemeClr val="dk1"/>
              </a:solidFill>
              <a:latin typeface="Calibri"/>
              <a:ea typeface="Calibri"/>
              <a:cs typeface="Calibri"/>
              <a:sym typeface="Calibri"/>
            </a:endParaRPr>
          </a:p>
        </p:txBody>
      </p:sp>
      <p:sp>
        <p:nvSpPr>
          <p:cNvPr id="1085" name="Google Shape;1085;p40"/>
          <p:cNvSpPr/>
          <p:nvPr/>
        </p:nvSpPr>
        <p:spPr>
          <a:xfrm>
            <a:off x="457200" y="2258568"/>
            <a:ext cx="1920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000"/>
              <a:buFont typeface="Calibri"/>
              <a:buNone/>
            </a:pPr>
            <a:r>
              <a:rPr b="1" i="0" lang="en-US" sz="1000" u="none" cap="none" strike="noStrike">
                <a:solidFill>
                  <a:srgbClr val="90A4AE"/>
                </a:solidFill>
                <a:latin typeface="Calibri"/>
                <a:ea typeface="Calibri"/>
                <a:cs typeface="Calibri"/>
                <a:sym typeface="Calibri"/>
              </a:rPr>
              <a:t>Full GC (worst)</a:t>
            </a:r>
            <a:endParaRPr b="0" i="0" sz="1000" u="none" cap="none" strike="noStrike">
              <a:solidFill>
                <a:schemeClr val="dk1"/>
              </a:solidFill>
              <a:latin typeface="Calibri"/>
              <a:ea typeface="Calibri"/>
              <a:cs typeface="Calibri"/>
              <a:sym typeface="Calibri"/>
            </a:endParaRPr>
          </a:p>
        </p:txBody>
      </p:sp>
      <p:sp>
        <p:nvSpPr>
          <p:cNvPr id="1086" name="Google Shape;1086;p40"/>
          <p:cNvSpPr/>
          <p:nvPr/>
        </p:nvSpPr>
        <p:spPr>
          <a:xfrm>
            <a:off x="2423160" y="2258568"/>
            <a:ext cx="1783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855"/>
              </a:buClr>
              <a:buSzPts val="1050"/>
              <a:buFont typeface="Calibri"/>
              <a:buNone/>
            </a:pPr>
            <a:r>
              <a:rPr b="0" i="0" lang="en-US" sz="1050" u="none" cap="none" strike="noStrike">
                <a:solidFill>
                  <a:srgbClr val="E84855"/>
                </a:solidFill>
                <a:latin typeface="Calibri"/>
                <a:ea typeface="Calibri"/>
                <a:cs typeface="Calibri"/>
                <a:sym typeface="Calibri"/>
              </a:rPr>
              <a:t>1 – 10 sec</a:t>
            </a:r>
            <a:endParaRPr b="0" i="0" sz="1050" u="none" cap="none" strike="noStrike">
              <a:solidFill>
                <a:schemeClr val="dk1"/>
              </a:solidFill>
              <a:latin typeface="Calibri"/>
              <a:ea typeface="Calibri"/>
              <a:cs typeface="Calibri"/>
              <a:sym typeface="Calibri"/>
            </a:endParaRPr>
          </a:p>
        </p:txBody>
      </p:sp>
      <p:sp>
        <p:nvSpPr>
          <p:cNvPr id="1087" name="Google Shape;1087;p40"/>
          <p:cNvSpPr/>
          <p:nvPr/>
        </p:nvSpPr>
        <p:spPr>
          <a:xfrm>
            <a:off x="457200" y="2679192"/>
            <a:ext cx="1920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000"/>
              <a:buFont typeface="Calibri"/>
              <a:buNone/>
            </a:pPr>
            <a:r>
              <a:rPr b="1" i="0" lang="en-US" sz="1000" u="none" cap="none" strike="noStrike">
                <a:solidFill>
                  <a:srgbClr val="90A4AE"/>
                </a:solidFill>
                <a:latin typeface="Calibri"/>
                <a:ea typeface="Calibri"/>
                <a:cs typeface="Calibri"/>
                <a:sym typeface="Calibri"/>
              </a:rPr>
              <a:t>Scales with</a:t>
            </a:r>
            <a:endParaRPr b="0" i="0" sz="1000" u="none" cap="none" strike="noStrike">
              <a:solidFill>
                <a:schemeClr val="dk1"/>
              </a:solidFill>
              <a:latin typeface="Calibri"/>
              <a:ea typeface="Calibri"/>
              <a:cs typeface="Calibri"/>
              <a:sym typeface="Calibri"/>
            </a:endParaRPr>
          </a:p>
        </p:txBody>
      </p:sp>
      <p:sp>
        <p:nvSpPr>
          <p:cNvPr id="1088" name="Google Shape;1088;p40"/>
          <p:cNvSpPr/>
          <p:nvPr/>
        </p:nvSpPr>
        <p:spPr>
          <a:xfrm>
            <a:off x="2423160" y="2679192"/>
            <a:ext cx="1783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heap size</a:t>
            </a:r>
            <a:endParaRPr b="0" i="0" sz="1050" u="none" cap="none" strike="noStrike">
              <a:solidFill>
                <a:schemeClr val="dk1"/>
              </a:solidFill>
              <a:latin typeface="Calibri"/>
              <a:ea typeface="Calibri"/>
              <a:cs typeface="Calibri"/>
              <a:sym typeface="Calibri"/>
            </a:endParaRPr>
          </a:p>
        </p:txBody>
      </p:sp>
      <p:sp>
        <p:nvSpPr>
          <p:cNvPr id="1089" name="Google Shape;1089;p40"/>
          <p:cNvSpPr/>
          <p:nvPr/>
        </p:nvSpPr>
        <p:spPr>
          <a:xfrm>
            <a:off x="457200" y="3099816"/>
            <a:ext cx="1920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000"/>
              <a:buFont typeface="Calibri"/>
              <a:buNone/>
            </a:pPr>
            <a:r>
              <a:rPr b="1" i="0" lang="en-US" sz="1000" u="none" cap="none" strike="noStrike">
                <a:solidFill>
                  <a:srgbClr val="90A4AE"/>
                </a:solidFill>
                <a:latin typeface="Calibri"/>
                <a:ea typeface="Calibri"/>
                <a:cs typeface="Calibri"/>
                <a:sym typeface="Calibri"/>
              </a:rPr>
              <a:t>CPU spike</a:t>
            </a:r>
            <a:endParaRPr b="0" i="0" sz="1000" u="none" cap="none" strike="noStrike">
              <a:solidFill>
                <a:schemeClr val="dk1"/>
              </a:solidFill>
              <a:latin typeface="Calibri"/>
              <a:ea typeface="Calibri"/>
              <a:cs typeface="Calibri"/>
              <a:sym typeface="Calibri"/>
            </a:endParaRPr>
          </a:p>
        </p:txBody>
      </p:sp>
      <p:sp>
        <p:nvSpPr>
          <p:cNvPr id="1090" name="Google Shape;1090;p40"/>
          <p:cNvSpPr/>
          <p:nvPr/>
        </p:nvSpPr>
        <p:spPr>
          <a:xfrm>
            <a:off x="2423160" y="3099816"/>
            <a:ext cx="1783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GC threads burst</a:t>
            </a:r>
            <a:endParaRPr b="0" i="0" sz="1050" u="none" cap="none" strike="noStrike">
              <a:solidFill>
                <a:schemeClr val="dk1"/>
              </a:solidFill>
              <a:latin typeface="Calibri"/>
              <a:ea typeface="Calibri"/>
              <a:cs typeface="Calibri"/>
              <a:sym typeface="Calibri"/>
            </a:endParaRPr>
          </a:p>
        </p:txBody>
      </p:sp>
      <p:sp>
        <p:nvSpPr>
          <p:cNvPr id="1091" name="Google Shape;1091;p40"/>
          <p:cNvSpPr/>
          <p:nvPr/>
        </p:nvSpPr>
        <p:spPr>
          <a:xfrm>
            <a:off x="457200" y="3520440"/>
            <a:ext cx="1920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000"/>
              <a:buFont typeface="Calibri"/>
              <a:buNone/>
            </a:pPr>
            <a:r>
              <a:rPr b="1" i="0" lang="en-US" sz="1000" u="none" cap="none" strike="noStrike">
                <a:solidFill>
                  <a:srgbClr val="90A4AE"/>
                </a:solidFill>
                <a:latin typeface="Calibri"/>
                <a:ea typeface="Calibri"/>
                <a:cs typeface="Calibri"/>
                <a:sym typeface="Calibri"/>
              </a:rPr>
              <a:t>HPA reaction</a:t>
            </a:r>
            <a:endParaRPr b="0" i="0" sz="1000" u="none" cap="none" strike="noStrike">
              <a:solidFill>
                <a:schemeClr val="dk1"/>
              </a:solidFill>
              <a:latin typeface="Calibri"/>
              <a:ea typeface="Calibri"/>
              <a:cs typeface="Calibri"/>
              <a:sym typeface="Calibri"/>
            </a:endParaRPr>
          </a:p>
        </p:txBody>
      </p:sp>
      <p:sp>
        <p:nvSpPr>
          <p:cNvPr id="1092" name="Google Shape;1092;p40"/>
          <p:cNvSpPr/>
          <p:nvPr/>
        </p:nvSpPr>
        <p:spPr>
          <a:xfrm>
            <a:off x="2423160" y="3520440"/>
            <a:ext cx="1783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false scale-out</a:t>
            </a:r>
            <a:endParaRPr b="0" i="0" sz="1050" u="none" cap="none" strike="noStrike">
              <a:solidFill>
                <a:schemeClr val="dk1"/>
              </a:solidFill>
              <a:latin typeface="Calibri"/>
              <a:ea typeface="Calibri"/>
              <a:cs typeface="Calibri"/>
              <a:sym typeface="Calibri"/>
            </a:endParaRPr>
          </a:p>
        </p:txBody>
      </p:sp>
      <p:sp>
        <p:nvSpPr>
          <p:cNvPr id="1093" name="Google Shape;1093;p40"/>
          <p:cNvSpPr/>
          <p:nvPr/>
        </p:nvSpPr>
        <p:spPr>
          <a:xfrm>
            <a:off x="457200" y="3941064"/>
            <a:ext cx="1920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000"/>
              <a:buFont typeface="Calibri"/>
              <a:buNone/>
            </a:pPr>
            <a:r>
              <a:rPr b="1" i="0" lang="en-US" sz="1000" u="none" cap="none" strike="noStrike">
                <a:solidFill>
                  <a:srgbClr val="90A4AE"/>
                </a:solidFill>
                <a:latin typeface="Calibri"/>
                <a:ea typeface="Calibri"/>
                <a:cs typeface="Calibri"/>
                <a:sym typeface="Calibri"/>
              </a:rPr>
              <a:t>p99 at scale</a:t>
            </a:r>
            <a:endParaRPr b="0" i="0" sz="1000" u="none" cap="none" strike="noStrike">
              <a:solidFill>
                <a:schemeClr val="dk1"/>
              </a:solidFill>
              <a:latin typeface="Calibri"/>
              <a:ea typeface="Calibri"/>
              <a:cs typeface="Calibri"/>
              <a:sym typeface="Calibri"/>
            </a:endParaRPr>
          </a:p>
        </p:txBody>
      </p:sp>
      <p:sp>
        <p:nvSpPr>
          <p:cNvPr id="1094" name="Google Shape;1094;p40"/>
          <p:cNvSpPr/>
          <p:nvPr/>
        </p:nvSpPr>
        <p:spPr>
          <a:xfrm>
            <a:off x="2423160" y="3941064"/>
            <a:ext cx="1783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50 – 300 ms</a:t>
            </a:r>
            <a:endParaRPr b="0" i="0" sz="1050" u="none" cap="none" strike="noStrike">
              <a:solidFill>
                <a:schemeClr val="dk1"/>
              </a:solidFill>
              <a:latin typeface="Calibri"/>
              <a:ea typeface="Calibri"/>
              <a:cs typeface="Calibri"/>
              <a:sym typeface="Calibri"/>
            </a:endParaRPr>
          </a:p>
        </p:txBody>
      </p:sp>
      <p:sp>
        <p:nvSpPr>
          <p:cNvPr id="1095" name="Google Shape;1095;p40"/>
          <p:cNvSpPr/>
          <p:nvPr/>
        </p:nvSpPr>
        <p:spPr>
          <a:xfrm>
            <a:off x="4169664" y="2606040"/>
            <a:ext cx="804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A623"/>
              </a:buClr>
              <a:buSzPts val="1800"/>
              <a:buFont typeface="Calibri"/>
              <a:buNone/>
            </a:pPr>
            <a:r>
              <a:rPr b="1" i="0" lang="en-US" sz="1800" u="none" cap="none" strike="noStrike">
                <a:solidFill>
                  <a:srgbClr val="F5A623"/>
                </a:solidFill>
                <a:latin typeface="Calibri"/>
                <a:ea typeface="Calibri"/>
                <a:cs typeface="Calibri"/>
                <a:sym typeface="Calibri"/>
              </a:rPr>
              <a:t>VS</a:t>
            </a:r>
            <a:endParaRPr b="0" i="0" sz="1800" u="none" cap="none" strike="noStrike">
              <a:solidFill>
                <a:schemeClr val="dk1"/>
              </a:solidFill>
              <a:latin typeface="Calibri"/>
              <a:ea typeface="Calibri"/>
              <a:cs typeface="Calibri"/>
              <a:sym typeface="Calibri"/>
            </a:endParaRPr>
          </a:p>
        </p:txBody>
      </p:sp>
      <p:sp>
        <p:nvSpPr>
          <p:cNvPr id="1096" name="Google Shape;1096;p40"/>
          <p:cNvSpPr/>
          <p:nvPr/>
        </p:nvSpPr>
        <p:spPr>
          <a:xfrm>
            <a:off x="4800600" y="777240"/>
            <a:ext cx="4023300" cy="4297800"/>
          </a:xfrm>
          <a:prstGeom prst="rect">
            <a:avLst/>
          </a:prstGeom>
          <a:solidFill>
            <a:srgbClr val="122040"/>
          </a:solidFill>
          <a:ln cap="flat" cmpd="sng" w="254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40"/>
          <p:cNvSpPr/>
          <p:nvPr/>
        </p:nvSpPr>
        <p:spPr>
          <a:xfrm>
            <a:off x="4937760" y="841248"/>
            <a:ext cx="3749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400"/>
              <a:buFont typeface="Calibri"/>
              <a:buNone/>
            </a:pPr>
            <a:r>
              <a:rPr b="1" i="0" lang="en-US" sz="1400" u="none" cap="none" strike="noStrike">
                <a:solidFill>
                  <a:srgbClr val="00BCD4"/>
                </a:solidFill>
                <a:latin typeface="Calibri"/>
                <a:ea typeface="Calibri"/>
                <a:cs typeface="Calibri"/>
                <a:sym typeface="Calibri"/>
              </a:rPr>
              <a:t>ZGC Generational — JDK 21+ · STW-pause design target (JEP 439, JFR-verified)</a:t>
            </a:r>
            <a:endParaRPr b="0" i="0" sz="1400" u="none" cap="none" strike="noStrike">
              <a:solidFill>
                <a:schemeClr val="dk1"/>
              </a:solidFill>
              <a:latin typeface="Calibri"/>
              <a:ea typeface="Calibri"/>
              <a:cs typeface="Calibri"/>
              <a:sym typeface="Calibri"/>
            </a:endParaRPr>
          </a:p>
        </p:txBody>
      </p:sp>
      <p:sp>
        <p:nvSpPr>
          <p:cNvPr id="1098" name="Google Shape;1098;p40"/>
          <p:cNvSpPr/>
          <p:nvPr/>
        </p:nvSpPr>
        <p:spPr>
          <a:xfrm>
            <a:off x="4937760" y="1152144"/>
            <a:ext cx="37491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000"/>
              <a:buFont typeface="Calibri"/>
              <a:buNone/>
            </a:pPr>
            <a:r>
              <a:rPr b="0" i="1" lang="en-US" sz="1000" u="none" cap="none" strike="noStrike">
                <a:solidFill>
                  <a:srgbClr val="90A4AE"/>
                </a:solidFill>
                <a:latin typeface="Calibri"/>
                <a:ea typeface="Calibri"/>
                <a:cs typeface="Calibri"/>
                <a:sym typeface="Calibri"/>
              </a:rPr>
              <a:t>Concurrent — app never stops</a:t>
            </a:r>
            <a:endParaRPr b="0" i="0" sz="1000" u="none" cap="none" strike="noStrike">
              <a:solidFill>
                <a:schemeClr val="dk1"/>
              </a:solidFill>
              <a:latin typeface="Calibri"/>
              <a:ea typeface="Calibri"/>
              <a:cs typeface="Calibri"/>
              <a:sym typeface="Calibri"/>
            </a:endParaRPr>
          </a:p>
        </p:txBody>
      </p:sp>
      <p:sp>
        <p:nvSpPr>
          <p:cNvPr id="1099" name="Google Shape;1099;p40"/>
          <p:cNvSpPr/>
          <p:nvPr/>
        </p:nvSpPr>
        <p:spPr>
          <a:xfrm>
            <a:off x="4937760" y="1417320"/>
            <a:ext cx="1920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000"/>
              <a:buFont typeface="Calibri"/>
              <a:buNone/>
            </a:pPr>
            <a:r>
              <a:rPr b="1" i="0" lang="en-US" sz="1000" u="none" cap="none" strike="noStrike">
                <a:solidFill>
                  <a:srgbClr val="90A4AE"/>
                </a:solidFill>
                <a:latin typeface="Calibri"/>
                <a:ea typeface="Calibri"/>
                <a:cs typeface="Calibri"/>
                <a:sym typeface="Calibri"/>
              </a:rPr>
              <a:t>Young GC pause</a:t>
            </a:r>
            <a:endParaRPr b="0" i="0" sz="1000" u="none" cap="none" strike="noStrike">
              <a:solidFill>
                <a:schemeClr val="dk1"/>
              </a:solidFill>
              <a:latin typeface="Calibri"/>
              <a:ea typeface="Calibri"/>
              <a:cs typeface="Calibri"/>
              <a:sym typeface="Calibri"/>
            </a:endParaRPr>
          </a:p>
        </p:txBody>
      </p:sp>
      <p:sp>
        <p:nvSpPr>
          <p:cNvPr id="1100" name="Google Shape;1100;p40"/>
          <p:cNvSpPr/>
          <p:nvPr/>
        </p:nvSpPr>
        <p:spPr>
          <a:xfrm>
            <a:off x="6903720" y="1417320"/>
            <a:ext cx="1828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050"/>
              <a:buFont typeface="Calibri"/>
              <a:buNone/>
            </a:pPr>
            <a:r>
              <a:rPr b="0" i="0" lang="en-US" sz="1050" u="none" cap="none" strike="noStrike">
                <a:solidFill>
                  <a:srgbClr val="00BCD4"/>
                </a:solidFill>
                <a:latin typeface="Calibri"/>
                <a:ea typeface="Calibri"/>
                <a:cs typeface="Calibri"/>
                <a:sym typeface="Calibri"/>
              </a:rPr>
              <a:t>&lt; 1 ms</a:t>
            </a:r>
            <a:endParaRPr b="0" i="0" sz="1050" u="none" cap="none" strike="noStrike">
              <a:solidFill>
                <a:schemeClr val="dk1"/>
              </a:solidFill>
              <a:latin typeface="Calibri"/>
              <a:ea typeface="Calibri"/>
              <a:cs typeface="Calibri"/>
              <a:sym typeface="Calibri"/>
            </a:endParaRPr>
          </a:p>
        </p:txBody>
      </p:sp>
      <p:sp>
        <p:nvSpPr>
          <p:cNvPr id="1101" name="Google Shape;1101;p40"/>
          <p:cNvSpPr/>
          <p:nvPr/>
        </p:nvSpPr>
        <p:spPr>
          <a:xfrm>
            <a:off x="4937760" y="1837944"/>
            <a:ext cx="1920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000"/>
              <a:buFont typeface="Calibri"/>
              <a:buNone/>
            </a:pPr>
            <a:r>
              <a:rPr b="1" i="0" lang="en-US" sz="1000" u="none" cap="none" strike="noStrike">
                <a:solidFill>
                  <a:srgbClr val="90A4AE"/>
                </a:solidFill>
                <a:latin typeface="Calibri"/>
                <a:ea typeface="Calibri"/>
                <a:cs typeface="Calibri"/>
                <a:sym typeface="Calibri"/>
              </a:rPr>
              <a:t>Full collection</a:t>
            </a:r>
            <a:endParaRPr b="0" i="0" sz="1000" u="none" cap="none" strike="noStrike">
              <a:solidFill>
                <a:schemeClr val="dk1"/>
              </a:solidFill>
              <a:latin typeface="Calibri"/>
              <a:ea typeface="Calibri"/>
              <a:cs typeface="Calibri"/>
              <a:sym typeface="Calibri"/>
            </a:endParaRPr>
          </a:p>
        </p:txBody>
      </p:sp>
      <p:sp>
        <p:nvSpPr>
          <p:cNvPr id="1102" name="Google Shape;1102;p40"/>
          <p:cNvSpPr/>
          <p:nvPr/>
        </p:nvSpPr>
        <p:spPr>
          <a:xfrm>
            <a:off x="6903720" y="1837944"/>
            <a:ext cx="1828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050"/>
              <a:buFont typeface="Calibri"/>
              <a:buNone/>
            </a:pPr>
            <a:r>
              <a:rPr b="0" i="0" lang="en-US" sz="1050" u="none" cap="none" strike="noStrike">
                <a:solidFill>
                  <a:srgbClr val="00BCD4"/>
                </a:solidFill>
                <a:latin typeface="Calibri"/>
                <a:ea typeface="Calibri"/>
                <a:cs typeface="Calibri"/>
                <a:sym typeface="Calibri"/>
              </a:rPr>
              <a:t>&lt; 1 ms</a:t>
            </a:r>
            <a:endParaRPr b="0" i="0" sz="1050" u="none" cap="none" strike="noStrike">
              <a:solidFill>
                <a:schemeClr val="dk1"/>
              </a:solidFill>
              <a:latin typeface="Calibri"/>
              <a:ea typeface="Calibri"/>
              <a:cs typeface="Calibri"/>
              <a:sym typeface="Calibri"/>
            </a:endParaRPr>
          </a:p>
        </p:txBody>
      </p:sp>
      <p:sp>
        <p:nvSpPr>
          <p:cNvPr id="1103" name="Google Shape;1103;p40"/>
          <p:cNvSpPr/>
          <p:nvPr/>
        </p:nvSpPr>
        <p:spPr>
          <a:xfrm>
            <a:off x="4937760" y="2258568"/>
            <a:ext cx="1920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000"/>
              <a:buFont typeface="Calibri"/>
              <a:buNone/>
            </a:pPr>
            <a:r>
              <a:rPr b="1" i="0" lang="en-US" sz="1000" u="none" cap="none" strike="noStrike">
                <a:solidFill>
                  <a:srgbClr val="90A4AE"/>
                </a:solidFill>
                <a:latin typeface="Calibri"/>
                <a:ea typeface="Calibri"/>
                <a:cs typeface="Calibri"/>
                <a:sym typeface="Calibri"/>
              </a:rPr>
              <a:t>Worst case</a:t>
            </a:r>
            <a:endParaRPr b="0" i="0" sz="1000" u="none" cap="none" strike="noStrike">
              <a:solidFill>
                <a:schemeClr val="dk1"/>
              </a:solidFill>
              <a:latin typeface="Calibri"/>
              <a:ea typeface="Calibri"/>
              <a:cs typeface="Calibri"/>
              <a:sym typeface="Calibri"/>
            </a:endParaRPr>
          </a:p>
        </p:txBody>
      </p:sp>
      <p:sp>
        <p:nvSpPr>
          <p:cNvPr id="1104" name="Google Shape;1104;p40"/>
          <p:cNvSpPr/>
          <p:nvPr/>
        </p:nvSpPr>
        <p:spPr>
          <a:xfrm>
            <a:off x="6903720" y="2258568"/>
            <a:ext cx="1828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050"/>
              <a:buFont typeface="Calibri"/>
              <a:buNone/>
            </a:pPr>
            <a:r>
              <a:rPr b="0" i="0" lang="en-US" sz="1050" u="none" cap="none" strike="noStrike">
                <a:solidFill>
                  <a:srgbClr val="00BCD4"/>
                </a:solidFill>
                <a:latin typeface="Calibri"/>
                <a:ea typeface="Calibri"/>
                <a:cs typeface="Calibri"/>
                <a:sym typeface="Calibri"/>
              </a:rPr>
              <a:t>&lt; 1 ms</a:t>
            </a:r>
            <a:endParaRPr b="0" i="0" sz="1050" u="none" cap="none" strike="noStrike">
              <a:solidFill>
                <a:schemeClr val="dk1"/>
              </a:solidFill>
              <a:latin typeface="Calibri"/>
              <a:ea typeface="Calibri"/>
              <a:cs typeface="Calibri"/>
              <a:sym typeface="Calibri"/>
            </a:endParaRPr>
          </a:p>
        </p:txBody>
      </p:sp>
      <p:sp>
        <p:nvSpPr>
          <p:cNvPr id="1105" name="Google Shape;1105;p40"/>
          <p:cNvSpPr/>
          <p:nvPr/>
        </p:nvSpPr>
        <p:spPr>
          <a:xfrm>
            <a:off x="4937760" y="2679192"/>
            <a:ext cx="1920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000"/>
              <a:buFont typeface="Calibri"/>
              <a:buNone/>
            </a:pPr>
            <a:r>
              <a:rPr b="1" i="0" lang="en-US" sz="1000" u="none" cap="none" strike="noStrike">
                <a:solidFill>
                  <a:srgbClr val="90A4AE"/>
                </a:solidFill>
                <a:latin typeface="Calibri"/>
                <a:ea typeface="Calibri"/>
                <a:cs typeface="Calibri"/>
                <a:sym typeface="Calibri"/>
              </a:rPr>
              <a:t>Scales with</a:t>
            </a:r>
            <a:endParaRPr b="0" i="0" sz="1000" u="none" cap="none" strike="noStrike">
              <a:solidFill>
                <a:schemeClr val="dk1"/>
              </a:solidFill>
              <a:latin typeface="Calibri"/>
              <a:ea typeface="Calibri"/>
              <a:cs typeface="Calibri"/>
              <a:sym typeface="Calibri"/>
            </a:endParaRPr>
          </a:p>
        </p:txBody>
      </p:sp>
      <p:sp>
        <p:nvSpPr>
          <p:cNvPr id="1106" name="Google Shape;1106;p40"/>
          <p:cNvSpPr/>
          <p:nvPr/>
        </p:nvSpPr>
        <p:spPr>
          <a:xfrm>
            <a:off x="6903720" y="2679192"/>
            <a:ext cx="1828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thread count (not heap)</a:t>
            </a:r>
            <a:endParaRPr b="0" i="0" sz="1050" u="none" cap="none" strike="noStrike">
              <a:solidFill>
                <a:schemeClr val="dk1"/>
              </a:solidFill>
              <a:latin typeface="Calibri"/>
              <a:ea typeface="Calibri"/>
              <a:cs typeface="Calibri"/>
              <a:sym typeface="Calibri"/>
            </a:endParaRPr>
          </a:p>
        </p:txBody>
      </p:sp>
      <p:sp>
        <p:nvSpPr>
          <p:cNvPr id="1107" name="Google Shape;1107;p40"/>
          <p:cNvSpPr/>
          <p:nvPr/>
        </p:nvSpPr>
        <p:spPr>
          <a:xfrm>
            <a:off x="4937760" y="3099816"/>
            <a:ext cx="1920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000"/>
              <a:buFont typeface="Calibri"/>
              <a:buNone/>
            </a:pPr>
            <a:r>
              <a:rPr b="1" i="0" lang="en-US" sz="1000" u="none" cap="none" strike="noStrike">
                <a:solidFill>
                  <a:srgbClr val="90A4AE"/>
                </a:solidFill>
                <a:latin typeface="Calibri"/>
                <a:ea typeface="Calibri"/>
                <a:cs typeface="Calibri"/>
                <a:sym typeface="Calibri"/>
              </a:rPr>
              <a:t>CPU overhead</a:t>
            </a:r>
            <a:endParaRPr b="0" i="0" sz="1000" u="none" cap="none" strike="noStrike">
              <a:solidFill>
                <a:schemeClr val="dk1"/>
              </a:solidFill>
              <a:latin typeface="Calibri"/>
              <a:ea typeface="Calibri"/>
              <a:cs typeface="Calibri"/>
              <a:sym typeface="Calibri"/>
            </a:endParaRPr>
          </a:p>
        </p:txBody>
      </p:sp>
      <p:sp>
        <p:nvSpPr>
          <p:cNvPr id="1108" name="Google Shape;1108;p40"/>
          <p:cNvSpPr/>
          <p:nvPr/>
        </p:nvSpPr>
        <p:spPr>
          <a:xfrm>
            <a:off x="6903720" y="3099816"/>
            <a:ext cx="1828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load barriers (~5-15%)</a:t>
            </a:r>
            <a:endParaRPr b="0" i="0" sz="1050" u="none" cap="none" strike="noStrike">
              <a:solidFill>
                <a:schemeClr val="dk1"/>
              </a:solidFill>
              <a:latin typeface="Calibri"/>
              <a:ea typeface="Calibri"/>
              <a:cs typeface="Calibri"/>
              <a:sym typeface="Calibri"/>
            </a:endParaRPr>
          </a:p>
        </p:txBody>
      </p:sp>
      <p:sp>
        <p:nvSpPr>
          <p:cNvPr id="1109" name="Google Shape;1109;p40"/>
          <p:cNvSpPr/>
          <p:nvPr/>
        </p:nvSpPr>
        <p:spPr>
          <a:xfrm>
            <a:off x="4937760" y="3520440"/>
            <a:ext cx="1920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000"/>
              <a:buFont typeface="Calibri"/>
              <a:buNone/>
            </a:pPr>
            <a:r>
              <a:rPr b="1" i="0" lang="en-US" sz="1000" u="none" cap="none" strike="noStrike">
                <a:solidFill>
                  <a:srgbClr val="90A4AE"/>
                </a:solidFill>
                <a:latin typeface="Calibri"/>
                <a:ea typeface="Calibri"/>
                <a:cs typeface="Calibri"/>
                <a:sym typeface="Calibri"/>
              </a:rPr>
              <a:t>HPA reaction</a:t>
            </a:r>
            <a:endParaRPr b="0" i="0" sz="1000" u="none" cap="none" strike="noStrike">
              <a:solidFill>
                <a:schemeClr val="dk1"/>
              </a:solidFill>
              <a:latin typeface="Calibri"/>
              <a:ea typeface="Calibri"/>
              <a:cs typeface="Calibri"/>
              <a:sym typeface="Calibri"/>
            </a:endParaRPr>
          </a:p>
        </p:txBody>
      </p:sp>
      <p:sp>
        <p:nvSpPr>
          <p:cNvPr id="1110" name="Google Shape;1110;p40"/>
          <p:cNvSpPr/>
          <p:nvPr/>
        </p:nvSpPr>
        <p:spPr>
          <a:xfrm>
            <a:off x="6903720" y="3520440"/>
            <a:ext cx="1828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none — smooth CPU</a:t>
            </a:r>
            <a:endParaRPr b="0" i="0" sz="1050" u="none" cap="none" strike="noStrike">
              <a:solidFill>
                <a:schemeClr val="dk1"/>
              </a:solidFill>
              <a:latin typeface="Calibri"/>
              <a:ea typeface="Calibri"/>
              <a:cs typeface="Calibri"/>
              <a:sym typeface="Calibri"/>
            </a:endParaRPr>
          </a:p>
        </p:txBody>
      </p:sp>
      <p:sp>
        <p:nvSpPr>
          <p:cNvPr id="1111" name="Google Shape;1111;p40"/>
          <p:cNvSpPr/>
          <p:nvPr/>
        </p:nvSpPr>
        <p:spPr>
          <a:xfrm>
            <a:off x="4937760" y="3941064"/>
            <a:ext cx="1920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000"/>
              <a:buFont typeface="Calibri"/>
              <a:buNone/>
            </a:pPr>
            <a:r>
              <a:rPr b="1" i="0" lang="en-US" sz="1000" u="none" cap="none" strike="noStrike">
                <a:solidFill>
                  <a:srgbClr val="90A4AE"/>
                </a:solidFill>
                <a:latin typeface="Calibri"/>
                <a:ea typeface="Calibri"/>
                <a:cs typeface="Calibri"/>
                <a:sym typeface="Calibri"/>
              </a:rPr>
              <a:t>p99 at scale</a:t>
            </a:r>
            <a:endParaRPr b="0" i="0" sz="1000" u="none" cap="none" strike="noStrike">
              <a:solidFill>
                <a:schemeClr val="dk1"/>
              </a:solidFill>
              <a:latin typeface="Calibri"/>
              <a:ea typeface="Calibri"/>
              <a:cs typeface="Calibri"/>
              <a:sym typeface="Calibri"/>
            </a:endParaRPr>
          </a:p>
        </p:txBody>
      </p:sp>
      <p:sp>
        <p:nvSpPr>
          <p:cNvPr id="1112" name="Google Shape;1112;p40"/>
          <p:cNvSpPr/>
          <p:nvPr/>
        </p:nvSpPr>
        <p:spPr>
          <a:xfrm>
            <a:off x="6903720" y="3941064"/>
            <a:ext cx="1828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0" i="0" lang="en-US" sz="1050" u="none" cap="none" strike="noStrike">
                <a:solidFill>
                  <a:srgbClr val="ECF0F1"/>
                </a:solidFill>
                <a:latin typeface="Calibri"/>
                <a:ea typeface="Calibri"/>
                <a:cs typeface="Calibri"/>
                <a:sym typeface="Calibri"/>
              </a:rPr>
              <a:t>&lt; 1 ms (STW design target)</a:t>
            </a:r>
            <a:endParaRPr b="0" i="0" sz="1050" u="none" cap="none" strike="noStrike">
              <a:solidFill>
                <a:schemeClr val="dk1"/>
              </a:solidFill>
              <a:latin typeface="Calibri"/>
              <a:ea typeface="Calibri"/>
              <a:cs typeface="Calibri"/>
              <a:sym typeface="Calibri"/>
            </a:endParaRPr>
          </a:p>
        </p:txBody>
      </p:sp>
      <p:sp>
        <p:nvSpPr>
          <p:cNvPr id="1113" name="Google Shape;1113;p40"/>
          <p:cNvSpPr/>
          <p:nvPr/>
        </p:nvSpPr>
        <p:spPr>
          <a:xfrm>
            <a:off x="0" y="5394960"/>
            <a:ext cx="9144000" cy="201300"/>
          </a:xfrm>
          <a:prstGeom prst="rect">
            <a:avLst/>
          </a:prstGeom>
          <a:solidFill>
            <a:srgbClr val="0610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40"/>
          <p:cNvSpPr/>
          <p:nvPr/>
        </p:nvSpPr>
        <p:spPr>
          <a:xfrm>
            <a:off x="320040" y="5422392"/>
            <a:ext cx="8503800" cy="14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900"/>
              <a:buFont typeface="Calibri"/>
              <a:buNone/>
            </a:pPr>
            <a:r>
              <a:rPr b="0" i="0" lang="en-US" sz="900" u="none" cap="none" strike="noStrike">
                <a:solidFill>
                  <a:srgbClr val="00BCD4"/>
                </a:solidFill>
                <a:latin typeface="Calibri"/>
                <a:ea typeface="Calibri"/>
                <a:cs typeface="Calibri"/>
                <a:sym typeface="Calibri"/>
              </a:rPr>
              <a:t>Enable: -XX:+UseZGC  |  Same app, same heap, same Quarkus config</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119" name="Shape 1119"/>
        <p:cNvGrpSpPr/>
        <p:nvPr/>
      </p:nvGrpSpPr>
      <p:grpSpPr>
        <a:xfrm>
          <a:off x="0" y="0"/>
          <a:ext cx="0" cy="0"/>
          <a:chOff x="0" y="0"/>
          <a:chExt cx="0" cy="0"/>
        </a:xfrm>
      </p:grpSpPr>
      <p:sp>
        <p:nvSpPr>
          <p:cNvPr id="1120" name="Google Shape;1120;p41"/>
          <p:cNvSpPr/>
          <p:nvPr/>
        </p:nvSpPr>
        <p:spPr>
          <a:xfrm>
            <a:off x="0" y="0"/>
            <a:ext cx="9144000" cy="64020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41"/>
          <p:cNvSpPr/>
          <p:nvPr/>
        </p:nvSpPr>
        <p:spPr>
          <a:xfrm>
            <a:off x="320040" y="9144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200"/>
              <a:buFont typeface="Calibri"/>
              <a:buNone/>
            </a:pPr>
            <a:r>
              <a:rPr b="1" i="0" lang="en-US" sz="2200" u="none" cap="none" strike="noStrike">
                <a:solidFill>
                  <a:srgbClr val="00BCD4"/>
                </a:solidFill>
                <a:latin typeface="Calibri"/>
                <a:ea typeface="Calibri"/>
                <a:cs typeface="Calibri"/>
                <a:sym typeface="Calibri"/>
              </a:rPr>
              <a:t>Low-Latency Tuning — From Easy to Advanced</a:t>
            </a:r>
            <a:endParaRPr b="0" i="0" sz="2200" u="none" cap="none" strike="noStrike">
              <a:solidFill>
                <a:schemeClr val="dk1"/>
              </a:solidFill>
              <a:latin typeface="Calibri"/>
              <a:ea typeface="Calibri"/>
              <a:cs typeface="Calibri"/>
              <a:sym typeface="Calibri"/>
            </a:endParaRPr>
          </a:p>
        </p:txBody>
      </p:sp>
      <p:sp>
        <p:nvSpPr>
          <p:cNvPr id="1122" name="Google Shape;1122;p41"/>
          <p:cNvSpPr/>
          <p:nvPr/>
        </p:nvSpPr>
        <p:spPr>
          <a:xfrm>
            <a:off x="7772400" y="73152"/>
            <a:ext cx="1234500" cy="493800"/>
          </a:xfrm>
          <a:prstGeom prst="rect">
            <a:avLst/>
          </a:prstGeom>
          <a:solidFill>
            <a:srgbClr val="1E6FC8"/>
          </a:solidFill>
          <a:ln cap="flat" cmpd="sng" w="12700">
            <a:solidFill>
              <a:srgbClr val="1E6F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41"/>
          <p:cNvSpPr/>
          <p:nvPr/>
        </p:nvSpPr>
        <p:spPr>
          <a:xfrm>
            <a:off x="7772400" y="73152"/>
            <a:ext cx="1234500" cy="493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000">
                <a:solidFill>
                  <a:srgbClr val="FFFFFF"/>
                </a:solidFill>
                <a:latin typeface="Calibri"/>
                <a:ea typeface="Calibri"/>
                <a:cs typeface="Calibri"/>
                <a:sym typeface="Calibri"/>
              </a:rPr>
              <a:t>              </a:t>
            </a:r>
            <a:r>
              <a:rPr b="1" i="0" lang="en-US" sz="1000" u="none" cap="none" strike="noStrike">
                <a:solidFill>
                  <a:srgbClr val="FFFFFF"/>
                </a:solidFill>
                <a:latin typeface="Calibri"/>
                <a:ea typeface="Calibri"/>
                <a:cs typeface="Calibri"/>
                <a:sym typeface="Calibri"/>
              </a:rPr>
              <a:t>LOW LATENCY</a:t>
            </a:r>
            <a:endParaRPr b="0" i="0" sz="1000" u="none" cap="none" strike="noStrike">
              <a:solidFill>
                <a:schemeClr val="dk1"/>
              </a:solidFill>
              <a:latin typeface="Calibri"/>
              <a:ea typeface="Calibri"/>
              <a:cs typeface="Calibri"/>
              <a:sym typeface="Calibri"/>
            </a:endParaRPr>
          </a:p>
        </p:txBody>
      </p:sp>
      <p:sp>
        <p:nvSpPr>
          <p:cNvPr id="1124" name="Google Shape;1124;p41"/>
          <p:cNvSpPr/>
          <p:nvPr/>
        </p:nvSpPr>
        <p:spPr>
          <a:xfrm>
            <a:off x="389538" y="566950"/>
            <a:ext cx="8364900" cy="693900"/>
          </a:xfrm>
          <a:prstGeom prst="rect">
            <a:avLst/>
          </a:prstGeom>
          <a:solidFill>
            <a:srgbClr val="122040"/>
          </a:solidFill>
          <a:ln cap="flat" cmpd="sng" w="18550">
            <a:solidFill>
              <a:srgbClr val="27AE60"/>
            </a:solidFill>
            <a:prstDash val="solid"/>
            <a:round/>
            <a:headEnd len="sm" w="sm" type="none"/>
            <a:tailEnd len="sm" w="sm" type="none"/>
          </a:ln>
        </p:spPr>
        <p:txBody>
          <a:bodyPr anchorCtr="0" anchor="ctr" bIns="88975" lIns="88975" spcFirstLastPara="1" rIns="88975" wrap="square" tIns="88975">
            <a:noAutofit/>
          </a:bodyPr>
          <a:lstStyle/>
          <a:p>
            <a:pPr indent="0" lvl="0" marL="0" rtl="0" algn="l">
              <a:spcBef>
                <a:spcPts val="0"/>
              </a:spcBef>
              <a:spcAft>
                <a:spcPts val="0"/>
              </a:spcAft>
              <a:buNone/>
            </a:pPr>
            <a:r>
              <a:t/>
            </a:r>
            <a:endParaRPr/>
          </a:p>
        </p:txBody>
      </p:sp>
      <p:sp>
        <p:nvSpPr>
          <p:cNvPr id="1125" name="Google Shape;1125;p41"/>
          <p:cNvSpPr/>
          <p:nvPr/>
        </p:nvSpPr>
        <p:spPr>
          <a:xfrm>
            <a:off x="389538" y="566950"/>
            <a:ext cx="311700" cy="693900"/>
          </a:xfrm>
          <a:prstGeom prst="rect">
            <a:avLst/>
          </a:prstGeom>
          <a:solidFill>
            <a:srgbClr val="27AE60"/>
          </a:solidFill>
          <a:ln cap="flat" cmpd="sng" w="12350">
            <a:solidFill>
              <a:srgbClr val="27AE60"/>
            </a:solidFill>
            <a:prstDash val="solid"/>
            <a:round/>
            <a:headEnd len="sm" w="sm" type="none"/>
            <a:tailEnd len="sm" w="sm" type="none"/>
          </a:ln>
        </p:spPr>
        <p:txBody>
          <a:bodyPr anchorCtr="0" anchor="ctr" bIns="88975" lIns="88975" spcFirstLastPara="1" rIns="88975" wrap="square" tIns="88975">
            <a:noAutofit/>
          </a:bodyPr>
          <a:lstStyle/>
          <a:p>
            <a:pPr indent="0" lvl="0" marL="0" rtl="0" algn="l">
              <a:spcBef>
                <a:spcPts val="0"/>
              </a:spcBef>
              <a:spcAft>
                <a:spcPts val="0"/>
              </a:spcAft>
              <a:buNone/>
            </a:pPr>
            <a:r>
              <a:t/>
            </a:r>
            <a:endParaRPr/>
          </a:p>
        </p:txBody>
      </p:sp>
      <p:sp>
        <p:nvSpPr>
          <p:cNvPr id="1126" name="Google Shape;1126;p41"/>
          <p:cNvSpPr/>
          <p:nvPr/>
        </p:nvSpPr>
        <p:spPr>
          <a:xfrm>
            <a:off x="389538" y="566950"/>
            <a:ext cx="311700" cy="69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65"/>
              <a:buFont typeface="Calibri"/>
              <a:buNone/>
            </a:pPr>
            <a:r>
              <a:rPr b="1" i="0" lang="en-US" sz="1265" u="none" cap="none" strike="noStrike">
                <a:solidFill>
                  <a:srgbClr val="FFFFFF"/>
                </a:solidFill>
                <a:latin typeface="Calibri"/>
                <a:ea typeface="Calibri"/>
                <a:cs typeface="Calibri"/>
                <a:sym typeface="Calibri"/>
              </a:rPr>
              <a:t>1</a:t>
            </a:r>
            <a:endParaRPr b="0" i="0" sz="1265" u="none" cap="none" strike="noStrike">
              <a:solidFill>
                <a:schemeClr val="dk1"/>
              </a:solidFill>
              <a:latin typeface="Calibri"/>
              <a:ea typeface="Calibri"/>
              <a:cs typeface="Calibri"/>
              <a:sym typeface="Calibri"/>
            </a:endParaRPr>
          </a:p>
        </p:txBody>
      </p:sp>
      <p:sp>
        <p:nvSpPr>
          <p:cNvPr id="1127" name="Google Shape;1127;p41"/>
          <p:cNvSpPr/>
          <p:nvPr/>
        </p:nvSpPr>
        <p:spPr>
          <a:xfrm>
            <a:off x="789984" y="611444"/>
            <a:ext cx="2847900" cy="24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71"/>
              <a:buFont typeface="Calibri"/>
              <a:buNone/>
            </a:pPr>
            <a:r>
              <a:rPr b="1" i="0" lang="en-US" sz="1071" u="none" cap="none" strike="noStrike">
                <a:solidFill>
                  <a:srgbClr val="ECF0F1"/>
                </a:solidFill>
                <a:latin typeface="Calibri"/>
                <a:ea typeface="Calibri"/>
                <a:cs typeface="Calibri"/>
                <a:sym typeface="Calibri"/>
              </a:rPr>
              <a:t>ZGC + Generational mode</a:t>
            </a:r>
            <a:endParaRPr b="0" i="0" sz="1071" u="none" cap="none" strike="noStrike">
              <a:solidFill>
                <a:schemeClr val="dk1"/>
              </a:solidFill>
              <a:latin typeface="Calibri"/>
              <a:ea typeface="Calibri"/>
              <a:cs typeface="Calibri"/>
              <a:sym typeface="Calibri"/>
            </a:endParaRPr>
          </a:p>
        </p:txBody>
      </p:sp>
      <p:sp>
        <p:nvSpPr>
          <p:cNvPr id="1128" name="Google Shape;1128;p41"/>
          <p:cNvSpPr/>
          <p:nvPr/>
        </p:nvSpPr>
        <p:spPr>
          <a:xfrm>
            <a:off x="789984" y="887308"/>
            <a:ext cx="2847900" cy="24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925"/>
              <a:buFont typeface="Calibri"/>
              <a:buNone/>
            </a:pPr>
            <a:r>
              <a:rPr b="0" i="0" lang="en-US" sz="925" u="none" cap="none" strike="noStrike">
                <a:solidFill>
                  <a:srgbClr val="27AE60"/>
                </a:solidFill>
                <a:latin typeface="Calibri"/>
                <a:ea typeface="Calibri"/>
                <a:cs typeface="Calibri"/>
                <a:sym typeface="Calibri"/>
              </a:rPr>
              <a:t>→ GC STW pauses &lt; 1ms (ZGC design target)</a:t>
            </a:r>
            <a:endParaRPr b="0" i="0" sz="925" u="none" cap="none" strike="noStrike">
              <a:solidFill>
                <a:schemeClr val="dk1"/>
              </a:solidFill>
              <a:latin typeface="Calibri"/>
              <a:ea typeface="Calibri"/>
              <a:cs typeface="Calibri"/>
              <a:sym typeface="Calibri"/>
            </a:endParaRPr>
          </a:p>
        </p:txBody>
      </p:sp>
      <p:sp>
        <p:nvSpPr>
          <p:cNvPr id="1129" name="Google Shape;1129;p41"/>
          <p:cNvSpPr/>
          <p:nvPr/>
        </p:nvSpPr>
        <p:spPr>
          <a:xfrm>
            <a:off x="3682096" y="727129"/>
            <a:ext cx="978900" cy="2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7AE60"/>
              </a:buClr>
              <a:buSzPts val="876"/>
              <a:buFont typeface="Calibri"/>
              <a:buNone/>
            </a:pPr>
            <a:r>
              <a:rPr b="1" i="0" lang="en-US" sz="876" u="none" cap="none" strike="noStrike">
                <a:solidFill>
                  <a:srgbClr val="27AE60"/>
                </a:solidFill>
                <a:latin typeface="Calibri"/>
                <a:ea typeface="Calibri"/>
                <a:cs typeface="Calibri"/>
                <a:sym typeface="Calibri"/>
              </a:rPr>
              <a:t>Easy</a:t>
            </a:r>
            <a:endParaRPr b="0" i="0" sz="876" u="none" cap="none" strike="noStrike">
              <a:solidFill>
                <a:schemeClr val="dk1"/>
              </a:solidFill>
              <a:latin typeface="Calibri"/>
              <a:ea typeface="Calibri"/>
              <a:cs typeface="Calibri"/>
              <a:sym typeface="Calibri"/>
            </a:endParaRPr>
          </a:p>
        </p:txBody>
      </p:sp>
      <p:sp>
        <p:nvSpPr>
          <p:cNvPr id="1130" name="Google Shape;1130;p41"/>
          <p:cNvSpPr/>
          <p:nvPr/>
        </p:nvSpPr>
        <p:spPr>
          <a:xfrm>
            <a:off x="4705459" y="655938"/>
            <a:ext cx="3915300" cy="498300"/>
          </a:xfrm>
          <a:prstGeom prst="rect">
            <a:avLst/>
          </a:prstGeom>
          <a:solidFill>
            <a:srgbClr val="0D2137"/>
          </a:solidFill>
          <a:ln cap="flat" cmpd="sng" w="12350">
            <a:solidFill>
              <a:srgbClr val="1E3A5F"/>
            </a:solidFill>
            <a:prstDash val="solid"/>
            <a:round/>
            <a:headEnd len="sm" w="sm" type="none"/>
            <a:tailEnd len="sm" w="sm" type="none"/>
          </a:ln>
        </p:spPr>
        <p:txBody>
          <a:bodyPr anchorCtr="0" anchor="ctr" bIns="88975" lIns="88975" spcFirstLastPara="1" rIns="88975" wrap="square" tIns="88975">
            <a:noAutofit/>
          </a:bodyPr>
          <a:lstStyle/>
          <a:p>
            <a:pPr indent="0" lvl="0" marL="0" rtl="0" algn="l">
              <a:spcBef>
                <a:spcPts val="0"/>
              </a:spcBef>
              <a:spcAft>
                <a:spcPts val="0"/>
              </a:spcAft>
              <a:buNone/>
            </a:pPr>
            <a:r>
              <a:t/>
            </a:r>
            <a:endParaRPr/>
          </a:p>
        </p:txBody>
      </p:sp>
      <p:sp>
        <p:nvSpPr>
          <p:cNvPr id="1131" name="Google Shape;1131;p41"/>
          <p:cNvSpPr/>
          <p:nvPr/>
        </p:nvSpPr>
        <p:spPr>
          <a:xfrm>
            <a:off x="4794447" y="700432"/>
            <a:ext cx="3737700" cy="409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827"/>
              <a:buFont typeface="Consolas"/>
              <a:buNone/>
            </a:pPr>
            <a:r>
              <a:rPr b="0" i="0" lang="en-US" sz="827" u="none" cap="none" strike="noStrike">
                <a:solidFill>
                  <a:srgbClr val="00BCD4"/>
                </a:solidFill>
                <a:latin typeface="Consolas"/>
                <a:ea typeface="Consolas"/>
                <a:cs typeface="Consolas"/>
                <a:sym typeface="Consolas"/>
              </a:rPr>
              <a:t>-XX:+UseZGC</a:t>
            </a:r>
            <a:endParaRPr b="0" i="0" sz="827" u="none" cap="none" strike="noStrike">
              <a:solidFill>
                <a:schemeClr val="dk1"/>
              </a:solidFill>
              <a:latin typeface="Calibri"/>
              <a:ea typeface="Calibri"/>
              <a:cs typeface="Calibri"/>
              <a:sym typeface="Calibri"/>
            </a:endParaRPr>
          </a:p>
        </p:txBody>
      </p:sp>
      <p:sp>
        <p:nvSpPr>
          <p:cNvPr id="1132" name="Google Shape;1132;p41"/>
          <p:cNvSpPr/>
          <p:nvPr/>
        </p:nvSpPr>
        <p:spPr>
          <a:xfrm>
            <a:off x="389538" y="1341147"/>
            <a:ext cx="8364900" cy="693900"/>
          </a:xfrm>
          <a:prstGeom prst="rect">
            <a:avLst/>
          </a:prstGeom>
          <a:solidFill>
            <a:srgbClr val="122040"/>
          </a:solidFill>
          <a:ln cap="flat" cmpd="sng" w="18550">
            <a:solidFill>
              <a:srgbClr val="27AE60"/>
            </a:solidFill>
            <a:prstDash val="solid"/>
            <a:round/>
            <a:headEnd len="sm" w="sm" type="none"/>
            <a:tailEnd len="sm" w="sm" type="none"/>
          </a:ln>
        </p:spPr>
        <p:txBody>
          <a:bodyPr anchorCtr="0" anchor="ctr" bIns="88975" lIns="88975" spcFirstLastPara="1" rIns="88975" wrap="square" tIns="88975">
            <a:noAutofit/>
          </a:bodyPr>
          <a:lstStyle/>
          <a:p>
            <a:pPr indent="0" lvl="0" marL="0" rtl="0" algn="l">
              <a:spcBef>
                <a:spcPts val="0"/>
              </a:spcBef>
              <a:spcAft>
                <a:spcPts val="0"/>
              </a:spcAft>
              <a:buNone/>
            </a:pPr>
            <a:r>
              <a:t/>
            </a:r>
            <a:endParaRPr/>
          </a:p>
        </p:txBody>
      </p:sp>
      <p:sp>
        <p:nvSpPr>
          <p:cNvPr id="1133" name="Google Shape;1133;p41"/>
          <p:cNvSpPr/>
          <p:nvPr/>
        </p:nvSpPr>
        <p:spPr>
          <a:xfrm>
            <a:off x="389538" y="1341147"/>
            <a:ext cx="311700" cy="693900"/>
          </a:xfrm>
          <a:prstGeom prst="rect">
            <a:avLst/>
          </a:prstGeom>
          <a:solidFill>
            <a:srgbClr val="27AE60"/>
          </a:solidFill>
          <a:ln cap="flat" cmpd="sng" w="12350">
            <a:solidFill>
              <a:srgbClr val="27AE60"/>
            </a:solidFill>
            <a:prstDash val="solid"/>
            <a:round/>
            <a:headEnd len="sm" w="sm" type="none"/>
            <a:tailEnd len="sm" w="sm" type="none"/>
          </a:ln>
        </p:spPr>
        <p:txBody>
          <a:bodyPr anchorCtr="0" anchor="ctr" bIns="88975" lIns="88975" spcFirstLastPara="1" rIns="88975" wrap="square" tIns="88975">
            <a:noAutofit/>
          </a:bodyPr>
          <a:lstStyle/>
          <a:p>
            <a:pPr indent="0" lvl="0" marL="0" rtl="0" algn="l">
              <a:spcBef>
                <a:spcPts val="0"/>
              </a:spcBef>
              <a:spcAft>
                <a:spcPts val="0"/>
              </a:spcAft>
              <a:buNone/>
            </a:pPr>
            <a:r>
              <a:t/>
            </a:r>
            <a:endParaRPr/>
          </a:p>
        </p:txBody>
      </p:sp>
      <p:sp>
        <p:nvSpPr>
          <p:cNvPr id="1134" name="Google Shape;1134;p41"/>
          <p:cNvSpPr/>
          <p:nvPr/>
        </p:nvSpPr>
        <p:spPr>
          <a:xfrm>
            <a:off x="389538" y="1341147"/>
            <a:ext cx="311700" cy="69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65"/>
              <a:buFont typeface="Calibri"/>
              <a:buNone/>
            </a:pPr>
            <a:r>
              <a:rPr b="1" i="0" lang="en-US" sz="1265" u="none" cap="none" strike="noStrike">
                <a:solidFill>
                  <a:srgbClr val="FFFFFF"/>
                </a:solidFill>
                <a:latin typeface="Calibri"/>
                <a:ea typeface="Calibri"/>
                <a:cs typeface="Calibri"/>
                <a:sym typeface="Calibri"/>
              </a:rPr>
              <a:t>2</a:t>
            </a:r>
            <a:endParaRPr b="0" i="0" sz="1265" u="none" cap="none" strike="noStrike">
              <a:solidFill>
                <a:schemeClr val="dk1"/>
              </a:solidFill>
              <a:latin typeface="Calibri"/>
              <a:ea typeface="Calibri"/>
              <a:cs typeface="Calibri"/>
              <a:sym typeface="Calibri"/>
            </a:endParaRPr>
          </a:p>
        </p:txBody>
      </p:sp>
      <p:sp>
        <p:nvSpPr>
          <p:cNvPr id="1135" name="Google Shape;1135;p41"/>
          <p:cNvSpPr/>
          <p:nvPr/>
        </p:nvSpPr>
        <p:spPr>
          <a:xfrm>
            <a:off x="789984" y="1385641"/>
            <a:ext cx="2847900" cy="24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71"/>
              <a:buFont typeface="Calibri"/>
              <a:buNone/>
            </a:pPr>
            <a:r>
              <a:rPr b="1" i="0" lang="en-US" sz="1071" u="none" cap="none" strike="noStrike">
                <a:solidFill>
                  <a:srgbClr val="ECF0F1"/>
                </a:solidFill>
                <a:latin typeface="Calibri"/>
                <a:ea typeface="Calibri"/>
                <a:cs typeface="Calibri"/>
                <a:sym typeface="Calibri"/>
              </a:rPr>
              <a:t>Explicit thread counts</a:t>
            </a:r>
            <a:endParaRPr b="0" i="0" sz="1071" u="none" cap="none" strike="noStrike">
              <a:solidFill>
                <a:schemeClr val="dk1"/>
              </a:solidFill>
              <a:latin typeface="Calibri"/>
              <a:ea typeface="Calibri"/>
              <a:cs typeface="Calibri"/>
              <a:sym typeface="Calibri"/>
            </a:endParaRPr>
          </a:p>
        </p:txBody>
      </p:sp>
      <p:sp>
        <p:nvSpPr>
          <p:cNvPr id="1136" name="Google Shape;1136;p41"/>
          <p:cNvSpPr/>
          <p:nvPr/>
        </p:nvSpPr>
        <p:spPr>
          <a:xfrm>
            <a:off x="789984" y="1661504"/>
            <a:ext cx="2847900" cy="24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925"/>
              <a:buFont typeface="Calibri"/>
              <a:buNone/>
            </a:pPr>
            <a:r>
              <a:rPr b="0" i="0" lang="en-US" sz="925" u="none" cap="none" strike="noStrike">
                <a:solidFill>
                  <a:srgbClr val="27AE60"/>
                </a:solidFill>
                <a:latin typeface="Calibri"/>
                <a:ea typeface="Calibri"/>
                <a:cs typeface="Calibri"/>
                <a:sym typeface="Calibri"/>
              </a:rPr>
              <a:t>→ Prevent GC/JIT oversubscription</a:t>
            </a:r>
            <a:endParaRPr b="0" i="0" sz="925" u="none" cap="none" strike="noStrike">
              <a:solidFill>
                <a:schemeClr val="dk1"/>
              </a:solidFill>
              <a:latin typeface="Calibri"/>
              <a:ea typeface="Calibri"/>
              <a:cs typeface="Calibri"/>
              <a:sym typeface="Calibri"/>
            </a:endParaRPr>
          </a:p>
        </p:txBody>
      </p:sp>
      <p:sp>
        <p:nvSpPr>
          <p:cNvPr id="1137" name="Google Shape;1137;p41"/>
          <p:cNvSpPr/>
          <p:nvPr/>
        </p:nvSpPr>
        <p:spPr>
          <a:xfrm>
            <a:off x="3682096" y="1501326"/>
            <a:ext cx="978900" cy="2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7AE60"/>
              </a:buClr>
              <a:buSzPts val="876"/>
              <a:buFont typeface="Calibri"/>
              <a:buNone/>
            </a:pPr>
            <a:r>
              <a:rPr b="1" i="0" lang="en-US" sz="876" u="none" cap="none" strike="noStrike">
                <a:solidFill>
                  <a:srgbClr val="27AE60"/>
                </a:solidFill>
                <a:latin typeface="Calibri"/>
                <a:ea typeface="Calibri"/>
                <a:cs typeface="Calibri"/>
                <a:sym typeface="Calibri"/>
              </a:rPr>
              <a:t>Easy</a:t>
            </a:r>
            <a:endParaRPr b="0" i="0" sz="876" u="none" cap="none" strike="noStrike">
              <a:solidFill>
                <a:schemeClr val="dk1"/>
              </a:solidFill>
              <a:latin typeface="Calibri"/>
              <a:ea typeface="Calibri"/>
              <a:cs typeface="Calibri"/>
              <a:sym typeface="Calibri"/>
            </a:endParaRPr>
          </a:p>
        </p:txBody>
      </p:sp>
      <p:sp>
        <p:nvSpPr>
          <p:cNvPr id="1138" name="Google Shape;1138;p41"/>
          <p:cNvSpPr/>
          <p:nvPr/>
        </p:nvSpPr>
        <p:spPr>
          <a:xfrm>
            <a:off x="4705459" y="1430135"/>
            <a:ext cx="3915300" cy="498300"/>
          </a:xfrm>
          <a:prstGeom prst="rect">
            <a:avLst/>
          </a:prstGeom>
          <a:solidFill>
            <a:srgbClr val="0D2137"/>
          </a:solidFill>
          <a:ln cap="flat" cmpd="sng" w="12350">
            <a:solidFill>
              <a:srgbClr val="1E3A5F"/>
            </a:solidFill>
            <a:prstDash val="solid"/>
            <a:round/>
            <a:headEnd len="sm" w="sm" type="none"/>
            <a:tailEnd len="sm" w="sm" type="none"/>
          </a:ln>
        </p:spPr>
        <p:txBody>
          <a:bodyPr anchorCtr="0" anchor="ctr" bIns="88975" lIns="88975" spcFirstLastPara="1" rIns="88975" wrap="square" tIns="88975">
            <a:noAutofit/>
          </a:bodyPr>
          <a:lstStyle/>
          <a:p>
            <a:pPr indent="0" lvl="0" marL="0" rtl="0" algn="l">
              <a:spcBef>
                <a:spcPts val="0"/>
              </a:spcBef>
              <a:spcAft>
                <a:spcPts val="0"/>
              </a:spcAft>
              <a:buNone/>
            </a:pPr>
            <a:r>
              <a:t/>
            </a:r>
            <a:endParaRPr/>
          </a:p>
        </p:txBody>
      </p:sp>
      <p:sp>
        <p:nvSpPr>
          <p:cNvPr id="1139" name="Google Shape;1139;p41"/>
          <p:cNvSpPr/>
          <p:nvPr/>
        </p:nvSpPr>
        <p:spPr>
          <a:xfrm>
            <a:off x="4794447" y="1474629"/>
            <a:ext cx="3737700" cy="409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827"/>
              <a:buFont typeface="Consolas"/>
              <a:buNone/>
            </a:pPr>
            <a:r>
              <a:rPr b="0" i="0" lang="en-US" sz="827" u="none" cap="none" strike="noStrike">
                <a:solidFill>
                  <a:srgbClr val="00BCD4"/>
                </a:solidFill>
                <a:latin typeface="Consolas"/>
                <a:ea typeface="Consolas"/>
                <a:cs typeface="Consolas"/>
                <a:sym typeface="Consolas"/>
              </a:rPr>
              <a:t>-XX:ParallelGCThreads=N  -XX:ActiveProcessorCount=N</a:t>
            </a:r>
            <a:endParaRPr b="0" i="0" sz="827" u="none" cap="none" strike="noStrike">
              <a:solidFill>
                <a:schemeClr val="dk1"/>
              </a:solidFill>
              <a:latin typeface="Calibri"/>
              <a:ea typeface="Calibri"/>
              <a:cs typeface="Calibri"/>
              <a:sym typeface="Calibri"/>
            </a:endParaRPr>
          </a:p>
        </p:txBody>
      </p:sp>
      <p:sp>
        <p:nvSpPr>
          <p:cNvPr id="1140" name="Google Shape;1140;p41"/>
          <p:cNvSpPr/>
          <p:nvPr/>
        </p:nvSpPr>
        <p:spPr>
          <a:xfrm>
            <a:off x="389538" y="2115344"/>
            <a:ext cx="8364900" cy="693900"/>
          </a:xfrm>
          <a:prstGeom prst="rect">
            <a:avLst/>
          </a:prstGeom>
          <a:solidFill>
            <a:srgbClr val="122040"/>
          </a:solidFill>
          <a:ln cap="flat" cmpd="sng" w="18550">
            <a:solidFill>
              <a:srgbClr val="F5A623"/>
            </a:solidFill>
            <a:prstDash val="solid"/>
            <a:round/>
            <a:headEnd len="sm" w="sm" type="none"/>
            <a:tailEnd len="sm" w="sm" type="none"/>
          </a:ln>
        </p:spPr>
        <p:txBody>
          <a:bodyPr anchorCtr="0" anchor="ctr" bIns="88975" lIns="88975" spcFirstLastPara="1" rIns="88975" wrap="square" tIns="88975">
            <a:noAutofit/>
          </a:bodyPr>
          <a:lstStyle/>
          <a:p>
            <a:pPr indent="0" lvl="0" marL="0" rtl="0" algn="l">
              <a:spcBef>
                <a:spcPts val="0"/>
              </a:spcBef>
              <a:spcAft>
                <a:spcPts val="0"/>
              </a:spcAft>
              <a:buNone/>
            </a:pPr>
            <a:r>
              <a:t/>
            </a:r>
            <a:endParaRPr/>
          </a:p>
        </p:txBody>
      </p:sp>
      <p:sp>
        <p:nvSpPr>
          <p:cNvPr id="1141" name="Google Shape;1141;p41"/>
          <p:cNvSpPr/>
          <p:nvPr/>
        </p:nvSpPr>
        <p:spPr>
          <a:xfrm>
            <a:off x="389538" y="2115344"/>
            <a:ext cx="311700" cy="693900"/>
          </a:xfrm>
          <a:prstGeom prst="rect">
            <a:avLst/>
          </a:prstGeom>
          <a:solidFill>
            <a:srgbClr val="F5A623"/>
          </a:solidFill>
          <a:ln cap="flat" cmpd="sng" w="12350">
            <a:solidFill>
              <a:srgbClr val="F5A623"/>
            </a:solidFill>
            <a:prstDash val="solid"/>
            <a:round/>
            <a:headEnd len="sm" w="sm" type="none"/>
            <a:tailEnd len="sm" w="sm" type="none"/>
          </a:ln>
        </p:spPr>
        <p:txBody>
          <a:bodyPr anchorCtr="0" anchor="ctr" bIns="88975" lIns="88975" spcFirstLastPara="1" rIns="88975" wrap="square" tIns="88975">
            <a:noAutofit/>
          </a:bodyPr>
          <a:lstStyle/>
          <a:p>
            <a:pPr indent="0" lvl="0" marL="0" rtl="0" algn="l">
              <a:spcBef>
                <a:spcPts val="0"/>
              </a:spcBef>
              <a:spcAft>
                <a:spcPts val="0"/>
              </a:spcAft>
              <a:buNone/>
            </a:pPr>
            <a:r>
              <a:t/>
            </a:r>
            <a:endParaRPr/>
          </a:p>
        </p:txBody>
      </p:sp>
      <p:sp>
        <p:nvSpPr>
          <p:cNvPr id="1142" name="Google Shape;1142;p41"/>
          <p:cNvSpPr/>
          <p:nvPr/>
        </p:nvSpPr>
        <p:spPr>
          <a:xfrm>
            <a:off x="389538" y="2115344"/>
            <a:ext cx="311700" cy="69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65"/>
              <a:buFont typeface="Calibri"/>
              <a:buNone/>
            </a:pPr>
            <a:r>
              <a:rPr b="1" i="0" lang="en-US" sz="1265" u="none" cap="none" strike="noStrike">
                <a:solidFill>
                  <a:srgbClr val="FFFFFF"/>
                </a:solidFill>
                <a:latin typeface="Calibri"/>
                <a:ea typeface="Calibri"/>
                <a:cs typeface="Calibri"/>
                <a:sym typeface="Calibri"/>
              </a:rPr>
              <a:t>3</a:t>
            </a:r>
            <a:endParaRPr b="0" i="0" sz="1265" u="none" cap="none" strike="noStrike">
              <a:solidFill>
                <a:schemeClr val="dk1"/>
              </a:solidFill>
              <a:latin typeface="Calibri"/>
              <a:ea typeface="Calibri"/>
              <a:cs typeface="Calibri"/>
              <a:sym typeface="Calibri"/>
            </a:endParaRPr>
          </a:p>
        </p:txBody>
      </p:sp>
      <p:sp>
        <p:nvSpPr>
          <p:cNvPr id="1143" name="Google Shape;1143;p41"/>
          <p:cNvSpPr/>
          <p:nvPr/>
        </p:nvSpPr>
        <p:spPr>
          <a:xfrm>
            <a:off x="789984" y="2159838"/>
            <a:ext cx="2847900" cy="24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71"/>
              <a:buFont typeface="Calibri"/>
              <a:buNone/>
            </a:pPr>
            <a:r>
              <a:rPr b="1" i="0" lang="en-US" sz="1071" u="none" cap="none" strike="noStrike">
                <a:solidFill>
                  <a:srgbClr val="ECF0F1"/>
                </a:solidFill>
                <a:latin typeface="Calibri"/>
                <a:ea typeface="Calibri"/>
                <a:cs typeface="Calibri"/>
                <a:sym typeface="Calibri"/>
              </a:rPr>
              <a:t>Huge pages + AlwaysPreTouch</a:t>
            </a:r>
            <a:endParaRPr b="0" i="0" sz="1071" u="none" cap="none" strike="noStrike">
              <a:solidFill>
                <a:schemeClr val="dk1"/>
              </a:solidFill>
              <a:latin typeface="Calibri"/>
              <a:ea typeface="Calibri"/>
              <a:cs typeface="Calibri"/>
              <a:sym typeface="Calibri"/>
            </a:endParaRPr>
          </a:p>
        </p:txBody>
      </p:sp>
      <p:sp>
        <p:nvSpPr>
          <p:cNvPr id="1144" name="Google Shape;1144;p41"/>
          <p:cNvSpPr/>
          <p:nvPr/>
        </p:nvSpPr>
        <p:spPr>
          <a:xfrm>
            <a:off x="789984" y="2435701"/>
            <a:ext cx="2847900" cy="24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A623"/>
              </a:buClr>
              <a:buSzPts val="925"/>
              <a:buFont typeface="Calibri"/>
              <a:buNone/>
            </a:pPr>
            <a:r>
              <a:rPr b="0" i="0" lang="en-US" sz="925" u="none" cap="none" strike="noStrike">
                <a:solidFill>
                  <a:srgbClr val="F5A623"/>
                </a:solidFill>
                <a:latin typeface="Calibri"/>
                <a:ea typeface="Calibri"/>
                <a:cs typeface="Calibri"/>
                <a:sym typeface="Calibri"/>
              </a:rPr>
              <a:t>→ Eliminate TLB pressure + page fault jitter</a:t>
            </a:r>
            <a:endParaRPr b="0" i="0" sz="925" u="none" cap="none" strike="noStrike">
              <a:solidFill>
                <a:schemeClr val="dk1"/>
              </a:solidFill>
              <a:latin typeface="Calibri"/>
              <a:ea typeface="Calibri"/>
              <a:cs typeface="Calibri"/>
              <a:sym typeface="Calibri"/>
            </a:endParaRPr>
          </a:p>
        </p:txBody>
      </p:sp>
      <p:sp>
        <p:nvSpPr>
          <p:cNvPr id="1145" name="Google Shape;1145;p41"/>
          <p:cNvSpPr/>
          <p:nvPr/>
        </p:nvSpPr>
        <p:spPr>
          <a:xfrm>
            <a:off x="3682096" y="2275522"/>
            <a:ext cx="978900" cy="2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A623"/>
              </a:buClr>
              <a:buSzPts val="876"/>
              <a:buFont typeface="Calibri"/>
              <a:buNone/>
            </a:pPr>
            <a:r>
              <a:rPr b="1" i="0" lang="en-US" sz="876" u="none" cap="none" strike="noStrike">
                <a:solidFill>
                  <a:srgbClr val="F5A623"/>
                </a:solidFill>
                <a:latin typeface="Calibri"/>
                <a:ea typeface="Calibri"/>
                <a:cs typeface="Calibri"/>
                <a:sym typeface="Calibri"/>
              </a:rPr>
              <a:t>Medium</a:t>
            </a:r>
            <a:endParaRPr b="0" i="0" sz="876" u="none" cap="none" strike="noStrike">
              <a:solidFill>
                <a:schemeClr val="dk1"/>
              </a:solidFill>
              <a:latin typeface="Calibri"/>
              <a:ea typeface="Calibri"/>
              <a:cs typeface="Calibri"/>
              <a:sym typeface="Calibri"/>
            </a:endParaRPr>
          </a:p>
        </p:txBody>
      </p:sp>
      <p:sp>
        <p:nvSpPr>
          <p:cNvPr id="1146" name="Google Shape;1146;p41"/>
          <p:cNvSpPr/>
          <p:nvPr/>
        </p:nvSpPr>
        <p:spPr>
          <a:xfrm>
            <a:off x="4705459" y="2204332"/>
            <a:ext cx="3915300" cy="498300"/>
          </a:xfrm>
          <a:prstGeom prst="rect">
            <a:avLst/>
          </a:prstGeom>
          <a:solidFill>
            <a:srgbClr val="0D2137"/>
          </a:solidFill>
          <a:ln cap="flat" cmpd="sng" w="12350">
            <a:solidFill>
              <a:srgbClr val="1E3A5F"/>
            </a:solidFill>
            <a:prstDash val="solid"/>
            <a:round/>
            <a:headEnd len="sm" w="sm" type="none"/>
            <a:tailEnd len="sm" w="sm" type="none"/>
          </a:ln>
        </p:spPr>
        <p:txBody>
          <a:bodyPr anchorCtr="0" anchor="ctr" bIns="88975" lIns="88975" spcFirstLastPara="1" rIns="88975" wrap="square" tIns="88975">
            <a:noAutofit/>
          </a:bodyPr>
          <a:lstStyle/>
          <a:p>
            <a:pPr indent="0" lvl="0" marL="0" rtl="0" algn="l">
              <a:spcBef>
                <a:spcPts val="0"/>
              </a:spcBef>
              <a:spcAft>
                <a:spcPts val="0"/>
              </a:spcAft>
              <a:buNone/>
            </a:pPr>
            <a:r>
              <a:t/>
            </a:r>
            <a:endParaRPr/>
          </a:p>
        </p:txBody>
      </p:sp>
      <p:sp>
        <p:nvSpPr>
          <p:cNvPr id="1147" name="Google Shape;1147;p41"/>
          <p:cNvSpPr/>
          <p:nvPr/>
        </p:nvSpPr>
        <p:spPr>
          <a:xfrm>
            <a:off x="4794447" y="2248826"/>
            <a:ext cx="3737700" cy="409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827"/>
              <a:buFont typeface="Consolas"/>
              <a:buNone/>
            </a:pPr>
            <a:r>
              <a:rPr b="0" i="0" lang="en-US" sz="827" u="none" cap="none" strike="noStrike">
                <a:solidFill>
                  <a:srgbClr val="00BCD4"/>
                </a:solidFill>
                <a:latin typeface="Consolas"/>
                <a:ea typeface="Consolas"/>
                <a:cs typeface="Consolas"/>
                <a:sym typeface="Consolas"/>
              </a:rPr>
              <a:t>-XX:+UseLargePages  -XX:+AlwaysPreTouch</a:t>
            </a:r>
            <a:endParaRPr b="0" i="0" sz="827" u="none" cap="none" strike="noStrike">
              <a:solidFill>
                <a:schemeClr val="dk1"/>
              </a:solidFill>
              <a:latin typeface="Calibri"/>
              <a:ea typeface="Calibri"/>
              <a:cs typeface="Calibri"/>
              <a:sym typeface="Calibri"/>
            </a:endParaRPr>
          </a:p>
        </p:txBody>
      </p:sp>
      <p:sp>
        <p:nvSpPr>
          <p:cNvPr id="1148" name="Google Shape;1148;p41"/>
          <p:cNvSpPr/>
          <p:nvPr/>
        </p:nvSpPr>
        <p:spPr>
          <a:xfrm>
            <a:off x="389538" y="2889541"/>
            <a:ext cx="8364900" cy="693900"/>
          </a:xfrm>
          <a:prstGeom prst="rect">
            <a:avLst/>
          </a:prstGeom>
          <a:solidFill>
            <a:srgbClr val="122040"/>
          </a:solidFill>
          <a:ln cap="flat" cmpd="sng" w="18550">
            <a:solidFill>
              <a:srgbClr val="F5A623"/>
            </a:solidFill>
            <a:prstDash val="solid"/>
            <a:round/>
            <a:headEnd len="sm" w="sm" type="none"/>
            <a:tailEnd len="sm" w="sm" type="none"/>
          </a:ln>
        </p:spPr>
        <p:txBody>
          <a:bodyPr anchorCtr="0" anchor="ctr" bIns="88975" lIns="88975" spcFirstLastPara="1" rIns="88975" wrap="square" tIns="88975">
            <a:noAutofit/>
          </a:bodyPr>
          <a:lstStyle/>
          <a:p>
            <a:pPr indent="0" lvl="0" marL="0" rtl="0" algn="l">
              <a:spcBef>
                <a:spcPts val="0"/>
              </a:spcBef>
              <a:spcAft>
                <a:spcPts val="0"/>
              </a:spcAft>
              <a:buNone/>
            </a:pPr>
            <a:r>
              <a:t/>
            </a:r>
            <a:endParaRPr/>
          </a:p>
        </p:txBody>
      </p:sp>
      <p:sp>
        <p:nvSpPr>
          <p:cNvPr id="1149" name="Google Shape;1149;p41"/>
          <p:cNvSpPr/>
          <p:nvPr/>
        </p:nvSpPr>
        <p:spPr>
          <a:xfrm>
            <a:off x="389538" y="2889541"/>
            <a:ext cx="311700" cy="693900"/>
          </a:xfrm>
          <a:prstGeom prst="rect">
            <a:avLst/>
          </a:prstGeom>
          <a:solidFill>
            <a:srgbClr val="F5A623"/>
          </a:solidFill>
          <a:ln cap="flat" cmpd="sng" w="12350">
            <a:solidFill>
              <a:srgbClr val="F5A623"/>
            </a:solidFill>
            <a:prstDash val="solid"/>
            <a:round/>
            <a:headEnd len="sm" w="sm" type="none"/>
            <a:tailEnd len="sm" w="sm" type="none"/>
          </a:ln>
        </p:spPr>
        <p:txBody>
          <a:bodyPr anchorCtr="0" anchor="ctr" bIns="88975" lIns="88975" spcFirstLastPara="1" rIns="88975" wrap="square" tIns="88975">
            <a:noAutofit/>
          </a:bodyPr>
          <a:lstStyle/>
          <a:p>
            <a:pPr indent="0" lvl="0" marL="0" rtl="0" algn="l">
              <a:spcBef>
                <a:spcPts val="0"/>
              </a:spcBef>
              <a:spcAft>
                <a:spcPts val="0"/>
              </a:spcAft>
              <a:buNone/>
            </a:pPr>
            <a:r>
              <a:t/>
            </a:r>
            <a:endParaRPr/>
          </a:p>
        </p:txBody>
      </p:sp>
      <p:sp>
        <p:nvSpPr>
          <p:cNvPr id="1150" name="Google Shape;1150;p41"/>
          <p:cNvSpPr/>
          <p:nvPr/>
        </p:nvSpPr>
        <p:spPr>
          <a:xfrm>
            <a:off x="389538" y="2889541"/>
            <a:ext cx="311700" cy="69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65"/>
              <a:buFont typeface="Calibri"/>
              <a:buNone/>
            </a:pPr>
            <a:r>
              <a:rPr b="1" i="0" lang="en-US" sz="1265" u="none" cap="none" strike="noStrike">
                <a:solidFill>
                  <a:srgbClr val="FFFFFF"/>
                </a:solidFill>
                <a:latin typeface="Calibri"/>
                <a:ea typeface="Calibri"/>
                <a:cs typeface="Calibri"/>
                <a:sym typeface="Calibri"/>
              </a:rPr>
              <a:t>4</a:t>
            </a:r>
            <a:endParaRPr b="0" i="0" sz="1265" u="none" cap="none" strike="noStrike">
              <a:solidFill>
                <a:schemeClr val="dk1"/>
              </a:solidFill>
              <a:latin typeface="Calibri"/>
              <a:ea typeface="Calibri"/>
              <a:cs typeface="Calibri"/>
              <a:sym typeface="Calibri"/>
            </a:endParaRPr>
          </a:p>
        </p:txBody>
      </p:sp>
      <p:sp>
        <p:nvSpPr>
          <p:cNvPr id="1151" name="Google Shape;1151;p41"/>
          <p:cNvSpPr/>
          <p:nvPr/>
        </p:nvSpPr>
        <p:spPr>
          <a:xfrm>
            <a:off x="789984" y="2934035"/>
            <a:ext cx="2847900" cy="24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71"/>
              <a:buFont typeface="Calibri"/>
              <a:buNone/>
            </a:pPr>
            <a:r>
              <a:rPr b="1" i="0" lang="en-US" sz="1071" u="none" cap="none" strike="noStrike">
                <a:solidFill>
                  <a:srgbClr val="ECF0F1"/>
                </a:solidFill>
                <a:latin typeface="Calibri"/>
                <a:ea typeface="Calibri"/>
                <a:cs typeface="Calibri"/>
                <a:sym typeface="Calibri"/>
              </a:rPr>
              <a:t>CPU Manager static + Topology Manager</a:t>
            </a:r>
            <a:endParaRPr b="0" i="0" sz="1071" u="none" cap="none" strike="noStrike">
              <a:solidFill>
                <a:schemeClr val="dk1"/>
              </a:solidFill>
              <a:latin typeface="Calibri"/>
              <a:ea typeface="Calibri"/>
              <a:cs typeface="Calibri"/>
              <a:sym typeface="Calibri"/>
            </a:endParaRPr>
          </a:p>
        </p:txBody>
      </p:sp>
      <p:sp>
        <p:nvSpPr>
          <p:cNvPr id="1152" name="Google Shape;1152;p41"/>
          <p:cNvSpPr/>
          <p:nvPr/>
        </p:nvSpPr>
        <p:spPr>
          <a:xfrm>
            <a:off x="789984" y="3343370"/>
            <a:ext cx="2847900" cy="24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A623"/>
              </a:buClr>
              <a:buSzPts val="925"/>
              <a:buFont typeface="Calibri"/>
              <a:buNone/>
            </a:pPr>
            <a:r>
              <a:rPr b="0" i="0" lang="en-US" sz="925" u="none" cap="none" strike="noStrike">
                <a:solidFill>
                  <a:srgbClr val="F5A623"/>
                </a:solidFill>
                <a:latin typeface="Calibri"/>
                <a:ea typeface="Calibri"/>
                <a:cs typeface="Calibri"/>
                <a:sym typeface="Calibri"/>
              </a:rPr>
              <a:t>→ NUMA-local CPUs + memory, no cross-socket</a:t>
            </a:r>
            <a:endParaRPr b="0" i="0" sz="925" u="none" cap="none" strike="noStrike">
              <a:solidFill>
                <a:schemeClr val="dk1"/>
              </a:solidFill>
              <a:latin typeface="Calibri"/>
              <a:ea typeface="Calibri"/>
              <a:cs typeface="Calibri"/>
              <a:sym typeface="Calibri"/>
            </a:endParaRPr>
          </a:p>
        </p:txBody>
      </p:sp>
      <p:sp>
        <p:nvSpPr>
          <p:cNvPr id="1153" name="Google Shape;1153;p41"/>
          <p:cNvSpPr/>
          <p:nvPr/>
        </p:nvSpPr>
        <p:spPr>
          <a:xfrm>
            <a:off x="3682096" y="3049719"/>
            <a:ext cx="978900" cy="2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A623"/>
              </a:buClr>
              <a:buSzPts val="876"/>
              <a:buFont typeface="Calibri"/>
              <a:buNone/>
            </a:pPr>
            <a:r>
              <a:rPr b="1" i="0" lang="en-US" sz="876" u="none" cap="none" strike="noStrike">
                <a:solidFill>
                  <a:srgbClr val="F5A623"/>
                </a:solidFill>
                <a:latin typeface="Calibri"/>
                <a:ea typeface="Calibri"/>
                <a:cs typeface="Calibri"/>
                <a:sym typeface="Calibri"/>
              </a:rPr>
              <a:t>Medium</a:t>
            </a:r>
            <a:endParaRPr b="0" i="0" sz="876" u="none" cap="none" strike="noStrike">
              <a:solidFill>
                <a:schemeClr val="dk1"/>
              </a:solidFill>
              <a:latin typeface="Calibri"/>
              <a:ea typeface="Calibri"/>
              <a:cs typeface="Calibri"/>
              <a:sym typeface="Calibri"/>
            </a:endParaRPr>
          </a:p>
        </p:txBody>
      </p:sp>
      <p:sp>
        <p:nvSpPr>
          <p:cNvPr id="1154" name="Google Shape;1154;p41"/>
          <p:cNvSpPr/>
          <p:nvPr/>
        </p:nvSpPr>
        <p:spPr>
          <a:xfrm>
            <a:off x="4705459" y="2978529"/>
            <a:ext cx="3915300" cy="498300"/>
          </a:xfrm>
          <a:prstGeom prst="rect">
            <a:avLst/>
          </a:prstGeom>
          <a:solidFill>
            <a:srgbClr val="0D2137"/>
          </a:solidFill>
          <a:ln cap="flat" cmpd="sng" w="12350">
            <a:solidFill>
              <a:srgbClr val="1E3A5F"/>
            </a:solidFill>
            <a:prstDash val="solid"/>
            <a:round/>
            <a:headEnd len="sm" w="sm" type="none"/>
            <a:tailEnd len="sm" w="sm" type="none"/>
          </a:ln>
        </p:spPr>
        <p:txBody>
          <a:bodyPr anchorCtr="0" anchor="ctr" bIns="88975" lIns="88975" spcFirstLastPara="1" rIns="88975" wrap="square" tIns="88975">
            <a:noAutofit/>
          </a:bodyPr>
          <a:lstStyle/>
          <a:p>
            <a:pPr indent="0" lvl="0" marL="0" rtl="0" algn="l">
              <a:spcBef>
                <a:spcPts val="0"/>
              </a:spcBef>
              <a:spcAft>
                <a:spcPts val="0"/>
              </a:spcAft>
              <a:buNone/>
            </a:pPr>
            <a:r>
              <a:t/>
            </a:r>
            <a:endParaRPr/>
          </a:p>
        </p:txBody>
      </p:sp>
      <p:sp>
        <p:nvSpPr>
          <p:cNvPr id="1155" name="Google Shape;1155;p41"/>
          <p:cNvSpPr/>
          <p:nvPr/>
        </p:nvSpPr>
        <p:spPr>
          <a:xfrm>
            <a:off x="4794447" y="3023023"/>
            <a:ext cx="3737700" cy="409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827"/>
              <a:buFont typeface="Consolas"/>
              <a:buNone/>
            </a:pPr>
            <a:r>
              <a:rPr b="0" i="0" lang="en-US" sz="827" u="none" cap="none" strike="noStrike">
                <a:solidFill>
                  <a:srgbClr val="00BCD4"/>
                </a:solidFill>
                <a:latin typeface="Consolas"/>
                <a:ea typeface="Consolas"/>
                <a:cs typeface="Consolas"/>
                <a:sym typeface="Consolas"/>
              </a:rPr>
              <a:t>kubelet: cpuManagerPolicy: static  topologyManagerPolicy: single-numa-node</a:t>
            </a:r>
            <a:endParaRPr b="0" i="0" sz="827" u="none" cap="none" strike="noStrike">
              <a:solidFill>
                <a:schemeClr val="dk1"/>
              </a:solidFill>
              <a:latin typeface="Calibri"/>
              <a:ea typeface="Calibri"/>
              <a:cs typeface="Calibri"/>
              <a:sym typeface="Calibri"/>
            </a:endParaRPr>
          </a:p>
        </p:txBody>
      </p:sp>
      <p:sp>
        <p:nvSpPr>
          <p:cNvPr id="1156" name="Google Shape;1156;p41"/>
          <p:cNvSpPr/>
          <p:nvPr/>
        </p:nvSpPr>
        <p:spPr>
          <a:xfrm>
            <a:off x="389562" y="3663737"/>
            <a:ext cx="8364900" cy="693900"/>
          </a:xfrm>
          <a:prstGeom prst="rect">
            <a:avLst/>
          </a:prstGeom>
          <a:solidFill>
            <a:srgbClr val="122040"/>
          </a:solidFill>
          <a:ln cap="flat" cmpd="sng" w="18550">
            <a:solidFill>
              <a:srgbClr val="E84855"/>
            </a:solidFill>
            <a:prstDash val="solid"/>
            <a:round/>
            <a:headEnd len="sm" w="sm" type="none"/>
            <a:tailEnd len="sm" w="sm" type="none"/>
          </a:ln>
        </p:spPr>
        <p:txBody>
          <a:bodyPr anchorCtr="0" anchor="ctr" bIns="88975" lIns="88975" spcFirstLastPara="1" rIns="88975" wrap="square" tIns="88975">
            <a:noAutofit/>
          </a:bodyPr>
          <a:lstStyle/>
          <a:p>
            <a:pPr indent="0" lvl="0" marL="0" rtl="0" algn="l">
              <a:spcBef>
                <a:spcPts val="0"/>
              </a:spcBef>
              <a:spcAft>
                <a:spcPts val="0"/>
              </a:spcAft>
              <a:buNone/>
            </a:pPr>
            <a:r>
              <a:t/>
            </a:r>
            <a:endParaRPr/>
          </a:p>
        </p:txBody>
      </p:sp>
      <p:sp>
        <p:nvSpPr>
          <p:cNvPr id="1157" name="Google Shape;1157;p41"/>
          <p:cNvSpPr/>
          <p:nvPr/>
        </p:nvSpPr>
        <p:spPr>
          <a:xfrm>
            <a:off x="389562" y="3663737"/>
            <a:ext cx="311700" cy="693900"/>
          </a:xfrm>
          <a:prstGeom prst="rect">
            <a:avLst/>
          </a:prstGeom>
          <a:solidFill>
            <a:srgbClr val="E84855"/>
          </a:solidFill>
          <a:ln cap="flat" cmpd="sng" w="12350">
            <a:solidFill>
              <a:srgbClr val="E84855"/>
            </a:solidFill>
            <a:prstDash val="solid"/>
            <a:round/>
            <a:headEnd len="sm" w="sm" type="none"/>
            <a:tailEnd len="sm" w="sm" type="none"/>
          </a:ln>
        </p:spPr>
        <p:txBody>
          <a:bodyPr anchorCtr="0" anchor="ctr" bIns="88975" lIns="88975" spcFirstLastPara="1" rIns="88975" wrap="square" tIns="88975">
            <a:noAutofit/>
          </a:bodyPr>
          <a:lstStyle/>
          <a:p>
            <a:pPr indent="0" lvl="0" marL="0" rtl="0" algn="l">
              <a:spcBef>
                <a:spcPts val="0"/>
              </a:spcBef>
              <a:spcAft>
                <a:spcPts val="0"/>
              </a:spcAft>
              <a:buNone/>
            </a:pPr>
            <a:r>
              <a:t/>
            </a:r>
            <a:endParaRPr/>
          </a:p>
        </p:txBody>
      </p:sp>
      <p:sp>
        <p:nvSpPr>
          <p:cNvPr id="1158" name="Google Shape;1158;p41"/>
          <p:cNvSpPr/>
          <p:nvPr/>
        </p:nvSpPr>
        <p:spPr>
          <a:xfrm>
            <a:off x="389562" y="3663737"/>
            <a:ext cx="311700" cy="69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65"/>
              <a:buFont typeface="Calibri"/>
              <a:buNone/>
            </a:pPr>
            <a:r>
              <a:rPr b="1" i="0" lang="en-US" sz="1265" u="none" cap="none" strike="noStrike">
                <a:solidFill>
                  <a:srgbClr val="FFFFFF"/>
                </a:solidFill>
                <a:latin typeface="Calibri"/>
                <a:ea typeface="Calibri"/>
                <a:cs typeface="Calibri"/>
                <a:sym typeface="Calibri"/>
              </a:rPr>
              <a:t>5</a:t>
            </a:r>
            <a:endParaRPr b="0" i="0" sz="1265" u="none" cap="none" strike="noStrike">
              <a:solidFill>
                <a:schemeClr val="dk1"/>
              </a:solidFill>
              <a:latin typeface="Calibri"/>
              <a:ea typeface="Calibri"/>
              <a:cs typeface="Calibri"/>
              <a:sym typeface="Calibri"/>
            </a:endParaRPr>
          </a:p>
        </p:txBody>
      </p:sp>
      <p:sp>
        <p:nvSpPr>
          <p:cNvPr id="1159" name="Google Shape;1159;p41"/>
          <p:cNvSpPr/>
          <p:nvPr/>
        </p:nvSpPr>
        <p:spPr>
          <a:xfrm>
            <a:off x="790008" y="3708232"/>
            <a:ext cx="2847900" cy="24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71"/>
              <a:buFont typeface="Calibri"/>
              <a:buNone/>
            </a:pPr>
            <a:r>
              <a:rPr b="1" i="0" lang="en-US" sz="1071" u="none" cap="none" strike="noStrike">
                <a:solidFill>
                  <a:srgbClr val="ECF0F1"/>
                </a:solidFill>
                <a:latin typeface="Calibri"/>
                <a:ea typeface="Calibri"/>
                <a:cs typeface="Calibri"/>
                <a:sym typeface="Calibri"/>
              </a:rPr>
              <a:t>isolcpus + nohz_full + rcu_nocbs</a:t>
            </a:r>
            <a:endParaRPr b="0" i="0" sz="1071" u="none" cap="none" strike="noStrike">
              <a:solidFill>
                <a:schemeClr val="dk1"/>
              </a:solidFill>
              <a:latin typeface="Calibri"/>
              <a:ea typeface="Calibri"/>
              <a:cs typeface="Calibri"/>
              <a:sym typeface="Calibri"/>
            </a:endParaRPr>
          </a:p>
        </p:txBody>
      </p:sp>
      <p:sp>
        <p:nvSpPr>
          <p:cNvPr id="1160" name="Google Shape;1160;p41"/>
          <p:cNvSpPr/>
          <p:nvPr/>
        </p:nvSpPr>
        <p:spPr>
          <a:xfrm>
            <a:off x="790008" y="3984095"/>
            <a:ext cx="2847900" cy="24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855"/>
              </a:buClr>
              <a:buSzPts val="925"/>
              <a:buFont typeface="Calibri"/>
              <a:buNone/>
            </a:pPr>
            <a:r>
              <a:rPr b="0" i="0" lang="en-US" sz="925" u="none" cap="none" strike="noStrike">
                <a:solidFill>
                  <a:srgbClr val="E84855"/>
                </a:solidFill>
                <a:latin typeface="Calibri"/>
                <a:ea typeface="Calibri"/>
                <a:cs typeface="Calibri"/>
                <a:sym typeface="Calibri"/>
              </a:rPr>
              <a:t>→ Remove kernel tick jitter from app CPUs</a:t>
            </a:r>
            <a:endParaRPr b="0" i="0" sz="925" u="none" cap="none" strike="noStrike">
              <a:solidFill>
                <a:schemeClr val="dk1"/>
              </a:solidFill>
              <a:latin typeface="Calibri"/>
              <a:ea typeface="Calibri"/>
              <a:cs typeface="Calibri"/>
              <a:sym typeface="Calibri"/>
            </a:endParaRPr>
          </a:p>
        </p:txBody>
      </p:sp>
      <p:sp>
        <p:nvSpPr>
          <p:cNvPr id="1161" name="Google Shape;1161;p41"/>
          <p:cNvSpPr/>
          <p:nvPr/>
        </p:nvSpPr>
        <p:spPr>
          <a:xfrm>
            <a:off x="3682120" y="3823916"/>
            <a:ext cx="978900" cy="2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4855"/>
              </a:buClr>
              <a:buSzPts val="876"/>
              <a:buFont typeface="Calibri"/>
              <a:buNone/>
            </a:pPr>
            <a:r>
              <a:rPr b="1" i="0" lang="en-US" sz="876" u="none" cap="none" strike="noStrike">
                <a:solidFill>
                  <a:srgbClr val="E84855"/>
                </a:solidFill>
                <a:latin typeface="Calibri"/>
                <a:ea typeface="Calibri"/>
                <a:cs typeface="Calibri"/>
                <a:sym typeface="Calibri"/>
              </a:rPr>
              <a:t>Hard</a:t>
            </a:r>
            <a:endParaRPr b="0" i="0" sz="876" u="none" cap="none" strike="noStrike">
              <a:solidFill>
                <a:schemeClr val="dk1"/>
              </a:solidFill>
              <a:latin typeface="Calibri"/>
              <a:ea typeface="Calibri"/>
              <a:cs typeface="Calibri"/>
              <a:sym typeface="Calibri"/>
            </a:endParaRPr>
          </a:p>
        </p:txBody>
      </p:sp>
      <p:sp>
        <p:nvSpPr>
          <p:cNvPr id="1162" name="Google Shape;1162;p41"/>
          <p:cNvSpPr/>
          <p:nvPr/>
        </p:nvSpPr>
        <p:spPr>
          <a:xfrm>
            <a:off x="4705483" y="3752726"/>
            <a:ext cx="3915300" cy="498300"/>
          </a:xfrm>
          <a:prstGeom prst="rect">
            <a:avLst/>
          </a:prstGeom>
          <a:solidFill>
            <a:srgbClr val="0D2137"/>
          </a:solidFill>
          <a:ln cap="flat" cmpd="sng" w="12350">
            <a:solidFill>
              <a:srgbClr val="1E3A5F"/>
            </a:solidFill>
            <a:prstDash val="solid"/>
            <a:round/>
            <a:headEnd len="sm" w="sm" type="none"/>
            <a:tailEnd len="sm" w="sm" type="none"/>
          </a:ln>
        </p:spPr>
        <p:txBody>
          <a:bodyPr anchorCtr="0" anchor="ctr" bIns="88975" lIns="88975" spcFirstLastPara="1" rIns="88975" wrap="square" tIns="88975">
            <a:noAutofit/>
          </a:bodyPr>
          <a:lstStyle/>
          <a:p>
            <a:pPr indent="0" lvl="0" marL="0" rtl="0" algn="l">
              <a:spcBef>
                <a:spcPts val="0"/>
              </a:spcBef>
              <a:spcAft>
                <a:spcPts val="0"/>
              </a:spcAft>
              <a:buNone/>
            </a:pPr>
            <a:r>
              <a:t/>
            </a:r>
            <a:endParaRPr/>
          </a:p>
        </p:txBody>
      </p:sp>
      <p:sp>
        <p:nvSpPr>
          <p:cNvPr id="1163" name="Google Shape;1163;p41"/>
          <p:cNvSpPr/>
          <p:nvPr/>
        </p:nvSpPr>
        <p:spPr>
          <a:xfrm>
            <a:off x="4794471" y="3797220"/>
            <a:ext cx="3737700" cy="409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827"/>
              <a:buFont typeface="Consolas"/>
              <a:buNone/>
            </a:pPr>
            <a:r>
              <a:rPr b="0" i="0" lang="en-US" sz="827" u="none" cap="none" strike="noStrike">
                <a:solidFill>
                  <a:srgbClr val="00BCD4"/>
                </a:solidFill>
                <a:latin typeface="Consolas"/>
                <a:ea typeface="Consolas"/>
                <a:cs typeface="Consolas"/>
                <a:sym typeface="Consolas"/>
              </a:rPr>
              <a:t>GRUB: isolcpus=4-11 nohz_full=4-11 rcu_nocbs=4-11</a:t>
            </a:r>
            <a:endParaRPr b="0" i="0" sz="827" u="none" cap="none" strike="noStrike">
              <a:solidFill>
                <a:schemeClr val="dk1"/>
              </a:solidFill>
              <a:latin typeface="Calibri"/>
              <a:ea typeface="Calibri"/>
              <a:cs typeface="Calibri"/>
              <a:sym typeface="Calibri"/>
            </a:endParaRPr>
          </a:p>
        </p:txBody>
      </p:sp>
      <p:sp>
        <p:nvSpPr>
          <p:cNvPr id="1164" name="Google Shape;1164;p41"/>
          <p:cNvSpPr/>
          <p:nvPr/>
        </p:nvSpPr>
        <p:spPr>
          <a:xfrm>
            <a:off x="389562" y="4437934"/>
            <a:ext cx="8364900" cy="693900"/>
          </a:xfrm>
          <a:prstGeom prst="rect">
            <a:avLst/>
          </a:prstGeom>
          <a:solidFill>
            <a:srgbClr val="122040"/>
          </a:solidFill>
          <a:ln cap="flat" cmpd="sng" w="18550">
            <a:solidFill>
              <a:srgbClr val="E84855"/>
            </a:solidFill>
            <a:prstDash val="solid"/>
            <a:round/>
            <a:headEnd len="sm" w="sm" type="none"/>
            <a:tailEnd len="sm" w="sm" type="none"/>
          </a:ln>
        </p:spPr>
        <p:txBody>
          <a:bodyPr anchorCtr="0" anchor="ctr" bIns="88975" lIns="88975" spcFirstLastPara="1" rIns="88975" wrap="square" tIns="88975">
            <a:noAutofit/>
          </a:bodyPr>
          <a:lstStyle/>
          <a:p>
            <a:pPr indent="0" lvl="0" marL="0" rtl="0" algn="l">
              <a:spcBef>
                <a:spcPts val="0"/>
              </a:spcBef>
              <a:spcAft>
                <a:spcPts val="0"/>
              </a:spcAft>
              <a:buNone/>
            </a:pPr>
            <a:r>
              <a:t/>
            </a:r>
            <a:endParaRPr/>
          </a:p>
        </p:txBody>
      </p:sp>
      <p:sp>
        <p:nvSpPr>
          <p:cNvPr id="1165" name="Google Shape;1165;p41"/>
          <p:cNvSpPr/>
          <p:nvPr/>
        </p:nvSpPr>
        <p:spPr>
          <a:xfrm>
            <a:off x="389562" y="4437934"/>
            <a:ext cx="311700" cy="693900"/>
          </a:xfrm>
          <a:prstGeom prst="rect">
            <a:avLst/>
          </a:prstGeom>
          <a:solidFill>
            <a:srgbClr val="E84855"/>
          </a:solidFill>
          <a:ln cap="flat" cmpd="sng" w="12350">
            <a:solidFill>
              <a:srgbClr val="E84855"/>
            </a:solidFill>
            <a:prstDash val="solid"/>
            <a:round/>
            <a:headEnd len="sm" w="sm" type="none"/>
            <a:tailEnd len="sm" w="sm" type="none"/>
          </a:ln>
        </p:spPr>
        <p:txBody>
          <a:bodyPr anchorCtr="0" anchor="ctr" bIns="88975" lIns="88975" spcFirstLastPara="1" rIns="88975" wrap="square" tIns="88975">
            <a:noAutofit/>
          </a:bodyPr>
          <a:lstStyle/>
          <a:p>
            <a:pPr indent="0" lvl="0" marL="0" rtl="0" algn="l">
              <a:spcBef>
                <a:spcPts val="0"/>
              </a:spcBef>
              <a:spcAft>
                <a:spcPts val="0"/>
              </a:spcAft>
              <a:buNone/>
            </a:pPr>
            <a:r>
              <a:t/>
            </a:r>
            <a:endParaRPr/>
          </a:p>
        </p:txBody>
      </p:sp>
      <p:sp>
        <p:nvSpPr>
          <p:cNvPr id="1166" name="Google Shape;1166;p41"/>
          <p:cNvSpPr/>
          <p:nvPr/>
        </p:nvSpPr>
        <p:spPr>
          <a:xfrm>
            <a:off x="389562" y="4437934"/>
            <a:ext cx="311700" cy="69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65"/>
              <a:buFont typeface="Calibri"/>
              <a:buNone/>
            </a:pPr>
            <a:r>
              <a:rPr b="1" i="0" lang="en-US" sz="1265" u="none" cap="none" strike="noStrike">
                <a:solidFill>
                  <a:srgbClr val="FFFFFF"/>
                </a:solidFill>
                <a:latin typeface="Calibri"/>
                <a:ea typeface="Calibri"/>
                <a:cs typeface="Calibri"/>
                <a:sym typeface="Calibri"/>
              </a:rPr>
              <a:t>6</a:t>
            </a:r>
            <a:endParaRPr b="0" i="0" sz="1265" u="none" cap="none" strike="noStrike">
              <a:solidFill>
                <a:schemeClr val="dk1"/>
              </a:solidFill>
              <a:latin typeface="Calibri"/>
              <a:ea typeface="Calibri"/>
              <a:cs typeface="Calibri"/>
              <a:sym typeface="Calibri"/>
            </a:endParaRPr>
          </a:p>
        </p:txBody>
      </p:sp>
      <p:sp>
        <p:nvSpPr>
          <p:cNvPr id="1167" name="Google Shape;1167;p41"/>
          <p:cNvSpPr/>
          <p:nvPr/>
        </p:nvSpPr>
        <p:spPr>
          <a:xfrm>
            <a:off x="790008" y="4482428"/>
            <a:ext cx="2847900" cy="24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71"/>
              <a:buFont typeface="Calibri"/>
              <a:buNone/>
            </a:pPr>
            <a:r>
              <a:rPr b="1" i="0" lang="en-US" sz="1071" u="none" cap="none" strike="noStrike">
                <a:solidFill>
                  <a:srgbClr val="ECF0F1"/>
                </a:solidFill>
                <a:latin typeface="Calibri"/>
                <a:ea typeface="Calibri"/>
                <a:cs typeface="Calibri"/>
                <a:sym typeface="Calibri"/>
              </a:rPr>
              <a:t>RT kernel + ZGC + SCHED_FIFO</a:t>
            </a:r>
            <a:endParaRPr b="0" i="0" sz="1071" u="none" cap="none" strike="noStrike">
              <a:solidFill>
                <a:schemeClr val="dk1"/>
              </a:solidFill>
              <a:latin typeface="Calibri"/>
              <a:ea typeface="Calibri"/>
              <a:cs typeface="Calibri"/>
              <a:sym typeface="Calibri"/>
            </a:endParaRPr>
          </a:p>
        </p:txBody>
      </p:sp>
      <p:sp>
        <p:nvSpPr>
          <p:cNvPr id="1168" name="Google Shape;1168;p41"/>
          <p:cNvSpPr/>
          <p:nvPr/>
        </p:nvSpPr>
        <p:spPr>
          <a:xfrm>
            <a:off x="790008" y="4758292"/>
            <a:ext cx="2847900" cy="24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855"/>
              </a:buClr>
              <a:buSzPts val="925"/>
              <a:buFont typeface="Calibri"/>
              <a:buNone/>
            </a:pPr>
            <a:r>
              <a:rPr b="0" i="0" lang="en-US" sz="925" u="none" cap="none" strike="noStrike">
                <a:solidFill>
                  <a:srgbClr val="E84855"/>
                </a:solidFill>
                <a:latin typeface="Calibri"/>
                <a:ea typeface="Calibri"/>
                <a:cs typeface="Calibri"/>
                <a:sym typeface="Calibri"/>
              </a:rPr>
              <a:t>→ Deterministic worst-case — soft realtime</a:t>
            </a:r>
            <a:endParaRPr b="0" i="0" sz="925" u="none" cap="none" strike="noStrike">
              <a:solidFill>
                <a:schemeClr val="dk1"/>
              </a:solidFill>
              <a:latin typeface="Calibri"/>
              <a:ea typeface="Calibri"/>
              <a:cs typeface="Calibri"/>
              <a:sym typeface="Calibri"/>
            </a:endParaRPr>
          </a:p>
        </p:txBody>
      </p:sp>
      <p:sp>
        <p:nvSpPr>
          <p:cNvPr id="1169" name="Google Shape;1169;p41"/>
          <p:cNvSpPr/>
          <p:nvPr/>
        </p:nvSpPr>
        <p:spPr>
          <a:xfrm>
            <a:off x="3682120" y="4598113"/>
            <a:ext cx="978900" cy="2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4855"/>
              </a:buClr>
              <a:buSzPts val="876"/>
              <a:buFont typeface="Calibri"/>
              <a:buNone/>
            </a:pPr>
            <a:r>
              <a:rPr b="1" i="0" lang="en-US" sz="876" u="none" cap="none" strike="noStrike">
                <a:solidFill>
                  <a:srgbClr val="E84855"/>
                </a:solidFill>
                <a:latin typeface="Calibri"/>
                <a:ea typeface="Calibri"/>
                <a:cs typeface="Calibri"/>
                <a:sym typeface="Calibri"/>
              </a:rPr>
              <a:t>Advanced</a:t>
            </a:r>
            <a:endParaRPr b="0" i="0" sz="876" u="none" cap="none" strike="noStrike">
              <a:solidFill>
                <a:schemeClr val="dk1"/>
              </a:solidFill>
              <a:latin typeface="Calibri"/>
              <a:ea typeface="Calibri"/>
              <a:cs typeface="Calibri"/>
              <a:sym typeface="Calibri"/>
            </a:endParaRPr>
          </a:p>
        </p:txBody>
      </p:sp>
      <p:sp>
        <p:nvSpPr>
          <p:cNvPr id="1170" name="Google Shape;1170;p41"/>
          <p:cNvSpPr/>
          <p:nvPr/>
        </p:nvSpPr>
        <p:spPr>
          <a:xfrm>
            <a:off x="4705483" y="4526922"/>
            <a:ext cx="3915300" cy="498300"/>
          </a:xfrm>
          <a:prstGeom prst="rect">
            <a:avLst/>
          </a:prstGeom>
          <a:solidFill>
            <a:srgbClr val="0D2137"/>
          </a:solidFill>
          <a:ln cap="flat" cmpd="sng" w="12350">
            <a:solidFill>
              <a:srgbClr val="1E3A5F"/>
            </a:solidFill>
            <a:prstDash val="solid"/>
            <a:round/>
            <a:headEnd len="sm" w="sm" type="none"/>
            <a:tailEnd len="sm" w="sm" type="none"/>
          </a:ln>
        </p:spPr>
        <p:txBody>
          <a:bodyPr anchorCtr="0" anchor="ctr" bIns="88975" lIns="88975" spcFirstLastPara="1" rIns="88975" wrap="square" tIns="88975">
            <a:noAutofit/>
          </a:bodyPr>
          <a:lstStyle/>
          <a:p>
            <a:pPr indent="0" lvl="0" marL="0" rtl="0" algn="l">
              <a:spcBef>
                <a:spcPts val="0"/>
              </a:spcBef>
              <a:spcAft>
                <a:spcPts val="0"/>
              </a:spcAft>
              <a:buNone/>
            </a:pPr>
            <a:r>
              <a:t/>
            </a:r>
            <a:endParaRPr/>
          </a:p>
        </p:txBody>
      </p:sp>
      <p:sp>
        <p:nvSpPr>
          <p:cNvPr id="1171" name="Google Shape;1171;p41"/>
          <p:cNvSpPr/>
          <p:nvPr/>
        </p:nvSpPr>
        <p:spPr>
          <a:xfrm>
            <a:off x="4794471" y="4571416"/>
            <a:ext cx="3737700" cy="409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827"/>
              <a:buFont typeface="Consolas"/>
              <a:buNone/>
            </a:pPr>
            <a:r>
              <a:rPr b="0" i="0" lang="en-US" sz="827" u="none" cap="none" strike="noStrike">
                <a:solidFill>
                  <a:srgbClr val="00BCD4"/>
                </a:solidFill>
                <a:latin typeface="Consolas"/>
                <a:ea typeface="Consolas"/>
                <a:cs typeface="Consolas"/>
                <a:sym typeface="Consolas"/>
              </a:rPr>
              <a:t>chrt -f 50 java -XX:+UseZGC -XX:-TieredCompilation ...</a:t>
            </a:r>
            <a:endParaRPr b="0" i="0" sz="827"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176" name="Shape 1176"/>
        <p:cNvGrpSpPr/>
        <p:nvPr/>
      </p:nvGrpSpPr>
      <p:grpSpPr>
        <a:xfrm>
          <a:off x="0" y="0"/>
          <a:ext cx="0" cy="0"/>
          <a:chOff x="0" y="0"/>
          <a:chExt cx="0" cy="0"/>
        </a:xfrm>
      </p:grpSpPr>
      <p:sp>
        <p:nvSpPr>
          <p:cNvPr id="1177" name="Google Shape;1177;p42"/>
          <p:cNvSpPr/>
          <p:nvPr/>
        </p:nvSpPr>
        <p:spPr>
          <a:xfrm>
            <a:off x="0" y="0"/>
            <a:ext cx="9144000" cy="64020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42"/>
          <p:cNvSpPr/>
          <p:nvPr/>
        </p:nvSpPr>
        <p:spPr>
          <a:xfrm>
            <a:off x="320040" y="9144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200"/>
              <a:buFont typeface="Calibri"/>
              <a:buNone/>
            </a:pPr>
            <a:r>
              <a:rPr b="1" i="0" lang="en-US" sz="2200" u="none" cap="none" strike="noStrike">
                <a:solidFill>
                  <a:srgbClr val="00BCD4"/>
                </a:solidFill>
                <a:latin typeface="Calibri"/>
                <a:ea typeface="Calibri"/>
                <a:cs typeface="Calibri"/>
                <a:sym typeface="Calibri"/>
              </a:rPr>
              <a:t>Kubernetes &amp; OpenShift Configuration</a:t>
            </a:r>
            <a:endParaRPr b="0" i="0" sz="2200" u="none" cap="none" strike="noStrike">
              <a:solidFill>
                <a:schemeClr val="dk1"/>
              </a:solidFill>
              <a:latin typeface="Calibri"/>
              <a:ea typeface="Calibri"/>
              <a:cs typeface="Calibri"/>
              <a:sym typeface="Calibri"/>
            </a:endParaRPr>
          </a:p>
        </p:txBody>
      </p:sp>
      <p:sp>
        <p:nvSpPr>
          <p:cNvPr id="1179" name="Google Shape;1179;p42"/>
          <p:cNvSpPr/>
          <p:nvPr/>
        </p:nvSpPr>
        <p:spPr>
          <a:xfrm>
            <a:off x="7772400" y="73152"/>
            <a:ext cx="1234500" cy="493800"/>
          </a:xfrm>
          <a:prstGeom prst="rect">
            <a:avLst/>
          </a:prstGeom>
          <a:solidFill>
            <a:srgbClr val="1E6FC8"/>
          </a:solidFill>
          <a:ln cap="flat" cmpd="sng" w="12700">
            <a:solidFill>
              <a:srgbClr val="1E6F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42"/>
          <p:cNvSpPr/>
          <p:nvPr/>
        </p:nvSpPr>
        <p:spPr>
          <a:xfrm>
            <a:off x="7772400" y="73152"/>
            <a:ext cx="1234500" cy="493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000">
                <a:solidFill>
                  <a:srgbClr val="FFFFFF"/>
                </a:solidFill>
                <a:latin typeface="Calibri"/>
                <a:ea typeface="Calibri"/>
                <a:cs typeface="Calibri"/>
                <a:sym typeface="Calibri"/>
              </a:rPr>
              <a:t>              </a:t>
            </a:r>
            <a:r>
              <a:rPr b="1" i="0" lang="en-US" sz="1000" u="none" cap="none" strike="noStrike">
                <a:solidFill>
                  <a:srgbClr val="FFFFFF"/>
                </a:solidFill>
                <a:latin typeface="Calibri"/>
                <a:ea typeface="Calibri"/>
                <a:cs typeface="Calibri"/>
                <a:sym typeface="Calibri"/>
              </a:rPr>
              <a:t>LOW LATENCY</a:t>
            </a:r>
            <a:endParaRPr b="0" i="0" sz="1000" u="none" cap="none" strike="noStrike">
              <a:solidFill>
                <a:schemeClr val="dk1"/>
              </a:solidFill>
              <a:latin typeface="Calibri"/>
              <a:ea typeface="Calibri"/>
              <a:cs typeface="Calibri"/>
              <a:sym typeface="Calibri"/>
            </a:endParaRPr>
          </a:p>
        </p:txBody>
      </p:sp>
      <p:sp>
        <p:nvSpPr>
          <p:cNvPr id="1181" name="Google Shape;1181;p42"/>
          <p:cNvSpPr/>
          <p:nvPr/>
        </p:nvSpPr>
        <p:spPr>
          <a:xfrm>
            <a:off x="320040" y="749808"/>
            <a:ext cx="4023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300"/>
              <a:buFont typeface="Calibri"/>
              <a:buNone/>
            </a:pPr>
            <a:r>
              <a:rPr b="1" i="0" lang="en-US" sz="1300" u="none" cap="none" strike="noStrike">
                <a:solidFill>
                  <a:srgbClr val="00BCD4"/>
                </a:solidFill>
                <a:latin typeface="Calibri"/>
                <a:ea typeface="Calibri"/>
                <a:cs typeface="Calibri"/>
                <a:sym typeface="Calibri"/>
              </a:rPr>
              <a:t>Kubernetes</a:t>
            </a:r>
            <a:endParaRPr b="0" i="0" sz="1300" u="none" cap="none" strike="noStrike">
              <a:solidFill>
                <a:schemeClr val="dk1"/>
              </a:solidFill>
              <a:latin typeface="Calibri"/>
              <a:ea typeface="Calibri"/>
              <a:cs typeface="Calibri"/>
              <a:sym typeface="Calibri"/>
            </a:endParaRPr>
          </a:p>
        </p:txBody>
      </p:sp>
      <p:sp>
        <p:nvSpPr>
          <p:cNvPr id="1182" name="Google Shape;1182;p42"/>
          <p:cNvSpPr/>
          <p:nvPr/>
        </p:nvSpPr>
        <p:spPr>
          <a:xfrm>
            <a:off x="320040" y="1060704"/>
            <a:ext cx="4023300" cy="1828800"/>
          </a:xfrm>
          <a:prstGeom prst="rect">
            <a:avLst/>
          </a:prstGeom>
          <a:solidFill>
            <a:srgbClr val="0D2137"/>
          </a:solidFill>
          <a:ln cap="flat" cmpd="sng" w="12700">
            <a:solidFill>
              <a:srgbClr val="1E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42"/>
          <p:cNvSpPr/>
          <p:nvPr/>
        </p:nvSpPr>
        <p:spPr>
          <a:xfrm>
            <a:off x="411480" y="1115568"/>
            <a:ext cx="3840600" cy="1700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CF0F1"/>
              </a:buClr>
              <a:buSzPts val="850"/>
              <a:buFont typeface="Consolas"/>
              <a:buNone/>
            </a:pPr>
            <a:r>
              <a:rPr b="0" i="0" lang="en-US" sz="850" u="none" cap="none" strike="noStrike">
                <a:solidFill>
                  <a:srgbClr val="ECF0F1"/>
                </a:solidFill>
                <a:latin typeface="Consolas"/>
                <a:ea typeface="Consolas"/>
                <a:cs typeface="Consolas"/>
                <a:sym typeface="Consolas"/>
              </a:rPr>
              <a:t># kubelet-config.yaml</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0"/>
              <a:buFont typeface="Consolas"/>
              <a:buNone/>
            </a:pPr>
            <a:r>
              <a:rPr b="0" i="0" lang="en-US" sz="850" u="none" cap="none" strike="noStrike">
                <a:solidFill>
                  <a:srgbClr val="ECF0F1"/>
                </a:solidFill>
                <a:latin typeface="Consolas"/>
                <a:ea typeface="Consolas"/>
                <a:cs typeface="Consolas"/>
                <a:sym typeface="Consolas"/>
              </a:rPr>
              <a:t>cpuManagerPolicy: static</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0"/>
              <a:buFont typeface="Consolas"/>
              <a:buNone/>
            </a:pPr>
            <a:r>
              <a:rPr b="0" i="0" lang="en-US" sz="850" u="none" cap="none" strike="noStrike">
                <a:solidFill>
                  <a:srgbClr val="ECF0F1"/>
                </a:solidFill>
                <a:latin typeface="Consolas"/>
                <a:ea typeface="Consolas"/>
                <a:cs typeface="Consolas"/>
                <a:sym typeface="Consolas"/>
              </a:rPr>
              <a:t>topologyManagerPolicy: single-numa-node</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0"/>
              <a:buFont typeface="Consolas"/>
              <a:buNone/>
            </a:pPr>
            <a:r>
              <a:rPr b="0" i="0" lang="en-US" sz="850" u="none" cap="none" strike="noStrike">
                <a:solidFill>
                  <a:srgbClr val="ECF0F1"/>
                </a:solidFill>
                <a:latin typeface="Consolas"/>
                <a:ea typeface="Consolas"/>
                <a:cs typeface="Consolas"/>
                <a:sym typeface="Consolas"/>
              </a:rPr>
              <a:t>memoryManagerPolicy: Static</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850"/>
              <a:buFont typeface="Calibri"/>
              <a:buNone/>
            </a:pPr>
            <a:r>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0"/>
              <a:buFont typeface="Consolas"/>
              <a:buNone/>
            </a:pPr>
            <a:r>
              <a:rPr b="0" i="0" lang="en-US" sz="850" u="none" cap="none" strike="noStrike">
                <a:solidFill>
                  <a:srgbClr val="ECF0F1"/>
                </a:solidFill>
                <a:latin typeface="Consolas"/>
                <a:ea typeface="Consolas"/>
                <a:cs typeface="Consolas"/>
                <a:sym typeface="Consolas"/>
              </a:rPr>
              <a:t># Pod spec — Guaranteed QoS (requests == limits)</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0"/>
              <a:buFont typeface="Consolas"/>
              <a:buNone/>
            </a:pPr>
            <a:r>
              <a:rPr b="0" i="0" lang="en-US" sz="850" u="none" cap="none" strike="noStrike">
                <a:solidFill>
                  <a:srgbClr val="ECF0F1"/>
                </a:solidFill>
                <a:latin typeface="Consolas"/>
                <a:ea typeface="Consolas"/>
                <a:cs typeface="Consolas"/>
                <a:sym typeface="Consolas"/>
              </a:rPr>
              <a:t>resources:</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0"/>
              <a:buFont typeface="Consolas"/>
              <a:buNone/>
            </a:pPr>
            <a:r>
              <a:rPr b="0" i="0" lang="en-US" sz="850" u="none" cap="none" strike="noStrike">
                <a:solidFill>
                  <a:srgbClr val="ECF0F1"/>
                </a:solidFill>
                <a:latin typeface="Consolas"/>
                <a:ea typeface="Consolas"/>
                <a:cs typeface="Consolas"/>
                <a:sym typeface="Consolas"/>
              </a:rPr>
              <a:t>  requests:</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0"/>
              <a:buFont typeface="Consolas"/>
              <a:buNone/>
            </a:pPr>
            <a:r>
              <a:rPr b="0" i="0" lang="en-US" sz="850" u="none" cap="none" strike="noStrike">
                <a:solidFill>
                  <a:srgbClr val="ECF0F1"/>
                </a:solidFill>
                <a:latin typeface="Consolas"/>
                <a:ea typeface="Consolas"/>
                <a:cs typeface="Consolas"/>
                <a:sym typeface="Consolas"/>
              </a:rPr>
              <a:t>    cpu: "8"          # integer — static allocation</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0"/>
              <a:buFont typeface="Consolas"/>
              <a:buNone/>
            </a:pPr>
            <a:r>
              <a:rPr b="0" i="0" lang="en-US" sz="850" u="none" cap="none" strike="noStrike">
                <a:solidFill>
                  <a:srgbClr val="ECF0F1"/>
                </a:solidFill>
                <a:latin typeface="Consolas"/>
                <a:ea typeface="Consolas"/>
                <a:cs typeface="Consolas"/>
                <a:sym typeface="Consolas"/>
              </a:rPr>
              <a:t>    memory: "16Gi"</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0"/>
              <a:buFont typeface="Consolas"/>
              <a:buNone/>
            </a:pPr>
            <a:r>
              <a:rPr b="0" i="0" lang="en-US" sz="850" u="none" cap="none" strike="noStrike">
                <a:solidFill>
                  <a:srgbClr val="ECF0F1"/>
                </a:solidFill>
                <a:latin typeface="Consolas"/>
                <a:ea typeface="Consolas"/>
                <a:cs typeface="Consolas"/>
                <a:sym typeface="Consolas"/>
              </a:rPr>
              <a:t>    hugepages-2Mi: "8Gi"</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0"/>
              <a:buFont typeface="Consolas"/>
              <a:buNone/>
            </a:pPr>
            <a:r>
              <a:rPr b="0" i="0" lang="en-US" sz="850" u="none" cap="none" strike="noStrike">
                <a:solidFill>
                  <a:srgbClr val="ECF0F1"/>
                </a:solidFill>
                <a:latin typeface="Consolas"/>
                <a:ea typeface="Consolas"/>
                <a:cs typeface="Consolas"/>
                <a:sym typeface="Consolas"/>
              </a:rPr>
              <a:t>  limits:</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0"/>
              <a:buFont typeface="Consolas"/>
              <a:buNone/>
            </a:pPr>
            <a:r>
              <a:rPr b="0" i="0" lang="en-US" sz="850" u="none" cap="none" strike="noStrike">
                <a:solidFill>
                  <a:srgbClr val="ECF0F1"/>
                </a:solidFill>
                <a:latin typeface="Consolas"/>
                <a:ea typeface="Consolas"/>
                <a:cs typeface="Consolas"/>
                <a:sym typeface="Consolas"/>
              </a:rPr>
              <a:t>    cpu: "8"</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0"/>
              <a:buFont typeface="Consolas"/>
              <a:buNone/>
            </a:pPr>
            <a:r>
              <a:rPr b="0" i="0" lang="en-US" sz="850" u="none" cap="none" strike="noStrike">
                <a:solidFill>
                  <a:srgbClr val="ECF0F1"/>
                </a:solidFill>
                <a:latin typeface="Consolas"/>
                <a:ea typeface="Consolas"/>
                <a:cs typeface="Consolas"/>
                <a:sym typeface="Consolas"/>
              </a:rPr>
              <a:t>    memory: "16Gi"</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0"/>
              <a:buFont typeface="Consolas"/>
              <a:buNone/>
            </a:pPr>
            <a:r>
              <a:rPr b="0" i="0" lang="en-US" sz="850" u="none" cap="none" strike="noStrike">
                <a:solidFill>
                  <a:srgbClr val="ECF0F1"/>
                </a:solidFill>
                <a:latin typeface="Consolas"/>
                <a:ea typeface="Consolas"/>
                <a:cs typeface="Consolas"/>
                <a:sym typeface="Consolas"/>
              </a:rPr>
              <a:t>    hugepages-2Mi: "8Gi"</a:t>
            </a:r>
            <a:endParaRPr b="0" i="0" sz="850" u="none" cap="none" strike="noStrike">
              <a:solidFill>
                <a:schemeClr val="dk1"/>
              </a:solidFill>
              <a:latin typeface="Calibri"/>
              <a:ea typeface="Calibri"/>
              <a:cs typeface="Calibri"/>
              <a:sym typeface="Calibri"/>
            </a:endParaRPr>
          </a:p>
        </p:txBody>
      </p:sp>
      <p:sp>
        <p:nvSpPr>
          <p:cNvPr id="1184" name="Google Shape;1184;p42"/>
          <p:cNvSpPr/>
          <p:nvPr/>
        </p:nvSpPr>
        <p:spPr>
          <a:xfrm>
            <a:off x="320040" y="2980944"/>
            <a:ext cx="40233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100"/>
              <a:buFont typeface="Calibri"/>
              <a:buNone/>
            </a:pPr>
            <a:r>
              <a:rPr b="1" i="0" lang="en-US" sz="1100" u="none" cap="none" strike="noStrike">
                <a:solidFill>
                  <a:srgbClr val="00BCD4"/>
                </a:solidFill>
                <a:latin typeface="Calibri"/>
                <a:ea typeface="Calibri"/>
                <a:cs typeface="Calibri"/>
                <a:sym typeface="Calibri"/>
              </a:rPr>
              <a:t>JVM flags for the container</a:t>
            </a:r>
            <a:endParaRPr b="0" i="0" sz="1100" u="none" cap="none" strike="noStrike">
              <a:solidFill>
                <a:schemeClr val="dk1"/>
              </a:solidFill>
              <a:latin typeface="Calibri"/>
              <a:ea typeface="Calibri"/>
              <a:cs typeface="Calibri"/>
              <a:sym typeface="Calibri"/>
            </a:endParaRPr>
          </a:p>
        </p:txBody>
      </p:sp>
      <p:sp>
        <p:nvSpPr>
          <p:cNvPr id="1185" name="Google Shape;1185;p42"/>
          <p:cNvSpPr/>
          <p:nvPr/>
        </p:nvSpPr>
        <p:spPr>
          <a:xfrm>
            <a:off x="320040" y="3255264"/>
            <a:ext cx="4023300" cy="1737300"/>
          </a:xfrm>
          <a:prstGeom prst="rect">
            <a:avLst/>
          </a:prstGeom>
          <a:solidFill>
            <a:srgbClr val="0D2137"/>
          </a:solidFill>
          <a:ln cap="flat" cmpd="sng" w="12700">
            <a:solidFill>
              <a:srgbClr val="1E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42"/>
          <p:cNvSpPr/>
          <p:nvPr/>
        </p:nvSpPr>
        <p:spPr>
          <a:xfrm>
            <a:off x="411480" y="3310128"/>
            <a:ext cx="3840600" cy="1609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BCD4"/>
              </a:buClr>
              <a:buSzPts val="900"/>
              <a:buFont typeface="Consolas"/>
              <a:buNone/>
            </a:pPr>
            <a:r>
              <a:rPr b="0" i="0" lang="en-US" sz="900" u="none" cap="none" strike="noStrike">
                <a:solidFill>
                  <a:srgbClr val="00BCD4"/>
                </a:solidFill>
                <a:latin typeface="Consolas"/>
                <a:ea typeface="Consolas"/>
                <a:cs typeface="Consolas"/>
                <a:sym typeface="Consolas"/>
              </a:rPr>
              <a:t>-XX:+UseZGC</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BCD4"/>
              </a:buClr>
              <a:buSzPts val="900"/>
              <a:buFont typeface="Consolas"/>
              <a:buNone/>
            </a:pPr>
            <a:r>
              <a:rPr b="0" i="0" lang="en-US" sz="900" u="none" cap="none" strike="noStrike">
                <a:solidFill>
                  <a:srgbClr val="00BCD4"/>
                </a:solidFill>
                <a:latin typeface="Consolas"/>
                <a:ea typeface="Consolas"/>
                <a:cs typeface="Consolas"/>
                <a:sym typeface="Consolas"/>
              </a:rPr>
              <a:t># generational: only mode since JDK 24</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BCD4"/>
              </a:buClr>
              <a:buSzPts val="900"/>
              <a:buFont typeface="Consolas"/>
              <a:buNone/>
            </a:pPr>
            <a:r>
              <a:rPr b="0" i="0" lang="en-US" sz="900" u="none" cap="none" strike="noStrike">
                <a:solidFill>
                  <a:srgbClr val="00BCD4"/>
                </a:solidFill>
                <a:latin typeface="Consolas"/>
                <a:ea typeface="Consolas"/>
                <a:cs typeface="Consolas"/>
                <a:sym typeface="Consolas"/>
              </a:rPr>
              <a:t>-XX:+UseLargePages</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BCD4"/>
              </a:buClr>
              <a:buSzPts val="900"/>
              <a:buFont typeface="Consolas"/>
              <a:buNone/>
            </a:pPr>
            <a:r>
              <a:rPr b="0" i="0" lang="en-US" sz="900" u="none" cap="none" strike="noStrike">
                <a:solidFill>
                  <a:srgbClr val="00BCD4"/>
                </a:solidFill>
                <a:latin typeface="Consolas"/>
                <a:ea typeface="Consolas"/>
                <a:cs typeface="Consolas"/>
                <a:sym typeface="Consolas"/>
              </a:rPr>
              <a:t>-XX:+UseNUMA</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BCD4"/>
              </a:buClr>
              <a:buSzPts val="900"/>
              <a:buFont typeface="Consolas"/>
              <a:buNone/>
            </a:pPr>
            <a:r>
              <a:rPr b="0" i="0" lang="en-US" sz="900" u="none" cap="none" strike="noStrike">
                <a:solidFill>
                  <a:srgbClr val="00BCD4"/>
                </a:solidFill>
                <a:latin typeface="Consolas"/>
                <a:ea typeface="Consolas"/>
                <a:cs typeface="Consolas"/>
                <a:sym typeface="Consolas"/>
              </a:rPr>
              <a:t>-XX:+AlwaysPreTouch</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BCD4"/>
              </a:buClr>
              <a:buSzPts val="900"/>
              <a:buFont typeface="Consolas"/>
              <a:buNone/>
            </a:pPr>
            <a:r>
              <a:rPr b="0" i="0" lang="en-US" sz="900" u="none" cap="none" strike="noStrike">
                <a:solidFill>
                  <a:srgbClr val="00BCD4"/>
                </a:solidFill>
                <a:latin typeface="Consolas"/>
                <a:ea typeface="Consolas"/>
                <a:cs typeface="Consolas"/>
                <a:sym typeface="Consolas"/>
              </a:rPr>
              <a:t>-XX:ActiveProcessorCount=8</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BCD4"/>
              </a:buClr>
              <a:buSzPts val="900"/>
              <a:buFont typeface="Consolas"/>
              <a:buNone/>
            </a:pPr>
            <a:r>
              <a:rPr b="0" i="0" lang="en-US" sz="900" u="none" cap="none" strike="noStrike">
                <a:solidFill>
                  <a:srgbClr val="00BCD4"/>
                </a:solidFill>
                <a:latin typeface="Consolas"/>
                <a:ea typeface="Consolas"/>
                <a:cs typeface="Consolas"/>
                <a:sym typeface="Consolas"/>
              </a:rPr>
              <a:t>-XX:ParallelGCThreads=8</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BCD4"/>
              </a:buClr>
              <a:buSzPts val="900"/>
              <a:buFont typeface="Consolas"/>
              <a:buNone/>
            </a:pPr>
            <a:r>
              <a:rPr b="0" i="0" lang="en-US" sz="900" u="none" cap="none" strike="noStrike">
                <a:solidFill>
                  <a:srgbClr val="00BCD4"/>
                </a:solidFill>
                <a:latin typeface="Consolas"/>
                <a:ea typeface="Consolas"/>
                <a:cs typeface="Consolas"/>
                <a:sym typeface="Consolas"/>
              </a:rPr>
              <a:t>-XX:ConcGCThreads=4</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BCD4"/>
              </a:buClr>
              <a:buSzPts val="900"/>
              <a:buFont typeface="Consolas"/>
              <a:buNone/>
            </a:pPr>
            <a:r>
              <a:rPr b="0" i="0" lang="en-US" sz="900" u="none" cap="none" strike="noStrike">
                <a:solidFill>
                  <a:srgbClr val="00BCD4"/>
                </a:solidFill>
                <a:latin typeface="Consolas"/>
                <a:ea typeface="Consolas"/>
                <a:cs typeface="Consolas"/>
                <a:sym typeface="Consolas"/>
              </a:rPr>
              <a:t>-XX:CICompilerCount=2</a:t>
            </a:r>
            <a:endParaRPr b="0" i="0" sz="900" u="none" cap="none" strike="noStrike">
              <a:solidFill>
                <a:schemeClr val="dk1"/>
              </a:solidFill>
              <a:latin typeface="Calibri"/>
              <a:ea typeface="Calibri"/>
              <a:cs typeface="Calibri"/>
              <a:sym typeface="Calibri"/>
            </a:endParaRPr>
          </a:p>
        </p:txBody>
      </p:sp>
      <p:sp>
        <p:nvSpPr>
          <p:cNvPr id="1187" name="Google Shape;1187;p42"/>
          <p:cNvSpPr/>
          <p:nvPr/>
        </p:nvSpPr>
        <p:spPr>
          <a:xfrm>
            <a:off x="4800600" y="749808"/>
            <a:ext cx="4023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A623"/>
              </a:buClr>
              <a:buSzPts val="1100"/>
              <a:buFont typeface="Calibri"/>
              <a:buNone/>
            </a:pPr>
            <a:r>
              <a:rPr b="1" i="0" lang="en-US" sz="1100" u="none" cap="none" strike="noStrike">
                <a:solidFill>
                  <a:srgbClr val="F5A623"/>
                </a:solidFill>
                <a:latin typeface="Calibri"/>
                <a:ea typeface="Calibri"/>
                <a:cs typeface="Calibri"/>
                <a:sym typeface="Calibri"/>
              </a:rPr>
              <a:t>OpenShift — PerformanceProfile (automates all of it)</a:t>
            </a:r>
            <a:endParaRPr b="0" i="0" sz="1100" u="none" cap="none" strike="noStrike">
              <a:solidFill>
                <a:schemeClr val="dk1"/>
              </a:solidFill>
              <a:latin typeface="Calibri"/>
              <a:ea typeface="Calibri"/>
              <a:cs typeface="Calibri"/>
              <a:sym typeface="Calibri"/>
            </a:endParaRPr>
          </a:p>
        </p:txBody>
      </p:sp>
      <p:sp>
        <p:nvSpPr>
          <p:cNvPr id="1188" name="Google Shape;1188;p42"/>
          <p:cNvSpPr/>
          <p:nvPr/>
        </p:nvSpPr>
        <p:spPr>
          <a:xfrm>
            <a:off x="4800600" y="1060704"/>
            <a:ext cx="4023300" cy="3931800"/>
          </a:xfrm>
          <a:prstGeom prst="rect">
            <a:avLst/>
          </a:prstGeom>
          <a:solidFill>
            <a:srgbClr val="0D2137"/>
          </a:solidFill>
          <a:ln cap="flat" cmpd="sng" w="12700">
            <a:solidFill>
              <a:srgbClr val="1E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42"/>
          <p:cNvSpPr/>
          <p:nvPr/>
        </p:nvSpPr>
        <p:spPr>
          <a:xfrm>
            <a:off x="4892040" y="1115568"/>
            <a:ext cx="3840600" cy="380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CF0F1"/>
              </a:buClr>
              <a:buSzPts val="820"/>
              <a:buFont typeface="Consolas"/>
              <a:buNone/>
            </a:pPr>
            <a:r>
              <a:rPr b="0" i="0" lang="en-US" sz="820" u="none" cap="none" strike="noStrike">
                <a:solidFill>
                  <a:srgbClr val="ECF0F1"/>
                </a:solidFill>
                <a:latin typeface="Consolas"/>
                <a:ea typeface="Consolas"/>
                <a:cs typeface="Consolas"/>
                <a:sym typeface="Consolas"/>
              </a:rPr>
              <a:t>apiVersion: performance.openshift.io/v2</a:t>
            </a:r>
            <a:endParaRPr b="0" i="0" sz="82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20"/>
              <a:buFont typeface="Consolas"/>
              <a:buNone/>
            </a:pPr>
            <a:r>
              <a:rPr b="0" i="0" lang="en-US" sz="820" u="none" cap="none" strike="noStrike">
                <a:solidFill>
                  <a:srgbClr val="ECF0F1"/>
                </a:solidFill>
                <a:latin typeface="Consolas"/>
                <a:ea typeface="Consolas"/>
                <a:cs typeface="Consolas"/>
                <a:sym typeface="Consolas"/>
              </a:rPr>
              <a:t>kind: PerformanceProfile</a:t>
            </a:r>
            <a:endParaRPr b="0" i="0" sz="82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20"/>
              <a:buFont typeface="Consolas"/>
              <a:buNone/>
            </a:pPr>
            <a:r>
              <a:rPr b="0" i="0" lang="en-US" sz="820" u="none" cap="none" strike="noStrike">
                <a:solidFill>
                  <a:srgbClr val="ECF0F1"/>
                </a:solidFill>
                <a:latin typeface="Consolas"/>
                <a:ea typeface="Consolas"/>
                <a:cs typeface="Consolas"/>
                <a:sym typeface="Consolas"/>
              </a:rPr>
              <a:t>metadata:</a:t>
            </a:r>
            <a:endParaRPr b="0" i="0" sz="82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20"/>
              <a:buFont typeface="Consolas"/>
              <a:buNone/>
            </a:pPr>
            <a:r>
              <a:rPr b="0" i="0" lang="en-US" sz="820" u="none" cap="none" strike="noStrike">
                <a:solidFill>
                  <a:srgbClr val="ECF0F1"/>
                </a:solidFill>
                <a:latin typeface="Consolas"/>
                <a:ea typeface="Consolas"/>
                <a:cs typeface="Consolas"/>
                <a:sym typeface="Consolas"/>
              </a:rPr>
              <a:t>  name: low-latency-profile</a:t>
            </a:r>
            <a:endParaRPr b="0" i="0" sz="82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20"/>
              <a:buFont typeface="Consolas"/>
              <a:buNone/>
            </a:pPr>
            <a:r>
              <a:rPr b="0" i="0" lang="en-US" sz="820" u="none" cap="none" strike="noStrike">
                <a:solidFill>
                  <a:srgbClr val="ECF0F1"/>
                </a:solidFill>
                <a:latin typeface="Consolas"/>
                <a:ea typeface="Consolas"/>
                <a:cs typeface="Consolas"/>
                <a:sym typeface="Consolas"/>
              </a:rPr>
              <a:t>spec:</a:t>
            </a:r>
            <a:endParaRPr b="0" i="0" sz="82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20"/>
              <a:buFont typeface="Consolas"/>
              <a:buNone/>
            </a:pPr>
            <a:r>
              <a:rPr b="0" i="0" lang="en-US" sz="820" u="none" cap="none" strike="noStrike">
                <a:solidFill>
                  <a:srgbClr val="ECF0F1"/>
                </a:solidFill>
                <a:latin typeface="Consolas"/>
                <a:ea typeface="Consolas"/>
                <a:cs typeface="Consolas"/>
                <a:sym typeface="Consolas"/>
              </a:rPr>
              <a:t>  cpu:</a:t>
            </a:r>
            <a:endParaRPr b="0" i="0" sz="82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20"/>
              <a:buFont typeface="Consolas"/>
              <a:buNone/>
            </a:pPr>
            <a:r>
              <a:rPr b="0" i="0" lang="en-US" sz="820" u="none" cap="none" strike="noStrike">
                <a:solidFill>
                  <a:srgbClr val="ECF0F1"/>
                </a:solidFill>
                <a:latin typeface="Consolas"/>
                <a:ea typeface="Consolas"/>
                <a:cs typeface="Consolas"/>
                <a:sym typeface="Consolas"/>
              </a:rPr>
              <a:t>    isolated: "4-11"      # app CPUs</a:t>
            </a:r>
            <a:endParaRPr b="0" i="0" sz="82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20"/>
              <a:buFont typeface="Consolas"/>
              <a:buNone/>
            </a:pPr>
            <a:r>
              <a:rPr b="0" i="0" lang="en-US" sz="820" u="none" cap="none" strike="noStrike">
                <a:solidFill>
                  <a:srgbClr val="ECF0F1"/>
                </a:solidFill>
                <a:latin typeface="Consolas"/>
                <a:ea typeface="Consolas"/>
                <a:cs typeface="Consolas"/>
                <a:sym typeface="Consolas"/>
              </a:rPr>
              <a:t>    reserved:  "0-3"      # OS + kubelet</a:t>
            </a:r>
            <a:endParaRPr b="0" i="0" sz="82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20"/>
              <a:buFont typeface="Consolas"/>
              <a:buNone/>
            </a:pPr>
            <a:r>
              <a:rPr b="0" i="0" lang="en-US" sz="820" u="none" cap="none" strike="noStrike">
                <a:solidFill>
                  <a:srgbClr val="ECF0F1"/>
                </a:solidFill>
                <a:latin typeface="Consolas"/>
                <a:ea typeface="Consolas"/>
                <a:cs typeface="Consolas"/>
                <a:sym typeface="Consolas"/>
              </a:rPr>
              <a:t>  hugepages:</a:t>
            </a:r>
            <a:endParaRPr b="0" i="0" sz="82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20"/>
              <a:buFont typeface="Consolas"/>
              <a:buNone/>
            </a:pPr>
            <a:r>
              <a:rPr b="0" i="0" lang="en-US" sz="820" u="none" cap="none" strike="noStrike">
                <a:solidFill>
                  <a:srgbClr val="ECF0F1"/>
                </a:solidFill>
                <a:latin typeface="Consolas"/>
                <a:ea typeface="Consolas"/>
                <a:cs typeface="Consolas"/>
                <a:sym typeface="Consolas"/>
              </a:rPr>
              <a:t>    defaultHugePagesSize: 2Mi</a:t>
            </a:r>
            <a:endParaRPr b="0" i="0" sz="82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20"/>
              <a:buFont typeface="Consolas"/>
              <a:buNone/>
            </a:pPr>
            <a:r>
              <a:rPr b="0" i="0" lang="en-US" sz="820" u="none" cap="none" strike="noStrike">
                <a:solidFill>
                  <a:srgbClr val="ECF0F1"/>
                </a:solidFill>
                <a:latin typeface="Consolas"/>
                <a:ea typeface="Consolas"/>
                <a:cs typeface="Consolas"/>
                <a:sym typeface="Consolas"/>
              </a:rPr>
              <a:t>    pages:</a:t>
            </a:r>
            <a:endParaRPr b="0" i="0" sz="82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20"/>
              <a:buFont typeface="Consolas"/>
              <a:buNone/>
            </a:pPr>
            <a:r>
              <a:rPr b="0" i="0" lang="en-US" sz="820" u="none" cap="none" strike="noStrike">
                <a:solidFill>
                  <a:srgbClr val="ECF0F1"/>
                </a:solidFill>
                <a:latin typeface="Consolas"/>
                <a:ea typeface="Consolas"/>
                <a:cs typeface="Consolas"/>
                <a:sym typeface="Consolas"/>
              </a:rPr>
              <a:t>    - size: 2Mi</a:t>
            </a:r>
            <a:endParaRPr b="0" i="0" sz="82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20"/>
              <a:buFont typeface="Consolas"/>
              <a:buNone/>
            </a:pPr>
            <a:r>
              <a:rPr b="0" i="0" lang="en-US" sz="820" u="none" cap="none" strike="noStrike">
                <a:solidFill>
                  <a:srgbClr val="ECF0F1"/>
                </a:solidFill>
                <a:latin typeface="Consolas"/>
                <a:ea typeface="Consolas"/>
                <a:cs typeface="Consolas"/>
                <a:sym typeface="Consolas"/>
              </a:rPr>
              <a:t>      count: 4096          # 8GB</a:t>
            </a:r>
            <a:endParaRPr b="0" i="0" sz="82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20"/>
              <a:buFont typeface="Consolas"/>
              <a:buNone/>
            </a:pPr>
            <a:r>
              <a:rPr b="0" i="0" lang="en-US" sz="820" u="none" cap="none" strike="noStrike">
                <a:solidFill>
                  <a:srgbClr val="ECF0F1"/>
                </a:solidFill>
                <a:latin typeface="Consolas"/>
                <a:ea typeface="Consolas"/>
                <a:cs typeface="Consolas"/>
                <a:sym typeface="Consolas"/>
              </a:rPr>
              <a:t>  numa:</a:t>
            </a:r>
            <a:endParaRPr b="0" i="0" sz="82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20"/>
              <a:buFont typeface="Consolas"/>
              <a:buNone/>
            </a:pPr>
            <a:r>
              <a:rPr b="0" i="0" lang="en-US" sz="820" u="none" cap="none" strike="noStrike">
                <a:solidFill>
                  <a:srgbClr val="ECF0F1"/>
                </a:solidFill>
                <a:latin typeface="Consolas"/>
                <a:ea typeface="Consolas"/>
                <a:cs typeface="Consolas"/>
                <a:sym typeface="Consolas"/>
              </a:rPr>
              <a:t>    topologyPolicy: single-numa-node</a:t>
            </a:r>
            <a:endParaRPr b="0" i="0" sz="82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20"/>
              <a:buFont typeface="Consolas"/>
              <a:buNone/>
            </a:pPr>
            <a:r>
              <a:rPr b="0" i="0" lang="en-US" sz="820" u="none" cap="none" strike="noStrike">
                <a:solidFill>
                  <a:srgbClr val="ECF0F1"/>
                </a:solidFill>
                <a:latin typeface="Consolas"/>
                <a:ea typeface="Consolas"/>
                <a:cs typeface="Consolas"/>
                <a:sym typeface="Consolas"/>
              </a:rPr>
              <a:t>  realTimeKernel:</a:t>
            </a:r>
            <a:endParaRPr b="0" i="0" sz="82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20"/>
              <a:buFont typeface="Consolas"/>
              <a:buNone/>
            </a:pPr>
            <a:r>
              <a:rPr b="0" i="0" lang="en-US" sz="820" u="none" cap="none" strike="noStrike">
                <a:solidFill>
                  <a:srgbClr val="ECF0F1"/>
                </a:solidFill>
                <a:latin typeface="Consolas"/>
                <a:ea typeface="Consolas"/>
                <a:cs typeface="Consolas"/>
                <a:sym typeface="Consolas"/>
              </a:rPr>
              <a:t>    enabled: true          # optional</a:t>
            </a:r>
            <a:endParaRPr b="0" i="0" sz="82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20"/>
              <a:buFont typeface="Consolas"/>
              <a:buNone/>
            </a:pPr>
            <a:r>
              <a:rPr b="0" i="0" lang="en-US" sz="820" u="none" cap="none" strike="noStrike">
                <a:solidFill>
                  <a:srgbClr val="ECF0F1"/>
                </a:solidFill>
                <a:latin typeface="Consolas"/>
                <a:ea typeface="Consolas"/>
                <a:cs typeface="Consolas"/>
                <a:sym typeface="Consolas"/>
              </a:rPr>
              <a:t>  machineConfigPoolSelector:</a:t>
            </a:r>
            <a:endParaRPr b="0" i="0" sz="82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20"/>
              <a:buFont typeface="Consolas"/>
              <a:buNone/>
            </a:pPr>
            <a:r>
              <a:rPr b="0" i="0" lang="en-US" sz="820" u="none" cap="none" strike="noStrike">
                <a:solidFill>
                  <a:srgbClr val="ECF0F1"/>
                </a:solidFill>
                <a:latin typeface="Consolas"/>
                <a:ea typeface="Consolas"/>
                <a:cs typeface="Consolas"/>
                <a:sym typeface="Consolas"/>
              </a:rPr>
              <a:t>    machineconfiguration.openshift.io/role: worker-rt</a:t>
            </a:r>
            <a:endParaRPr b="0" i="0" sz="82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820"/>
              <a:buFont typeface="Calibri"/>
              <a:buNone/>
            </a:pPr>
            <a:r>
              <a:t/>
            </a:r>
            <a:endParaRPr b="0" i="0" sz="82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20"/>
              <a:buFont typeface="Consolas"/>
              <a:buNone/>
            </a:pPr>
            <a:r>
              <a:rPr b="0" i="0" lang="en-US" sz="820" u="none" cap="none" strike="noStrike">
                <a:solidFill>
                  <a:srgbClr val="ECF0F1"/>
                </a:solidFill>
                <a:latin typeface="Consolas"/>
                <a:ea typeface="Consolas"/>
                <a:cs typeface="Consolas"/>
                <a:sym typeface="Consolas"/>
              </a:rPr>
              <a:t># Sets: isolcpus, nohz_full, rcu_nocbs,</a:t>
            </a:r>
            <a:endParaRPr b="0" i="0" sz="82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20"/>
              <a:buFont typeface="Consolas"/>
              <a:buNone/>
            </a:pPr>
            <a:r>
              <a:rPr b="0" i="0" lang="en-US" sz="820" u="none" cap="none" strike="noStrike">
                <a:solidFill>
                  <a:srgbClr val="ECF0F1"/>
                </a:solidFill>
                <a:latin typeface="Consolas"/>
                <a:ea typeface="Consolas"/>
                <a:cs typeface="Consolas"/>
                <a:sym typeface="Consolas"/>
              </a:rPr>
              <a:t>#       cpuManagerPolicy, topologyManagerPolicy,</a:t>
            </a:r>
            <a:endParaRPr b="0" i="0" sz="82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20"/>
              <a:buFont typeface="Consolas"/>
              <a:buNone/>
            </a:pPr>
            <a:r>
              <a:rPr b="0" i="0" lang="en-US" sz="820" u="none" cap="none" strike="noStrike">
                <a:solidFill>
                  <a:srgbClr val="ECF0F1"/>
                </a:solidFill>
                <a:latin typeface="Consolas"/>
                <a:ea typeface="Consolas"/>
                <a:cs typeface="Consolas"/>
                <a:sym typeface="Consolas"/>
              </a:rPr>
              <a:t>#       hugepages — all from one CR</a:t>
            </a:r>
            <a:endParaRPr b="0" i="0" sz="820" u="none" cap="none" strike="noStrike">
              <a:solidFill>
                <a:schemeClr val="dk1"/>
              </a:solidFill>
              <a:latin typeface="Calibri"/>
              <a:ea typeface="Calibri"/>
              <a:cs typeface="Calibri"/>
              <a:sym typeface="Calibri"/>
            </a:endParaRPr>
          </a:p>
        </p:txBody>
      </p:sp>
      <p:sp>
        <p:nvSpPr>
          <p:cNvPr id="1190" name="Google Shape;1190;p42"/>
          <p:cNvSpPr/>
          <p:nvPr/>
        </p:nvSpPr>
        <p:spPr>
          <a:xfrm>
            <a:off x="0" y="5394960"/>
            <a:ext cx="9144000" cy="201300"/>
          </a:xfrm>
          <a:prstGeom prst="rect">
            <a:avLst/>
          </a:prstGeom>
          <a:solidFill>
            <a:srgbClr val="0610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42"/>
          <p:cNvSpPr/>
          <p:nvPr/>
        </p:nvSpPr>
        <p:spPr>
          <a:xfrm>
            <a:off x="320040" y="5422392"/>
            <a:ext cx="8503800" cy="14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900"/>
              <a:buFont typeface="Calibri"/>
              <a:buNone/>
            </a:pPr>
            <a:r>
              <a:rPr b="0" i="0" lang="en-US" sz="900" u="none" cap="none" strike="noStrike">
                <a:solidFill>
                  <a:srgbClr val="00BCD4"/>
                </a:solidFill>
                <a:latin typeface="Calibri"/>
                <a:ea typeface="Calibri"/>
                <a:cs typeface="Calibri"/>
                <a:sym typeface="Calibri"/>
              </a:rPr>
              <a:t>PerformanceProfile requires the Node Tuning Operator (OpenShift 4.11+; formerly the Performance Addon Operator)</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196" name="Shape 1196"/>
        <p:cNvGrpSpPr/>
        <p:nvPr/>
      </p:nvGrpSpPr>
      <p:grpSpPr>
        <a:xfrm>
          <a:off x="0" y="0"/>
          <a:ext cx="0" cy="0"/>
          <a:chOff x="0" y="0"/>
          <a:chExt cx="0" cy="0"/>
        </a:xfrm>
      </p:grpSpPr>
      <p:sp>
        <p:nvSpPr>
          <p:cNvPr id="1197" name="Google Shape;1197;p43"/>
          <p:cNvSpPr/>
          <p:nvPr/>
        </p:nvSpPr>
        <p:spPr>
          <a:xfrm>
            <a:off x="0" y="0"/>
            <a:ext cx="9144000" cy="64020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43"/>
          <p:cNvSpPr/>
          <p:nvPr/>
        </p:nvSpPr>
        <p:spPr>
          <a:xfrm>
            <a:off x="320040" y="9144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200"/>
              <a:buFont typeface="Calibri"/>
              <a:buNone/>
            </a:pPr>
            <a:r>
              <a:rPr b="1" i="0" lang="en-US" sz="2200" u="none" cap="none" strike="noStrike">
                <a:solidFill>
                  <a:srgbClr val="00BCD4"/>
                </a:solidFill>
                <a:latin typeface="Calibri"/>
                <a:ea typeface="Calibri"/>
                <a:cs typeface="Calibri"/>
                <a:sym typeface="Calibri"/>
              </a:rPr>
              <a:t>Which GC Ships by Default — and Why It Matters</a:t>
            </a:r>
            <a:endParaRPr b="0" i="0" sz="2200" u="none" cap="none" strike="noStrike">
              <a:solidFill>
                <a:schemeClr val="dk1"/>
              </a:solidFill>
              <a:latin typeface="Calibri"/>
              <a:ea typeface="Calibri"/>
              <a:cs typeface="Calibri"/>
              <a:sym typeface="Calibri"/>
            </a:endParaRPr>
          </a:p>
        </p:txBody>
      </p:sp>
      <p:sp>
        <p:nvSpPr>
          <p:cNvPr id="1199" name="Google Shape;1199;p43"/>
          <p:cNvSpPr/>
          <p:nvPr/>
        </p:nvSpPr>
        <p:spPr>
          <a:xfrm>
            <a:off x="7772400" y="73152"/>
            <a:ext cx="1234500" cy="493800"/>
          </a:xfrm>
          <a:prstGeom prst="rect">
            <a:avLst/>
          </a:prstGeom>
          <a:solidFill>
            <a:srgbClr val="1E6FC8"/>
          </a:solidFill>
          <a:ln cap="flat" cmpd="sng" w="12700">
            <a:solidFill>
              <a:srgbClr val="1E6F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43"/>
          <p:cNvSpPr/>
          <p:nvPr/>
        </p:nvSpPr>
        <p:spPr>
          <a:xfrm>
            <a:off x="7772400" y="73152"/>
            <a:ext cx="1234500" cy="493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LOW LATENCY</a:t>
            </a:r>
            <a:endParaRPr b="0" i="0" sz="1100" u="none" cap="none" strike="noStrike">
              <a:solidFill>
                <a:schemeClr val="dk1"/>
              </a:solidFill>
              <a:latin typeface="Calibri"/>
              <a:ea typeface="Calibri"/>
              <a:cs typeface="Calibri"/>
              <a:sym typeface="Calibri"/>
            </a:endParaRPr>
          </a:p>
        </p:txBody>
      </p:sp>
      <p:sp>
        <p:nvSpPr>
          <p:cNvPr id="1201" name="Google Shape;1201;p43"/>
          <p:cNvSpPr/>
          <p:nvPr/>
        </p:nvSpPr>
        <p:spPr>
          <a:xfrm>
            <a:off x="320040" y="749808"/>
            <a:ext cx="85038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200"/>
              <a:buFont typeface="Calibri"/>
              <a:buNone/>
            </a:pPr>
            <a:r>
              <a:rPr b="0" i="1" lang="en-US" sz="1200" u="none" cap="none" strike="noStrike">
                <a:solidFill>
                  <a:srgbClr val="ECF0F1"/>
                </a:solidFill>
                <a:latin typeface="Calibri"/>
                <a:ea typeface="Calibri"/>
                <a:cs typeface="Calibri"/>
                <a:sym typeface="Calibri"/>
              </a:rPr>
              <a:t>The GC you get depends on who built your container image.</a:t>
            </a:r>
            <a:endParaRPr b="0" i="0" sz="1200" u="none" cap="none" strike="noStrike">
              <a:solidFill>
                <a:schemeClr val="dk1"/>
              </a:solidFill>
              <a:latin typeface="Calibri"/>
              <a:ea typeface="Calibri"/>
              <a:cs typeface="Calibri"/>
              <a:sym typeface="Calibri"/>
            </a:endParaRPr>
          </a:p>
        </p:txBody>
      </p:sp>
      <p:sp>
        <p:nvSpPr>
          <p:cNvPr id="1202" name="Google Shape;1202;p43"/>
          <p:cNvSpPr/>
          <p:nvPr/>
        </p:nvSpPr>
        <p:spPr>
          <a:xfrm>
            <a:off x="274320" y="1042416"/>
            <a:ext cx="2743200" cy="3749100"/>
          </a:xfrm>
          <a:prstGeom prst="rect">
            <a:avLst/>
          </a:prstGeom>
          <a:solidFill>
            <a:srgbClr val="122040"/>
          </a:solidFill>
          <a:ln cap="flat" cmpd="sng" w="25400">
            <a:solidFill>
              <a:srgbClr val="E848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43"/>
          <p:cNvSpPr/>
          <p:nvPr/>
        </p:nvSpPr>
        <p:spPr>
          <a:xfrm>
            <a:off x="274320" y="1042416"/>
            <a:ext cx="2743200" cy="475500"/>
          </a:xfrm>
          <a:prstGeom prst="rect">
            <a:avLst/>
          </a:prstGeom>
          <a:solidFill>
            <a:srgbClr val="E848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43"/>
          <p:cNvSpPr/>
          <p:nvPr/>
        </p:nvSpPr>
        <p:spPr>
          <a:xfrm>
            <a:off x="274320" y="1042416"/>
            <a:ext cx="27432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Shenandoah</a:t>
            </a:r>
            <a:endParaRPr b="0" i="0" sz="1500" u="none" cap="none" strike="noStrike">
              <a:solidFill>
                <a:schemeClr val="dk1"/>
              </a:solidFill>
              <a:latin typeface="Calibri"/>
              <a:ea typeface="Calibri"/>
              <a:cs typeface="Calibri"/>
              <a:sym typeface="Calibri"/>
            </a:endParaRPr>
          </a:p>
        </p:txBody>
      </p:sp>
      <p:sp>
        <p:nvSpPr>
          <p:cNvPr id="1205" name="Google Shape;1205;p43"/>
          <p:cNvSpPr/>
          <p:nvPr/>
        </p:nvSpPr>
        <p:spPr>
          <a:xfrm>
            <a:off x="274320" y="1316736"/>
            <a:ext cx="27432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Red Hat → OpenJDK</a:t>
            </a:r>
            <a:endParaRPr b="0" i="0" sz="900" u="none" cap="none" strike="noStrike">
              <a:solidFill>
                <a:schemeClr val="dk1"/>
              </a:solidFill>
              <a:latin typeface="Calibri"/>
              <a:ea typeface="Calibri"/>
              <a:cs typeface="Calibri"/>
              <a:sym typeface="Calibri"/>
            </a:endParaRPr>
          </a:p>
        </p:txBody>
      </p:sp>
      <p:sp>
        <p:nvSpPr>
          <p:cNvPr id="1206" name="Google Shape;1206;p43"/>
          <p:cNvSpPr/>
          <p:nvPr/>
        </p:nvSpPr>
        <p:spPr>
          <a:xfrm>
            <a:off x="365760" y="1591056"/>
            <a:ext cx="1005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50"/>
              <a:buFont typeface="Calibri"/>
              <a:buNone/>
            </a:pPr>
            <a:r>
              <a:rPr b="1" i="0" lang="en-US" sz="850" u="none" cap="none" strike="noStrike">
                <a:solidFill>
                  <a:srgbClr val="90A4AE"/>
                </a:solidFill>
                <a:latin typeface="Calibri"/>
                <a:ea typeface="Calibri"/>
                <a:cs typeface="Calibri"/>
                <a:sym typeface="Calibri"/>
              </a:rPr>
              <a:t>Typical pause</a:t>
            </a:r>
            <a:endParaRPr b="0" i="0" sz="850" u="none" cap="none" strike="noStrike">
              <a:solidFill>
                <a:schemeClr val="dk1"/>
              </a:solidFill>
              <a:latin typeface="Calibri"/>
              <a:ea typeface="Calibri"/>
              <a:cs typeface="Calibri"/>
              <a:sym typeface="Calibri"/>
            </a:endParaRPr>
          </a:p>
        </p:txBody>
      </p:sp>
      <p:sp>
        <p:nvSpPr>
          <p:cNvPr id="1207" name="Google Shape;1207;p43"/>
          <p:cNvSpPr/>
          <p:nvPr/>
        </p:nvSpPr>
        <p:spPr>
          <a:xfrm>
            <a:off x="1389888" y="1591056"/>
            <a:ext cx="1508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A623"/>
              </a:buClr>
              <a:buSzPts val="850"/>
              <a:buFont typeface="Calibri"/>
              <a:buNone/>
            </a:pPr>
            <a:r>
              <a:rPr b="0" i="0" lang="en-US" sz="850" u="none" cap="none" strike="noStrike">
                <a:solidFill>
                  <a:srgbClr val="F5A623"/>
                </a:solidFill>
                <a:latin typeface="Calibri"/>
                <a:ea typeface="Calibri"/>
                <a:cs typeface="Calibri"/>
                <a:sym typeface="Calibri"/>
              </a:rPr>
              <a:t>1 – 20 ms</a:t>
            </a:r>
            <a:endParaRPr b="0" i="0" sz="850" u="none" cap="none" strike="noStrike">
              <a:solidFill>
                <a:schemeClr val="dk1"/>
              </a:solidFill>
              <a:latin typeface="Calibri"/>
              <a:ea typeface="Calibri"/>
              <a:cs typeface="Calibri"/>
              <a:sym typeface="Calibri"/>
            </a:endParaRPr>
          </a:p>
        </p:txBody>
      </p:sp>
      <p:sp>
        <p:nvSpPr>
          <p:cNvPr id="1208" name="Google Shape;1208;p43"/>
          <p:cNvSpPr/>
          <p:nvPr/>
        </p:nvSpPr>
        <p:spPr>
          <a:xfrm>
            <a:off x="365760" y="2011680"/>
            <a:ext cx="1005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50"/>
              <a:buFont typeface="Calibri"/>
              <a:buNone/>
            </a:pPr>
            <a:r>
              <a:rPr b="1" i="0" lang="en-US" sz="850" u="none" cap="none" strike="noStrike">
                <a:solidFill>
                  <a:srgbClr val="90A4AE"/>
                </a:solidFill>
                <a:latin typeface="Calibri"/>
                <a:ea typeface="Calibri"/>
                <a:cs typeface="Calibri"/>
                <a:sym typeface="Calibri"/>
              </a:rPr>
              <a:t>Barrier type</a:t>
            </a:r>
            <a:endParaRPr b="0" i="0" sz="850" u="none" cap="none" strike="noStrike">
              <a:solidFill>
                <a:schemeClr val="dk1"/>
              </a:solidFill>
              <a:latin typeface="Calibri"/>
              <a:ea typeface="Calibri"/>
              <a:cs typeface="Calibri"/>
              <a:sym typeface="Calibri"/>
            </a:endParaRPr>
          </a:p>
        </p:txBody>
      </p:sp>
      <p:sp>
        <p:nvSpPr>
          <p:cNvPr id="1209" name="Google Shape;1209;p43"/>
          <p:cNvSpPr/>
          <p:nvPr/>
        </p:nvSpPr>
        <p:spPr>
          <a:xfrm>
            <a:off x="1389888" y="2011680"/>
            <a:ext cx="1508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850"/>
              <a:buFont typeface="Calibri"/>
              <a:buNone/>
            </a:pPr>
            <a:r>
              <a:rPr b="0" i="0" lang="en-US" sz="850" u="none" cap="none" strike="noStrike">
                <a:solidFill>
                  <a:srgbClr val="ECF0F1"/>
                </a:solidFill>
                <a:latin typeface="Calibri"/>
                <a:ea typeface="Calibri"/>
                <a:cs typeface="Calibri"/>
                <a:sym typeface="Calibri"/>
              </a:rPr>
              <a:t>Load-ref barrier</a:t>
            </a:r>
            <a:endParaRPr b="0" i="0" sz="850" u="none" cap="none" strike="noStrike">
              <a:solidFill>
                <a:schemeClr val="dk1"/>
              </a:solidFill>
              <a:latin typeface="Calibri"/>
              <a:ea typeface="Calibri"/>
              <a:cs typeface="Calibri"/>
              <a:sym typeface="Calibri"/>
            </a:endParaRPr>
          </a:p>
        </p:txBody>
      </p:sp>
      <p:sp>
        <p:nvSpPr>
          <p:cNvPr id="1210" name="Google Shape;1210;p43"/>
          <p:cNvSpPr/>
          <p:nvPr/>
        </p:nvSpPr>
        <p:spPr>
          <a:xfrm>
            <a:off x="365760" y="2432304"/>
            <a:ext cx="1005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50"/>
              <a:buFont typeface="Calibri"/>
              <a:buNone/>
            </a:pPr>
            <a:r>
              <a:rPr b="1" i="0" lang="en-US" sz="850" u="none" cap="none" strike="noStrike">
                <a:solidFill>
                  <a:srgbClr val="90A4AE"/>
                </a:solidFill>
                <a:latin typeface="Calibri"/>
                <a:ea typeface="Calibri"/>
                <a:cs typeface="Calibri"/>
                <a:sym typeface="Calibri"/>
              </a:rPr>
              <a:t>CPU overhead</a:t>
            </a:r>
            <a:endParaRPr b="0" i="0" sz="850" u="none" cap="none" strike="noStrike">
              <a:solidFill>
                <a:schemeClr val="dk1"/>
              </a:solidFill>
              <a:latin typeface="Calibri"/>
              <a:ea typeface="Calibri"/>
              <a:cs typeface="Calibri"/>
              <a:sym typeface="Calibri"/>
            </a:endParaRPr>
          </a:p>
        </p:txBody>
      </p:sp>
      <p:sp>
        <p:nvSpPr>
          <p:cNvPr id="1211" name="Google Shape;1211;p43"/>
          <p:cNvSpPr/>
          <p:nvPr/>
        </p:nvSpPr>
        <p:spPr>
          <a:xfrm>
            <a:off x="1389888" y="2432304"/>
            <a:ext cx="1508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850"/>
              <a:buFont typeface="Calibri"/>
              <a:buNone/>
            </a:pPr>
            <a:r>
              <a:rPr b="0" i="0" lang="en-US" sz="850" u="none" cap="none" strike="noStrike">
                <a:solidFill>
                  <a:srgbClr val="ECF0F1"/>
                </a:solidFill>
                <a:latin typeface="Calibri"/>
                <a:ea typeface="Calibri"/>
                <a:cs typeface="Calibri"/>
                <a:sym typeface="Calibri"/>
              </a:rPr>
              <a:t>~0–15%, workload-dependent (LRB)</a:t>
            </a:r>
            <a:endParaRPr b="0" i="0" sz="850" u="none" cap="none" strike="noStrike">
              <a:solidFill>
                <a:schemeClr val="dk1"/>
              </a:solidFill>
              <a:latin typeface="Calibri"/>
              <a:ea typeface="Calibri"/>
              <a:cs typeface="Calibri"/>
              <a:sym typeface="Calibri"/>
            </a:endParaRPr>
          </a:p>
        </p:txBody>
      </p:sp>
      <p:sp>
        <p:nvSpPr>
          <p:cNvPr id="1212" name="Google Shape;1212;p43"/>
          <p:cNvSpPr/>
          <p:nvPr/>
        </p:nvSpPr>
        <p:spPr>
          <a:xfrm>
            <a:off x="365760" y="2852928"/>
            <a:ext cx="1005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50"/>
              <a:buFont typeface="Calibri"/>
              <a:buNone/>
            </a:pPr>
            <a:r>
              <a:rPr b="1" i="0" lang="en-US" sz="850" u="none" cap="none" strike="noStrike">
                <a:solidFill>
                  <a:srgbClr val="90A4AE"/>
                </a:solidFill>
                <a:latin typeface="Calibri"/>
                <a:ea typeface="Calibri"/>
                <a:cs typeface="Calibri"/>
                <a:sym typeface="Calibri"/>
              </a:rPr>
              <a:t>Generational</a:t>
            </a:r>
            <a:endParaRPr b="0" i="0" sz="850" u="none" cap="none" strike="noStrike">
              <a:solidFill>
                <a:schemeClr val="dk1"/>
              </a:solidFill>
              <a:latin typeface="Calibri"/>
              <a:ea typeface="Calibri"/>
              <a:cs typeface="Calibri"/>
              <a:sym typeface="Calibri"/>
            </a:endParaRPr>
          </a:p>
        </p:txBody>
      </p:sp>
      <p:sp>
        <p:nvSpPr>
          <p:cNvPr id="1213" name="Google Shape;1213;p43"/>
          <p:cNvSpPr/>
          <p:nvPr/>
        </p:nvSpPr>
        <p:spPr>
          <a:xfrm>
            <a:off x="1389888" y="2852928"/>
            <a:ext cx="1508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850"/>
              <a:buFont typeface="Calibri"/>
              <a:buNone/>
            </a:pPr>
            <a:r>
              <a:rPr b="0" i="0" lang="en-US" sz="850" u="none" cap="none" strike="noStrike">
                <a:solidFill>
                  <a:srgbClr val="ECF0F1"/>
                </a:solidFill>
                <a:latin typeface="Calibri"/>
                <a:ea typeface="Calibri"/>
                <a:cs typeface="Calibri"/>
                <a:sym typeface="Calibri"/>
              </a:rPr>
              <a:t>Non-generational</a:t>
            </a:r>
            <a:endParaRPr b="0" i="0" sz="850" u="none" cap="none" strike="noStrike">
              <a:solidFill>
                <a:schemeClr val="dk1"/>
              </a:solidFill>
              <a:latin typeface="Calibri"/>
              <a:ea typeface="Calibri"/>
              <a:cs typeface="Calibri"/>
              <a:sym typeface="Calibri"/>
            </a:endParaRPr>
          </a:p>
        </p:txBody>
      </p:sp>
      <p:sp>
        <p:nvSpPr>
          <p:cNvPr id="1214" name="Google Shape;1214;p43"/>
          <p:cNvSpPr/>
          <p:nvPr/>
        </p:nvSpPr>
        <p:spPr>
          <a:xfrm>
            <a:off x="365760" y="3273552"/>
            <a:ext cx="1005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50"/>
              <a:buFont typeface="Calibri"/>
              <a:buNone/>
            </a:pPr>
            <a:r>
              <a:rPr b="1" i="0" lang="en-US" sz="850" u="none" cap="none" strike="noStrike">
                <a:solidFill>
                  <a:srgbClr val="90A4AE"/>
                </a:solidFill>
                <a:latin typeface="Calibri"/>
                <a:ea typeface="Calibri"/>
                <a:cs typeface="Calibri"/>
                <a:sym typeface="Calibri"/>
              </a:rPr>
              <a:t>JDK support</a:t>
            </a:r>
            <a:endParaRPr b="0" i="0" sz="850" u="none" cap="none" strike="noStrike">
              <a:solidFill>
                <a:schemeClr val="dk1"/>
              </a:solidFill>
              <a:latin typeface="Calibri"/>
              <a:ea typeface="Calibri"/>
              <a:cs typeface="Calibri"/>
              <a:sym typeface="Calibri"/>
            </a:endParaRPr>
          </a:p>
        </p:txBody>
      </p:sp>
      <p:sp>
        <p:nvSpPr>
          <p:cNvPr id="1215" name="Google Shape;1215;p43"/>
          <p:cNvSpPr/>
          <p:nvPr/>
        </p:nvSpPr>
        <p:spPr>
          <a:xfrm>
            <a:off x="1389888" y="3273552"/>
            <a:ext cx="1508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850"/>
              <a:buFont typeface="Calibri"/>
              <a:buNone/>
            </a:pPr>
            <a:r>
              <a:rPr b="0" i="0" lang="en-US" sz="850" u="none" cap="none" strike="noStrike">
                <a:solidFill>
                  <a:srgbClr val="ECF0F1"/>
                </a:solidFill>
                <a:latin typeface="Calibri"/>
                <a:ea typeface="Calibri"/>
                <a:cs typeface="Calibri"/>
                <a:sym typeface="Calibri"/>
              </a:rPr>
              <a:t>JDK 8+ (Red Hat)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0"/>
              <a:buFont typeface="Calibri"/>
              <a:buNone/>
            </a:pPr>
            <a:r>
              <a:rPr b="0" i="0" lang="en-US" sz="850" u="none" cap="none" strike="noStrike">
                <a:solidFill>
                  <a:srgbClr val="ECF0F1"/>
                </a:solidFill>
                <a:latin typeface="Calibri"/>
                <a:ea typeface="Calibri"/>
                <a:cs typeface="Calibri"/>
                <a:sym typeface="Calibri"/>
              </a:rPr>
              <a:t>JDK 12+ (upstream)</a:t>
            </a:r>
            <a:endParaRPr b="0" i="0" sz="850" u="none" cap="none" strike="noStrike">
              <a:solidFill>
                <a:schemeClr val="dk1"/>
              </a:solidFill>
              <a:latin typeface="Calibri"/>
              <a:ea typeface="Calibri"/>
              <a:cs typeface="Calibri"/>
              <a:sym typeface="Calibri"/>
            </a:endParaRPr>
          </a:p>
        </p:txBody>
      </p:sp>
      <p:sp>
        <p:nvSpPr>
          <p:cNvPr id="1216" name="Google Shape;1216;p43"/>
          <p:cNvSpPr/>
          <p:nvPr/>
        </p:nvSpPr>
        <p:spPr>
          <a:xfrm>
            <a:off x="365760" y="3694176"/>
            <a:ext cx="1005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50"/>
              <a:buFont typeface="Calibri"/>
              <a:buNone/>
            </a:pPr>
            <a:r>
              <a:rPr b="1" i="0" lang="en-US" sz="850" u="none" cap="none" strike="noStrike">
                <a:solidFill>
                  <a:srgbClr val="90A4AE"/>
                </a:solidFill>
                <a:latin typeface="Calibri"/>
                <a:ea typeface="Calibri"/>
                <a:cs typeface="Calibri"/>
                <a:sym typeface="Calibri"/>
              </a:rPr>
              <a:t>Default in</a:t>
            </a:r>
            <a:endParaRPr b="0" i="0" sz="850" u="none" cap="none" strike="noStrike">
              <a:solidFill>
                <a:schemeClr val="dk1"/>
              </a:solidFill>
              <a:latin typeface="Calibri"/>
              <a:ea typeface="Calibri"/>
              <a:cs typeface="Calibri"/>
              <a:sym typeface="Calibri"/>
            </a:endParaRPr>
          </a:p>
        </p:txBody>
      </p:sp>
      <p:sp>
        <p:nvSpPr>
          <p:cNvPr id="1217" name="Google Shape;1217;p43"/>
          <p:cNvSpPr/>
          <p:nvPr/>
        </p:nvSpPr>
        <p:spPr>
          <a:xfrm>
            <a:off x="1389888" y="3694176"/>
            <a:ext cx="1508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50"/>
              <a:buFont typeface="Calibri"/>
              <a:buNone/>
            </a:pPr>
            <a:r>
              <a:rPr b="0" i="0" lang="en-US" sz="850" u="none" cap="none" strike="noStrike">
                <a:solidFill>
                  <a:srgbClr val="90A4AE"/>
                </a:solidFill>
                <a:latin typeface="Calibri"/>
                <a:ea typeface="Calibri"/>
                <a:cs typeface="Calibri"/>
                <a:sym typeface="Calibri"/>
              </a:rPr>
              <a:t>UBI 10 / Red Hat builds</a:t>
            </a:r>
            <a:endParaRPr b="0" i="0" sz="850" u="none" cap="none" strike="noStrike">
              <a:solidFill>
                <a:schemeClr val="dk1"/>
              </a:solidFill>
              <a:latin typeface="Calibri"/>
              <a:ea typeface="Calibri"/>
              <a:cs typeface="Calibri"/>
              <a:sym typeface="Calibri"/>
            </a:endParaRPr>
          </a:p>
        </p:txBody>
      </p:sp>
      <p:sp>
        <p:nvSpPr>
          <p:cNvPr id="1218" name="Google Shape;1218;p43"/>
          <p:cNvSpPr/>
          <p:nvPr/>
        </p:nvSpPr>
        <p:spPr>
          <a:xfrm>
            <a:off x="274320" y="4133088"/>
            <a:ext cx="2743200" cy="475500"/>
          </a:xfrm>
          <a:prstGeom prst="rect">
            <a:avLst/>
          </a:prstGeom>
          <a:solidFill>
            <a:srgbClr val="0D21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43"/>
          <p:cNvSpPr/>
          <p:nvPr/>
        </p:nvSpPr>
        <p:spPr>
          <a:xfrm>
            <a:off x="347472" y="4151376"/>
            <a:ext cx="2596800" cy="4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800"/>
              <a:buFont typeface="Consolas"/>
              <a:buNone/>
            </a:pPr>
            <a:r>
              <a:rPr b="0" i="0" lang="en-US" sz="800" u="none" cap="none" strike="noStrike">
                <a:solidFill>
                  <a:srgbClr val="00BCD4"/>
                </a:solidFill>
                <a:latin typeface="Consolas"/>
                <a:ea typeface="Consolas"/>
                <a:cs typeface="Consolas"/>
                <a:sym typeface="Consolas"/>
              </a:rPr>
              <a:t>-XX:+UseShenandoahGC</a:t>
            </a:r>
            <a:endParaRPr b="0" i="0" sz="800" u="none" cap="none" strike="noStrike">
              <a:solidFill>
                <a:schemeClr val="dk1"/>
              </a:solidFill>
              <a:latin typeface="Calibri"/>
              <a:ea typeface="Calibri"/>
              <a:cs typeface="Calibri"/>
              <a:sym typeface="Calibri"/>
            </a:endParaRPr>
          </a:p>
        </p:txBody>
      </p:sp>
      <p:sp>
        <p:nvSpPr>
          <p:cNvPr id="1220" name="Google Shape;1220;p43"/>
          <p:cNvSpPr/>
          <p:nvPr/>
        </p:nvSpPr>
        <p:spPr>
          <a:xfrm>
            <a:off x="274320" y="4663440"/>
            <a:ext cx="2743200" cy="402300"/>
          </a:xfrm>
          <a:prstGeom prst="rect">
            <a:avLst/>
          </a:prstGeom>
          <a:solidFill>
            <a:srgbClr val="08111F"/>
          </a:solidFill>
          <a:ln cap="flat" cmpd="sng" w="19050">
            <a:solidFill>
              <a:srgbClr val="E848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43"/>
          <p:cNvSpPr/>
          <p:nvPr/>
        </p:nvSpPr>
        <p:spPr>
          <a:xfrm>
            <a:off x="347472" y="4681728"/>
            <a:ext cx="2596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855"/>
              </a:buClr>
              <a:buSzPts val="850"/>
              <a:buFont typeface="Calibri"/>
              <a:buNone/>
            </a:pPr>
            <a:r>
              <a:rPr b="1" i="0" lang="en-US" sz="850" u="none" cap="none" strike="noStrike">
                <a:solidFill>
                  <a:srgbClr val="E84855"/>
                </a:solidFill>
                <a:latin typeface="Calibri"/>
                <a:ea typeface="Calibri"/>
                <a:cs typeface="Calibri"/>
                <a:sym typeface="Calibri"/>
              </a:rPr>
              <a:t>★  Default in all Red Hat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4855"/>
              </a:buClr>
              <a:buSzPts val="850"/>
              <a:buFont typeface="Calibri"/>
              <a:buNone/>
            </a:pPr>
            <a:r>
              <a:rPr b="1" i="0" lang="en-US" sz="850" u="none" cap="none" strike="noStrike">
                <a:solidFill>
                  <a:srgbClr val="E84855"/>
                </a:solidFill>
                <a:latin typeface="Calibri"/>
                <a:ea typeface="Calibri"/>
                <a:cs typeface="Calibri"/>
                <a:sym typeface="Calibri"/>
              </a:rPr>
              <a:t>OpenJDK container images</a:t>
            </a:r>
            <a:endParaRPr b="0" i="0" sz="850" u="none" cap="none" strike="noStrike">
              <a:solidFill>
                <a:schemeClr val="dk1"/>
              </a:solidFill>
              <a:latin typeface="Calibri"/>
              <a:ea typeface="Calibri"/>
              <a:cs typeface="Calibri"/>
              <a:sym typeface="Calibri"/>
            </a:endParaRPr>
          </a:p>
        </p:txBody>
      </p:sp>
      <p:sp>
        <p:nvSpPr>
          <p:cNvPr id="1222" name="Google Shape;1222;p43"/>
          <p:cNvSpPr/>
          <p:nvPr/>
        </p:nvSpPr>
        <p:spPr>
          <a:xfrm>
            <a:off x="3154680" y="1042416"/>
            <a:ext cx="2743200" cy="3749100"/>
          </a:xfrm>
          <a:prstGeom prst="rect">
            <a:avLst/>
          </a:prstGeom>
          <a:solidFill>
            <a:srgbClr val="122040"/>
          </a:solidFill>
          <a:ln cap="flat" cmpd="sng" w="254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43"/>
          <p:cNvSpPr/>
          <p:nvPr/>
        </p:nvSpPr>
        <p:spPr>
          <a:xfrm>
            <a:off x="3154680" y="1042416"/>
            <a:ext cx="2743200" cy="475500"/>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43"/>
          <p:cNvSpPr/>
          <p:nvPr/>
        </p:nvSpPr>
        <p:spPr>
          <a:xfrm>
            <a:off x="3154680" y="1042416"/>
            <a:ext cx="27432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ZGC</a:t>
            </a:r>
            <a:endParaRPr b="0" i="0" sz="1500" u="none" cap="none" strike="noStrike">
              <a:solidFill>
                <a:schemeClr val="dk1"/>
              </a:solidFill>
              <a:latin typeface="Calibri"/>
              <a:ea typeface="Calibri"/>
              <a:cs typeface="Calibri"/>
              <a:sym typeface="Calibri"/>
            </a:endParaRPr>
          </a:p>
        </p:txBody>
      </p:sp>
      <p:sp>
        <p:nvSpPr>
          <p:cNvPr id="1225" name="Google Shape;1225;p43"/>
          <p:cNvSpPr/>
          <p:nvPr/>
        </p:nvSpPr>
        <p:spPr>
          <a:xfrm>
            <a:off x="3154680" y="1316736"/>
            <a:ext cx="27432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Oracle → OpenJDK</a:t>
            </a:r>
            <a:endParaRPr b="0" i="0" sz="900" u="none" cap="none" strike="noStrike">
              <a:solidFill>
                <a:schemeClr val="dk1"/>
              </a:solidFill>
              <a:latin typeface="Calibri"/>
              <a:ea typeface="Calibri"/>
              <a:cs typeface="Calibri"/>
              <a:sym typeface="Calibri"/>
            </a:endParaRPr>
          </a:p>
        </p:txBody>
      </p:sp>
      <p:sp>
        <p:nvSpPr>
          <p:cNvPr id="1226" name="Google Shape;1226;p43"/>
          <p:cNvSpPr/>
          <p:nvPr/>
        </p:nvSpPr>
        <p:spPr>
          <a:xfrm>
            <a:off x="3246120" y="1591056"/>
            <a:ext cx="1005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50"/>
              <a:buFont typeface="Calibri"/>
              <a:buNone/>
            </a:pPr>
            <a:r>
              <a:rPr b="1" i="0" lang="en-US" sz="850" u="none" cap="none" strike="noStrike">
                <a:solidFill>
                  <a:srgbClr val="90A4AE"/>
                </a:solidFill>
                <a:latin typeface="Calibri"/>
                <a:ea typeface="Calibri"/>
                <a:cs typeface="Calibri"/>
                <a:sym typeface="Calibri"/>
              </a:rPr>
              <a:t>Typical pause</a:t>
            </a:r>
            <a:endParaRPr b="0" i="0" sz="850" u="none" cap="none" strike="noStrike">
              <a:solidFill>
                <a:schemeClr val="dk1"/>
              </a:solidFill>
              <a:latin typeface="Calibri"/>
              <a:ea typeface="Calibri"/>
              <a:cs typeface="Calibri"/>
              <a:sym typeface="Calibri"/>
            </a:endParaRPr>
          </a:p>
        </p:txBody>
      </p:sp>
      <p:sp>
        <p:nvSpPr>
          <p:cNvPr id="1227" name="Google Shape;1227;p43"/>
          <p:cNvSpPr/>
          <p:nvPr/>
        </p:nvSpPr>
        <p:spPr>
          <a:xfrm>
            <a:off x="4270248" y="1591056"/>
            <a:ext cx="1508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850"/>
              <a:buFont typeface="Calibri"/>
              <a:buNone/>
            </a:pPr>
            <a:r>
              <a:rPr b="0" i="0" lang="en-US" sz="850" u="none" cap="none" strike="noStrike">
                <a:solidFill>
                  <a:srgbClr val="00BCD4"/>
                </a:solidFill>
                <a:latin typeface="Calibri"/>
                <a:ea typeface="Calibri"/>
                <a:cs typeface="Calibri"/>
                <a:sym typeface="Calibri"/>
              </a:rPr>
              <a:t>&lt; 1 ms</a:t>
            </a:r>
            <a:endParaRPr b="0" i="0" sz="850" u="none" cap="none" strike="noStrike">
              <a:solidFill>
                <a:schemeClr val="dk1"/>
              </a:solidFill>
              <a:latin typeface="Calibri"/>
              <a:ea typeface="Calibri"/>
              <a:cs typeface="Calibri"/>
              <a:sym typeface="Calibri"/>
            </a:endParaRPr>
          </a:p>
        </p:txBody>
      </p:sp>
      <p:sp>
        <p:nvSpPr>
          <p:cNvPr id="1228" name="Google Shape;1228;p43"/>
          <p:cNvSpPr/>
          <p:nvPr/>
        </p:nvSpPr>
        <p:spPr>
          <a:xfrm>
            <a:off x="3246120" y="2011680"/>
            <a:ext cx="1005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50"/>
              <a:buFont typeface="Calibri"/>
              <a:buNone/>
            </a:pPr>
            <a:r>
              <a:rPr b="1" i="0" lang="en-US" sz="850" u="none" cap="none" strike="noStrike">
                <a:solidFill>
                  <a:srgbClr val="90A4AE"/>
                </a:solidFill>
                <a:latin typeface="Calibri"/>
                <a:ea typeface="Calibri"/>
                <a:cs typeface="Calibri"/>
                <a:sym typeface="Calibri"/>
              </a:rPr>
              <a:t>Barrier type</a:t>
            </a:r>
            <a:endParaRPr b="0" i="0" sz="850" u="none" cap="none" strike="noStrike">
              <a:solidFill>
                <a:schemeClr val="dk1"/>
              </a:solidFill>
              <a:latin typeface="Calibri"/>
              <a:ea typeface="Calibri"/>
              <a:cs typeface="Calibri"/>
              <a:sym typeface="Calibri"/>
            </a:endParaRPr>
          </a:p>
        </p:txBody>
      </p:sp>
      <p:sp>
        <p:nvSpPr>
          <p:cNvPr id="1229" name="Google Shape;1229;p43"/>
          <p:cNvSpPr/>
          <p:nvPr/>
        </p:nvSpPr>
        <p:spPr>
          <a:xfrm>
            <a:off x="4270248" y="2011680"/>
            <a:ext cx="1508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850"/>
              <a:buFont typeface="Calibri"/>
              <a:buNone/>
            </a:pPr>
            <a:r>
              <a:rPr b="0" i="0" lang="en-US" sz="850" u="none" cap="none" strike="noStrike">
                <a:solidFill>
                  <a:srgbClr val="ECF0F1"/>
                </a:solidFill>
                <a:latin typeface="Calibri"/>
                <a:ea typeface="Calibri"/>
                <a:cs typeface="Calibri"/>
                <a:sym typeface="Calibri"/>
              </a:rPr>
              <a:t>Load barrier</a:t>
            </a:r>
            <a:endParaRPr b="0" i="0" sz="850" u="none" cap="none" strike="noStrike">
              <a:solidFill>
                <a:schemeClr val="dk1"/>
              </a:solidFill>
              <a:latin typeface="Calibri"/>
              <a:ea typeface="Calibri"/>
              <a:cs typeface="Calibri"/>
              <a:sym typeface="Calibri"/>
            </a:endParaRPr>
          </a:p>
        </p:txBody>
      </p:sp>
      <p:sp>
        <p:nvSpPr>
          <p:cNvPr id="1230" name="Google Shape;1230;p43"/>
          <p:cNvSpPr/>
          <p:nvPr/>
        </p:nvSpPr>
        <p:spPr>
          <a:xfrm>
            <a:off x="3246120" y="2432304"/>
            <a:ext cx="1005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50"/>
              <a:buFont typeface="Calibri"/>
              <a:buNone/>
            </a:pPr>
            <a:r>
              <a:rPr b="1" i="0" lang="en-US" sz="850" u="none" cap="none" strike="noStrike">
                <a:solidFill>
                  <a:srgbClr val="90A4AE"/>
                </a:solidFill>
                <a:latin typeface="Calibri"/>
                <a:ea typeface="Calibri"/>
                <a:cs typeface="Calibri"/>
                <a:sym typeface="Calibri"/>
              </a:rPr>
              <a:t>CPU overhead</a:t>
            </a:r>
            <a:endParaRPr b="0" i="0" sz="850" u="none" cap="none" strike="noStrike">
              <a:solidFill>
                <a:schemeClr val="dk1"/>
              </a:solidFill>
              <a:latin typeface="Calibri"/>
              <a:ea typeface="Calibri"/>
              <a:cs typeface="Calibri"/>
              <a:sym typeface="Calibri"/>
            </a:endParaRPr>
          </a:p>
        </p:txBody>
      </p:sp>
      <p:sp>
        <p:nvSpPr>
          <p:cNvPr id="1231" name="Google Shape;1231;p43"/>
          <p:cNvSpPr/>
          <p:nvPr/>
        </p:nvSpPr>
        <p:spPr>
          <a:xfrm>
            <a:off x="4270248" y="2432304"/>
            <a:ext cx="1508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850"/>
              <a:buFont typeface="Calibri"/>
              <a:buNone/>
            </a:pPr>
            <a:r>
              <a:rPr b="0" i="0" lang="en-US" sz="850" u="none" cap="none" strike="noStrike">
                <a:solidFill>
                  <a:srgbClr val="ECF0F1"/>
                </a:solidFill>
                <a:latin typeface="Calibri"/>
                <a:ea typeface="Calibri"/>
                <a:cs typeface="Calibri"/>
                <a:sym typeface="Calibri"/>
              </a:rPr>
              <a:t>~10–15%, workload-dependent (load barriers)</a:t>
            </a:r>
            <a:endParaRPr b="0" i="0" sz="850" u="none" cap="none" strike="noStrike">
              <a:solidFill>
                <a:schemeClr val="dk1"/>
              </a:solidFill>
              <a:latin typeface="Calibri"/>
              <a:ea typeface="Calibri"/>
              <a:cs typeface="Calibri"/>
              <a:sym typeface="Calibri"/>
            </a:endParaRPr>
          </a:p>
        </p:txBody>
      </p:sp>
      <p:sp>
        <p:nvSpPr>
          <p:cNvPr id="1232" name="Google Shape;1232;p43"/>
          <p:cNvSpPr/>
          <p:nvPr/>
        </p:nvSpPr>
        <p:spPr>
          <a:xfrm>
            <a:off x="3246120" y="2852928"/>
            <a:ext cx="1005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50"/>
              <a:buFont typeface="Calibri"/>
              <a:buNone/>
            </a:pPr>
            <a:r>
              <a:rPr b="1" i="0" lang="en-US" sz="850" u="none" cap="none" strike="noStrike">
                <a:solidFill>
                  <a:srgbClr val="90A4AE"/>
                </a:solidFill>
                <a:latin typeface="Calibri"/>
                <a:ea typeface="Calibri"/>
                <a:cs typeface="Calibri"/>
                <a:sym typeface="Calibri"/>
              </a:rPr>
              <a:t>Generational</a:t>
            </a:r>
            <a:endParaRPr b="0" i="0" sz="850" u="none" cap="none" strike="noStrike">
              <a:solidFill>
                <a:schemeClr val="dk1"/>
              </a:solidFill>
              <a:latin typeface="Calibri"/>
              <a:ea typeface="Calibri"/>
              <a:cs typeface="Calibri"/>
              <a:sym typeface="Calibri"/>
            </a:endParaRPr>
          </a:p>
        </p:txBody>
      </p:sp>
      <p:sp>
        <p:nvSpPr>
          <p:cNvPr id="1233" name="Google Shape;1233;p43"/>
          <p:cNvSpPr/>
          <p:nvPr/>
        </p:nvSpPr>
        <p:spPr>
          <a:xfrm>
            <a:off x="4270248" y="2852928"/>
            <a:ext cx="1508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850"/>
              <a:buFont typeface="Calibri"/>
              <a:buNone/>
            </a:pPr>
            <a:r>
              <a:rPr b="0" i="0" lang="en-US" sz="850" u="none" cap="none" strike="noStrike">
                <a:solidFill>
                  <a:srgbClr val="ECF0F1"/>
                </a:solidFill>
                <a:latin typeface="Calibri"/>
                <a:ea typeface="Calibri"/>
                <a:cs typeface="Calibri"/>
                <a:sym typeface="Calibri"/>
              </a:rPr>
              <a:t>Generational (JDK 21+)</a:t>
            </a:r>
            <a:endParaRPr b="0" i="0" sz="850" u="none" cap="none" strike="noStrike">
              <a:solidFill>
                <a:schemeClr val="dk1"/>
              </a:solidFill>
              <a:latin typeface="Calibri"/>
              <a:ea typeface="Calibri"/>
              <a:cs typeface="Calibri"/>
              <a:sym typeface="Calibri"/>
            </a:endParaRPr>
          </a:p>
        </p:txBody>
      </p:sp>
      <p:sp>
        <p:nvSpPr>
          <p:cNvPr id="1234" name="Google Shape;1234;p43"/>
          <p:cNvSpPr/>
          <p:nvPr/>
        </p:nvSpPr>
        <p:spPr>
          <a:xfrm>
            <a:off x="3246120" y="3273552"/>
            <a:ext cx="1005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50"/>
              <a:buFont typeface="Calibri"/>
              <a:buNone/>
            </a:pPr>
            <a:r>
              <a:rPr b="1" i="0" lang="en-US" sz="850" u="none" cap="none" strike="noStrike">
                <a:solidFill>
                  <a:srgbClr val="90A4AE"/>
                </a:solidFill>
                <a:latin typeface="Calibri"/>
                <a:ea typeface="Calibri"/>
                <a:cs typeface="Calibri"/>
                <a:sym typeface="Calibri"/>
              </a:rPr>
              <a:t>JDK support</a:t>
            </a:r>
            <a:endParaRPr b="0" i="0" sz="850" u="none" cap="none" strike="noStrike">
              <a:solidFill>
                <a:schemeClr val="dk1"/>
              </a:solidFill>
              <a:latin typeface="Calibri"/>
              <a:ea typeface="Calibri"/>
              <a:cs typeface="Calibri"/>
              <a:sym typeface="Calibri"/>
            </a:endParaRPr>
          </a:p>
        </p:txBody>
      </p:sp>
      <p:sp>
        <p:nvSpPr>
          <p:cNvPr id="1235" name="Google Shape;1235;p43"/>
          <p:cNvSpPr/>
          <p:nvPr/>
        </p:nvSpPr>
        <p:spPr>
          <a:xfrm>
            <a:off x="4270248" y="3273552"/>
            <a:ext cx="1508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850"/>
              <a:buFont typeface="Calibri"/>
              <a:buNone/>
            </a:pPr>
            <a:r>
              <a:rPr b="0" i="0" lang="en-US" sz="850" u="none" cap="none" strike="noStrike">
                <a:solidFill>
                  <a:srgbClr val="ECF0F1"/>
                </a:solidFill>
                <a:latin typeface="Calibri"/>
                <a:ea typeface="Calibri"/>
                <a:cs typeface="Calibri"/>
                <a:sym typeface="Calibri"/>
              </a:rPr>
              <a:t>JDK 11+</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0"/>
              <a:buFont typeface="Calibri"/>
              <a:buNone/>
            </a:pPr>
            <a:r>
              <a:rPr b="0" i="0" lang="en-US" sz="850" u="none" cap="none" strike="noStrike">
                <a:solidFill>
                  <a:srgbClr val="ECF0F1"/>
                </a:solidFill>
                <a:latin typeface="Calibri"/>
                <a:ea typeface="Calibri"/>
                <a:cs typeface="Calibri"/>
                <a:sym typeface="Calibri"/>
              </a:rPr>
              <a:t>(production JDK 15+)</a:t>
            </a:r>
            <a:endParaRPr b="0" i="0" sz="850" u="none" cap="none" strike="noStrike">
              <a:solidFill>
                <a:schemeClr val="dk1"/>
              </a:solidFill>
              <a:latin typeface="Calibri"/>
              <a:ea typeface="Calibri"/>
              <a:cs typeface="Calibri"/>
              <a:sym typeface="Calibri"/>
            </a:endParaRPr>
          </a:p>
        </p:txBody>
      </p:sp>
      <p:sp>
        <p:nvSpPr>
          <p:cNvPr id="1236" name="Google Shape;1236;p43"/>
          <p:cNvSpPr/>
          <p:nvPr/>
        </p:nvSpPr>
        <p:spPr>
          <a:xfrm>
            <a:off x="3246120" y="3694176"/>
            <a:ext cx="1005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50"/>
              <a:buFont typeface="Calibri"/>
              <a:buNone/>
            </a:pPr>
            <a:r>
              <a:rPr b="1" i="0" lang="en-US" sz="850" u="none" cap="none" strike="noStrike">
                <a:solidFill>
                  <a:srgbClr val="90A4AE"/>
                </a:solidFill>
                <a:latin typeface="Calibri"/>
                <a:ea typeface="Calibri"/>
                <a:cs typeface="Calibri"/>
                <a:sym typeface="Calibri"/>
              </a:rPr>
              <a:t>Default in</a:t>
            </a:r>
            <a:endParaRPr b="0" i="0" sz="850" u="none" cap="none" strike="noStrike">
              <a:solidFill>
                <a:schemeClr val="dk1"/>
              </a:solidFill>
              <a:latin typeface="Calibri"/>
              <a:ea typeface="Calibri"/>
              <a:cs typeface="Calibri"/>
              <a:sym typeface="Calibri"/>
            </a:endParaRPr>
          </a:p>
        </p:txBody>
      </p:sp>
      <p:sp>
        <p:nvSpPr>
          <p:cNvPr id="1237" name="Google Shape;1237;p43"/>
          <p:cNvSpPr/>
          <p:nvPr/>
        </p:nvSpPr>
        <p:spPr>
          <a:xfrm>
            <a:off x="4270248" y="3694176"/>
            <a:ext cx="1508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50"/>
              <a:buFont typeface="Calibri"/>
              <a:buNone/>
            </a:pPr>
            <a:r>
              <a:rPr b="0" i="0" lang="en-US" sz="850" u="none" cap="none" strike="noStrike">
                <a:solidFill>
                  <a:srgbClr val="90A4AE"/>
                </a:solidFill>
                <a:latin typeface="Calibri"/>
                <a:ea typeface="Calibri"/>
                <a:cs typeface="Calibri"/>
                <a:sym typeface="Calibri"/>
              </a:rPr>
              <a:t>All distributions</a:t>
            </a:r>
            <a:endParaRPr b="0" i="0" sz="850" u="none" cap="none" strike="noStrike">
              <a:solidFill>
                <a:schemeClr val="dk1"/>
              </a:solidFill>
              <a:latin typeface="Calibri"/>
              <a:ea typeface="Calibri"/>
              <a:cs typeface="Calibri"/>
              <a:sym typeface="Calibri"/>
            </a:endParaRPr>
          </a:p>
        </p:txBody>
      </p:sp>
      <p:sp>
        <p:nvSpPr>
          <p:cNvPr id="1238" name="Google Shape;1238;p43"/>
          <p:cNvSpPr/>
          <p:nvPr/>
        </p:nvSpPr>
        <p:spPr>
          <a:xfrm>
            <a:off x="3154680" y="4133088"/>
            <a:ext cx="2743200" cy="475500"/>
          </a:xfrm>
          <a:prstGeom prst="rect">
            <a:avLst/>
          </a:prstGeom>
          <a:solidFill>
            <a:srgbClr val="0D21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43"/>
          <p:cNvSpPr/>
          <p:nvPr/>
        </p:nvSpPr>
        <p:spPr>
          <a:xfrm>
            <a:off x="3227832" y="4151376"/>
            <a:ext cx="2596800" cy="4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800"/>
              <a:buFont typeface="Consolas"/>
              <a:buNone/>
            </a:pPr>
            <a:r>
              <a:rPr b="0" i="0" lang="en-US" sz="800" u="none" cap="none" strike="noStrike">
                <a:solidFill>
                  <a:srgbClr val="00BCD4"/>
                </a:solidFill>
                <a:latin typeface="Consolas"/>
                <a:ea typeface="Consolas"/>
                <a:cs typeface="Consolas"/>
                <a:sym typeface="Consolas"/>
              </a:rPr>
              <a:t>-XX:+UseZGC</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BCD4"/>
              </a:buClr>
              <a:buSzPts val="800"/>
              <a:buFont typeface="Consolas"/>
              <a:buNone/>
            </a:pPr>
            <a:r>
              <a:rPr b="0" i="0" lang="en-US" sz="800" u="none" cap="none" strike="noStrike">
                <a:solidFill>
                  <a:srgbClr val="00BCD4"/>
                </a:solidFill>
                <a:latin typeface="Consolas"/>
                <a:ea typeface="Consolas"/>
                <a:cs typeface="Consolas"/>
                <a:sym typeface="Consolas"/>
              </a:rPr>
              <a:t># generational: only mode since JDK 24</a:t>
            </a:r>
            <a:endParaRPr b="0" i="0" sz="800" u="none" cap="none" strike="noStrike">
              <a:solidFill>
                <a:schemeClr val="dk1"/>
              </a:solidFill>
              <a:latin typeface="Calibri"/>
              <a:ea typeface="Calibri"/>
              <a:cs typeface="Calibri"/>
              <a:sym typeface="Calibri"/>
            </a:endParaRPr>
          </a:p>
        </p:txBody>
      </p:sp>
      <p:sp>
        <p:nvSpPr>
          <p:cNvPr id="1240" name="Google Shape;1240;p43"/>
          <p:cNvSpPr/>
          <p:nvPr/>
        </p:nvSpPr>
        <p:spPr>
          <a:xfrm>
            <a:off x="3154680" y="4663440"/>
            <a:ext cx="2743200" cy="402300"/>
          </a:xfrm>
          <a:prstGeom prst="rect">
            <a:avLst/>
          </a:prstGeom>
          <a:solidFill>
            <a:srgbClr val="08111F"/>
          </a:solidFill>
          <a:ln cap="flat" cmpd="sng" w="1905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43"/>
          <p:cNvSpPr/>
          <p:nvPr/>
        </p:nvSpPr>
        <p:spPr>
          <a:xfrm>
            <a:off x="3227832" y="4681728"/>
            <a:ext cx="2596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850"/>
              <a:buFont typeface="Calibri"/>
              <a:buNone/>
            </a:pPr>
            <a:r>
              <a:rPr b="1" i="0" lang="en-US" sz="850" u="none" cap="none" strike="noStrike">
                <a:solidFill>
                  <a:srgbClr val="00BCD4"/>
                </a:solidFill>
                <a:latin typeface="Calibri"/>
                <a:ea typeface="Calibri"/>
                <a:cs typeface="Calibri"/>
                <a:sym typeface="Calibri"/>
              </a:rPr>
              <a:t>★  Strictest pause guarantee</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BCD4"/>
              </a:buClr>
              <a:buSzPts val="850"/>
              <a:buFont typeface="Calibri"/>
              <a:buNone/>
            </a:pPr>
            <a:r>
              <a:rPr b="1" i="0" lang="en-US" sz="850" u="none" cap="none" strike="noStrike">
                <a:solidFill>
                  <a:srgbClr val="00BCD4"/>
                </a:solidFill>
                <a:latin typeface="Calibri"/>
                <a:ea typeface="Calibri"/>
                <a:cs typeface="Calibri"/>
                <a:sym typeface="Calibri"/>
              </a:rPr>
              <a:t>Same pause at 1 GB or 1 TB</a:t>
            </a:r>
            <a:endParaRPr b="0" i="0" sz="850" u="none" cap="none" strike="noStrike">
              <a:solidFill>
                <a:schemeClr val="dk1"/>
              </a:solidFill>
              <a:latin typeface="Calibri"/>
              <a:ea typeface="Calibri"/>
              <a:cs typeface="Calibri"/>
              <a:sym typeface="Calibri"/>
            </a:endParaRPr>
          </a:p>
        </p:txBody>
      </p:sp>
      <p:sp>
        <p:nvSpPr>
          <p:cNvPr id="1242" name="Google Shape;1242;p43"/>
          <p:cNvSpPr/>
          <p:nvPr/>
        </p:nvSpPr>
        <p:spPr>
          <a:xfrm>
            <a:off x="6035040" y="1042416"/>
            <a:ext cx="2743200" cy="3749100"/>
          </a:xfrm>
          <a:prstGeom prst="rect">
            <a:avLst/>
          </a:prstGeom>
          <a:solidFill>
            <a:srgbClr val="122040"/>
          </a:solidFill>
          <a:ln cap="flat" cmpd="sng" w="25400">
            <a:solidFill>
              <a:srgbClr val="F5A6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43"/>
          <p:cNvSpPr/>
          <p:nvPr/>
        </p:nvSpPr>
        <p:spPr>
          <a:xfrm>
            <a:off x="6035040" y="1042416"/>
            <a:ext cx="2743200" cy="475500"/>
          </a:xfrm>
          <a:prstGeom prst="rect">
            <a:avLst/>
          </a:prstGeom>
          <a:solidFill>
            <a:srgbClr val="F5A6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43"/>
          <p:cNvSpPr/>
          <p:nvPr/>
        </p:nvSpPr>
        <p:spPr>
          <a:xfrm>
            <a:off x="6035040" y="1042416"/>
            <a:ext cx="27432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G1GC</a:t>
            </a:r>
            <a:endParaRPr b="0" i="0" sz="1500" u="none" cap="none" strike="noStrike">
              <a:solidFill>
                <a:schemeClr val="dk1"/>
              </a:solidFill>
              <a:latin typeface="Calibri"/>
              <a:ea typeface="Calibri"/>
              <a:cs typeface="Calibri"/>
              <a:sym typeface="Calibri"/>
            </a:endParaRPr>
          </a:p>
        </p:txBody>
      </p:sp>
      <p:sp>
        <p:nvSpPr>
          <p:cNvPr id="1245" name="Google Shape;1245;p43"/>
          <p:cNvSpPr/>
          <p:nvPr/>
        </p:nvSpPr>
        <p:spPr>
          <a:xfrm>
            <a:off x="6035040" y="1316736"/>
            <a:ext cx="27432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Oracle → OpenJDK</a:t>
            </a:r>
            <a:endParaRPr b="0" i="0" sz="900" u="none" cap="none" strike="noStrike">
              <a:solidFill>
                <a:schemeClr val="dk1"/>
              </a:solidFill>
              <a:latin typeface="Calibri"/>
              <a:ea typeface="Calibri"/>
              <a:cs typeface="Calibri"/>
              <a:sym typeface="Calibri"/>
            </a:endParaRPr>
          </a:p>
        </p:txBody>
      </p:sp>
      <p:sp>
        <p:nvSpPr>
          <p:cNvPr id="1246" name="Google Shape;1246;p43"/>
          <p:cNvSpPr/>
          <p:nvPr/>
        </p:nvSpPr>
        <p:spPr>
          <a:xfrm>
            <a:off x="6126480" y="1591056"/>
            <a:ext cx="1005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50"/>
              <a:buFont typeface="Calibri"/>
              <a:buNone/>
            </a:pPr>
            <a:r>
              <a:rPr b="1" i="0" lang="en-US" sz="850" u="none" cap="none" strike="noStrike">
                <a:solidFill>
                  <a:srgbClr val="90A4AE"/>
                </a:solidFill>
                <a:latin typeface="Calibri"/>
                <a:ea typeface="Calibri"/>
                <a:cs typeface="Calibri"/>
                <a:sym typeface="Calibri"/>
              </a:rPr>
              <a:t>Typical pause</a:t>
            </a:r>
            <a:endParaRPr b="0" i="0" sz="850" u="none" cap="none" strike="noStrike">
              <a:solidFill>
                <a:schemeClr val="dk1"/>
              </a:solidFill>
              <a:latin typeface="Calibri"/>
              <a:ea typeface="Calibri"/>
              <a:cs typeface="Calibri"/>
              <a:sym typeface="Calibri"/>
            </a:endParaRPr>
          </a:p>
        </p:txBody>
      </p:sp>
      <p:sp>
        <p:nvSpPr>
          <p:cNvPr id="1247" name="Google Shape;1247;p43"/>
          <p:cNvSpPr/>
          <p:nvPr/>
        </p:nvSpPr>
        <p:spPr>
          <a:xfrm>
            <a:off x="7150608" y="1591056"/>
            <a:ext cx="1508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855"/>
              </a:buClr>
              <a:buSzPts val="850"/>
              <a:buFont typeface="Calibri"/>
              <a:buNone/>
            </a:pPr>
            <a:r>
              <a:rPr b="0" i="0" lang="en-US" sz="850" u="none" cap="none" strike="noStrike">
                <a:solidFill>
                  <a:srgbClr val="E84855"/>
                </a:solidFill>
                <a:latin typeface="Calibri"/>
                <a:ea typeface="Calibri"/>
                <a:cs typeface="Calibri"/>
                <a:sym typeface="Calibri"/>
              </a:rPr>
              <a:t>10 – 300 ms</a:t>
            </a:r>
            <a:endParaRPr b="0" i="0" sz="850" u="none" cap="none" strike="noStrike">
              <a:solidFill>
                <a:schemeClr val="dk1"/>
              </a:solidFill>
              <a:latin typeface="Calibri"/>
              <a:ea typeface="Calibri"/>
              <a:cs typeface="Calibri"/>
              <a:sym typeface="Calibri"/>
            </a:endParaRPr>
          </a:p>
        </p:txBody>
      </p:sp>
      <p:sp>
        <p:nvSpPr>
          <p:cNvPr id="1248" name="Google Shape;1248;p43"/>
          <p:cNvSpPr/>
          <p:nvPr/>
        </p:nvSpPr>
        <p:spPr>
          <a:xfrm>
            <a:off x="6126480" y="2011680"/>
            <a:ext cx="1005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50"/>
              <a:buFont typeface="Calibri"/>
              <a:buNone/>
            </a:pPr>
            <a:r>
              <a:rPr b="1" i="0" lang="en-US" sz="850" u="none" cap="none" strike="noStrike">
                <a:solidFill>
                  <a:srgbClr val="90A4AE"/>
                </a:solidFill>
                <a:latin typeface="Calibri"/>
                <a:ea typeface="Calibri"/>
                <a:cs typeface="Calibri"/>
                <a:sym typeface="Calibri"/>
              </a:rPr>
              <a:t>Barrier type</a:t>
            </a:r>
            <a:endParaRPr b="0" i="0" sz="850" u="none" cap="none" strike="noStrike">
              <a:solidFill>
                <a:schemeClr val="dk1"/>
              </a:solidFill>
              <a:latin typeface="Calibri"/>
              <a:ea typeface="Calibri"/>
              <a:cs typeface="Calibri"/>
              <a:sym typeface="Calibri"/>
            </a:endParaRPr>
          </a:p>
        </p:txBody>
      </p:sp>
      <p:sp>
        <p:nvSpPr>
          <p:cNvPr id="1249" name="Google Shape;1249;p43"/>
          <p:cNvSpPr/>
          <p:nvPr/>
        </p:nvSpPr>
        <p:spPr>
          <a:xfrm>
            <a:off x="7150608" y="2011680"/>
            <a:ext cx="1508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850"/>
              <a:buFont typeface="Calibri"/>
              <a:buNone/>
            </a:pPr>
            <a:r>
              <a:rPr b="0" i="0" lang="en-US" sz="850" u="none" cap="none" strike="noStrike">
                <a:solidFill>
                  <a:srgbClr val="ECF0F1"/>
                </a:solidFill>
                <a:latin typeface="Calibri"/>
                <a:ea typeface="Calibri"/>
                <a:cs typeface="Calibri"/>
                <a:sym typeface="Calibri"/>
              </a:rPr>
              <a:t>Write barrier</a:t>
            </a:r>
            <a:endParaRPr b="0" i="0" sz="850" u="none" cap="none" strike="noStrike">
              <a:solidFill>
                <a:schemeClr val="dk1"/>
              </a:solidFill>
              <a:latin typeface="Calibri"/>
              <a:ea typeface="Calibri"/>
              <a:cs typeface="Calibri"/>
              <a:sym typeface="Calibri"/>
            </a:endParaRPr>
          </a:p>
        </p:txBody>
      </p:sp>
      <p:sp>
        <p:nvSpPr>
          <p:cNvPr id="1250" name="Google Shape;1250;p43"/>
          <p:cNvSpPr/>
          <p:nvPr/>
        </p:nvSpPr>
        <p:spPr>
          <a:xfrm>
            <a:off x="6126480" y="2432304"/>
            <a:ext cx="1005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50"/>
              <a:buFont typeface="Calibri"/>
              <a:buNone/>
            </a:pPr>
            <a:r>
              <a:rPr b="1" i="0" lang="en-US" sz="850" u="none" cap="none" strike="noStrike">
                <a:solidFill>
                  <a:srgbClr val="90A4AE"/>
                </a:solidFill>
                <a:latin typeface="Calibri"/>
                <a:ea typeface="Calibri"/>
                <a:cs typeface="Calibri"/>
                <a:sym typeface="Calibri"/>
              </a:rPr>
              <a:t>CPU overhead</a:t>
            </a:r>
            <a:endParaRPr b="0" i="0" sz="850" u="none" cap="none" strike="noStrike">
              <a:solidFill>
                <a:schemeClr val="dk1"/>
              </a:solidFill>
              <a:latin typeface="Calibri"/>
              <a:ea typeface="Calibri"/>
              <a:cs typeface="Calibri"/>
              <a:sym typeface="Calibri"/>
            </a:endParaRPr>
          </a:p>
        </p:txBody>
      </p:sp>
      <p:sp>
        <p:nvSpPr>
          <p:cNvPr id="1251" name="Google Shape;1251;p43"/>
          <p:cNvSpPr/>
          <p:nvPr/>
        </p:nvSpPr>
        <p:spPr>
          <a:xfrm>
            <a:off x="7150608" y="2432304"/>
            <a:ext cx="1508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850"/>
              <a:buFont typeface="Calibri"/>
              <a:buNone/>
            </a:pPr>
            <a:r>
              <a:rPr b="0" i="0" lang="en-US" sz="850" u="none" cap="none" strike="noStrike">
                <a:solidFill>
                  <a:srgbClr val="ECF0F1"/>
                </a:solidFill>
                <a:latin typeface="Calibri"/>
                <a:ea typeface="Calibri"/>
                <a:cs typeface="Calibri"/>
                <a:sym typeface="Calibri"/>
              </a:rPr>
              <a:t>Lowest</a:t>
            </a:r>
            <a:endParaRPr b="0" i="0" sz="850" u="none" cap="none" strike="noStrike">
              <a:solidFill>
                <a:schemeClr val="dk1"/>
              </a:solidFill>
              <a:latin typeface="Calibri"/>
              <a:ea typeface="Calibri"/>
              <a:cs typeface="Calibri"/>
              <a:sym typeface="Calibri"/>
            </a:endParaRPr>
          </a:p>
        </p:txBody>
      </p:sp>
      <p:sp>
        <p:nvSpPr>
          <p:cNvPr id="1252" name="Google Shape;1252;p43"/>
          <p:cNvSpPr/>
          <p:nvPr/>
        </p:nvSpPr>
        <p:spPr>
          <a:xfrm>
            <a:off x="6126480" y="2852928"/>
            <a:ext cx="1005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50"/>
              <a:buFont typeface="Calibri"/>
              <a:buNone/>
            </a:pPr>
            <a:r>
              <a:rPr b="1" i="0" lang="en-US" sz="850" u="none" cap="none" strike="noStrike">
                <a:solidFill>
                  <a:srgbClr val="90A4AE"/>
                </a:solidFill>
                <a:latin typeface="Calibri"/>
                <a:ea typeface="Calibri"/>
                <a:cs typeface="Calibri"/>
                <a:sym typeface="Calibri"/>
              </a:rPr>
              <a:t>Generational</a:t>
            </a:r>
            <a:endParaRPr b="0" i="0" sz="850" u="none" cap="none" strike="noStrike">
              <a:solidFill>
                <a:schemeClr val="dk1"/>
              </a:solidFill>
              <a:latin typeface="Calibri"/>
              <a:ea typeface="Calibri"/>
              <a:cs typeface="Calibri"/>
              <a:sym typeface="Calibri"/>
            </a:endParaRPr>
          </a:p>
        </p:txBody>
      </p:sp>
      <p:sp>
        <p:nvSpPr>
          <p:cNvPr id="1253" name="Google Shape;1253;p43"/>
          <p:cNvSpPr/>
          <p:nvPr/>
        </p:nvSpPr>
        <p:spPr>
          <a:xfrm>
            <a:off x="7150608" y="2852928"/>
            <a:ext cx="1508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850"/>
              <a:buFont typeface="Calibri"/>
              <a:buNone/>
            </a:pPr>
            <a:r>
              <a:rPr b="0" i="0" lang="en-US" sz="850" u="none" cap="none" strike="noStrike">
                <a:solidFill>
                  <a:srgbClr val="ECF0F1"/>
                </a:solidFill>
                <a:latin typeface="Calibri"/>
                <a:ea typeface="Calibri"/>
                <a:cs typeface="Calibri"/>
                <a:sym typeface="Calibri"/>
              </a:rPr>
              <a:t>Generational</a:t>
            </a:r>
            <a:endParaRPr b="0" i="0" sz="850" u="none" cap="none" strike="noStrike">
              <a:solidFill>
                <a:schemeClr val="dk1"/>
              </a:solidFill>
              <a:latin typeface="Calibri"/>
              <a:ea typeface="Calibri"/>
              <a:cs typeface="Calibri"/>
              <a:sym typeface="Calibri"/>
            </a:endParaRPr>
          </a:p>
        </p:txBody>
      </p:sp>
      <p:sp>
        <p:nvSpPr>
          <p:cNvPr id="1254" name="Google Shape;1254;p43"/>
          <p:cNvSpPr/>
          <p:nvPr/>
        </p:nvSpPr>
        <p:spPr>
          <a:xfrm>
            <a:off x="6126480" y="3273552"/>
            <a:ext cx="1005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50"/>
              <a:buFont typeface="Calibri"/>
              <a:buNone/>
            </a:pPr>
            <a:r>
              <a:rPr b="1" i="0" lang="en-US" sz="850" u="none" cap="none" strike="noStrike">
                <a:solidFill>
                  <a:srgbClr val="90A4AE"/>
                </a:solidFill>
                <a:latin typeface="Calibri"/>
                <a:ea typeface="Calibri"/>
                <a:cs typeface="Calibri"/>
                <a:sym typeface="Calibri"/>
              </a:rPr>
              <a:t>JDK support</a:t>
            </a:r>
            <a:endParaRPr b="0" i="0" sz="850" u="none" cap="none" strike="noStrike">
              <a:solidFill>
                <a:schemeClr val="dk1"/>
              </a:solidFill>
              <a:latin typeface="Calibri"/>
              <a:ea typeface="Calibri"/>
              <a:cs typeface="Calibri"/>
              <a:sym typeface="Calibri"/>
            </a:endParaRPr>
          </a:p>
        </p:txBody>
      </p:sp>
      <p:sp>
        <p:nvSpPr>
          <p:cNvPr id="1255" name="Google Shape;1255;p43"/>
          <p:cNvSpPr/>
          <p:nvPr/>
        </p:nvSpPr>
        <p:spPr>
          <a:xfrm>
            <a:off x="7150608" y="3273552"/>
            <a:ext cx="1508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850"/>
              <a:buFont typeface="Calibri"/>
              <a:buNone/>
            </a:pPr>
            <a:r>
              <a:rPr b="0" i="0" lang="en-US" sz="850" u="none" cap="none" strike="noStrike">
                <a:solidFill>
                  <a:srgbClr val="ECF0F1"/>
                </a:solidFill>
                <a:latin typeface="Calibri"/>
                <a:ea typeface="Calibri"/>
                <a:cs typeface="Calibri"/>
                <a:sym typeface="Calibri"/>
              </a:rPr>
              <a:t>JDK 9+ (default)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0"/>
              <a:buFont typeface="Calibri"/>
              <a:buNone/>
            </a:pPr>
            <a:r>
              <a:rPr b="0" i="0" lang="en-US" sz="850" u="none" cap="none" strike="noStrike">
                <a:solidFill>
                  <a:srgbClr val="ECF0F1"/>
                </a:solidFill>
                <a:latin typeface="Calibri"/>
                <a:ea typeface="Calibri"/>
                <a:cs typeface="Calibri"/>
                <a:sym typeface="Calibri"/>
              </a:rPr>
              <a:t>JDK 7u4+</a:t>
            </a:r>
            <a:endParaRPr b="0" i="0" sz="850" u="none" cap="none" strike="noStrike">
              <a:solidFill>
                <a:schemeClr val="dk1"/>
              </a:solidFill>
              <a:latin typeface="Calibri"/>
              <a:ea typeface="Calibri"/>
              <a:cs typeface="Calibri"/>
              <a:sym typeface="Calibri"/>
            </a:endParaRPr>
          </a:p>
        </p:txBody>
      </p:sp>
      <p:sp>
        <p:nvSpPr>
          <p:cNvPr id="1256" name="Google Shape;1256;p43"/>
          <p:cNvSpPr/>
          <p:nvPr/>
        </p:nvSpPr>
        <p:spPr>
          <a:xfrm>
            <a:off x="6126480" y="3694176"/>
            <a:ext cx="1005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50"/>
              <a:buFont typeface="Calibri"/>
              <a:buNone/>
            </a:pPr>
            <a:r>
              <a:rPr b="1" i="0" lang="en-US" sz="850" u="none" cap="none" strike="noStrike">
                <a:solidFill>
                  <a:srgbClr val="90A4AE"/>
                </a:solidFill>
                <a:latin typeface="Calibri"/>
                <a:ea typeface="Calibri"/>
                <a:cs typeface="Calibri"/>
                <a:sym typeface="Calibri"/>
              </a:rPr>
              <a:t>Default in</a:t>
            </a:r>
            <a:endParaRPr b="0" i="0" sz="850" u="none" cap="none" strike="noStrike">
              <a:solidFill>
                <a:schemeClr val="dk1"/>
              </a:solidFill>
              <a:latin typeface="Calibri"/>
              <a:ea typeface="Calibri"/>
              <a:cs typeface="Calibri"/>
              <a:sym typeface="Calibri"/>
            </a:endParaRPr>
          </a:p>
        </p:txBody>
      </p:sp>
      <p:sp>
        <p:nvSpPr>
          <p:cNvPr id="1257" name="Google Shape;1257;p43"/>
          <p:cNvSpPr/>
          <p:nvPr/>
        </p:nvSpPr>
        <p:spPr>
          <a:xfrm>
            <a:off x="7150608" y="3694176"/>
            <a:ext cx="1508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50"/>
              <a:buFont typeface="Calibri"/>
              <a:buNone/>
            </a:pPr>
            <a:r>
              <a:rPr b="0" i="0" lang="en-US" sz="850" u="none" cap="none" strike="noStrike">
                <a:solidFill>
                  <a:srgbClr val="90A4AE"/>
                </a:solidFill>
                <a:latin typeface="Calibri"/>
                <a:ea typeface="Calibri"/>
                <a:cs typeface="Calibri"/>
                <a:sym typeface="Calibri"/>
              </a:rPr>
              <a:t>Temurin, Corretto,</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0A4AE"/>
              </a:buClr>
              <a:buSzPts val="850"/>
              <a:buFont typeface="Calibri"/>
              <a:buNone/>
            </a:pPr>
            <a:r>
              <a:rPr b="0" i="0" lang="en-US" sz="850" u="none" cap="none" strike="noStrike">
                <a:solidFill>
                  <a:srgbClr val="90A4AE"/>
                </a:solidFill>
                <a:latin typeface="Calibri"/>
                <a:ea typeface="Calibri"/>
                <a:cs typeface="Calibri"/>
                <a:sym typeface="Calibri"/>
              </a:rPr>
              <a:t>Microsoft, Azul default</a:t>
            </a:r>
            <a:endParaRPr b="0" i="0" sz="850" u="none" cap="none" strike="noStrike">
              <a:solidFill>
                <a:schemeClr val="dk1"/>
              </a:solidFill>
              <a:latin typeface="Calibri"/>
              <a:ea typeface="Calibri"/>
              <a:cs typeface="Calibri"/>
              <a:sym typeface="Calibri"/>
            </a:endParaRPr>
          </a:p>
        </p:txBody>
      </p:sp>
      <p:sp>
        <p:nvSpPr>
          <p:cNvPr id="1258" name="Google Shape;1258;p43"/>
          <p:cNvSpPr/>
          <p:nvPr/>
        </p:nvSpPr>
        <p:spPr>
          <a:xfrm>
            <a:off x="6035040" y="4133088"/>
            <a:ext cx="2743200" cy="475500"/>
          </a:xfrm>
          <a:prstGeom prst="rect">
            <a:avLst/>
          </a:prstGeom>
          <a:solidFill>
            <a:srgbClr val="0D21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43"/>
          <p:cNvSpPr/>
          <p:nvPr/>
        </p:nvSpPr>
        <p:spPr>
          <a:xfrm>
            <a:off x="6108192" y="4151376"/>
            <a:ext cx="2596800" cy="4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800"/>
              <a:buFont typeface="Consolas"/>
              <a:buNone/>
            </a:pPr>
            <a:r>
              <a:rPr b="0" i="0" lang="en-US" sz="800" u="none" cap="none" strike="noStrike">
                <a:solidFill>
                  <a:srgbClr val="00BCD4"/>
                </a:solidFill>
                <a:latin typeface="Consolas"/>
                <a:ea typeface="Consolas"/>
                <a:cs typeface="Consolas"/>
                <a:sym typeface="Consolas"/>
              </a:rPr>
              <a:t>-XX:+UseG1GC</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BCD4"/>
              </a:buClr>
              <a:buSzPts val="800"/>
              <a:buFont typeface="Consolas"/>
              <a:buNone/>
            </a:pPr>
            <a:r>
              <a:rPr b="0" i="0" lang="en-US" sz="800" u="none" cap="none" strike="noStrike">
                <a:solidFill>
                  <a:srgbClr val="00BCD4"/>
                </a:solidFill>
                <a:latin typeface="Consolas"/>
                <a:ea typeface="Consolas"/>
                <a:cs typeface="Consolas"/>
                <a:sym typeface="Consolas"/>
              </a:rPr>
              <a:t>-XX:MaxGCPauseMillis=200</a:t>
            </a:r>
            <a:endParaRPr b="0" i="0" sz="800" u="none" cap="none" strike="noStrike">
              <a:solidFill>
                <a:schemeClr val="dk1"/>
              </a:solidFill>
              <a:latin typeface="Calibri"/>
              <a:ea typeface="Calibri"/>
              <a:cs typeface="Calibri"/>
              <a:sym typeface="Calibri"/>
            </a:endParaRPr>
          </a:p>
        </p:txBody>
      </p:sp>
      <p:sp>
        <p:nvSpPr>
          <p:cNvPr id="1260" name="Google Shape;1260;p43"/>
          <p:cNvSpPr/>
          <p:nvPr/>
        </p:nvSpPr>
        <p:spPr>
          <a:xfrm>
            <a:off x="6035040" y="4663440"/>
            <a:ext cx="2743200" cy="402300"/>
          </a:xfrm>
          <a:prstGeom prst="rect">
            <a:avLst/>
          </a:prstGeom>
          <a:solidFill>
            <a:srgbClr val="08111F"/>
          </a:solidFill>
          <a:ln cap="flat" cmpd="sng" w="19050">
            <a:solidFill>
              <a:srgbClr val="F5A6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43"/>
          <p:cNvSpPr/>
          <p:nvPr/>
        </p:nvSpPr>
        <p:spPr>
          <a:xfrm>
            <a:off x="6108192" y="4681728"/>
            <a:ext cx="2596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A623"/>
              </a:buClr>
              <a:buSzPts val="850"/>
              <a:buFont typeface="Calibri"/>
              <a:buNone/>
            </a:pPr>
            <a:r>
              <a:rPr b="1" i="0" lang="en-US" sz="850" u="none" cap="none" strike="noStrike">
                <a:solidFill>
                  <a:srgbClr val="F5A623"/>
                </a:solidFill>
                <a:latin typeface="Calibri"/>
                <a:ea typeface="Calibri"/>
                <a:cs typeface="Calibri"/>
                <a:sym typeface="Calibri"/>
              </a:rPr>
              <a:t>★  Upstream default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5A623"/>
              </a:buClr>
              <a:buSzPts val="850"/>
              <a:buFont typeface="Calibri"/>
              <a:buNone/>
            </a:pPr>
            <a:r>
              <a:rPr b="1" i="0" lang="en-US" sz="850" u="none" cap="none" strike="noStrike">
                <a:solidFill>
                  <a:srgbClr val="F5A623"/>
                </a:solidFill>
                <a:latin typeface="Calibri"/>
                <a:ea typeface="Calibri"/>
                <a:cs typeface="Calibri"/>
                <a:sym typeface="Calibri"/>
              </a:rPr>
              <a:t>Best throughput</a:t>
            </a:r>
            <a:endParaRPr b="0" i="0" sz="850" u="none" cap="none" strike="noStrike">
              <a:solidFill>
                <a:schemeClr val="dk1"/>
              </a:solidFill>
              <a:latin typeface="Calibri"/>
              <a:ea typeface="Calibri"/>
              <a:cs typeface="Calibri"/>
              <a:sym typeface="Calibri"/>
            </a:endParaRPr>
          </a:p>
        </p:txBody>
      </p:sp>
      <p:sp>
        <p:nvSpPr>
          <p:cNvPr id="1262" name="Google Shape;1262;p43"/>
          <p:cNvSpPr/>
          <p:nvPr/>
        </p:nvSpPr>
        <p:spPr>
          <a:xfrm>
            <a:off x="0" y="5394960"/>
            <a:ext cx="9144000" cy="201300"/>
          </a:xfrm>
          <a:prstGeom prst="rect">
            <a:avLst/>
          </a:prstGeom>
          <a:solidFill>
            <a:srgbClr val="0610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43"/>
          <p:cNvSpPr/>
          <p:nvPr/>
        </p:nvSpPr>
        <p:spPr>
          <a:xfrm>
            <a:off x="320040" y="5422392"/>
            <a:ext cx="8503800" cy="14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900"/>
              <a:buFont typeface="Calibri"/>
              <a:buNone/>
            </a:pPr>
            <a:r>
              <a:rPr b="0" i="0" lang="en-US" sz="900" u="none" cap="none" strike="noStrike">
                <a:solidFill>
                  <a:srgbClr val="00BCD4"/>
                </a:solidFill>
                <a:latin typeface="Calibri"/>
                <a:ea typeface="Calibri"/>
                <a:cs typeface="Calibri"/>
                <a:sym typeface="Calibri"/>
              </a:rPr>
              <a:t>UBI 10 ships Shenandoah — override with -XX:+UseG1GC or -XX:+UseZGC to reproduce these demos' comparisons explicitly Pause figures are per-GC design targets (ZGC &lt;1ms STW is a JEP/JFR target), not this deck's demo measurements.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268" name="Shape 1268"/>
        <p:cNvGrpSpPr/>
        <p:nvPr/>
      </p:nvGrpSpPr>
      <p:grpSpPr>
        <a:xfrm>
          <a:off x="0" y="0"/>
          <a:ext cx="0" cy="0"/>
          <a:chOff x="0" y="0"/>
          <a:chExt cx="0" cy="0"/>
        </a:xfrm>
      </p:grpSpPr>
      <p:sp>
        <p:nvSpPr>
          <p:cNvPr id="1269" name="Google Shape;1269;p44"/>
          <p:cNvSpPr/>
          <p:nvPr/>
        </p:nvSpPr>
        <p:spPr>
          <a:xfrm>
            <a:off x="6492240" y="-822960"/>
            <a:ext cx="3474600" cy="3474600"/>
          </a:xfrm>
          <a:prstGeom prst="ellipse">
            <a:avLst/>
          </a:prstGeom>
          <a:noFill/>
          <a:ln cap="flat" cmpd="sng" w="254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44"/>
          <p:cNvSpPr/>
          <p:nvPr/>
        </p:nvSpPr>
        <p:spPr>
          <a:xfrm>
            <a:off x="7315200" y="3383280"/>
            <a:ext cx="2194500" cy="2194500"/>
          </a:xfrm>
          <a:prstGeom prst="ellipse">
            <a:avLst/>
          </a:prstGeom>
          <a:noFill/>
          <a:ln cap="flat" cmpd="sng" w="19050">
            <a:solidFill>
              <a:srgbClr val="1E6F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44"/>
          <p:cNvSpPr/>
          <p:nvPr/>
        </p:nvSpPr>
        <p:spPr>
          <a:xfrm>
            <a:off x="457200" y="502920"/>
            <a:ext cx="2743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100"/>
              <a:buFont typeface="Calibri"/>
              <a:buNone/>
            </a:pPr>
            <a:r>
              <a:rPr b="1" i="0" lang="en-US" sz="1100" u="none" cap="none" strike="noStrike">
                <a:solidFill>
                  <a:srgbClr val="00BCD4"/>
                </a:solidFill>
                <a:latin typeface="Calibri"/>
                <a:ea typeface="Calibri"/>
                <a:cs typeface="Calibri"/>
                <a:sym typeface="Calibri"/>
              </a:rPr>
              <a:t>DEMO 06</a:t>
            </a:r>
            <a:endParaRPr b="0" i="0" sz="1100" u="none" cap="none" strike="noStrike">
              <a:solidFill>
                <a:schemeClr val="dk1"/>
              </a:solidFill>
              <a:latin typeface="Calibri"/>
              <a:ea typeface="Calibri"/>
              <a:cs typeface="Calibri"/>
              <a:sym typeface="Calibri"/>
            </a:endParaRPr>
          </a:p>
        </p:txBody>
      </p:sp>
      <p:sp>
        <p:nvSpPr>
          <p:cNvPr id="1272" name="Google Shape;1272;p44"/>
          <p:cNvSpPr/>
          <p:nvPr/>
        </p:nvSpPr>
        <p:spPr>
          <a:xfrm>
            <a:off x="457200" y="777240"/>
            <a:ext cx="7772400" cy="65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Calibri"/>
              <a:buNone/>
            </a:pPr>
            <a:r>
              <a:rPr b="1" i="0" lang="en-US" sz="4400" u="none" cap="none" strike="noStrike">
                <a:solidFill>
                  <a:srgbClr val="FFFFFF"/>
                </a:solidFill>
                <a:latin typeface="Calibri"/>
                <a:ea typeface="Calibri"/>
                <a:cs typeface="Calibri"/>
                <a:sym typeface="Calibri"/>
              </a:rPr>
              <a:t>Low-Latency JVM</a:t>
            </a:r>
            <a:endParaRPr b="0" i="0" sz="4400" u="none" cap="none" strike="noStrike">
              <a:solidFill>
                <a:schemeClr val="dk1"/>
              </a:solidFill>
              <a:latin typeface="Calibri"/>
              <a:ea typeface="Calibri"/>
              <a:cs typeface="Calibri"/>
              <a:sym typeface="Calibri"/>
            </a:endParaRPr>
          </a:p>
        </p:txBody>
      </p:sp>
      <p:sp>
        <p:nvSpPr>
          <p:cNvPr id="1273" name="Google Shape;1273;p44"/>
          <p:cNvSpPr/>
          <p:nvPr/>
        </p:nvSpPr>
        <p:spPr>
          <a:xfrm>
            <a:off x="457200" y="1417320"/>
            <a:ext cx="64008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3600"/>
              <a:buFont typeface="Calibri"/>
              <a:buNone/>
            </a:pPr>
            <a:r>
              <a:rPr b="1" i="0" lang="en-US" sz="3600" u="none" cap="none" strike="noStrike">
                <a:solidFill>
                  <a:srgbClr val="00BCD4"/>
                </a:solidFill>
                <a:latin typeface="Calibri"/>
                <a:ea typeface="Calibri"/>
                <a:cs typeface="Calibri"/>
                <a:sym typeface="Calibri"/>
              </a:rPr>
              <a:t>Tuning on Kubernetes</a:t>
            </a:r>
            <a:endParaRPr b="0" i="0" sz="3600" u="none" cap="none" strike="noStrike">
              <a:solidFill>
                <a:schemeClr val="dk1"/>
              </a:solidFill>
              <a:latin typeface="Calibri"/>
              <a:ea typeface="Calibri"/>
              <a:cs typeface="Calibri"/>
              <a:sym typeface="Calibri"/>
            </a:endParaRPr>
          </a:p>
        </p:txBody>
      </p:sp>
      <p:sp>
        <p:nvSpPr>
          <p:cNvPr id="1274" name="Google Shape;1274;p44"/>
          <p:cNvSpPr/>
          <p:nvPr/>
        </p:nvSpPr>
        <p:spPr>
          <a:xfrm>
            <a:off x="457200" y="2029968"/>
            <a:ext cx="73152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100"/>
              <a:buFont typeface="Calibri"/>
              <a:buNone/>
            </a:pPr>
            <a:r>
              <a:rPr b="0" i="0" lang="en-US" sz="1100" u="none" cap="none" strike="noStrike">
                <a:solidFill>
                  <a:srgbClr val="90A4AE"/>
                </a:solidFill>
                <a:latin typeface="Calibri"/>
                <a:ea typeface="Calibri"/>
                <a:cs typeface="Calibri"/>
                <a:sym typeface="Calibri"/>
              </a:rPr>
              <a:t>Java 25  •  Quarkus 3.33.1 LTS  •  ZGC vs G1GC  •  quarkus-demo-06-latency/</a:t>
            </a:r>
            <a:endParaRPr b="0" i="0" sz="1100" u="none" cap="none" strike="noStrike">
              <a:solidFill>
                <a:schemeClr val="dk1"/>
              </a:solidFill>
              <a:latin typeface="Calibri"/>
              <a:ea typeface="Calibri"/>
              <a:cs typeface="Calibri"/>
              <a:sym typeface="Calibri"/>
            </a:endParaRPr>
          </a:p>
        </p:txBody>
      </p:sp>
      <p:sp>
        <p:nvSpPr>
          <p:cNvPr id="1275" name="Google Shape;1275;p44"/>
          <p:cNvSpPr/>
          <p:nvPr/>
        </p:nvSpPr>
        <p:spPr>
          <a:xfrm>
            <a:off x="457200" y="2322576"/>
            <a:ext cx="4572000" cy="36600"/>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44"/>
          <p:cNvSpPr/>
          <p:nvPr/>
        </p:nvSpPr>
        <p:spPr>
          <a:xfrm>
            <a:off x="457200" y="2450592"/>
            <a:ext cx="45720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300"/>
              <a:buFont typeface="Calibri"/>
              <a:buNone/>
            </a:pPr>
            <a:r>
              <a:rPr b="1" i="0" lang="en-US" sz="1300" u="none" cap="none" strike="noStrike">
                <a:solidFill>
                  <a:srgbClr val="00BCD4"/>
                </a:solidFill>
                <a:latin typeface="Calibri"/>
                <a:ea typeface="Calibri"/>
                <a:cs typeface="Calibri"/>
                <a:sym typeface="Calibri"/>
              </a:rPr>
              <a:t>What you’ll see:</a:t>
            </a:r>
            <a:endParaRPr b="0" i="0" sz="1300" u="none" cap="none" strike="noStrike">
              <a:solidFill>
                <a:schemeClr val="dk1"/>
              </a:solidFill>
              <a:latin typeface="Calibri"/>
              <a:ea typeface="Calibri"/>
              <a:cs typeface="Calibri"/>
              <a:sym typeface="Calibri"/>
            </a:endParaRPr>
          </a:p>
        </p:txBody>
      </p:sp>
      <p:sp>
        <p:nvSpPr>
          <p:cNvPr id="1277" name="Google Shape;1277;p44"/>
          <p:cNvSpPr/>
          <p:nvPr/>
        </p:nvSpPr>
        <p:spPr>
          <a:xfrm>
            <a:off x="457200" y="2761488"/>
            <a:ext cx="36600" cy="292500"/>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44"/>
          <p:cNvSpPr/>
          <p:nvPr/>
        </p:nvSpPr>
        <p:spPr>
          <a:xfrm>
            <a:off x="621792" y="2743200"/>
            <a:ext cx="51207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150"/>
              <a:buFont typeface="Calibri"/>
              <a:buNone/>
            </a:pPr>
            <a:r>
              <a:rPr b="0" i="0" lang="en-US" sz="1150" u="none" cap="none" strike="noStrike">
                <a:solidFill>
                  <a:srgbClr val="ECF0F1"/>
                </a:solidFill>
                <a:latin typeface="Calibri"/>
                <a:ea typeface="Calibri"/>
                <a:cs typeface="Calibri"/>
                <a:sym typeface="Calibri"/>
              </a:rPr>
              <a:t>ZGC vs G1GC GC-pause behaviour under identical pressure — ZGC targets sub-ms pauses by design</a:t>
            </a:r>
            <a:endParaRPr b="0" i="0" sz="1150" u="none" cap="none" strike="noStrike">
              <a:solidFill>
                <a:schemeClr val="dk1"/>
              </a:solidFill>
              <a:latin typeface="Calibri"/>
              <a:ea typeface="Calibri"/>
              <a:cs typeface="Calibri"/>
              <a:sym typeface="Calibri"/>
            </a:endParaRPr>
          </a:p>
        </p:txBody>
      </p:sp>
      <p:sp>
        <p:nvSpPr>
          <p:cNvPr id="1279" name="Google Shape;1279;p44"/>
          <p:cNvSpPr/>
          <p:nvPr/>
        </p:nvSpPr>
        <p:spPr>
          <a:xfrm>
            <a:off x="457200" y="3191256"/>
            <a:ext cx="36600" cy="292500"/>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44"/>
          <p:cNvSpPr/>
          <p:nvPr/>
        </p:nvSpPr>
        <p:spPr>
          <a:xfrm>
            <a:off x="621792" y="3172968"/>
            <a:ext cx="51207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150"/>
              <a:buFont typeface="Calibri"/>
              <a:buNone/>
            </a:pPr>
            <a:r>
              <a:rPr b="0" i="0" lang="en-US" sz="1150" u="none" cap="none" strike="noStrike">
                <a:solidFill>
                  <a:srgbClr val="ECF0F1"/>
                </a:solidFill>
                <a:latin typeface="Calibri"/>
                <a:ea typeface="Calibri"/>
                <a:cs typeface="Calibri"/>
                <a:sym typeface="Calibri"/>
              </a:rPr>
              <a:t>G1GC stop-the-world pauses spiking CPU → HPA false scale-out</a:t>
            </a:r>
            <a:endParaRPr b="0" i="0" sz="1150" u="none" cap="none" strike="noStrike">
              <a:solidFill>
                <a:schemeClr val="dk1"/>
              </a:solidFill>
              <a:latin typeface="Calibri"/>
              <a:ea typeface="Calibri"/>
              <a:cs typeface="Calibri"/>
              <a:sym typeface="Calibri"/>
            </a:endParaRPr>
          </a:p>
        </p:txBody>
      </p:sp>
      <p:sp>
        <p:nvSpPr>
          <p:cNvPr id="1281" name="Google Shape;1281;p44"/>
          <p:cNvSpPr/>
          <p:nvPr/>
        </p:nvSpPr>
        <p:spPr>
          <a:xfrm>
            <a:off x="457200" y="3621024"/>
            <a:ext cx="36600" cy="292500"/>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44"/>
          <p:cNvSpPr/>
          <p:nvPr/>
        </p:nvSpPr>
        <p:spPr>
          <a:xfrm>
            <a:off x="621792" y="3602736"/>
            <a:ext cx="51207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150"/>
              <a:buFont typeface="Calibri"/>
              <a:buNone/>
            </a:pPr>
            <a:r>
              <a:rPr b="0" i="0" lang="en-US" sz="1150" u="none" cap="none" strike="noStrike">
                <a:solidFill>
                  <a:srgbClr val="ECF0F1"/>
                </a:solidFill>
                <a:latin typeface="Calibri"/>
                <a:ea typeface="Calibri"/>
                <a:cs typeface="Calibri"/>
                <a:sym typeface="Calibri"/>
              </a:rPr>
              <a:t>ZGC per-pause STW is sub-ms by design (JFR); the demo's headline is a cumulative pause-delta (allocation stall on a 2-vCPU container), not per-pause STW</a:t>
            </a:r>
            <a:endParaRPr b="0" i="0" sz="1150" u="none" cap="none" strike="noStrike">
              <a:solidFill>
                <a:schemeClr val="dk1"/>
              </a:solidFill>
              <a:latin typeface="Calibri"/>
              <a:ea typeface="Calibri"/>
              <a:cs typeface="Calibri"/>
              <a:sym typeface="Calibri"/>
            </a:endParaRPr>
          </a:p>
        </p:txBody>
      </p:sp>
      <p:sp>
        <p:nvSpPr>
          <p:cNvPr id="1283" name="Google Shape;1283;p44"/>
          <p:cNvSpPr/>
          <p:nvPr/>
        </p:nvSpPr>
        <p:spPr>
          <a:xfrm>
            <a:off x="457200" y="4050792"/>
            <a:ext cx="36600" cy="292500"/>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44"/>
          <p:cNvSpPr/>
          <p:nvPr/>
        </p:nvSpPr>
        <p:spPr>
          <a:xfrm>
            <a:off x="621792" y="4032504"/>
            <a:ext cx="51207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150"/>
              <a:buFont typeface="Calibri"/>
              <a:buNone/>
            </a:pPr>
            <a:r>
              <a:rPr b="0" i="0" lang="en-US" sz="1150" u="none" cap="none" strike="noStrike">
                <a:solidFill>
                  <a:srgbClr val="ECF0F1"/>
                </a:solidFill>
                <a:latin typeface="Calibri"/>
                <a:ea typeface="Calibri"/>
                <a:cs typeface="Calibri"/>
                <a:sym typeface="Calibri"/>
              </a:rPr>
              <a:t>JVM flags for huge pages, CPU isolation, NUMA, and SMT-aware sizing</a:t>
            </a:r>
            <a:endParaRPr b="0" i="0" sz="1150" u="none" cap="none" strike="noStrike">
              <a:solidFill>
                <a:schemeClr val="dk1"/>
              </a:solidFill>
              <a:latin typeface="Calibri"/>
              <a:ea typeface="Calibri"/>
              <a:cs typeface="Calibri"/>
              <a:sym typeface="Calibri"/>
            </a:endParaRPr>
          </a:p>
        </p:txBody>
      </p:sp>
      <p:sp>
        <p:nvSpPr>
          <p:cNvPr id="1285" name="Google Shape;1285;p44"/>
          <p:cNvSpPr/>
          <p:nvPr/>
        </p:nvSpPr>
        <p:spPr>
          <a:xfrm>
            <a:off x="457200" y="4480560"/>
            <a:ext cx="36600" cy="292500"/>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44"/>
          <p:cNvSpPr/>
          <p:nvPr/>
        </p:nvSpPr>
        <p:spPr>
          <a:xfrm>
            <a:off x="621792" y="4462272"/>
            <a:ext cx="51207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150"/>
              <a:buFont typeface="Calibri"/>
              <a:buNone/>
            </a:pPr>
            <a:r>
              <a:rPr b="0" i="0" lang="en-US" sz="1150" u="none" cap="none" strike="noStrike">
                <a:solidFill>
                  <a:srgbClr val="ECF0F1"/>
                </a:solidFill>
                <a:latin typeface="Calibri"/>
                <a:ea typeface="Calibri"/>
                <a:cs typeface="Calibri"/>
                <a:sym typeface="Calibri"/>
              </a:rPr>
              <a:t>OpenShift PerformanceProfile — automate all of this in one CR</a:t>
            </a:r>
            <a:endParaRPr b="0" i="0" sz="1150" u="none" cap="none" strike="noStrike">
              <a:solidFill>
                <a:schemeClr val="dk1"/>
              </a:solidFill>
              <a:latin typeface="Calibri"/>
              <a:ea typeface="Calibri"/>
              <a:cs typeface="Calibri"/>
              <a:sym typeface="Calibri"/>
            </a:endParaRPr>
          </a:p>
        </p:txBody>
      </p:sp>
      <p:sp>
        <p:nvSpPr>
          <p:cNvPr id="1287" name="Google Shape;1287;p44"/>
          <p:cNvSpPr/>
          <p:nvPr/>
        </p:nvSpPr>
        <p:spPr>
          <a:xfrm>
            <a:off x="5989320" y="2450592"/>
            <a:ext cx="2834700" cy="2606100"/>
          </a:xfrm>
          <a:prstGeom prst="rect">
            <a:avLst/>
          </a:prstGeom>
          <a:solidFill>
            <a:srgbClr val="0D2137"/>
          </a:solidFill>
          <a:ln cap="flat" cmpd="sng" w="12700">
            <a:solidFill>
              <a:srgbClr val="1E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44"/>
          <p:cNvSpPr/>
          <p:nvPr/>
        </p:nvSpPr>
        <p:spPr>
          <a:xfrm>
            <a:off x="6126480" y="2542032"/>
            <a:ext cx="2560200" cy="242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CF0F1"/>
              </a:buClr>
              <a:buSzPts val="900"/>
              <a:buFont typeface="Consolas"/>
              <a:buNone/>
            </a:pPr>
            <a:r>
              <a:rPr b="0" i="0" lang="en-US" sz="900" u="none" cap="none" strike="noStrike">
                <a:solidFill>
                  <a:srgbClr val="ECF0F1"/>
                </a:solidFill>
                <a:latin typeface="Consolas"/>
                <a:ea typeface="Consolas"/>
                <a:cs typeface="Consolas"/>
                <a:sym typeface="Consolas"/>
              </a:rPr>
              <a:t># quarkus-demo-06-latency/</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900"/>
              <a:buFont typeface="Consolas"/>
              <a:buNone/>
            </a:pPr>
            <a:r>
              <a:rPr b="0" i="0" lang="en-US" sz="900" u="none" cap="none" strike="noStrike">
                <a:solidFill>
                  <a:srgbClr val="ECF0F1"/>
                </a:solidFill>
                <a:latin typeface="Consolas"/>
                <a:ea typeface="Consolas"/>
                <a:cs typeface="Consolas"/>
                <a:sym typeface="Consolas"/>
              </a:rPr>
              <a:t>./demo.sh</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900"/>
              <a:buFont typeface="Consolas"/>
              <a:buNone/>
            </a:pPr>
            <a:r>
              <a:rPr b="0" i="0" lang="en-US" sz="900" u="none" cap="none" strike="noStrike">
                <a:solidFill>
                  <a:srgbClr val="ECF0F1"/>
                </a:solidFill>
                <a:latin typeface="Consolas"/>
                <a:ea typeface="Consolas"/>
                <a:cs typeface="Consolas"/>
                <a:sym typeface="Consolas"/>
              </a:rPr>
              <a:t># What runs:</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900"/>
              <a:buFont typeface="Consolas"/>
              <a:buNone/>
            </a:pPr>
            <a:r>
              <a:rPr b="0" i="0" lang="en-US" sz="900" u="none" cap="none" strike="noStrike">
                <a:solidFill>
                  <a:srgbClr val="ECF0F1"/>
                </a:solidFill>
                <a:latin typeface="Consolas"/>
                <a:ea typeface="Consolas"/>
                <a:cs typeface="Consolas"/>
                <a:sym typeface="Consolas"/>
              </a:rPr>
              <a:t>#  G1GC app   :8080</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900"/>
              <a:buFont typeface="Consolas"/>
              <a:buNone/>
            </a:pPr>
            <a:r>
              <a:rPr b="0" i="0" lang="en-US" sz="900" u="none" cap="none" strike="noStrike">
                <a:solidFill>
                  <a:srgbClr val="ECF0F1"/>
                </a:solidFill>
                <a:latin typeface="Consolas"/>
                <a:ea typeface="Consolas"/>
                <a:cs typeface="Consolas"/>
                <a:sym typeface="Consolas"/>
              </a:rPr>
              <a:t>#  ZGC app    :8081</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900"/>
              <a:buFont typeface="Consolas"/>
              <a:buNone/>
            </a:pPr>
            <a:r>
              <a:rPr b="0" i="0" lang="en-US" sz="900" u="none" cap="none" strike="noStrike">
                <a:solidFill>
                  <a:srgbClr val="ECF0F1"/>
                </a:solidFill>
                <a:latin typeface="Consolas"/>
                <a:ea typeface="Consolas"/>
                <a:cs typeface="Consolas"/>
                <a:sym typeface="Consolas"/>
              </a:rPr>
              <a:t># Under load, watch:</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900"/>
              <a:buFont typeface="Consolas"/>
              <a:buNone/>
            </a:pPr>
            <a:r>
              <a:rPr b="0" i="0" lang="en-US" sz="900" u="none" cap="none" strike="noStrike">
                <a:solidFill>
                  <a:srgbClr val="ECF0F1"/>
                </a:solidFill>
                <a:latin typeface="Consolas"/>
                <a:ea typeface="Consolas"/>
                <a:cs typeface="Consolas"/>
                <a:sym typeface="Consolas"/>
              </a:rPr>
              <a:t>#  G1GC pauses: 50-200ms</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900"/>
              <a:buFont typeface="Consolas"/>
              <a:buNone/>
            </a:pPr>
            <a:r>
              <a:rPr b="0" i="0" lang="en-US" sz="900" u="none" cap="none" strike="noStrike">
                <a:solidFill>
                  <a:srgbClr val="ECF0F1"/>
                </a:solidFill>
                <a:latin typeface="Consolas"/>
                <a:ea typeface="Consolas"/>
                <a:cs typeface="Consolas"/>
                <a:sym typeface="Consolas"/>
              </a:rPr>
              <a:t>#  ZGC  pauses: sub-ms per-pause STW (JFR, design target)</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900"/>
              <a:buFont typeface="Consolas"/>
              <a:buNone/>
            </a:pPr>
            <a:r>
              <a:rPr b="0" i="0" lang="en-US" sz="900" u="none" cap="none" strike="noStrike">
                <a:solidFill>
                  <a:srgbClr val="ECF0F1"/>
                </a:solidFill>
                <a:latin typeface="Consolas"/>
                <a:ea typeface="Consolas"/>
                <a:cs typeface="Consolas"/>
                <a:sym typeface="Consolas"/>
              </a:rPr>
              <a:t># Same code. Same heap.</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900"/>
              <a:buFont typeface="Consolas"/>
              <a:buNone/>
            </a:pPr>
            <a:r>
              <a:rPr b="0" i="0" lang="en-US" sz="900" u="none" cap="none" strike="noStrike">
                <a:solidFill>
                  <a:srgbClr val="ECF0F1"/>
                </a:solidFill>
                <a:latin typeface="Consolas"/>
                <a:ea typeface="Consolas"/>
                <a:cs typeface="Consolas"/>
                <a:sym typeface="Consolas"/>
              </a:rPr>
              <a:t># Different GC = different</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900"/>
              <a:buFont typeface="Consolas"/>
              <a:buNone/>
            </a:pPr>
            <a:r>
              <a:rPr b="0" i="0" lang="en-US" sz="900" u="none" cap="none" strike="noStrike">
                <a:solidFill>
                  <a:srgbClr val="ECF0F1"/>
                </a:solidFill>
                <a:latin typeface="Consolas"/>
                <a:ea typeface="Consolas"/>
                <a:cs typeface="Consolas"/>
                <a:sym typeface="Consolas"/>
              </a:rPr>
              <a:t># production behaviour.</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293" name="Shape 1293"/>
        <p:cNvGrpSpPr/>
        <p:nvPr/>
      </p:nvGrpSpPr>
      <p:grpSpPr>
        <a:xfrm>
          <a:off x="0" y="0"/>
          <a:ext cx="0" cy="0"/>
          <a:chOff x="0" y="0"/>
          <a:chExt cx="0" cy="0"/>
        </a:xfrm>
      </p:grpSpPr>
      <p:sp>
        <p:nvSpPr>
          <p:cNvPr id="1294" name="Google Shape;1294;p45"/>
          <p:cNvSpPr/>
          <p:nvPr/>
        </p:nvSpPr>
        <p:spPr>
          <a:xfrm>
            <a:off x="0" y="0"/>
            <a:ext cx="9144000" cy="64020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45"/>
          <p:cNvSpPr/>
          <p:nvPr/>
        </p:nvSpPr>
        <p:spPr>
          <a:xfrm>
            <a:off x="320040" y="9144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200"/>
              <a:buFont typeface="Calibri"/>
              <a:buNone/>
            </a:pPr>
            <a:r>
              <a:rPr b="1" i="0" lang="en-US" sz="2200" u="none" cap="none" strike="noStrike">
                <a:solidFill>
                  <a:srgbClr val="00BCD4"/>
                </a:solidFill>
                <a:latin typeface="Calibri"/>
                <a:ea typeface="Calibri"/>
                <a:cs typeface="Calibri"/>
                <a:sym typeface="Calibri"/>
              </a:rPr>
              <a:t>The Over-Provisioning Problem</a:t>
            </a:r>
            <a:endParaRPr b="0" i="0" sz="2200" u="none" cap="none" strike="noStrike">
              <a:solidFill>
                <a:schemeClr val="dk1"/>
              </a:solidFill>
              <a:latin typeface="Calibri"/>
              <a:ea typeface="Calibri"/>
              <a:cs typeface="Calibri"/>
              <a:sym typeface="Calibri"/>
            </a:endParaRPr>
          </a:p>
        </p:txBody>
      </p:sp>
      <p:sp>
        <p:nvSpPr>
          <p:cNvPr id="1296" name="Google Shape;1296;p45"/>
          <p:cNvSpPr/>
          <p:nvPr/>
        </p:nvSpPr>
        <p:spPr>
          <a:xfrm>
            <a:off x="7772400" y="73152"/>
            <a:ext cx="1234500" cy="49380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45"/>
          <p:cNvSpPr/>
          <p:nvPr/>
        </p:nvSpPr>
        <p:spPr>
          <a:xfrm>
            <a:off x="7772400" y="73152"/>
            <a:ext cx="1234500" cy="493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RIGHT-SIZING</a:t>
            </a:r>
            <a:endParaRPr b="0" i="0" sz="1100" u="none" cap="none" strike="noStrike">
              <a:solidFill>
                <a:schemeClr val="dk1"/>
              </a:solidFill>
              <a:latin typeface="Calibri"/>
              <a:ea typeface="Calibri"/>
              <a:cs typeface="Calibri"/>
              <a:sym typeface="Calibri"/>
            </a:endParaRPr>
          </a:p>
        </p:txBody>
      </p:sp>
      <p:sp>
        <p:nvSpPr>
          <p:cNvPr id="1298" name="Google Shape;1298;p45"/>
          <p:cNvSpPr/>
          <p:nvPr/>
        </p:nvSpPr>
        <p:spPr>
          <a:xfrm>
            <a:off x="466350" y="791014"/>
            <a:ext cx="8211300" cy="24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255"/>
              <a:buFont typeface="Calibri"/>
              <a:buNone/>
            </a:pPr>
            <a:r>
              <a:rPr b="1" i="0" lang="en-US" sz="1255" u="none" cap="none" strike="noStrike">
                <a:solidFill>
                  <a:srgbClr val="ECF0F1"/>
                </a:solidFill>
                <a:latin typeface="Calibri"/>
                <a:ea typeface="Calibri"/>
                <a:cs typeface="Calibri"/>
                <a:sym typeface="Calibri"/>
              </a:rPr>
              <a:t>How teams set Java resource requests:</a:t>
            </a:r>
            <a:endParaRPr b="0" i="0" sz="1255" u="none" cap="none" strike="noStrike">
              <a:solidFill>
                <a:schemeClr val="dk1"/>
              </a:solidFill>
              <a:latin typeface="Calibri"/>
              <a:ea typeface="Calibri"/>
              <a:cs typeface="Calibri"/>
              <a:sym typeface="Calibri"/>
            </a:endParaRPr>
          </a:p>
        </p:txBody>
      </p:sp>
      <p:sp>
        <p:nvSpPr>
          <p:cNvPr id="1299" name="Google Shape;1299;p45"/>
          <p:cNvSpPr/>
          <p:nvPr/>
        </p:nvSpPr>
        <p:spPr>
          <a:xfrm>
            <a:off x="466350" y="1100045"/>
            <a:ext cx="2560500" cy="1854300"/>
          </a:xfrm>
          <a:prstGeom prst="rect">
            <a:avLst/>
          </a:prstGeom>
          <a:solidFill>
            <a:srgbClr val="122040"/>
          </a:solidFill>
          <a:ln cap="flat" cmpd="sng" w="18400">
            <a:solidFill>
              <a:srgbClr val="E84855"/>
            </a:solidFill>
            <a:prstDash val="solid"/>
            <a:round/>
            <a:headEnd len="sm" w="sm" type="none"/>
            <a:tailEnd len="sm" w="sm" type="none"/>
          </a:ln>
        </p:spPr>
        <p:txBody>
          <a:bodyPr anchorCtr="0" anchor="ctr" bIns="88275" lIns="88275" spcFirstLastPara="1" rIns="88275" wrap="square" tIns="88275">
            <a:noAutofit/>
          </a:bodyPr>
          <a:lstStyle/>
          <a:p>
            <a:pPr indent="0" lvl="0" marL="0" rtl="0" algn="l">
              <a:spcBef>
                <a:spcPts val="0"/>
              </a:spcBef>
              <a:spcAft>
                <a:spcPts val="0"/>
              </a:spcAft>
              <a:buNone/>
            </a:pPr>
            <a:r>
              <a:t/>
            </a:r>
            <a:endParaRPr/>
          </a:p>
        </p:txBody>
      </p:sp>
      <p:sp>
        <p:nvSpPr>
          <p:cNvPr id="1300" name="Google Shape;1300;p45"/>
          <p:cNvSpPr/>
          <p:nvPr/>
        </p:nvSpPr>
        <p:spPr>
          <a:xfrm>
            <a:off x="466350" y="1100045"/>
            <a:ext cx="2560500" cy="335400"/>
          </a:xfrm>
          <a:prstGeom prst="rect">
            <a:avLst/>
          </a:prstGeom>
          <a:solidFill>
            <a:srgbClr val="E84855"/>
          </a:solidFill>
          <a:ln>
            <a:noFill/>
          </a:ln>
        </p:spPr>
        <p:txBody>
          <a:bodyPr anchorCtr="0" anchor="ctr" bIns="88275" lIns="88275" spcFirstLastPara="1" rIns="88275" wrap="square" tIns="88275">
            <a:noAutofit/>
          </a:bodyPr>
          <a:lstStyle/>
          <a:p>
            <a:pPr indent="0" lvl="0" marL="0" rtl="0" algn="l">
              <a:spcBef>
                <a:spcPts val="0"/>
              </a:spcBef>
              <a:spcAft>
                <a:spcPts val="0"/>
              </a:spcAft>
              <a:buNone/>
            </a:pPr>
            <a:r>
              <a:t/>
            </a:r>
            <a:endParaRPr/>
          </a:p>
        </p:txBody>
      </p:sp>
      <p:sp>
        <p:nvSpPr>
          <p:cNvPr id="1301" name="Google Shape;1301;p45"/>
          <p:cNvSpPr/>
          <p:nvPr/>
        </p:nvSpPr>
        <p:spPr>
          <a:xfrm>
            <a:off x="466350" y="1100045"/>
            <a:ext cx="2560500" cy="33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62"/>
              <a:buFont typeface="Calibri"/>
              <a:buNone/>
            </a:pPr>
            <a:r>
              <a:rPr b="1" i="0" lang="en-US" sz="1062" u="none" cap="none" strike="noStrike">
                <a:solidFill>
                  <a:srgbClr val="FFFFFF"/>
                </a:solidFill>
                <a:latin typeface="Calibri"/>
                <a:ea typeface="Calibri"/>
                <a:cs typeface="Calibri"/>
                <a:sym typeface="Calibri"/>
              </a:rPr>
              <a:t>Step 1</a:t>
            </a:r>
            <a:endParaRPr b="0" i="0" sz="1062" u="none" cap="none" strike="noStrike">
              <a:solidFill>
                <a:schemeClr val="dk1"/>
              </a:solidFill>
              <a:latin typeface="Calibri"/>
              <a:ea typeface="Calibri"/>
              <a:cs typeface="Calibri"/>
              <a:sym typeface="Calibri"/>
            </a:endParaRPr>
          </a:p>
        </p:txBody>
      </p:sp>
      <p:sp>
        <p:nvSpPr>
          <p:cNvPr id="1302" name="Google Shape;1302;p45"/>
          <p:cNvSpPr/>
          <p:nvPr/>
        </p:nvSpPr>
        <p:spPr>
          <a:xfrm>
            <a:off x="554644" y="1497369"/>
            <a:ext cx="2384100" cy="282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62"/>
              <a:buFont typeface="Calibri"/>
              <a:buNone/>
            </a:pPr>
            <a:r>
              <a:rPr b="1" i="0" lang="en-US" sz="1062" u="none" cap="none" strike="noStrike">
                <a:solidFill>
                  <a:srgbClr val="ECF0F1"/>
                </a:solidFill>
                <a:latin typeface="Calibri"/>
                <a:ea typeface="Calibri"/>
                <a:cs typeface="Calibri"/>
                <a:sym typeface="Calibri"/>
              </a:rPr>
              <a:t>Set Xmx = 2GB</a:t>
            </a:r>
            <a:endParaRPr b="0" i="0" sz="1062" u="none" cap="none" strike="noStrike">
              <a:solidFill>
                <a:schemeClr val="dk1"/>
              </a:solidFill>
              <a:latin typeface="Calibri"/>
              <a:ea typeface="Calibri"/>
              <a:cs typeface="Calibri"/>
              <a:sym typeface="Calibri"/>
            </a:endParaRPr>
          </a:p>
        </p:txBody>
      </p:sp>
      <p:sp>
        <p:nvSpPr>
          <p:cNvPr id="1303" name="Google Shape;1303;p45"/>
          <p:cNvSpPr/>
          <p:nvPr/>
        </p:nvSpPr>
        <p:spPr>
          <a:xfrm>
            <a:off x="554644" y="1788741"/>
            <a:ext cx="2384100" cy="24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66"/>
              <a:buFont typeface="Calibri"/>
              <a:buNone/>
            </a:pPr>
            <a:r>
              <a:rPr b="0" i="0" lang="en-US" sz="966" u="none" cap="none" strike="noStrike">
                <a:solidFill>
                  <a:srgbClr val="90A4AE"/>
                </a:solidFill>
                <a:latin typeface="Calibri"/>
                <a:ea typeface="Calibri"/>
                <a:cs typeface="Calibri"/>
                <a:sym typeface="Calibri"/>
              </a:rPr>
              <a:t>Add 50% safety buffer</a:t>
            </a:r>
            <a:endParaRPr b="0" i="0" sz="966" u="none" cap="none" strike="noStrike">
              <a:solidFill>
                <a:schemeClr val="dk1"/>
              </a:solidFill>
              <a:latin typeface="Calibri"/>
              <a:ea typeface="Calibri"/>
              <a:cs typeface="Calibri"/>
              <a:sym typeface="Calibri"/>
            </a:endParaRPr>
          </a:p>
        </p:txBody>
      </p:sp>
      <p:sp>
        <p:nvSpPr>
          <p:cNvPr id="1304" name="Google Shape;1304;p45"/>
          <p:cNvSpPr/>
          <p:nvPr/>
        </p:nvSpPr>
        <p:spPr>
          <a:xfrm>
            <a:off x="554644" y="2265530"/>
            <a:ext cx="2384100" cy="49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A623"/>
              </a:buClr>
              <a:buSzPts val="966"/>
              <a:buFont typeface="Calibri"/>
              <a:buNone/>
            </a:pPr>
            <a:r>
              <a:rPr b="0" i="1" lang="en-US" sz="966" u="none" cap="none" strike="noStrike">
                <a:solidFill>
                  <a:srgbClr val="F5A623"/>
                </a:solidFill>
                <a:latin typeface="Calibri"/>
                <a:ea typeface="Calibri"/>
                <a:cs typeface="Calibri"/>
                <a:sym typeface="Calibri"/>
              </a:rPr>
              <a:t>→ Memory request = 3GB</a:t>
            </a:r>
            <a:endParaRPr b="0" i="0" sz="966" u="none" cap="none" strike="noStrike">
              <a:solidFill>
                <a:schemeClr val="dk1"/>
              </a:solidFill>
              <a:latin typeface="Calibri"/>
              <a:ea typeface="Calibri"/>
              <a:cs typeface="Calibri"/>
              <a:sym typeface="Calibri"/>
            </a:endParaRPr>
          </a:p>
        </p:txBody>
      </p:sp>
      <p:sp>
        <p:nvSpPr>
          <p:cNvPr id="1305" name="Google Shape;1305;p45"/>
          <p:cNvSpPr/>
          <p:nvPr/>
        </p:nvSpPr>
        <p:spPr>
          <a:xfrm>
            <a:off x="3247627" y="1100045"/>
            <a:ext cx="2560500" cy="1854300"/>
          </a:xfrm>
          <a:prstGeom prst="rect">
            <a:avLst/>
          </a:prstGeom>
          <a:solidFill>
            <a:srgbClr val="122040"/>
          </a:solidFill>
          <a:ln cap="flat" cmpd="sng" w="18400">
            <a:solidFill>
              <a:srgbClr val="E84855"/>
            </a:solidFill>
            <a:prstDash val="solid"/>
            <a:round/>
            <a:headEnd len="sm" w="sm" type="none"/>
            <a:tailEnd len="sm" w="sm" type="none"/>
          </a:ln>
        </p:spPr>
        <p:txBody>
          <a:bodyPr anchorCtr="0" anchor="ctr" bIns="88275" lIns="88275" spcFirstLastPara="1" rIns="88275" wrap="square" tIns="88275">
            <a:noAutofit/>
          </a:bodyPr>
          <a:lstStyle/>
          <a:p>
            <a:pPr indent="0" lvl="0" marL="0" rtl="0" algn="l">
              <a:spcBef>
                <a:spcPts val="0"/>
              </a:spcBef>
              <a:spcAft>
                <a:spcPts val="0"/>
              </a:spcAft>
              <a:buNone/>
            </a:pPr>
            <a:r>
              <a:t/>
            </a:r>
            <a:endParaRPr/>
          </a:p>
        </p:txBody>
      </p:sp>
      <p:sp>
        <p:nvSpPr>
          <p:cNvPr id="1306" name="Google Shape;1306;p45"/>
          <p:cNvSpPr/>
          <p:nvPr/>
        </p:nvSpPr>
        <p:spPr>
          <a:xfrm>
            <a:off x="3247627" y="1100045"/>
            <a:ext cx="2560500" cy="335400"/>
          </a:xfrm>
          <a:prstGeom prst="rect">
            <a:avLst/>
          </a:prstGeom>
          <a:solidFill>
            <a:srgbClr val="E84855"/>
          </a:solidFill>
          <a:ln>
            <a:noFill/>
          </a:ln>
        </p:spPr>
        <p:txBody>
          <a:bodyPr anchorCtr="0" anchor="ctr" bIns="88275" lIns="88275" spcFirstLastPara="1" rIns="88275" wrap="square" tIns="88275">
            <a:noAutofit/>
          </a:bodyPr>
          <a:lstStyle/>
          <a:p>
            <a:pPr indent="0" lvl="0" marL="0" rtl="0" algn="l">
              <a:spcBef>
                <a:spcPts val="0"/>
              </a:spcBef>
              <a:spcAft>
                <a:spcPts val="0"/>
              </a:spcAft>
              <a:buNone/>
            </a:pPr>
            <a:r>
              <a:t/>
            </a:r>
            <a:endParaRPr/>
          </a:p>
        </p:txBody>
      </p:sp>
      <p:sp>
        <p:nvSpPr>
          <p:cNvPr id="1307" name="Google Shape;1307;p45"/>
          <p:cNvSpPr/>
          <p:nvPr/>
        </p:nvSpPr>
        <p:spPr>
          <a:xfrm>
            <a:off x="3247627" y="1100045"/>
            <a:ext cx="2560500" cy="33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62"/>
              <a:buFont typeface="Calibri"/>
              <a:buNone/>
            </a:pPr>
            <a:r>
              <a:rPr b="1" i="0" lang="en-US" sz="1062" u="none" cap="none" strike="noStrike">
                <a:solidFill>
                  <a:srgbClr val="FFFFFF"/>
                </a:solidFill>
                <a:latin typeface="Calibri"/>
                <a:ea typeface="Calibri"/>
                <a:cs typeface="Calibri"/>
                <a:sym typeface="Calibri"/>
              </a:rPr>
              <a:t>Step 2</a:t>
            </a:r>
            <a:endParaRPr b="0" i="0" sz="1062" u="none" cap="none" strike="noStrike">
              <a:solidFill>
                <a:schemeClr val="dk1"/>
              </a:solidFill>
              <a:latin typeface="Calibri"/>
              <a:ea typeface="Calibri"/>
              <a:cs typeface="Calibri"/>
              <a:sym typeface="Calibri"/>
            </a:endParaRPr>
          </a:p>
        </p:txBody>
      </p:sp>
      <p:sp>
        <p:nvSpPr>
          <p:cNvPr id="1308" name="Google Shape;1308;p45"/>
          <p:cNvSpPr/>
          <p:nvPr/>
        </p:nvSpPr>
        <p:spPr>
          <a:xfrm>
            <a:off x="3335922" y="1497369"/>
            <a:ext cx="2384100" cy="282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62"/>
              <a:buFont typeface="Calibri"/>
              <a:buNone/>
            </a:pPr>
            <a:r>
              <a:rPr b="1" i="0" lang="en-US" sz="1062" u="none" cap="none" strike="noStrike">
                <a:solidFill>
                  <a:srgbClr val="ECF0F1"/>
                </a:solidFill>
                <a:latin typeface="Calibri"/>
                <a:ea typeface="Calibri"/>
                <a:cs typeface="Calibri"/>
                <a:sym typeface="Calibri"/>
              </a:rPr>
              <a:t>See GC CPU spike once</a:t>
            </a:r>
            <a:endParaRPr b="0" i="0" sz="1062" u="none" cap="none" strike="noStrike">
              <a:solidFill>
                <a:schemeClr val="dk1"/>
              </a:solidFill>
              <a:latin typeface="Calibri"/>
              <a:ea typeface="Calibri"/>
              <a:cs typeface="Calibri"/>
              <a:sym typeface="Calibri"/>
            </a:endParaRPr>
          </a:p>
        </p:txBody>
      </p:sp>
      <p:sp>
        <p:nvSpPr>
          <p:cNvPr id="1309" name="Google Shape;1309;p45"/>
          <p:cNvSpPr/>
          <p:nvPr/>
        </p:nvSpPr>
        <p:spPr>
          <a:xfrm>
            <a:off x="3335922" y="1788741"/>
            <a:ext cx="2384100" cy="24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66"/>
              <a:buFont typeface="Calibri"/>
              <a:buNone/>
            </a:pPr>
            <a:r>
              <a:rPr b="0" i="0" lang="en-US" sz="966" u="none" cap="none" strike="noStrike">
                <a:solidFill>
                  <a:srgbClr val="90A4AE"/>
                </a:solidFill>
                <a:latin typeface="Calibri"/>
                <a:ea typeface="Calibri"/>
                <a:cs typeface="Calibri"/>
                <a:sym typeface="Calibri"/>
              </a:rPr>
              <a:t>Set CPU to spike peak</a:t>
            </a:r>
            <a:endParaRPr b="0" i="0" sz="966" u="none" cap="none" strike="noStrike">
              <a:solidFill>
                <a:schemeClr val="dk1"/>
              </a:solidFill>
              <a:latin typeface="Calibri"/>
              <a:ea typeface="Calibri"/>
              <a:cs typeface="Calibri"/>
              <a:sym typeface="Calibri"/>
            </a:endParaRPr>
          </a:p>
        </p:txBody>
      </p:sp>
      <p:sp>
        <p:nvSpPr>
          <p:cNvPr id="1310" name="Google Shape;1310;p45"/>
          <p:cNvSpPr/>
          <p:nvPr/>
        </p:nvSpPr>
        <p:spPr>
          <a:xfrm>
            <a:off x="3335922" y="2265530"/>
            <a:ext cx="2384100" cy="49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A623"/>
              </a:buClr>
              <a:buSzPts val="966"/>
              <a:buFont typeface="Calibri"/>
              <a:buNone/>
            </a:pPr>
            <a:r>
              <a:rPr b="0" i="1" lang="en-US" sz="966" u="none" cap="none" strike="noStrike">
                <a:solidFill>
                  <a:srgbClr val="F5A623"/>
                </a:solidFill>
                <a:latin typeface="Calibri"/>
                <a:ea typeface="Calibri"/>
                <a:cs typeface="Calibri"/>
                <a:sym typeface="Calibri"/>
              </a:rPr>
              <a:t>→ Pays that cost forever</a:t>
            </a:r>
            <a:endParaRPr b="0" i="0" sz="966" u="none" cap="none" strike="noStrike">
              <a:solidFill>
                <a:schemeClr val="dk1"/>
              </a:solidFill>
              <a:latin typeface="Calibri"/>
              <a:ea typeface="Calibri"/>
              <a:cs typeface="Calibri"/>
              <a:sym typeface="Calibri"/>
            </a:endParaRPr>
          </a:p>
        </p:txBody>
      </p:sp>
      <p:sp>
        <p:nvSpPr>
          <p:cNvPr id="1311" name="Google Shape;1311;p45"/>
          <p:cNvSpPr/>
          <p:nvPr/>
        </p:nvSpPr>
        <p:spPr>
          <a:xfrm>
            <a:off x="6028905" y="1100045"/>
            <a:ext cx="2560500" cy="1854300"/>
          </a:xfrm>
          <a:prstGeom prst="rect">
            <a:avLst/>
          </a:prstGeom>
          <a:solidFill>
            <a:srgbClr val="122040"/>
          </a:solidFill>
          <a:ln cap="flat" cmpd="sng" w="18400">
            <a:solidFill>
              <a:srgbClr val="E84855"/>
            </a:solidFill>
            <a:prstDash val="solid"/>
            <a:round/>
            <a:headEnd len="sm" w="sm" type="none"/>
            <a:tailEnd len="sm" w="sm" type="none"/>
          </a:ln>
        </p:spPr>
        <p:txBody>
          <a:bodyPr anchorCtr="0" anchor="ctr" bIns="88275" lIns="88275" spcFirstLastPara="1" rIns="88275" wrap="square" tIns="88275">
            <a:noAutofit/>
          </a:bodyPr>
          <a:lstStyle/>
          <a:p>
            <a:pPr indent="0" lvl="0" marL="0" rtl="0" algn="l">
              <a:spcBef>
                <a:spcPts val="0"/>
              </a:spcBef>
              <a:spcAft>
                <a:spcPts val="0"/>
              </a:spcAft>
              <a:buNone/>
            </a:pPr>
            <a:r>
              <a:t/>
            </a:r>
            <a:endParaRPr/>
          </a:p>
        </p:txBody>
      </p:sp>
      <p:sp>
        <p:nvSpPr>
          <p:cNvPr id="1312" name="Google Shape;1312;p45"/>
          <p:cNvSpPr/>
          <p:nvPr/>
        </p:nvSpPr>
        <p:spPr>
          <a:xfrm>
            <a:off x="6028905" y="1100045"/>
            <a:ext cx="2560500" cy="335400"/>
          </a:xfrm>
          <a:prstGeom prst="rect">
            <a:avLst/>
          </a:prstGeom>
          <a:solidFill>
            <a:srgbClr val="E84855"/>
          </a:solidFill>
          <a:ln>
            <a:noFill/>
          </a:ln>
        </p:spPr>
        <p:txBody>
          <a:bodyPr anchorCtr="0" anchor="ctr" bIns="88275" lIns="88275" spcFirstLastPara="1" rIns="88275" wrap="square" tIns="88275">
            <a:noAutofit/>
          </a:bodyPr>
          <a:lstStyle/>
          <a:p>
            <a:pPr indent="0" lvl="0" marL="0" rtl="0" algn="l">
              <a:spcBef>
                <a:spcPts val="0"/>
              </a:spcBef>
              <a:spcAft>
                <a:spcPts val="0"/>
              </a:spcAft>
              <a:buNone/>
            </a:pPr>
            <a:r>
              <a:t/>
            </a:r>
            <a:endParaRPr/>
          </a:p>
        </p:txBody>
      </p:sp>
      <p:sp>
        <p:nvSpPr>
          <p:cNvPr id="1313" name="Google Shape;1313;p45"/>
          <p:cNvSpPr/>
          <p:nvPr/>
        </p:nvSpPr>
        <p:spPr>
          <a:xfrm>
            <a:off x="6028905" y="1100045"/>
            <a:ext cx="2560500" cy="33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62"/>
              <a:buFont typeface="Calibri"/>
              <a:buNone/>
            </a:pPr>
            <a:r>
              <a:rPr b="1" i="0" lang="en-US" sz="1062" u="none" cap="none" strike="noStrike">
                <a:solidFill>
                  <a:srgbClr val="FFFFFF"/>
                </a:solidFill>
                <a:latin typeface="Calibri"/>
                <a:ea typeface="Calibri"/>
                <a:cs typeface="Calibri"/>
                <a:sym typeface="Calibri"/>
              </a:rPr>
              <a:t>Step 3</a:t>
            </a:r>
            <a:endParaRPr b="0" i="0" sz="1062" u="none" cap="none" strike="noStrike">
              <a:solidFill>
                <a:schemeClr val="dk1"/>
              </a:solidFill>
              <a:latin typeface="Calibri"/>
              <a:ea typeface="Calibri"/>
              <a:cs typeface="Calibri"/>
              <a:sym typeface="Calibri"/>
            </a:endParaRPr>
          </a:p>
        </p:txBody>
      </p:sp>
      <p:sp>
        <p:nvSpPr>
          <p:cNvPr id="1314" name="Google Shape;1314;p45"/>
          <p:cNvSpPr/>
          <p:nvPr/>
        </p:nvSpPr>
        <p:spPr>
          <a:xfrm>
            <a:off x="6117199" y="1497369"/>
            <a:ext cx="2384100" cy="282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62"/>
              <a:buFont typeface="Calibri"/>
              <a:buNone/>
            </a:pPr>
            <a:r>
              <a:rPr b="1" i="0" lang="en-US" sz="1062" u="none" cap="none" strike="noStrike">
                <a:solidFill>
                  <a:srgbClr val="ECF0F1"/>
                </a:solidFill>
                <a:latin typeface="Calibri"/>
                <a:ea typeface="Calibri"/>
                <a:cs typeface="Calibri"/>
                <a:sym typeface="Calibri"/>
              </a:rPr>
              <a:t>Fear OOMKill from last incident</a:t>
            </a:r>
            <a:endParaRPr b="0" i="0" sz="1062" u="none" cap="none" strike="noStrike">
              <a:solidFill>
                <a:schemeClr val="dk1"/>
              </a:solidFill>
              <a:latin typeface="Calibri"/>
              <a:ea typeface="Calibri"/>
              <a:cs typeface="Calibri"/>
              <a:sym typeface="Calibri"/>
            </a:endParaRPr>
          </a:p>
        </p:txBody>
      </p:sp>
      <p:sp>
        <p:nvSpPr>
          <p:cNvPr id="1315" name="Google Shape;1315;p45"/>
          <p:cNvSpPr/>
          <p:nvPr/>
        </p:nvSpPr>
        <p:spPr>
          <a:xfrm>
            <a:off x="6117199" y="1788741"/>
            <a:ext cx="2384100" cy="24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66"/>
              <a:buFont typeface="Calibri"/>
              <a:buNone/>
            </a:pPr>
            <a:r>
              <a:rPr b="0" i="0" lang="en-US" sz="966" u="none" cap="none" strike="noStrike">
                <a:solidFill>
                  <a:srgbClr val="90A4AE"/>
                </a:solidFill>
                <a:latin typeface="Calibri"/>
                <a:ea typeface="Calibri"/>
                <a:cs typeface="Calibri"/>
                <a:sym typeface="Calibri"/>
              </a:rPr>
              <a:t>Double all numbers</a:t>
            </a:r>
            <a:endParaRPr b="0" i="0" sz="966" u="none" cap="none" strike="noStrike">
              <a:solidFill>
                <a:schemeClr val="dk1"/>
              </a:solidFill>
              <a:latin typeface="Calibri"/>
              <a:ea typeface="Calibri"/>
              <a:cs typeface="Calibri"/>
              <a:sym typeface="Calibri"/>
            </a:endParaRPr>
          </a:p>
        </p:txBody>
      </p:sp>
      <p:sp>
        <p:nvSpPr>
          <p:cNvPr id="1316" name="Google Shape;1316;p45"/>
          <p:cNvSpPr/>
          <p:nvPr/>
        </p:nvSpPr>
        <p:spPr>
          <a:xfrm>
            <a:off x="6117199" y="2265530"/>
            <a:ext cx="2384100" cy="49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A623"/>
              </a:buClr>
              <a:buSzPts val="966"/>
              <a:buFont typeface="Calibri"/>
              <a:buNone/>
            </a:pPr>
            <a:r>
              <a:rPr b="0" i="1" lang="en-US" sz="966" u="none" cap="none" strike="noStrike">
                <a:solidFill>
                  <a:srgbClr val="F5A623"/>
                </a:solidFill>
                <a:latin typeface="Calibri"/>
                <a:ea typeface="Calibri"/>
                <a:cs typeface="Calibri"/>
                <a:sym typeface="Calibri"/>
              </a:rPr>
              <a:t>→ Never revisit</a:t>
            </a:r>
            <a:endParaRPr b="0" i="0" sz="966" u="none" cap="none" strike="noStrike">
              <a:solidFill>
                <a:schemeClr val="dk1"/>
              </a:solidFill>
              <a:latin typeface="Calibri"/>
              <a:ea typeface="Calibri"/>
              <a:cs typeface="Calibri"/>
              <a:sym typeface="Calibri"/>
            </a:endParaRPr>
          </a:p>
        </p:txBody>
      </p:sp>
      <p:sp>
        <p:nvSpPr>
          <p:cNvPr id="1317" name="Google Shape;1317;p45"/>
          <p:cNvSpPr/>
          <p:nvPr/>
        </p:nvSpPr>
        <p:spPr>
          <a:xfrm>
            <a:off x="466350" y="3060180"/>
            <a:ext cx="8211300" cy="53100"/>
          </a:xfrm>
          <a:prstGeom prst="rect">
            <a:avLst/>
          </a:prstGeom>
          <a:solidFill>
            <a:srgbClr val="E84855"/>
          </a:solidFill>
          <a:ln>
            <a:noFill/>
          </a:ln>
        </p:spPr>
        <p:txBody>
          <a:bodyPr anchorCtr="0" anchor="ctr" bIns="88275" lIns="88275" spcFirstLastPara="1" rIns="88275" wrap="square" tIns="88275">
            <a:noAutofit/>
          </a:bodyPr>
          <a:lstStyle/>
          <a:p>
            <a:pPr indent="0" lvl="0" marL="0" rtl="0" algn="l">
              <a:spcBef>
                <a:spcPts val="0"/>
              </a:spcBef>
              <a:spcAft>
                <a:spcPts val="0"/>
              </a:spcAft>
              <a:buNone/>
            </a:pPr>
            <a:r>
              <a:t/>
            </a:r>
            <a:endParaRPr/>
          </a:p>
        </p:txBody>
      </p:sp>
      <p:sp>
        <p:nvSpPr>
          <p:cNvPr id="1318" name="Google Shape;1318;p45"/>
          <p:cNvSpPr/>
          <p:nvPr/>
        </p:nvSpPr>
        <p:spPr>
          <a:xfrm>
            <a:off x="466350" y="3174963"/>
            <a:ext cx="8211300" cy="229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159"/>
              <a:buFont typeface="Calibri"/>
              <a:buNone/>
            </a:pPr>
            <a:r>
              <a:rPr b="1" i="0" lang="en-US" sz="1159" u="none" cap="none" strike="noStrike">
                <a:solidFill>
                  <a:srgbClr val="ECF0F1"/>
                </a:solidFill>
                <a:latin typeface="Calibri"/>
                <a:ea typeface="Calibri"/>
                <a:cs typeface="Calibri"/>
                <a:sym typeface="Calibri"/>
              </a:rPr>
              <a:t>The result after 12 months:</a:t>
            </a:r>
            <a:endParaRPr b="0" i="0" sz="1159" u="none" cap="none" strike="noStrike">
              <a:solidFill>
                <a:schemeClr val="dk1"/>
              </a:solidFill>
              <a:latin typeface="Calibri"/>
              <a:ea typeface="Calibri"/>
              <a:cs typeface="Calibri"/>
              <a:sym typeface="Calibri"/>
            </a:endParaRPr>
          </a:p>
        </p:txBody>
      </p:sp>
      <p:sp>
        <p:nvSpPr>
          <p:cNvPr id="1319" name="Google Shape;1319;p45"/>
          <p:cNvSpPr/>
          <p:nvPr/>
        </p:nvSpPr>
        <p:spPr>
          <a:xfrm>
            <a:off x="466350" y="3466334"/>
            <a:ext cx="1854300" cy="1518900"/>
          </a:xfrm>
          <a:prstGeom prst="rect">
            <a:avLst/>
          </a:prstGeom>
          <a:solidFill>
            <a:srgbClr val="122040"/>
          </a:solidFill>
          <a:ln cap="flat" cmpd="sng" w="18400">
            <a:solidFill>
              <a:srgbClr val="F5A623"/>
            </a:solidFill>
            <a:prstDash val="solid"/>
            <a:round/>
            <a:headEnd len="sm" w="sm" type="none"/>
            <a:tailEnd len="sm" w="sm" type="none"/>
          </a:ln>
        </p:spPr>
        <p:txBody>
          <a:bodyPr anchorCtr="0" anchor="ctr" bIns="88275" lIns="88275" spcFirstLastPara="1" rIns="88275" wrap="square" tIns="88275">
            <a:noAutofit/>
          </a:bodyPr>
          <a:lstStyle/>
          <a:p>
            <a:pPr indent="0" lvl="0" marL="0" rtl="0" algn="l">
              <a:spcBef>
                <a:spcPts val="0"/>
              </a:spcBef>
              <a:spcAft>
                <a:spcPts val="0"/>
              </a:spcAft>
              <a:buNone/>
            </a:pPr>
            <a:r>
              <a:t/>
            </a:r>
            <a:endParaRPr/>
          </a:p>
        </p:txBody>
      </p:sp>
      <p:sp>
        <p:nvSpPr>
          <p:cNvPr id="1320" name="Google Shape;1320;p45"/>
          <p:cNvSpPr/>
          <p:nvPr/>
        </p:nvSpPr>
        <p:spPr>
          <a:xfrm>
            <a:off x="466350" y="3528140"/>
            <a:ext cx="1854300" cy="49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A623"/>
              </a:buClr>
              <a:buSzPts val="2511"/>
              <a:buFont typeface="Calibri"/>
              <a:buNone/>
            </a:pPr>
            <a:r>
              <a:rPr b="1" i="0" lang="en-US" sz="2511" u="none" cap="none" strike="noStrike">
                <a:solidFill>
                  <a:srgbClr val="F5A623"/>
                </a:solidFill>
                <a:latin typeface="Calibri"/>
                <a:ea typeface="Calibri"/>
                <a:cs typeface="Calibri"/>
                <a:sym typeface="Calibri"/>
              </a:rPr>
              <a:t>40-60%</a:t>
            </a:r>
            <a:endParaRPr b="0" i="0" sz="2511" u="none" cap="none" strike="noStrike">
              <a:solidFill>
                <a:schemeClr val="dk1"/>
              </a:solidFill>
              <a:latin typeface="Calibri"/>
              <a:ea typeface="Calibri"/>
              <a:cs typeface="Calibri"/>
              <a:sym typeface="Calibri"/>
            </a:endParaRPr>
          </a:p>
        </p:txBody>
      </p:sp>
      <p:sp>
        <p:nvSpPr>
          <p:cNvPr id="1321" name="Google Shape;1321;p45"/>
          <p:cNvSpPr/>
          <p:nvPr/>
        </p:nvSpPr>
        <p:spPr>
          <a:xfrm>
            <a:off x="536985" y="4031418"/>
            <a:ext cx="1713000" cy="24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66"/>
              <a:buFont typeface="Calibri"/>
              <a:buNone/>
            </a:pPr>
            <a:r>
              <a:rPr b="1" i="0" lang="en-US" sz="966" u="none" cap="none" strike="noStrike">
                <a:solidFill>
                  <a:srgbClr val="ECF0F1"/>
                </a:solidFill>
                <a:latin typeface="Calibri"/>
                <a:ea typeface="Calibri"/>
                <a:cs typeface="Calibri"/>
                <a:sym typeface="Calibri"/>
              </a:rPr>
              <a:t>Memory wasted</a:t>
            </a:r>
            <a:endParaRPr b="0" i="0" sz="966" u="none" cap="none" strike="noStrike">
              <a:solidFill>
                <a:schemeClr val="dk1"/>
              </a:solidFill>
              <a:latin typeface="Calibri"/>
              <a:ea typeface="Calibri"/>
              <a:cs typeface="Calibri"/>
              <a:sym typeface="Calibri"/>
            </a:endParaRPr>
          </a:p>
        </p:txBody>
      </p:sp>
      <p:sp>
        <p:nvSpPr>
          <p:cNvPr id="1322" name="Google Shape;1322;p45"/>
          <p:cNvSpPr/>
          <p:nvPr/>
        </p:nvSpPr>
        <p:spPr>
          <a:xfrm>
            <a:off x="393192" y="4407408"/>
            <a:ext cx="1773900" cy="51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0A4AE"/>
              </a:buClr>
              <a:buSzPts val="900"/>
              <a:buFont typeface="Calibri"/>
              <a:buNone/>
            </a:pPr>
            <a:r>
              <a:rPr b="0" i="0" lang="en-US" sz="900" u="none" cap="none" strike="noStrike">
                <a:solidFill>
                  <a:srgbClr val="90A4AE"/>
                </a:solidFill>
                <a:latin typeface="Calibri"/>
                <a:ea typeface="Calibri"/>
                <a:cs typeface="Calibri"/>
                <a:sym typeface="Calibri"/>
              </a:rPr>
              <a:t>requested but never used</a:t>
            </a:r>
            <a:endParaRPr b="0" i="0" sz="900" u="none" cap="none" strike="noStrike">
              <a:solidFill>
                <a:schemeClr val="dk1"/>
              </a:solidFill>
              <a:latin typeface="Calibri"/>
              <a:ea typeface="Calibri"/>
              <a:cs typeface="Calibri"/>
              <a:sym typeface="Calibri"/>
            </a:endParaRPr>
          </a:p>
        </p:txBody>
      </p:sp>
      <p:sp>
        <p:nvSpPr>
          <p:cNvPr id="1323" name="Google Shape;1323;p45"/>
          <p:cNvSpPr/>
          <p:nvPr/>
        </p:nvSpPr>
        <p:spPr>
          <a:xfrm>
            <a:off x="2514783" y="3466334"/>
            <a:ext cx="1854300" cy="1518900"/>
          </a:xfrm>
          <a:prstGeom prst="rect">
            <a:avLst/>
          </a:prstGeom>
          <a:solidFill>
            <a:srgbClr val="122040"/>
          </a:solidFill>
          <a:ln cap="flat" cmpd="sng" w="18400">
            <a:solidFill>
              <a:srgbClr val="F5A623"/>
            </a:solidFill>
            <a:prstDash val="solid"/>
            <a:round/>
            <a:headEnd len="sm" w="sm" type="none"/>
            <a:tailEnd len="sm" w="sm" type="none"/>
          </a:ln>
        </p:spPr>
        <p:txBody>
          <a:bodyPr anchorCtr="0" anchor="ctr" bIns="88275" lIns="88275" spcFirstLastPara="1" rIns="88275" wrap="square" tIns="88275">
            <a:noAutofit/>
          </a:bodyPr>
          <a:lstStyle/>
          <a:p>
            <a:pPr indent="0" lvl="0" marL="0" rtl="0" algn="l">
              <a:spcBef>
                <a:spcPts val="0"/>
              </a:spcBef>
              <a:spcAft>
                <a:spcPts val="0"/>
              </a:spcAft>
              <a:buNone/>
            </a:pPr>
            <a:r>
              <a:t/>
            </a:r>
            <a:endParaRPr/>
          </a:p>
        </p:txBody>
      </p:sp>
      <p:sp>
        <p:nvSpPr>
          <p:cNvPr id="1324" name="Google Shape;1324;p45"/>
          <p:cNvSpPr/>
          <p:nvPr/>
        </p:nvSpPr>
        <p:spPr>
          <a:xfrm>
            <a:off x="2514783" y="3528140"/>
            <a:ext cx="1854300" cy="49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A623"/>
              </a:buClr>
              <a:buSzPts val="2511"/>
              <a:buFont typeface="Calibri"/>
              <a:buNone/>
            </a:pPr>
            <a:r>
              <a:rPr b="1" i="0" lang="en-US" sz="2511" u="none" cap="none" strike="noStrike">
                <a:solidFill>
                  <a:srgbClr val="F5A623"/>
                </a:solidFill>
                <a:latin typeface="Calibri"/>
                <a:ea typeface="Calibri"/>
                <a:cs typeface="Calibri"/>
                <a:sym typeface="Calibri"/>
              </a:rPr>
              <a:t>3-5×</a:t>
            </a:r>
            <a:endParaRPr b="0" i="0" sz="2511" u="none" cap="none" strike="noStrike">
              <a:solidFill>
                <a:schemeClr val="dk1"/>
              </a:solidFill>
              <a:latin typeface="Calibri"/>
              <a:ea typeface="Calibri"/>
              <a:cs typeface="Calibri"/>
              <a:sym typeface="Calibri"/>
            </a:endParaRPr>
          </a:p>
        </p:txBody>
      </p:sp>
      <p:sp>
        <p:nvSpPr>
          <p:cNvPr id="1325" name="Google Shape;1325;p45"/>
          <p:cNvSpPr/>
          <p:nvPr/>
        </p:nvSpPr>
        <p:spPr>
          <a:xfrm>
            <a:off x="2585418" y="4031418"/>
            <a:ext cx="1713000" cy="24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66"/>
              <a:buFont typeface="Calibri"/>
              <a:buNone/>
            </a:pPr>
            <a:r>
              <a:rPr b="1" i="0" lang="en-US" sz="966" u="none" cap="none" strike="noStrike">
                <a:solidFill>
                  <a:srgbClr val="ECF0F1"/>
                </a:solidFill>
                <a:latin typeface="Calibri"/>
                <a:ea typeface="Calibri"/>
                <a:cs typeface="Calibri"/>
                <a:sym typeface="Calibri"/>
              </a:rPr>
              <a:t>CPU over-requested</a:t>
            </a:r>
            <a:endParaRPr b="0" i="0" sz="966" u="none" cap="none" strike="noStrike">
              <a:solidFill>
                <a:schemeClr val="dk1"/>
              </a:solidFill>
              <a:latin typeface="Calibri"/>
              <a:ea typeface="Calibri"/>
              <a:cs typeface="Calibri"/>
              <a:sym typeface="Calibri"/>
            </a:endParaRPr>
          </a:p>
        </p:txBody>
      </p:sp>
      <p:sp>
        <p:nvSpPr>
          <p:cNvPr id="1326" name="Google Shape;1326;p45"/>
          <p:cNvSpPr/>
          <p:nvPr/>
        </p:nvSpPr>
        <p:spPr>
          <a:xfrm>
            <a:off x="2514600" y="4407408"/>
            <a:ext cx="1773900" cy="51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0A4AE"/>
              </a:buClr>
              <a:buSzPts val="900"/>
              <a:buFont typeface="Calibri"/>
              <a:buNone/>
            </a:pPr>
            <a:r>
              <a:rPr b="0" i="0" lang="en-US" sz="900" u="none" cap="none" strike="noStrike">
                <a:solidFill>
                  <a:srgbClr val="90A4AE"/>
                </a:solidFill>
                <a:latin typeface="Calibri"/>
                <a:ea typeface="Calibri"/>
                <a:cs typeface="Calibri"/>
                <a:sym typeface="Calibri"/>
              </a:rPr>
              <a:t>set to GC peak, not app load</a:t>
            </a:r>
            <a:endParaRPr b="0" i="0" sz="900" u="none" cap="none" strike="noStrike">
              <a:solidFill>
                <a:schemeClr val="dk1"/>
              </a:solidFill>
              <a:latin typeface="Calibri"/>
              <a:ea typeface="Calibri"/>
              <a:cs typeface="Calibri"/>
              <a:sym typeface="Calibri"/>
            </a:endParaRPr>
          </a:p>
        </p:txBody>
      </p:sp>
      <p:sp>
        <p:nvSpPr>
          <p:cNvPr id="1327" name="Google Shape;1327;p45"/>
          <p:cNvSpPr/>
          <p:nvPr/>
        </p:nvSpPr>
        <p:spPr>
          <a:xfrm>
            <a:off x="4563216" y="3466334"/>
            <a:ext cx="1854300" cy="1518900"/>
          </a:xfrm>
          <a:prstGeom prst="rect">
            <a:avLst/>
          </a:prstGeom>
          <a:solidFill>
            <a:srgbClr val="122040"/>
          </a:solidFill>
          <a:ln cap="flat" cmpd="sng" w="18400">
            <a:solidFill>
              <a:srgbClr val="F5A623"/>
            </a:solidFill>
            <a:prstDash val="solid"/>
            <a:round/>
            <a:headEnd len="sm" w="sm" type="none"/>
            <a:tailEnd len="sm" w="sm" type="none"/>
          </a:ln>
        </p:spPr>
        <p:txBody>
          <a:bodyPr anchorCtr="0" anchor="ctr" bIns="88275" lIns="88275" spcFirstLastPara="1" rIns="88275" wrap="square" tIns="88275">
            <a:noAutofit/>
          </a:bodyPr>
          <a:lstStyle/>
          <a:p>
            <a:pPr indent="0" lvl="0" marL="0" rtl="0" algn="l">
              <a:spcBef>
                <a:spcPts val="0"/>
              </a:spcBef>
              <a:spcAft>
                <a:spcPts val="0"/>
              </a:spcAft>
              <a:buNone/>
            </a:pPr>
            <a:r>
              <a:t/>
            </a:r>
            <a:endParaRPr/>
          </a:p>
        </p:txBody>
      </p:sp>
      <p:sp>
        <p:nvSpPr>
          <p:cNvPr id="1328" name="Google Shape;1328;p45"/>
          <p:cNvSpPr/>
          <p:nvPr/>
        </p:nvSpPr>
        <p:spPr>
          <a:xfrm>
            <a:off x="4563216" y="3528140"/>
            <a:ext cx="1854300" cy="49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A623"/>
              </a:buClr>
              <a:buSzPts val="2511"/>
              <a:buFont typeface="Calibri"/>
              <a:buNone/>
            </a:pPr>
            <a:r>
              <a:rPr b="1" i="0" lang="en-US" sz="2511" u="none" cap="none" strike="noStrike">
                <a:solidFill>
                  <a:srgbClr val="F5A623"/>
                </a:solidFill>
                <a:latin typeface="Calibri"/>
                <a:ea typeface="Calibri"/>
                <a:cs typeface="Calibri"/>
                <a:sym typeface="Calibri"/>
              </a:rPr>
              <a:t>30-40%</a:t>
            </a:r>
            <a:endParaRPr b="0" i="0" sz="2511" u="none" cap="none" strike="noStrike">
              <a:solidFill>
                <a:schemeClr val="dk1"/>
              </a:solidFill>
              <a:latin typeface="Calibri"/>
              <a:ea typeface="Calibri"/>
              <a:cs typeface="Calibri"/>
              <a:sym typeface="Calibri"/>
            </a:endParaRPr>
          </a:p>
        </p:txBody>
      </p:sp>
      <p:sp>
        <p:nvSpPr>
          <p:cNvPr id="1329" name="Google Shape;1329;p45"/>
          <p:cNvSpPr/>
          <p:nvPr/>
        </p:nvSpPr>
        <p:spPr>
          <a:xfrm>
            <a:off x="4633851" y="4031418"/>
            <a:ext cx="1713000" cy="24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66"/>
              <a:buFont typeface="Calibri"/>
              <a:buNone/>
            </a:pPr>
            <a:r>
              <a:rPr b="1" i="0" lang="en-US" sz="966" u="none" cap="none" strike="noStrike">
                <a:solidFill>
                  <a:srgbClr val="ECF0F1"/>
                </a:solidFill>
                <a:latin typeface="Calibri"/>
                <a:ea typeface="Calibri"/>
                <a:cs typeface="Calibri"/>
                <a:sym typeface="Calibri"/>
              </a:rPr>
              <a:t>Nodes wasted</a:t>
            </a:r>
            <a:endParaRPr b="0" i="0" sz="966" u="none" cap="none" strike="noStrike">
              <a:solidFill>
                <a:schemeClr val="dk1"/>
              </a:solidFill>
              <a:latin typeface="Calibri"/>
              <a:ea typeface="Calibri"/>
              <a:cs typeface="Calibri"/>
              <a:sym typeface="Calibri"/>
            </a:endParaRPr>
          </a:p>
        </p:txBody>
      </p:sp>
      <p:sp>
        <p:nvSpPr>
          <p:cNvPr id="1330" name="Google Shape;1330;p45"/>
          <p:cNvSpPr/>
          <p:nvPr/>
        </p:nvSpPr>
        <p:spPr>
          <a:xfrm>
            <a:off x="4636008" y="4407408"/>
            <a:ext cx="1773900" cy="51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0A4AE"/>
              </a:buClr>
              <a:buSzPts val="900"/>
              <a:buFont typeface="Calibri"/>
              <a:buNone/>
            </a:pPr>
            <a:r>
              <a:rPr b="0" i="0" lang="en-US" sz="900" u="none" cap="none" strike="noStrike">
                <a:solidFill>
                  <a:srgbClr val="90A4AE"/>
                </a:solidFill>
                <a:latin typeface="Calibri"/>
                <a:ea typeface="Calibri"/>
                <a:cs typeface="Calibri"/>
                <a:sym typeface="Calibri"/>
              </a:rPr>
              <a:t>running but underfilled</a:t>
            </a:r>
            <a:endParaRPr b="0" i="0" sz="900" u="none" cap="none" strike="noStrike">
              <a:solidFill>
                <a:schemeClr val="dk1"/>
              </a:solidFill>
              <a:latin typeface="Calibri"/>
              <a:ea typeface="Calibri"/>
              <a:cs typeface="Calibri"/>
              <a:sym typeface="Calibri"/>
            </a:endParaRPr>
          </a:p>
        </p:txBody>
      </p:sp>
      <p:sp>
        <p:nvSpPr>
          <p:cNvPr id="1331" name="Google Shape;1331;p45"/>
          <p:cNvSpPr/>
          <p:nvPr/>
        </p:nvSpPr>
        <p:spPr>
          <a:xfrm>
            <a:off x="6611649" y="3466334"/>
            <a:ext cx="1854300" cy="1518900"/>
          </a:xfrm>
          <a:prstGeom prst="rect">
            <a:avLst/>
          </a:prstGeom>
          <a:solidFill>
            <a:srgbClr val="122040"/>
          </a:solidFill>
          <a:ln cap="flat" cmpd="sng" w="18400">
            <a:solidFill>
              <a:srgbClr val="F5A623"/>
            </a:solidFill>
            <a:prstDash val="solid"/>
            <a:round/>
            <a:headEnd len="sm" w="sm" type="none"/>
            <a:tailEnd len="sm" w="sm" type="none"/>
          </a:ln>
        </p:spPr>
        <p:txBody>
          <a:bodyPr anchorCtr="0" anchor="ctr" bIns="88275" lIns="88275" spcFirstLastPara="1" rIns="88275" wrap="square" tIns="88275">
            <a:noAutofit/>
          </a:bodyPr>
          <a:lstStyle/>
          <a:p>
            <a:pPr indent="0" lvl="0" marL="0" rtl="0" algn="l">
              <a:spcBef>
                <a:spcPts val="0"/>
              </a:spcBef>
              <a:spcAft>
                <a:spcPts val="0"/>
              </a:spcAft>
              <a:buNone/>
            </a:pPr>
            <a:r>
              <a:t/>
            </a:r>
            <a:endParaRPr/>
          </a:p>
        </p:txBody>
      </p:sp>
      <p:sp>
        <p:nvSpPr>
          <p:cNvPr id="1332" name="Google Shape;1332;p45"/>
          <p:cNvSpPr/>
          <p:nvPr/>
        </p:nvSpPr>
        <p:spPr>
          <a:xfrm>
            <a:off x="6611649" y="3528140"/>
            <a:ext cx="1854300" cy="49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A623"/>
              </a:buClr>
              <a:buSzPts val="2511"/>
              <a:buFont typeface="Calibri"/>
              <a:buNone/>
            </a:pPr>
            <a:r>
              <a:rPr b="1" i="0" lang="en-US" sz="2511" u="none" cap="none" strike="noStrike">
                <a:solidFill>
                  <a:srgbClr val="F5A623"/>
                </a:solidFill>
                <a:latin typeface="Calibri"/>
                <a:ea typeface="Calibri"/>
                <a:cs typeface="Calibri"/>
                <a:sym typeface="Calibri"/>
              </a:rPr>
              <a:t>~$38k</a:t>
            </a:r>
            <a:endParaRPr b="0" i="0" sz="2511" u="none" cap="none" strike="noStrike">
              <a:solidFill>
                <a:schemeClr val="dk1"/>
              </a:solidFill>
              <a:latin typeface="Calibri"/>
              <a:ea typeface="Calibri"/>
              <a:cs typeface="Calibri"/>
              <a:sym typeface="Calibri"/>
            </a:endParaRPr>
          </a:p>
        </p:txBody>
      </p:sp>
      <p:sp>
        <p:nvSpPr>
          <p:cNvPr id="1333" name="Google Shape;1333;p45"/>
          <p:cNvSpPr/>
          <p:nvPr/>
        </p:nvSpPr>
        <p:spPr>
          <a:xfrm>
            <a:off x="6682284" y="4031418"/>
            <a:ext cx="1713000" cy="24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66"/>
              <a:buFont typeface="Calibri"/>
              <a:buNone/>
            </a:pPr>
            <a:r>
              <a:rPr b="1" i="0" lang="en-US" sz="966" u="none" cap="none" strike="noStrike">
                <a:solidFill>
                  <a:srgbClr val="ECF0F1"/>
                </a:solidFill>
                <a:latin typeface="Calibri"/>
                <a:ea typeface="Calibri"/>
                <a:cs typeface="Calibri"/>
                <a:sym typeface="Calibri"/>
              </a:rPr>
              <a:t>Annual waste</a:t>
            </a:r>
            <a:endParaRPr b="0" i="0" sz="966" u="none" cap="none" strike="noStrike">
              <a:solidFill>
                <a:schemeClr val="dk1"/>
              </a:solidFill>
              <a:latin typeface="Calibri"/>
              <a:ea typeface="Calibri"/>
              <a:cs typeface="Calibri"/>
              <a:sym typeface="Calibri"/>
            </a:endParaRPr>
          </a:p>
        </p:txBody>
      </p:sp>
      <p:sp>
        <p:nvSpPr>
          <p:cNvPr id="1334" name="Google Shape;1334;p45"/>
          <p:cNvSpPr/>
          <p:nvPr/>
        </p:nvSpPr>
        <p:spPr>
          <a:xfrm>
            <a:off x="6757416" y="4407408"/>
            <a:ext cx="1773900" cy="51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0A4AE"/>
              </a:buClr>
              <a:buSzPts val="900"/>
              <a:buFont typeface="Calibri"/>
              <a:buNone/>
            </a:pPr>
            <a:r>
              <a:rPr b="0" i="0" lang="en-US" sz="900" u="none" cap="none" strike="noStrike">
                <a:solidFill>
                  <a:srgbClr val="90A4AE"/>
                </a:solidFill>
                <a:latin typeface="Calibri"/>
                <a:ea typeface="Calibri"/>
                <a:cs typeface="Calibri"/>
                <a:sym typeface="Calibri"/>
              </a:rPr>
              <a:t>20 services extrapolated from the 7-service demo ($13,455)</a:t>
            </a:r>
            <a:endParaRPr b="0" i="0" sz="900" u="none" cap="none" strike="noStrike">
              <a:solidFill>
                <a:schemeClr val="dk1"/>
              </a:solidFill>
              <a:latin typeface="Calibri"/>
              <a:ea typeface="Calibri"/>
              <a:cs typeface="Calibri"/>
              <a:sym typeface="Calibri"/>
            </a:endParaRPr>
          </a:p>
        </p:txBody>
      </p:sp>
      <p:sp>
        <p:nvSpPr>
          <p:cNvPr id="1335" name="Google Shape;1335;p45"/>
          <p:cNvSpPr/>
          <p:nvPr/>
        </p:nvSpPr>
        <p:spPr>
          <a:xfrm>
            <a:off x="0" y="5394960"/>
            <a:ext cx="9144000" cy="201300"/>
          </a:xfrm>
          <a:prstGeom prst="rect">
            <a:avLst/>
          </a:prstGeom>
          <a:solidFill>
            <a:srgbClr val="0610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45"/>
          <p:cNvSpPr/>
          <p:nvPr/>
        </p:nvSpPr>
        <p:spPr>
          <a:xfrm>
            <a:off x="320040" y="5422392"/>
            <a:ext cx="8503800" cy="14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900"/>
              <a:buFont typeface="Calibri"/>
              <a:buNone/>
            </a:pPr>
            <a:r>
              <a:rPr b="0" i="0" lang="en-US" sz="900" u="none" cap="none" strike="noStrike">
                <a:solidFill>
                  <a:srgbClr val="00BCD4"/>
                </a:solidFill>
                <a:latin typeface="Calibri"/>
                <a:ea typeface="Calibri"/>
                <a:cs typeface="Calibri"/>
                <a:sym typeface="Calibri"/>
              </a:rPr>
              <a:t>Source: 14 days of bundled sample Prometheus metrics · demo dataset</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341" name="Shape 1341"/>
        <p:cNvGrpSpPr/>
        <p:nvPr/>
      </p:nvGrpSpPr>
      <p:grpSpPr>
        <a:xfrm>
          <a:off x="0" y="0"/>
          <a:ext cx="0" cy="0"/>
          <a:chOff x="0" y="0"/>
          <a:chExt cx="0" cy="0"/>
        </a:xfrm>
      </p:grpSpPr>
      <p:sp>
        <p:nvSpPr>
          <p:cNvPr id="1342" name="Google Shape;1342;p46"/>
          <p:cNvSpPr/>
          <p:nvPr/>
        </p:nvSpPr>
        <p:spPr>
          <a:xfrm>
            <a:off x="0" y="0"/>
            <a:ext cx="9144000" cy="64020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46"/>
          <p:cNvSpPr/>
          <p:nvPr/>
        </p:nvSpPr>
        <p:spPr>
          <a:xfrm>
            <a:off x="320040" y="9144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200"/>
              <a:buFont typeface="Calibri"/>
              <a:buNone/>
            </a:pPr>
            <a:r>
              <a:rPr b="1" i="0" lang="en-US" sz="2200" u="none" cap="none" strike="noStrike">
                <a:solidFill>
                  <a:srgbClr val="00BCD4"/>
                </a:solidFill>
                <a:latin typeface="Calibri"/>
                <a:ea typeface="Calibri"/>
                <a:cs typeface="Calibri"/>
                <a:sym typeface="Calibri"/>
              </a:rPr>
              <a:t>Right-Sizing Analysis — p99 Observed + Headroom (CPU 30% / Mem 25%)</a:t>
            </a:r>
            <a:endParaRPr b="0" i="0" sz="2200" u="none" cap="none" strike="noStrike">
              <a:solidFill>
                <a:schemeClr val="dk1"/>
              </a:solidFill>
              <a:latin typeface="Calibri"/>
              <a:ea typeface="Calibri"/>
              <a:cs typeface="Calibri"/>
              <a:sym typeface="Calibri"/>
            </a:endParaRPr>
          </a:p>
        </p:txBody>
      </p:sp>
      <p:sp>
        <p:nvSpPr>
          <p:cNvPr id="1344" name="Google Shape;1344;p46"/>
          <p:cNvSpPr/>
          <p:nvPr/>
        </p:nvSpPr>
        <p:spPr>
          <a:xfrm>
            <a:off x="7772400" y="73152"/>
            <a:ext cx="1234500" cy="49380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46"/>
          <p:cNvSpPr/>
          <p:nvPr/>
        </p:nvSpPr>
        <p:spPr>
          <a:xfrm>
            <a:off x="7772400" y="73152"/>
            <a:ext cx="1234500" cy="493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RIGHT-SIZING</a:t>
            </a:r>
            <a:endParaRPr b="0" i="0" sz="1100" u="none" cap="none" strike="noStrike">
              <a:solidFill>
                <a:schemeClr val="dk1"/>
              </a:solidFill>
              <a:latin typeface="Calibri"/>
              <a:ea typeface="Calibri"/>
              <a:cs typeface="Calibri"/>
              <a:sym typeface="Calibri"/>
            </a:endParaRPr>
          </a:p>
        </p:txBody>
      </p:sp>
      <p:sp>
        <p:nvSpPr>
          <p:cNvPr id="1346" name="Google Shape;1346;p46"/>
          <p:cNvSpPr/>
          <p:nvPr/>
        </p:nvSpPr>
        <p:spPr>
          <a:xfrm>
            <a:off x="387412" y="792587"/>
            <a:ext cx="2088000" cy="226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856"/>
              <a:buFont typeface="Calibri"/>
              <a:buNone/>
            </a:pPr>
            <a:r>
              <a:rPr b="1" i="0" lang="en-US" sz="856" u="none" cap="none" strike="noStrike">
                <a:solidFill>
                  <a:srgbClr val="00BCD4"/>
                </a:solidFill>
                <a:latin typeface="Calibri"/>
                <a:ea typeface="Calibri"/>
                <a:cs typeface="Calibri"/>
                <a:sym typeface="Calibri"/>
              </a:rPr>
              <a:t>Service</a:t>
            </a:r>
            <a:endParaRPr b="0" i="0" sz="856" u="none" cap="none" strike="noStrike">
              <a:solidFill>
                <a:schemeClr val="dk1"/>
              </a:solidFill>
              <a:latin typeface="Calibri"/>
              <a:ea typeface="Calibri"/>
              <a:cs typeface="Calibri"/>
              <a:sym typeface="Calibri"/>
            </a:endParaRPr>
          </a:p>
        </p:txBody>
      </p:sp>
      <p:sp>
        <p:nvSpPr>
          <p:cNvPr id="1347" name="Google Shape;1347;p46"/>
          <p:cNvSpPr/>
          <p:nvPr/>
        </p:nvSpPr>
        <p:spPr>
          <a:xfrm>
            <a:off x="2492750" y="792587"/>
            <a:ext cx="1305000" cy="226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856"/>
              <a:buFont typeface="Calibri"/>
              <a:buNone/>
            </a:pPr>
            <a:r>
              <a:rPr b="1" i="0" lang="en-US" sz="856" u="none" cap="none" strike="noStrike">
                <a:solidFill>
                  <a:srgbClr val="00BCD4"/>
                </a:solidFill>
                <a:latin typeface="Calibri"/>
                <a:ea typeface="Calibri"/>
                <a:cs typeface="Calibri"/>
                <a:sym typeface="Calibri"/>
              </a:rPr>
              <a:t>CPU now→rec</a:t>
            </a:r>
            <a:endParaRPr b="0" i="0" sz="856" u="none" cap="none" strike="noStrike">
              <a:solidFill>
                <a:schemeClr val="dk1"/>
              </a:solidFill>
              <a:latin typeface="Calibri"/>
              <a:ea typeface="Calibri"/>
              <a:cs typeface="Calibri"/>
              <a:sym typeface="Calibri"/>
            </a:endParaRPr>
          </a:p>
        </p:txBody>
      </p:sp>
      <p:sp>
        <p:nvSpPr>
          <p:cNvPr id="1348" name="Google Shape;1348;p46"/>
          <p:cNvSpPr/>
          <p:nvPr/>
        </p:nvSpPr>
        <p:spPr>
          <a:xfrm>
            <a:off x="3815110" y="792587"/>
            <a:ext cx="696000" cy="226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BCD4"/>
              </a:buClr>
              <a:buSzPts val="856"/>
              <a:buFont typeface="Calibri"/>
              <a:buNone/>
            </a:pPr>
            <a:r>
              <a:rPr b="1" i="0" lang="en-US" sz="856" u="none" cap="none" strike="noStrike">
                <a:solidFill>
                  <a:srgbClr val="00BCD4"/>
                </a:solidFill>
                <a:latin typeface="Calibri"/>
                <a:ea typeface="Calibri"/>
                <a:cs typeface="Calibri"/>
                <a:sym typeface="Calibri"/>
              </a:rPr>
              <a:t>CPU Δ</a:t>
            </a:r>
            <a:endParaRPr b="0" i="0" sz="856" u="none" cap="none" strike="noStrike">
              <a:solidFill>
                <a:schemeClr val="dk1"/>
              </a:solidFill>
              <a:latin typeface="Calibri"/>
              <a:ea typeface="Calibri"/>
              <a:cs typeface="Calibri"/>
              <a:sym typeface="Calibri"/>
            </a:endParaRPr>
          </a:p>
        </p:txBody>
      </p:sp>
      <p:sp>
        <p:nvSpPr>
          <p:cNvPr id="1349" name="Google Shape;1349;p46"/>
          <p:cNvSpPr/>
          <p:nvPr/>
        </p:nvSpPr>
        <p:spPr>
          <a:xfrm>
            <a:off x="4528489" y="792587"/>
            <a:ext cx="1565700" cy="226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BCD4"/>
              </a:buClr>
              <a:buSzPts val="856"/>
              <a:buFont typeface="Calibri"/>
              <a:buNone/>
            </a:pPr>
            <a:r>
              <a:rPr b="1" i="0" lang="en-US" sz="856" u="none" cap="none" strike="noStrike">
                <a:solidFill>
                  <a:srgbClr val="00BCD4"/>
                </a:solidFill>
                <a:latin typeface="Calibri"/>
                <a:ea typeface="Calibri"/>
                <a:cs typeface="Calibri"/>
                <a:sym typeface="Calibri"/>
              </a:rPr>
              <a:t>Mem now→rec</a:t>
            </a:r>
            <a:endParaRPr b="0" i="0" sz="856" u="none" cap="none" strike="noStrike">
              <a:solidFill>
                <a:schemeClr val="dk1"/>
              </a:solidFill>
              <a:latin typeface="Calibri"/>
              <a:ea typeface="Calibri"/>
              <a:cs typeface="Calibri"/>
              <a:sym typeface="Calibri"/>
            </a:endParaRPr>
          </a:p>
        </p:txBody>
      </p:sp>
      <p:sp>
        <p:nvSpPr>
          <p:cNvPr id="1350" name="Google Shape;1350;p46"/>
          <p:cNvSpPr/>
          <p:nvPr/>
        </p:nvSpPr>
        <p:spPr>
          <a:xfrm>
            <a:off x="6111842" y="792587"/>
            <a:ext cx="696000" cy="226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BCD4"/>
              </a:buClr>
              <a:buSzPts val="856"/>
              <a:buFont typeface="Calibri"/>
              <a:buNone/>
            </a:pPr>
            <a:r>
              <a:rPr b="1" i="0" lang="en-US" sz="856" u="none" cap="none" strike="noStrike">
                <a:solidFill>
                  <a:srgbClr val="00BCD4"/>
                </a:solidFill>
                <a:latin typeface="Calibri"/>
                <a:ea typeface="Calibri"/>
                <a:cs typeface="Calibri"/>
                <a:sym typeface="Calibri"/>
              </a:rPr>
              <a:t>Mem Δ</a:t>
            </a:r>
            <a:endParaRPr b="0" i="0" sz="856" u="none" cap="none" strike="noStrike">
              <a:solidFill>
                <a:schemeClr val="dk1"/>
              </a:solidFill>
              <a:latin typeface="Calibri"/>
              <a:ea typeface="Calibri"/>
              <a:cs typeface="Calibri"/>
              <a:sym typeface="Calibri"/>
            </a:endParaRPr>
          </a:p>
        </p:txBody>
      </p:sp>
      <p:sp>
        <p:nvSpPr>
          <p:cNvPr id="1351" name="Google Shape;1351;p46"/>
          <p:cNvSpPr/>
          <p:nvPr/>
        </p:nvSpPr>
        <p:spPr>
          <a:xfrm>
            <a:off x="6825220" y="792587"/>
            <a:ext cx="696000" cy="226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BCD4"/>
              </a:buClr>
              <a:buSzPts val="856"/>
              <a:buFont typeface="Calibri"/>
              <a:buNone/>
            </a:pPr>
            <a:r>
              <a:rPr b="1" i="0" lang="en-US" sz="856" u="none" cap="none" strike="noStrike">
                <a:solidFill>
                  <a:srgbClr val="00BCD4"/>
                </a:solidFill>
                <a:latin typeface="Calibri"/>
                <a:ea typeface="Calibri"/>
                <a:cs typeface="Calibri"/>
                <a:sym typeface="Calibri"/>
              </a:rPr>
              <a:t>GC p99</a:t>
            </a:r>
            <a:endParaRPr b="0" i="0" sz="856" u="none" cap="none" strike="noStrike">
              <a:solidFill>
                <a:schemeClr val="dk1"/>
              </a:solidFill>
              <a:latin typeface="Calibri"/>
              <a:ea typeface="Calibri"/>
              <a:cs typeface="Calibri"/>
              <a:sym typeface="Calibri"/>
            </a:endParaRPr>
          </a:p>
        </p:txBody>
      </p:sp>
      <p:sp>
        <p:nvSpPr>
          <p:cNvPr id="1352" name="Google Shape;1352;p46"/>
          <p:cNvSpPr/>
          <p:nvPr/>
        </p:nvSpPr>
        <p:spPr>
          <a:xfrm>
            <a:off x="7538599" y="792587"/>
            <a:ext cx="1218000" cy="226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BCD4"/>
              </a:buClr>
              <a:buSzPts val="856"/>
              <a:buFont typeface="Calibri"/>
              <a:buNone/>
            </a:pPr>
            <a:r>
              <a:rPr b="1" i="0" lang="en-US" sz="856" u="none" cap="none" strike="noStrike">
                <a:solidFill>
                  <a:srgbClr val="00BCD4"/>
                </a:solidFill>
                <a:latin typeface="Calibri"/>
                <a:ea typeface="Calibri"/>
                <a:cs typeface="Calibri"/>
                <a:sym typeface="Calibri"/>
              </a:rPr>
              <a:t>Note</a:t>
            </a:r>
            <a:endParaRPr b="0" i="0" sz="856" u="none" cap="none" strike="noStrike">
              <a:solidFill>
                <a:schemeClr val="dk1"/>
              </a:solidFill>
              <a:latin typeface="Calibri"/>
              <a:ea typeface="Calibri"/>
              <a:cs typeface="Calibri"/>
              <a:sym typeface="Calibri"/>
            </a:endParaRPr>
          </a:p>
        </p:txBody>
      </p:sp>
      <p:sp>
        <p:nvSpPr>
          <p:cNvPr id="1353" name="Google Shape;1353;p46"/>
          <p:cNvSpPr/>
          <p:nvPr/>
        </p:nvSpPr>
        <p:spPr>
          <a:xfrm>
            <a:off x="387412" y="1053580"/>
            <a:ext cx="8264700" cy="504600"/>
          </a:xfrm>
          <a:prstGeom prst="rect">
            <a:avLst/>
          </a:prstGeom>
          <a:solidFill>
            <a:srgbClr val="122040"/>
          </a:solidFill>
          <a:ln>
            <a:noFill/>
          </a:ln>
        </p:spPr>
        <p:txBody>
          <a:bodyPr anchorCtr="0" anchor="ctr" bIns="86975" lIns="86975" spcFirstLastPara="1" rIns="86975" wrap="square" tIns="86975">
            <a:noAutofit/>
          </a:bodyPr>
          <a:lstStyle/>
          <a:p>
            <a:pPr indent="0" lvl="0" marL="0" rtl="0" algn="l">
              <a:spcBef>
                <a:spcPts val="0"/>
              </a:spcBef>
              <a:spcAft>
                <a:spcPts val="0"/>
              </a:spcAft>
              <a:buNone/>
            </a:pPr>
            <a:r>
              <a:t/>
            </a:r>
            <a:endParaRPr/>
          </a:p>
        </p:txBody>
      </p:sp>
      <p:sp>
        <p:nvSpPr>
          <p:cNvPr id="1354" name="Google Shape;1354;p46"/>
          <p:cNvSpPr/>
          <p:nvPr/>
        </p:nvSpPr>
        <p:spPr>
          <a:xfrm>
            <a:off x="387412" y="1184077"/>
            <a:ext cx="243600" cy="243600"/>
          </a:xfrm>
          <a:prstGeom prst="rect">
            <a:avLst/>
          </a:prstGeom>
          <a:solidFill>
            <a:srgbClr val="F5A623"/>
          </a:solidFill>
          <a:ln>
            <a:noFill/>
          </a:ln>
        </p:spPr>
        <p:txBody>
          <a:bodyPr anchorCtr="0" anchor="ctr" bIns="86975" lIns="86975" spcFirstLastPara="1" rIns="86975" wrap="square" tIns="86975">
            <a:noAutofit/>
          </a:bodyPr>
          <a:lstStyle/>
          <a:p>
            <a:pPr indent="0" lvl="0" marL="0" rtl="0" algn="l">
              <a:spcBef>
                <a:spcPts val="0"/>
              </a:spcBef>
              <a:spcAft>
                <a:spcPts val="0"/>
              </a:spcAft>
              <a:buNone/>
            </a:pPr>
            <a:r>
              <a:t/>
            </a:r>
            <a:endParaRPr/>
          </a:p>
        </p:txBody>
      </p:sp>
      <p:sp>
        <p:nvSpPr>
          <p:cNvPr id="1355" name="Google Shape;1355;p46"/>
          <p:cNvSpPr/>
          <p:nvPr/>
        </p:nvSpPr>
        <p:spPr>
          <a:xfrm>
            <a:off x="387412" y="1184077"/>
            <a:ext cx="243600" cy="243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66"/>
              <a:buFont typeface="Calibri"/>
              <a:buNone/>
            </a:pPr>
            <a:r>
              <a:rPr b="1" i="0" lang="en-US" sz="666" u="none" cap="none" strike="noStrike">
                <a:solidFill>
                  <a:srgbClr val="FFFFFF"/>
                </a:solidFill>
                <a:latin typeface="Calibri"/>
                <a:ea typeface="Calibri"/>
                <a:cs typeface="Calibri"/>
                <a:sym typeface="Calibri"/>
              </a:rPr>
              <a:t>SB</a:t>
            </a:r>
            <a:endParaRPr b="0" i="0" sz="666" u="none" cap="none" strike="noStrike">
              <a:solidFill>
                <a:schemeClr val="dk1"/>
              </a:solidFill>
              <a:latin typeface="Calibri"/>
              <a:ea typeface="Calibri"/>
              <a:cs typeface="Calibri"/>
              <a:sym typeface="Calibri"/>
            </a:endParaRPr>
          </a:p>
        </p:txBody>
      </p:sp>
      <p:sp>
        <p:nvSpPr>
          <p:cNvPr id="1356" name="Google Shape;1356;p46"/>
          <p:cNvSpPr/>
          <p:nvPr/>
        </p:nvSpPr>
        <p:spPr>
          <a:xfrm>
            <a:off x="665804" y="1123178"/>
            <a:ext cx="1809600" cy="36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904"/>
              <a:buFont typeface="Calibri"/>
              <a:buNone/>
            </a:pPr>
            <a:r>
              <a:rPr b="0" i="0" lang="en-US" sz="904" u="none" cap="none" strike="noStrike">
                <a:solidFill>
                  <a:srgbClr val="ECF0F1"/>
                </a:solidFill>
                <a:latin typeface="Calibri"/>
                <a:ea typeface="Calibri"/>
                <a:cs typeface="Calibri"/>
                <a:sym typeface="Calibri"/>
              </a:rPr>
              <a:t>payments/payment-service</a:t>
            </a:r>
            <a:endParaRPr b="0" i="0" sz="904" u="none" cap="none" strike="noStrike">
              <a:solidFill>
                <a:schemeClr val="dk1"/>
              </a:solidFill>
              <a:latin typeface="Calibri"/>
              <a:ea typeface="Calibri"/>
              <a:cs typeface="Calibri"/>
              <a:sym typeface="Calibri"/>
            </a:endParaRPr>
          </a:p>
        </p:txBody>
      </p:sp>
      <p:sp>
        <p:nvSpPr>
          <p:cNvPr id="1357" name="Google Shape;1357;p46"/>
          <p:cNvSpPr/>
          <p:nvPr/>
        </p:nvSpPr>
        <p:spPr>
          <a:xfrm>
            <a:off x="2492750" y="1123178"/>
            <a:ext cx="1305000" cy="36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856"/>
              <a:buFont typeface="Consolas"/>
              <a:buNone/>
            </a:pPr>
            <a:r>
              <a:rPr b="0" i="0" lang="en-US" sz="856" u="none" cap="none" strike="noStrike">
                <a:solidFill>
                  <a:srgbClr val="ECF0F1"/>
                </a:solidFill>
                <a:latin typeface="Consolas"/>
                <a:ea typeface="Consolas"/>
                <a:cs typeface="Consolas"/>
                <a:sym typeface="Consolas"/>
              </a:rPr>
              <a:t>2000m→550m</a:t>
            </a:r>
            <a:endParaRPr b="0" i="0" sz="856" u="none" cap="none" strike="noStrike">
              <a:solidFill>
                <a:schemeClr val="dk1"/>
              </a:solidFill>
              <a:latin typeface="Calibri"/>
              <a:ea typeface="Calibri"/>
              <a:cs typeface="Calibri"/>
              <a:sym typeface="Calibri"/>
            </a:endParaRPr>
          </a:p>
        </p:txBody>
      </p:sp>
      <p:sp>
        <p:nvSpPr>
          <p:cNvPr id="1358" name="Google Shape;1358;p46"/>
          <p:cNvSpPr/>
          <p:nvPr/>
        </p:nvSpPr>
        <p:spPr>
          <a:xfrm>
            <a:off x="3815110" y="1123178"/>
            <a:ext cx="696000" cy="36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7AE60"/>
              </a:buClr>
              <a:buSzPts val="904"/>
              <a:buFont typeface="Calibri"/>
              <a:buNone/>
            </a:pPr>
            <a:r>
              <a:rPr b="1" i="0" lang="en-US" sz="904" u="none" cap="none" strike="noStrike">
                <a:solidFill>
                  <a:srgbClr val="27AE60"/>
                </a:solidFill>
                <a:latin typeface="Calibri"/>
                <a:ea typeface="Calibri"/>
                <a:cs typeface="Calibri"/>
                <a:sym typeface="Calibri"/>
              </a:rPr>
              <a:t>-72%</a:t>
            </a:r>
            <a:endParaRPr b="0" i="0" sz="904" u="none" cap="none" strike="noStrike">
              <a:solidFill>
                <a:schemeClr val="dk1"/>
              </a:solidFill>
              <a:latin typeface="Calibri"/>
              <a:ea typeface="Calibri"/>
              <a:cs typeface="Calibri"/>
              <a:sym typeface="Calibri"/>
            </a:endParaRPr>
          </a:p>
        </p:txBody>
      </p:sp>
      <p:sp>
        <p:nvSpPr>
          <p:cNvPr id="1359" name="Google Shape;1359;p46"/>
          <p:cNvSpPr/>
          <p:nvPr/>
        </p:nvSpPr>
        <p:spPr>
          <a:xfrm>
            <a:off x="4528489" y="1123178"/>
            <a:ext cx="1565700" cy="36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856"/>
              <a:buFont typeface="Consolas"/>
              <a:buNone/>
            </a:pPr>
            <a:r>
              <a:rPr b="0" i="0" lang="en-US" sz="856" u="none" cap="none" strike="noStrike">
                <a:solidFill>
                  <a:srgbClr val="ECF0F1"/>
                </a:solidFill>
                <a:latin typeface="Consolas"/>
                <a:ea typeface="Consolas"/>
                <a:cs typeface="Consolas"/>
                <a:sym typeface="Consolas"/>
              </a:rPr>
              <a:t>4096→2304Mi</a:t>
            </a:r>
            <a:endParaRPr b="0" i="0" sz="856" u="none" cap="none" strike="noStrike">
              <a:solidFill>
                <a:schemeClr val="dk1"/>
              </a:solidFill>
              <a:latin typeface="Calibri"/>
              <a:ea typeface="Calibri"/>
              <a:cs typeface="Calibri"/>
              <a:sym typeface="Calibri"/>
            </a:endParaRPr>
          </a:p>
        </p:txBody>
      </p:sp>
      <p:sp>
        <p:nvSpPr>
          <p:cNvPr id="1360" name="Google Shape;1360;p46"/>
          <p:cNvSpPr/>
          <p:nvPr/>
        </p:nvSpPr>
        <p:spPr>
          <a:xfrm>
            <a:off x="6111842" y="1123178"/>
            <a:ext cx="696000" cy="36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7AE60"/>
              </a:buClr>
              <a:buSzPts val="904"/>
              <a:buFont typeface="Calibri"/>
              <a:buNone/>
            </a:pPr>
            <a:r>
              <a:rPr b="1" i="0" lang="en-US" sz="904" u="none" cap="none" strike="noStrike">
                <a:solidFill>
                  <a:srgbClr val="27AE60"/>
                </a:solidFill>
                <a:latin typeface="Calibri"/>
                <a:ea typeface="Calibri"/>
                <a:cs typeface="Calibri"/>
                <a:sym typeface="Calibri"/>
              </a:rPr>
              <a:t>-44%</a:t>
            </a:r>
            <a:endParaRPr b="0" i="0" sz="904" u="none" cap="none" strike="noStrike">
              <a:solidFill>
                <a:schemeClr val="dk1"/>
              </a:solidFill>
              <a:latin typeface="Calibri"/>
              <a:ea typeface="Calibri"/>
              <a:cs typeface="Calibri"/>
              <a:sym typeface="Calibri"/>
            </a:endParaRPr>
          </a:p>
        </p:txBody>
      </p:sp>
      <p:sp>
        <p:nvSpPr>
          <p:cNvPr id="1361" name="Google Shape;1361;p46"/>
          <p:cNvSpPr/>
          <p:nvPr/>
        </p:nvSpPr>
        <p:spPr>
          <a:xfrm>
            <a:off x="6825220" y="1123178"/>
            <a:ext cx="696000" cy="36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4855"/>
              </a:buClr>
              <a:buSzPts val="856"/>
              <a:buFont typeface="Calibri"/>
              <a:buNone/>
            </a:pPr>
            <a:r>
              <a:rPr b="0" i="0" lang="en-US" sz="856" u="none" cap="none" strike="noStrike">
                <a:solidFill>
                  <a:srgbClr val="E84855"/>
                </a:solidFill>
                <a:latin typeface="Calibri"/>
                <a:ea typeface="Calibri"/>
                <a:cs typeface="Calibri"/>
                <a:sym typeface="Calibri"/>
              </a:rPr>
              <a:t>180ms</a:t>
            </a:r>
            <a:endParaRPr b="0" i="0" sz="856" u="none" cap="none" strike="noStrike">
              <a:solidFill>
                <a:schemeClr val="dk1"/>
              </a:solidFill>
              <a:latin typeface="Calibri"/>
              <a:ea typeface="Calibri"/>
              <a:cs typeface="Calibri"/>
              <a:sym typeface="Calibri"/>
            </a:endParaRPr>
          </a:p>
        </p:txBody>
      </p:sp>
      <p:sp>
        <p:nvSpPr>
          <p:cNvPr id="1362" name="Google Shape;1362;p46"/>
          <p:cNvSpPr/>
          <p:nvPr/>
        </p:nvSpPr>
        <p:spPr>
          <a:xfrm>
            <a:off x="7538599" y="1123178"/>
            <a:ext cx="1200600" cy="36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09"/>
              <a:buFont typeface="Calibri"/>
              <a:buNone/>
            </a:pPr>
            <a:r>
              <a:rPr b="0" i="0" lang="en-US" sz="809" u="none" cap="none" strike="noStrike">
                <a:solidFill>
                  <a:srgbClr val="90A4AE"/>
                </a:solidFill>
                <a:latin typeface="Calibri"/>
                <a:ea typeface="Calibri"/>
                <a:cs typeface="Calibri"/>
                <a:sym typeface="Calibri"/>
              </a:rPr>
              <a:t>GC spike detected</a:t>
            </a:r>
            <a:endParaRPr b="0" i="0" sz="809" u="none" cap="none" strike="noStrike">
              <a:solidFill>
                <a:schemeClr val="dk1"/>
              </a:solidFill>
              <a:latin typeface="Calibri"/>
              <a:ea typeface="Calibri"/>
              <a:cs typeface="Calibri"/>
              <a:sym typeface="Calibri"/>
            </a:endParaRPr>
          </a:p>
        </p:txBody>
      </p:sp>
      <p:sp>
        <p:nvSpPr>
          <p:cNvPr id="1363" name="Google Shape;1363;p46"/>
          <p:cNvSpPr/>
          <p:nvPr/>
        </p:nvSpPr>
        <p:spPr>
          <a:xfrm>
            <a:off x="387412" y="1619065"/>
            <a:ext cx="8264700" cy="504600"/>
          </a:xfrm>
          <a:prstGeom prst="rect">
            <a:avLst/>
          </a:prstGeom>
          <a:solidFill>
            <a:srgbClr val="0F1C35"/>
          </a:solidFill>
          <a:ln>
            <a:noFill/>
          </a:ln>
        </p:spPr>
        <p:txBody>
          <a:bodyPr anchorCtr="0" anchor="ctr" bIns="86975" lIns="86975" spcFirstLastPara="1" rIns="86975" wrap="square" tIns="86975">
            <a:noAutofit/>
          </a:bodyPr>
          <a:lstStyle/>
          <a:p>
            <a:pPr indent="0" lvl="0" marL="0" rtl="0" algn="l">
              <a:spcBef>
                <a:spcPts val="0"/>
              </a:spcBef>
              <a:spcAft>
                <a:spcPts val="0"/>
              </a:spcAft>
              <a:buNone/>
            </a:pPr>
            <a:r>
              <a:t/>
            </a:r>
            <a:endParaRPr/>
          </a:p>
        </p:txBody>
      </p:sp>
      <p:sp>
        <p:nvSpPr>
          <p:cNvPr id="1364" name="Google Shape;1364;p46"/>
          <p:cNvSpPr/>
          <p:nvPr/>
        </p:nvSpPr>
        <p:spPr>
          <a:xfrm>
            <a:off x="387412" y="1749562"/>
            <a:ext cx="243600" cy="243600"/>
          </a:xfrm>
          <a:prstGeom prst="rect">
            <a:avLst/>
          </a:prstGeom>
          <a:solidFill>
            <a:srgbClr val="00BCD4"/>
          </a:solidFill>
          <a:ln>
            <a:noFill/>
          </a:ln>
        </p:spPr>
        <p:txBody>
          <a:bodyPr anchorCtr="0" anchor="ctr" bIns="86975" lIns="86975" spcFirstLastPara="1" rIns="86975" wrap="square" tIns="86975">
            <a:noAutofit/>
          </a:bodyPr>
          <a:lstStyle/>
          <a:p>
            <a:pPr indent="0" lvl="0" marL="0" rtl="0" algn="l">
              <a:spcBef>
                <a:spcPts val="0"/>
              </a:spcBef>
              <a:spcAft>
                <a:spcPts val="0"/>
              </a:spcAft>
              <a:buNone/>
            </a:pPr>
            <a:r>
              <a:t/>
            </a:r>
            <a:endParaRPr/>
          </a:p>
        </p:txBody>
      </p:sp>
      <p:sp>
        <p:nvSpPr>
          <p:cNvPr id="1365" name="Google Shape;1365;p46"/>
          <p:cNvSpPr/>
          <p:nvPr/>
        </p:nvSpPr>
        <p:spPr>
          <a:xfrm>
            <a:off x="387412" y="1749562"/>
            <a:ext cx="243600" cy="243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66"/>
              <a:buFont typeface="Calibri"/>
              <a:buNone/>
            </a:pPr>
            <a:r>
              <a:rPr b="1" i="0" lang="en-US" sz="666" u="none" cap="none" strike="noStrike">
                <a:solidFill>
                  <a:srgbClr val="FFFFFF"/>
                </a:solidFill>
                <a:latin typeface="Calibri"/>
                <a:ea typeface="Calibri"/>
                <a:cs typeface="Calibri"/>
                <a:sym typeface="Calibri"/>
              </a:rPr>
              <a:t>QK</a:t>
            </a:r>
            <a:endParaRPr b="0" i="0" sz="666" u="none" cap="none" strike="noStrike">
              <a:solidFill>
                <a:schemeClr val="dk1"/>
              </a:solidFill>
              <a:latin typeface="Calibri"/>
              <a:ea typeface="Calibri"/>
              <a:cs typeface="Calibri"/>
              <a:sym typeface="Calibri"/>
            </a:endParaRPr>
          </a:p>
        </p:txBody>
      </p:sp>
      <p:sp>
        <p:nvSpPr>
          <p:cNvPr id="1366" name="Google Shape;1366;p46"/>
          <p:cNvSpPr/>
          <p:nvPr/>
        </p:nvSpPr>
        <p:spPr>
          <a:xfrm>
            <a:off x="665804" y="1688664"/>
            <a:ext cx="1809600" cy="36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904"/>
              <a:buFont typeface="Calibri"/>
              <a:buNone/>
            </a:pPr>
            <a:r>
              <a:rPr b="0" i="0" lang="en-US" sz="904" u="none" cap="none" strike="noStrike">
                <a:solidFill>
                  <a:srgbClr val="ECF0F1"/>
                </a:solidFill>
                <a:latin typeface="Calibri"/>
                <a:ea typeface="Calibri"/>
                <a:cs typeface="Calibri"/>
                <a:sym typeface="Calibri"/>
              </a:rPr>
              <a:t>payments/fraud-detection</a:t>
            </a:r>
            <a:endParaRPr b="0" i="0" sz="904" u="none" cap="none" strike="noStrike">
              <a:solidFill>
                <a:schemeClr val="dk1"/>
              </a:solidFill>
              <a:latin typeface="Calibri"/>
              <a:ea typeface="Calibri"/>
              <a:cs typeface="Calibri"/>
              <a:sym typeface="Calibri"/>
            </a:endParaRPr>
          </a:p>
        </p:txBody>
      </p:sp>
      <p:sp>
        <p:nvSpPr>
          <p:cNvPr id="1367" name="Google Shape;1367;p46"/>
          <p:cNvSpPr/>
          <p:nvPr/>
        </p:nvSpPr>
        <p:spPr>
          <a:xfrm>
            <a:off x="2492750" y="1688664"/>
            <a:ext cx="1305000" cy="36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856"/>
              <a:buFont typeface="Consolas"/>
              <a:buNone/>
            </a:pPr>
            <a:r>
              <a:rPr b="0" i="0" lang="en-US" sz="856" u="none" cap="none" strike="noStrike">
                <a:solidFill>
                  <a:srgbClr val="ECF0F1"/>
                </a:solidFill>
                <a:latin typeface="Consolas"/>
                <a:ea typeface="Consolas"/>
                <a:cs typeface="Consolas"/>
                <a:sym typeface="Consolas"/>
              </a:rPr>
              <a:t>1500m→500m</a:t>
            </a:r>
            <a:endParaRPr b="0" i="0" sz="856" u="none" cap="none" strike="noStrike">
              <a:solidFill>
                <a:schemeClr val="dk1"/>
              </a:solidFill>
              <a:latin typeface="Calibri"/>
              <a:ea typeface="Calibri"/>
              <a:cs typeface="Calibri"/>
              <a:sym typeface="Calibri"/>
            </a:endParaRPr>
          </a:p>
        </p:txBody>
      </p:sp>
      <p:sp>
        <p:nvSpPr>
          <p:cNvPr id="1368" name="Google Shape;1368;p46"/>
          <p:cNvSpPr/>
          <p:nvPr/>
        </p:nvSpPr>
        <p:spPr>
          <a:xfrm>
            <a:off x="3815110" y="1688664"/>
            <a:ext cx="696000" cy="36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7AE60"/>
              </a:buClr>
              <a:buSzPts val="904"/>
              <a:buFont typeface="Calibri"/>
              <a:buNone/>
            </a:pPr>
            <a:r>
              <a:rPr b="1" i="0" lang="en-US" sz="904" u="none" cap="none" strike="noStrike">
                <a:solidFill>
                  <a:srgbClr val="27AE60"/>
                </a:solidFill>
                <a:latin typeface="Calibri"/>
                <a:ea typeface="Calibri"/>
                <a:cs typeface="Calibri"/>
                <a:sym typeface="Calibri"/>
              </a:rPr>
              <a:t>-67%</a:t>
            </a:r>
            <a:endParaRPr b="0" i="0" sz="904" u="none" cap="none" strike="noStrike">
              <a:solidFill>
                <a:schemeClr val="dk1"/>
              </a:solidFill>
              <a:latin typeface="Calibri"/>
              <a:ea typeface="Calibri"/>
              <a:cs typeface="Calibri"/>
              <a:sym typeface="Calibri"/>
            </a:endParaRPr>
          </a:p>
        </p:txBody>
      </p:sp>
      <p:sp>
        <p:nvSpPr>
          <p:cNvPr id="1369" name="Google Shape;1369;p46"/>
          <p:cNvSpPr/>
          <p:nvPr/>
        </p:nvSpPr>
        <p:spPr>
          <a:xfrm>
            <a:off x="4528489" y="1688664"/>
            <a:ext cx="1565700" cy="36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856"/>
              <a:buFont typeface="Consolas"/>
              <a:buNone/>
            </a:pPr>
            <a:r>
              <a:rPr b="0" i="0" lang="en-US" sz="856" u="none" cap="none" strike="noStrike">
                <a:solidFill>
                  <a:srgbClr val="ECF0F1"/>
                </a:solidFill>
                <a:latin typeface="Consolas"/>
                <a:ea typeface="Consolas"/>
                <a:cs typeface="Consolas"/>
                <a:sym typeface="Consolas"/>
              </a:rPr>
              <a:t>2048→896Mi</a:t>
            </a:r>
            <a:endParaRPr b="0" i="0" sz="856" u="none" cap="none" strike="noStrike">
              <a:solidFill>
                <a:schemeClr val="dk1"/>
              </a:solidFill>
              <a:latin typeface="Calibri"/>
              <a:ea typeface="Calibri"/>
              <a:cs typeface="Calibri"/>
              <a:sym typeface="Calibri"/>
            </a:endParaRPr>
          </a:p>
        </p:txBody>
      </p:sp>
      <p:sp>
        <p:nvSpPr>
          <p:cNvPr id="1370" name="Google Shape;1370;p46"/>
          <p:cNvSpPr/>
          <p:nvPr/>
        </p:nvSpPr>
        <p:spPr>
          <a:xfrm>
            <a:off x="6111842" y="1688664"/>
            <a:ext cx="696000" cy="36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7AE60"/>
              </a:buClr>
              <a:buSzPts val="904"/>
              <a:buFont typeface="Calibri"/>
              <a:buNone/>
            </a:pPr>
            <a:r>
              <a:rPr b="1" i="0" lang="en-US" sz="904" u="none" cap="none" strike="noStrike">
                <a:solidFill>
                  <a:srgbClr val="27AE60"/>
                </a:solidFill>
                <a:latin typeface="Calibri"/>
                <a:ea typeface="Calibri"/>
                <a:cs typeface="Calibri"/>
                <a:sym typeface="Calibri"/>
              </a:rPr>
              <a:t>-56%</a:t>
            </a:r>
            <a:endParaRPr b="0" i="0" sz="904" u="none" cap="none" strike="noStrike">
              <a:solidFill>
                <a:schemeClr val="dk1"/>
              </a:solidFill>
              <a:latin typeface="Calibri"/>
              <a:ea typeface="Calibri"/>
              <a:cs typeface="Calibri"/>
              <a:sym typeface="Calibri"/>
            </a:endParaRPr>
          </a:p>
        </p:txBody>
      </p:sp>
      <p:sp>
        <p:nvSpPr>
          <p:cNvPr id="1371" name="Google Shape;1371;p46"/>
          <p:cNvSpPr/>
          <p:nvPr/>
        </p:nvSpPr>
        <p:spPr>
          <a:xfrm>
            <a:off x="6825220" y="1688664"/>
            <a:ext cx="696000" cy="36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BCD4"/>
              </a:buClr>
              <a:buSzPts val="856"/>
              <a:buFont typeface="Calibri"/>
              <a:buNone/>
            </a:pPr>
            <a:r>
              <a:rPr b="0" i="0" lang="en-US" sz="856" u="none" cap="none" strike="noStrike">
                <a:solidFill>
                  <a:srgbClr val="00BCD4"/>
                </a:solidFill>
                <a:latin typeface="Calibri"/>
                <a:ea typeface="Calibri"/>
                <a:cs typeface="Calibri"/>
                <a:sym typeface="Calibri"/>
              </a:rPr>
              <a:t>12ms</a:t>
            </a:r>
            <a:endParaRPr b="0" i="0" sz="856" u="none" cap="none" strike="noStrike">
              <a:solidFill>
                <a:schemeClr val="dk1"/>
              </a:solidFill>
              <a:latin typeface="Calibri"/>
              <a:ea typeface="Calibri"/>
              <a:cs typeface="Calibri"/>
              <a:sym typeface="Calibri"/>
            </a:endParaRPr>
          </a:p>
        </p:txBody>
      </p:sp>
      <p:sp>
        <p:nvSpPr>
          <p:cNvPr id="1372" name="Google Shape;1372;p46"/>
          <p:cNvSpPr/>
          <p:nvPr/>
        </p:nvSpPr>
        <p:spPr>
          <a:xfrm>
            <a:off x="7538599" y="1688664"/>
            <a:ext cx="1200600" cy="36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09"/>
              <a:buFont typeface="Calibri"/>
              <a:buNone/>
            </a:pPr>
            <a:r>
              <a:rPr b="0" i="0" lang="en-US" sz="809" u="none" cap="none" strike="noStrike">
                <a:solidFill>
                  <a:srgbClr val="90A4AE"/>
                </a:solidFill>
                <a:latin typeface="Calibri"/>
                <a:ea typeface="Calibri"/>
                <a:cs typeface="Calibri"/>
                <a:sym typeface="Calibri"/>
              </a:rPr>
              <a:t>Quarkus efficient</a:t>
            </a:r>
            <a:endParaRPr b="0" i="0" sz="809" u="none" cap="none" strike="noStrike">
              <a:solidFill>
                <a:schemeClr val="dk1"/>
              </a:solidFill>
              <a:latin typeface="Calibri"/>
              <a:ea typeface="Calibri"/>
              <a:cs typeface="Calibri"/>
              <a:sym typeface="Calibri"/>
            </a:endParaRPr>
          </a:p>
        </p:txBody>
      </p:sp>
      <p:sp>
        <p:nvSpPr>
          <p:cNvPr id="1373" name="Google Shape;1373;p46"/>
          <p:cNvSpPr/>
          <p:nvPr/>
        </p:nvSpPr>
        <p:spPr>
          <a:xfrm>
            <a:off x="387412" y="2184551"/>
            <a:ext cx="8264700" cy="504600"/>
          </a:xfrm>
          <a:prstGeom prst="rect">
            <a:avLst/>
          </a:prstGeom>
          <a:solidFill>
            <a:srgbClr val="122040"/>
          </a:solidFill>
          <a:ln>
            <a:noFill/>
          </a:ln>
        </p:spPr>
        <p:txBody>
          <a:bodyPr anchorCtr="0" anchor="ctr" bIns="86975" lIns="86975" spcFirstLastPara="1" rIns="86975" wrap="square" tIns="86975">
            <a:noAutofit/>
          </a:bodyPr>
          <a:lstStyle/>
          <a:p>
            <a:pPr indent="0" lvl="0" marL="0" rtl="0" algn="l">
              <a:spcBef>
                <a:spcPts val="0"/>
              </a:spcBef>
              <a:spcAft>
                <a:spcPts val="0"/>
              </a:spcAft>
              <a:buNone/>
            </a:pPr>
            <a:r>
              <a:t/>
            </a:r>
            <a:endParaRPr/>
          </a:p>
        </p:txBody>
      </p:sp>
      <p:sp>
        <p:nvSpPr>
          <p:cNvPr id="1374" name="Google Shape;1374;p46"/>
          <p:cNvSpPr/>
          <p:nvPr/>
        </p:nvSpPr>
        <p:spPr>
          <a:xfrm>
            <a:off x="387412" y="2315047"/>
            <a:ext cx="243600" cy="243600"/>
          </a:xfrm>
          <a:prstGeom prst="rect">
            <a:avLst/>
          </a:prstGeom>
          <a:solidFill>
            <a:srgbClr val="F5A623"/>
          </a:solidFill>
          <a:ln>
            <a:noFill/>
          </a:ln>
        </p:spPr>
        <p:txBody>
          <a:bodyPr anchorCtr="0" anchor="ctr" bIns="86975" lIns="86975" spcFirstLastPara="1" rIns="86975" wrap="square" tIns="86975">
            <a:noAutofit/>
          </a:bodyPr>
          <a:lstStyle/>
          <a:p>
            <a:pPr indent="0" lvl="0" marL="0" rtl="0" algn="l">
              <a:spcBef>
                <a:spcPts val="0"/>
              </a:spcBef>
              <a:spcAft>
                <a:spcPts val="0"/>
              </a:spcAft>
              <a:buNone/>
            </a:pPr>
            <a:r>
              <a:t/>
            </a:r>
            <a:endParaRPr/>
          </a:p>
        </p:txBody>
      </p:sp>
      <p:sp>
        <p:nvSpPr>
          <p:cNvPr id="1375" name="Google Shape;1375;p46"/>
          <p:cNvSpPr/>
          <p:nvPr/>
        </p:nvSpPr>
        <p:spPr>
          <a:xfrm>
            <a:off x="387412" y="2315047"/>
            <a:ext cx="243600" cy="243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66"/>
              <a:buFont typeface="Calibri"/>
              <a:buNone/>
            </a:pPr>
            <a:r>
              <a:rPr b="1" i="0" lang="en-US" sz="666" u="none" cap="none" strike="noStrike">
                <a:solidFill>
                  <a:srgbClr val="FFFFFF"/>
                </a:solidFill>
                <a:latin typeface="Calibri"/>
                <a:ea typeface="Calibri"/>
                <a:cs typeface="Calibri"/>
                <a:sym typeface="Calibri"/>
              </a:rPr>
              <a:t>SB</a:t>
            </a:r>
            <a:endParaRPr b="0" i="0" sz="666" u="none" cap="none" strike="noStrike">
              <a:solidFill>
                <a:schemeClr val="dk1"/>
              </a:solidFill>
              <a:latin typeface="Calibri"/>
              <a:ea typeface="Calibri"/>
              <a:cs typeface="Calibri"/>
              <a:sym typeface="Calibri"/>
            </a:endParaRPr>
          </a:p>
        </p:txBody>
      </p:sp>
      <p:sp>
        <p:nvSpPr>
          <p:cNvPr id="1376" name="Google Shape;1376;p46"/>
          <p:cNvSpPr/>
          <p:nvPr/>
        </p:nvSpPr>
        <p:spPr>
          <a:xfrm>
            <a:off x="665804" y="2254149"/>
            <a:ext cx="1809600" cy="36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904"/>
              <a:buFont typeface="Calibri"/>
              <a:buNone/>
            </a:pPr>
            <a:r>
              <a:rPr b="0" i="0" lang="en-US" sz="904" u="none" cap="none" strike="noStrike">
                <a:solidFill>
                  <a:srgbClr val="ECF0F1"/>
                </a:solidFill>
                <a:latin typeface="Calibri"/>
                <a:ea typeface="Calibri"/>
                <a:cs typeface="Calibri"/>
                <a:sym typeface="Calibri"/>
              </a:rPr>
              <a:t>orders/order-processor</a:t>
            </a:r>
            <a:endParaRPr b="0" i="0" sz="904" u="none" cap="none" strike="noStrike">
              <a:solidFill>
                <a:schemeClr val="dk1"/>
              </a:solidFill>
              <a:latin typeface="Calibri"/>
              <a:ea typeface="Calibri"/>
              <a:cs typeface="Calibri"/>
              <a:sym typeface="Calibri"/>
            </a:endParaRPr>
          </a:p>
        </p:txBody>
      </p:sp>
      <p:sp>
        <p:nvSpPr>
          <p:cNvPr id="1377" name="Google Shape;1377;p46"/>
          <p:cNvSpPr/>
          <p:nvPr/>
        </p:nvSpPr>
        <p:spPr>
          <a:xfrm>
            <a:off x="2492750" y="2254149"/>
            <a:ext cx="1305000" cy="36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856"/>
              <a:buFont typeface="Consolas"/>
              <a:buNone/>
            </a:pPr>
            <a:r>
              <a:rPr b="0" i="0" lang="en-US" sz="856" u="none" cap="none" strike="noStrike">
                <a:solidFill>
                  <a:srgbClr val="ECF0F1"/>
                </a:solidFill>
                <a:latin typeface="Consolas"/>
                <a:ea typeface="Consolas"/>
                <a:cs typeface="Consolas"/>
                <a:sym typeface="Consolas"/>
              </a:rPr>
              <a:t>1000m→400m</a:t>
            </a:r>
            <a:endParaRPr b="0" i="0" sz="856" u="none" cap="none" strike="noStrike">
              <a:solidFill>
                <a:schemeClr val="dk1"/>
              </a:solidFill>
              <a:latin typeface="Calibri"/>
              <a:ea typeface="Calibri"/>
              <a:cs typeface="Calibri"/>
              <a:sym typeface="Calibri"/>
            </a:endParaRPr>
          </a:p>
        </p:txBody>
      </p:sp>
      <p:sp>
        <p:nvSpPr>
          <p:cNvPr id="1378" name="Google Shape;1378;p46"/>
          <p:cNvSpPr/>
          <p:nvPr/>
        </p:nvSpPr>
        <p:spPr>
          <a:xfrm>
            <a:off x="3815110" y="2254149"/>
            <a:ext cx="696000" cy="36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7AE60"/>
              </a:buClr>
              <a:buSzPts val="904"/>
              <a:buFont typeface="Calibri"/>
              <a:buNone/>
            </a:pPr>
            <a:r>
              <a:rPr b="1" i="0" lang="en-US" sz="904" u="none" cap="none" strike="noStrike">
                <a:solidFill>
                  <a:srgbClr val="27AE60"/>
                </a:solidFill>
                <a:latin typeface="Calibri"/>
                <a:ea typeface="Calibri"/>
                <a:cs typeface="Calibri"/>
                <a:sym typeface="Calibri"/>
              </a:rPr>
              <a:t>-60%</a:t>
            </a:r>
            <a:endParaRPr b="0" i="0" sz="904" u="none" cap="none" strike="noStrike">
              <a:solidFill>
                <a:schemeClr val="dk1"/>
              </a:solidFill>
              <a:latin typeface="Calibri"/>
              <a:ea typeface="Calibri"/>
              <a:cs typeface="Calibri"/>
              <a:sym typeface="Calibri"/>
            </a:endParaRPr>
          </a:p>
        </p:txBody>
      </p:sp>
      <p:sp>
        <p:nvSpPr>
          <p:cNvPr id="1379" name="Google Shape;1379;p46"/>
          <p:cNvSpPr/>
          <p:nvPr/>
        </p:nvSpPr>
        <p:spPr>
          <a:xfrm>
            <a:off x="4528489" y="2254149"/>
            <a:ext cx="1565700" cy="36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856"/>
              <a:buFont typeface="Consolas"/>
              <a:buNone/>
            </a:pPr>
            <a:r>
              <a:rPr b="0" i="0" lang="en-US" sz="856" u="none" cap="none" strike="noStrike">
                <a:solidFill>
                  <a:srgbClr val="ECF0F1"/>
                </a:solidFill>
                <a:latin typeface="Consolas"/>
                <a:ea typeface="Consolas"/>
                <a:cs typeface="Consolas"/>
                <a:sym typeface="Consolas"/>
              </a:rPr>
              <a:t>3072→2688Mi</a:t>
            </a:r>
            <a:endParaRPr b="0" i="0" sz="856" u="none" cap="none" strike="noStrike">
              <a:solidFill>
                <a:schemeClr val="dk1"/>
              </a:solidFill>
              <a:latin typeface="Calibri"/>
              <a:ea typeface="Calibri"/>
              <a:cs typeface="Calibri"/>
              <a:sym typeface="Calibri"/>
            </a:endParaRPr>
          </a:p>
        </p:txBody>
      </p:sp>
      <p:sp>
        <p:nvSpPr>
          <p:cNvPr id="1380" name="Google Shape;1380;p46"/>
          <p:cNvSpPr/>
          <p:nvPr/>
        </p:nvSpPr>
        <p:spPr>
          <a:xfrm>
            <a:off x="6111842" y="2254149"/>
            <a:ext cx="696000" cy="36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A623"/>
              </a:buClr>
              <a:buSzPts val="904"/>
              <a:buFont typeface="Calibri"/>
              <a:buNone/>
            </a:pPr>
            <a:r>
              <a:rPr b="1" i="0" lang="en-US" sz="904" u="none" cap="none" strike="noStrike">
                <a:solidFill>
                  <a:srgbClr val="F5A623"/>
                </a:solidFill>
                <a:latin typeface="Calibri"/>
                <a:ea typeface="Calibri"/>
                <a:cs typeface="Calibri"/>
                <a:sym typeface="Calibri"/>
              </a:rPr>
              <a:t>-12%</a:t>
            </a:r>
            <a:endParaRPr b="0" i="0" sz="904" u="none" cap="none" strike="noStrike">
              <a:solidFill>
                <a:schemeClr val="dk1"/>
              </a:solidFill>
              <a:latin typeface="Calibri"/>
              <a:ea typeface="Calibri"/>
              <a:cs typeface="Calibri"/>
              <a:sym typeface="Calibri"/>
            </a:endParaRPr>
          </a:p>
        </p:txBody>
      </p:sp>
      <p:sp>
        <p:nvSpPr>
          <p:cNvPr id="1381" name="Google Shape;1381;p46"/>
          <p:cNvSpPr/>
          <p:nvPr/>
        </p:nvSpPr>
        <p:spPr>
          <a:xfrm>
            <a:off x="6825220" y="2254149"/>
            <a:ext cx="696000" cy="36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4855"/>
              </a:buClr>
              <a:buSzPts val="856"/>
              <a:buFont typeface="Calibri"/>
              <a:buNone/>
            </a:pPr>
            <a:r>
              <a:rPr b="0" i="0" lang="en-US" sz="856" u="none" cap="none" strike="noStrike">
                <a:solidFill>
                  <a:srgbClr val="E84855"/>
                </a:solidFill>
                <a:latin typeface="Calibri"/>
                <a:ea typeface="Calibri"/>
                <a:cs typeface="Calibri"/>
                <a:sym typeface="Calibri"/>
              </a:rPr>
              <a:t>220ms</a:t>
            </a:r>
            <a:endParaRPr b="0" i="0" sz="856" u="none" cap="none" strike="noStrike">
              <a:solidFill>
                <a:schemeClr val="dk1"/>
              </a:solidFill>
              <a:latin typeface="Calibri"/>
              <a:ea typeface="Calibri"/>
              <a:cs typeface="Calibri"/>
              <a:sym typeface="Calibri"/>
            </a:endParaRPr>
          </a:p>
        </p:txBody>
      </p:sp>
      <p:sp>
        <p:nvSpPr>
          <p:cNvPr id="1382" name="Google Shape;1382;p46"/>
          <p:cNvSpPr/>
          <p:nvPr/>
        </p:nvSpPr>
        <p:spPr>
          <a:xfrm>
            <a:off x="7538599" y="2254149"/>
            <a:ext cx="1200600" cy="36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09"/>
              <a:buFont typeface="Calibri"/>
              <a:buNone/>
            </a:pPr>
            <a:r>
              <a:rPr b="0" i="0" lang="en-US" sz="809" u="none" cap="none" strike="noStrike">
                <a:solidFill>
                  <a:srgbClr val="90A4AE"/>
                </a:solidFill>
                <a:latin typeface="Calibri"/>
                <a:ea typeface="Calibri"/>
                <a:cs typeface="Calibri"/>
                <a:sym typeface="Calibri"/>
              </a:rPr>
              <a:t>Burstable→Guaranteed</a:t>
            </a:r>
            <a:endParaRPr b="0" i="0" sz="809" u="none" cap="none" strike="noStrike">
              <a:solidFill>
                <a:schemeClr val="dk1"/>
              </a:solidFill>
              <a:latin typeface="Calibri"/>
              <a:ea typeface="Calibri"/>
              <a:cs typeface="Calibri"/>
              <a:sym typeface="Calibri"/>
            </a:endParaRPr>
          </a:p>
        </p:txBody>
      </p:sp>
      <p:sp>
        <p:nvSpPr>
          <p:cNvPr id="1383" name="Google Shape;1383;p46"/>
          <p:cNvSpPr/>
          <p:nvPr/>
        </p:nvSpPr>
        <p:spPr>
          <a:xfrm>
            <a:off x="387412" y="2750036"/>
            <a:ext cx="8264700" cy="504600"/>
          </a:xfrm>
          <a:prstGeom prst="rect">
            <a:avLst/>
          </a:prstGeom>
          <a:solidFill>
            <a:srgbClr val="0F1C35"/>
          </a:solidFill>
          <a:ln>
            <a:noFill/>
          </a:ln>
        </p:spPr>
        <p:txBody>
          <a:bodyPr anchorCtr="0" anchor="ctr" bIns="86975" lIns="86975" spcFirstLastPara="1" rIns="86975" wrap="square" tIns="86975">
            <a:noAutofit/>
          </a:bodyPr>
          <a:lstStyle/>
          <a:p>
            <a:pPr indent="0" lvl="0" marL="0" rtl="0" algn="l">
              <a:spcBef>
                <a:spcPts val="0"/>
              </a:spcBef>
              <a:spcAft>
                <a:spcPts val="0"/>
              </a:spcAft>
              <a:buNone/>
            </a:pPr>
            <a:r>
              <a:t/>
            </a:r>
            <a:endParaRPr/>
          </a:p>
        </p:txBody>
      </p:sp>
      <p:sp>
        <p:nvSpPr>
          <p:cNvPr id="1384" name="Google Shape;1384;p46"/>
          <p:cNvSpPr/>
          <p:nvPr/>
        </p:nvSpPr>
        <p:spPr>
          <a:xfrm>
            <a:off x="387412" y="2880533"/>
            <a:ext cx="243600" cy="243600"/>
          </a:xfrm>
          <a:prstGeom prst="rect">
            <a:avLst/>
          </a:prstGeom>
          <a:solidFill>
            <a:srgbClr val="00BCD4"/>
          </a:solidFill>
          <a:ln>
            <a:noFill/>
          </a:ln>
        </p:spPr>
        <p:txBody>
          <a:bodyPr anchorCtr="0" anchor="ctr" bIns="86975" lIns="86975" spcFirstLastPara="1" rIns="86975" wrap="square" tIns="86975">
            <a:noAutofit/>
          </a:bodyPr>
          <a:lstStyle/>
          <a:p>
            <a:pPr indent="0" lvl="0" marL="0" rtl="0" algn="l">
              <a:spcBef>
                <a:spcPts val="0"/>
              </a:spcBef>
              <a:spcAft>
                <a:spcPts val="0"/>
              </a:spcAft>
              <a:buNone/>
            </a:pPr>
            <a:r>
              <a:t/>
            </a:r>
            <a:endParaRPr/>
          </a:p>
        </p:txBody>
      </p:sp>
      <p:sp>
        <p:nvSpPr>
          <p:cNvPr id="1385" name="Google Shape;1385;p46"/>
          <p:cNvSpPr/>
          <p:nvPr/>
        </p:nvSpPr>
        <p:spPr>
          <a:xfrm>
            <a:off x="387412" y="2880533"/>
            <a:ext cx="243600" cy="243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66"/>
              <a:buFont typeface="Calibri"/>
              <a:buNone/>
            </a:pPr>
            <a:r>
              <a:rPr b="1" i="0" lang="en-US" sz="666" u="none" cap="none" strike="noStrike">
                <a:solidFill>
                  <a:srgbClr val="FFFFFF"/>
                </a:solidFill>
                <a:latin typeface="Calibri"/>
                <a:ea typeface="Calibri"/>
                <a:cs typeface="Calibri"/>
                <a:sym typeface="Calibri"/>
              </a:rPr>
              <a:t>QK</a:t>
            </a:r>
            <a:endParaRPr b="0" i="0" sz="666" u="none" cap="none" strike="noStrike">
              <a:solidFill>
                <a:schemeClr val="dk1"/>
              </a:solidFill>
              <a:latin typeface="Calibri"/>
              <a:ea typeface="Calibri"/>
              <a:cs typeface="Calibri"/>
              <a:sym typeface="Calibri"/>
            </a:endParaRPr>
          </a:p>
        </p:txBody>
      </p:sp>
      <p:sp>
        <p:nvSpPr>
          <p:cNvPr id="1386" name="Google Shape;1386;p46"/>
          <p:cNvSpPr/>
          <p:nvPr/>
        </p:nvSpPr>
        <p:spPr>
          <a:xfrm>
            <a:off x="665804" y="2819634"/>
            <a:ext cx="1809600" cy="36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904"/>
              <a:buFont typeface="Calibri"/>
              <a:buNone/>
            </a:pPr>
            <a:r>
              <a:rPr b="0" i="0" lang="en-US" sz="904" u="none" cap="none" strike="noStrike">
                <a:solidFill>
                  <a:srgbClr val="ECF0F1"/>
                </a:solidFill>
                <a:latin typeface="Calibri"/>
                <a:ea typeface="Calibri"/>
                <a:cs typeface="Calibri"/>
                <a:sym typeface="Calibri"/>
              </a:rPr>
              <a:t>orders/inventory-service</a:t>
            </a:r>
            <a:endParaRPr b="0" i="0" sz="904" u="none" cap="none" strike="noStrike">
              <a:solidFill>
                <a:schemeClr val="dk1"/>
              </a:solidFill>
              <a:latin typeface="Calibri"/>
              <a:ea typeface="Calibri"/>
              <a:cs typeface="Calibri"/>
              <a:sym typeface="Calibri"/>
            </a:endParaRPr>
          </a:p>
        </p:txBody>
      </p:sp>
      <p:sp>
        <p:nvSpPr>
          <p:cNvPr id="1387" name="Google Shape;1387;p46"/>
          <p:cNvSpPr/>
          <p:nvPr/>
        </p:nvSpPr>
        <p:spPr>
          <a:xfrm>
            <a:off x="2492750" y="2819634"/>
            <a:ext cx="1305000" cy="36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856"/>
              <a:buFont typeface="Consolas"/>
              <a:buNone/>
            </a:pPr>
            <a:r>
              <a:rPr b="0" i="0" lang="en-US" sz="856" u="none" cap="none" strike="noStrike">
                <a:solidFill>
                  <a:srgbClr val="ECF0F1"/>
                </a:solidFill>
                <a:latin typeface="Consolas"/>
                <a:ea typeface="Consolas"/>
                <a:cs typeface="Consolas"/>
                <a:sym typeface="Consolas"/>
              </a:rPr>
              <a:t>500m→300m</a:t>
            </a:r>
            <a:endParaRPr b="0" i="0" sz="856" u="none" cap="none" strike="noStrike">
              <a:solidFill>
                <a:schemeClr val="dk1"/>
              </a:solidFill>
              <a:latin typeface="Calibri"/>
              <a:ea typeface="Calibri"/>
              <a:cs typeface="Calibri"/>
              <a:sym typeface="Calibri"/>
            </a:endParaRPr>
          </a:p>
        </p:txBody>
      </p:sp>
      <p:sp>
        <p:nvSpPr>
          <p:cNvPr id="1388" name="Google Shape;1388;p46"/>
          <p:cNvSpPr/>
          <p:nvPr/>
        </p:nvSpPr>
        <p:spPr>
          <a:xfrm>
            <a:off x="3815110" y="2819634"/>
            <a:ext cx="696000" cy="36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7AE60"/>
              </a:buClr>
              <a:buSzPts val="904"/>
              <a:buFont typeface="Calibri"/>
              <a:buNone/>
            </a:pPr>
            <a:r>
              <a:rPr b="1" i="0" lang="en-US" sz="904" u="none" cap="none" strike="noStrike">
                <a:solidFill>
                  <a:srgbClr val="27AE60"/>
                </a:solidFill>
                <a:latin typeface="Calibri"/>
                <a:ea typeface="Calibri"/>
                <a:cs typeface="Calibri"/>
                <a:sym typeface="Calibri"/>
              </a:rPr>
              <a:t>-40%</a:t>
            </a:r>
            <a:endParaRPr b="0" i="0" sz="904" u="none" cap="none" strike="noStrike">
              <a:solidFill>
                <a:schemeClr val="dk1"/>
              </a:solidFill>
              <a:latin typeface="Calibri"/>
              <a:ea typeface="Calibri"/>
              <a:cs typeface="Calibri"/>
              <a:sym typeface="Calibri"/>
            </a:endParaRPr>
          </a:p>
        </p:txBody>
      </p:sp>
      <p:sp>
        <p:nvSpPr>
          <p:cNvPr id="1389" name="Google Shape;1389;p46"/>
          <p:cNvSpPr/>
          <p:nvPr/>
        </p:nvSpPr>
        <p:spPr>
          <a:xfrm>
            <a:off x="4528489" y="2819634"/>
            <a:ext cx="1565700" cy="36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856"/>
              <a:buFont typeface="Consolas"/>
              <a:buNone/>
            </a:pPr>
            <a:r>
              <a:rPr b="0" i="0" lang="en-US" sz="856" u="none" cap="none" strike="noStrike">
                <a:solidFill>
                  <a:srgbClr val="ECF0F1"/>
                </a:solidFill>
                <a:latin typeface="Consolas"/>
                <a:ea typeface="Consolas"/>
                <a:cs typeface="Consolas"/>
                <a:sym typeface="Consolas"/>
              </a:rPr>
              <a:t>1024→576Mi</a:t>
            </a:r>
            <a:endParaRPr b="0" i="0" sz="856" u="none" cap="none" strike="noStrike">
              <a:solidFill>
                <a:schemeClr val="dk1"/>
              </a:solidFill>
              <a:latin typeface="Calibri"/>
              <a:ea typeface="Calibri"/>
              <a:cs typeface="Calibri"/>
              <a:sym typeface="Calibri"/>
            </a:endParaRPr>
          </a:p>
        </p:txBody>
      </p:sp>
      <p:sp>
        <p:nvSpPr>
          <p:cNvPr id="1390" name="Google Shape;1390;p46"/>
          <p:cNvSpPr/>
          <p:nvPr/>
        </p:nvSpPr>
        <p:spPr>
          <a:xfrm>
            <a:off x="6111842" y="2819634"/>
            <a:ext cx="696000" cy="36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7AE60"/>
              </a:buClr>
              <a:buSzPts val="904"/>
              <a:buFont typeface="Calibri"/>
              <a:buNone/>
            </a:pPr>
            <a:r>
              <a:rPr b="1" i="0" lang="en-US" sz="904" u="none" cap="none" strike="noStrike">
                <a:solidFill>
                  <a:srgbClr val="27AE60"/>
                </a:solidFill>
                <a:latin typeface="Calibri"/>
                <a:ea typeface="Calibri"/>
                <a:cs typeface="Calibri"/>
                <a:sym typeface="Calibri"/>
              </a:rPr>
              <a:t>-44%</a:t>
            </a:r>
            <a:endParaRPr b="0" i="0" sz="904" u="none" cap="none" strike="noStrike">
              <a:solidFill>
                <a:schemeClr val="dk1"/>
              </a:solidFill>
              <a:latin typeface="Calibri"/>
              <a:ea typeface="Calibri"/>
              <a:cs typeface="Calibri"/>
              <a:sym typeface="Calibri"/>
            </a:endParaRPr>
          </a:p>
        </p:txBody>
      </p:sp>
      <p:sp>
        <p:nvSpPr>
          <p:cNvPr id="1391" name="Google Shape;1391;p46"/>
          <p:cNvSpPr/>
          <p:nvPr/>
        </p:nvSpPr>
        <p:spPr>
          <a:xfrm>
            <a:off x="6825220" y="2819634"/>
            <a:ext cx="696000" cy="36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BCD4"/>
              </a:buClr>
              <a:buSzPts val="856"/>
              <a:buFont typeface="Calibri"/>
              <a:buNone/>
            </a:pPr>
            <a:r>
              <a:rPr b="0" i="0" lang="en-US" sz="856" u="none" cap="none" strike="noStrike">
                <a:solidFill>
                  <a:srgbClr val="00BCD4"/>
                </a:solidFill>
                <a:latin typeface="Calibri"/>
                <a:ea typeface="Calibri"/>
                <a:cs typeface="Calibri"/>
                <a:sym typeface="Calibri"/>
              </a:rPr>
              <a:t>8ms</a:t>
            </a:r>
            <a:endParaRPr b="0" i="0" sz="856" u="none" cap="none" strike="noStrike">
              <a:solidFill>
                <a:schemeClr val="dk1"/>
              </a:solidFill>
              <a:latin typeface="Calibri"/>
              <a:ea typeface="Calibri"/>
              <a:cs typeface="Calibri"/>
              <a:sym typeface="Calibri"/>
            </a:endParaRPr>
          </a:p>
        </p:txBody>
      </p:sp>
      <p:sp>
        <p:nvSpPr>
          <p:cNvPr id="1392" name="Google Shape;1392;p46"/>
          <p:cNvSpPr/>
          <p:nvPr/>
        </p:nvSpPr>
        <p:spPr>
          <a:xfrm>
            <a:off x="7538599" y="2819634"/>
            <a:ext cx="1200600" cy="36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809"/>
              <a:buFont typeface="Calibri"/>
              <a:buNone/>
            </a:pPr>
            <a:r>
              <a:t/>
            </a:r>
            <a:endParaRPr b="0" i="0" sz="809" u="none" cap="none" strike="noStrike">
              <a:solidFill>
                <a:schemeClr val="dk1"/>
              </a:solidFill>
              <a:latin typeface="Calibri"/>
              <a:ea typeface="Calibri"/>
              <a:cs typeface="Calibri"/>
              <a:sym typeface="Calibri"/>
            </a:endParaRPr>
          </a:p>
        </p:txBody>
      </p:sp>
      <p:sp>
        <p:nvSpPr>
          <p:cNvPr id="1393" name="Google Shape;1393;p46"/>
          <p:cNvSpPr/>
          <p:nvPr/>
        </p:nvSpPr>
        <p:spPr>
          <a:xfrm>
            <a:off x="387412" y="3315521"/>
            <a:ext cx="8264700" cy="504600"/>
          </a:xfrm>
          <a:prstGeom prst="rect">
            <a:avLst/>
          </a:prstGeom>
          <a:solidFill>
            <a:srgbClr val="122040"/>
          </a:solidFill>
          <a:ln>
            <a:noFill/>
          </a:ln>
        </p:spPr>
        <p:txBody>
          <a:bodyPr anchorCtr="0" anchor="ctr" bIns="86975" lIns="86975" spcFirstLastPara="1" rIns="86975" wrap="square" tIns="86975">
            <a:noAutofit/>
          </a:bodyPr>
          <a:lstStyle/>
          <a:p>
            <a:pPr indent="0" lvl="0" marL="0" rtl="0" algn="l">
              <a:spcBef>
                <a:spcPts val="0"/>
              </a:spcBef>
              <a:spcAft>
                <a:spcPts val="0"/>
              </a:spcAft>
              <a:buNone/>
            </a:pPr>
            <a:r>
              <a:t/>
            </a:r>
            <a:endParaRPr/>
          </a:p>
        </p:txBody>
      </p:sp>
      <p:sp>
        <p:nvSpPr>
          <p:cNvPr id="1394" name="Google Shape;1394;p46"/>
          <p:cNvSpPr/>
          <p:nvPr/>
        </p:nvSpPr>
        <p:spPr>
          <a:xfrm>
            <a:off x="387412" y="3446018"/>
            <a:ext cx="243600" cy="243600"/>
          </a:xfrm>
          <a:prstGeom prst="rect">
            <a:avLst/>
          </a:prstGeom>
          <a:solidFill>
            <a:srgbClr val="F5A623"/>
          </a:solidFill>
          <a:ln>
            <a:noFill/>
          </a:ln>
        </p:spPr>
        <p:txBody>
          <a:bodyPr anchorCtr="0" anchor="ctr" bIns="86975" lIns="86975" spcFirstLastPara="1" rIns="86975" wrap="square" tIns="86975">
            <a:noAutofit/>
          </a:bodyPr>
          <a:lstStyle/>
          <a:p>
            <a:pPr indent="0" lvl="0" marL="0" rtl="0" algn="l">
              <a:spcBef>
                <a:spcPts val="0"/>
              </a:spcBef>
              <a:spcAft>
                <a:spcPts val="0"/>
              </a:spcAft>
              <a:buNone/>
            </a:pPr>
            <a:r>
              <a:t/>
            </a:r>
            <a:endParaRPr/>
          </a:p>
        </p:txBody>
      </p:sp>
      <p:sp>
        <p:nvSpPr>
          <p:cNvPr id="1395" name="Google Shape;1395;p46"/>
          <p:cNvSpPr/>
          <p:nvPr/>
        </p:nvSpPr>
        <p:spPr>
          <a:xfrm>
            <a:off x="387412" y="3446018"/>
            <a:ext cx="243600" cy="243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66"/>
              <a:buFont typeface="Calibri"/>
              <a:buNone/>
            </a:pPr>
            <a:r>
              <a:rPr b="1" i="0" lang="en-US" sz="666" u="none" cap="none" strike="noStrike">
                <a:solidFill>
                  <a:srgbClr val="FFFFFF"/>
                </a:solidFill>
                <a:latin typeface="Calibri"/>
                <a:ea typeface="Calibri"/>
                <a:cs typeface="Calibri"/>
                <a:sym typeface="Calibri"/>
              </a:rPr>
              <a:t>SB</a:t>
            </a:r>
            <a:endParaRPr b="0" i="0" sz="666" u="none" cap="none" strike="noStrike">
              <a:solidFill>
                <a:schemeClr val="dk1"/>
              </a:solidFill>
              <a:latin typeface="Calibri"/>
              <a:ea typeface="Calibri"/>
              <a:cs typeface="Calibri"/>
              <a:sym typeface="Calibri"/>
            </a:endParaRPr>
          </a:p>
        </p:txBody>
      </p:sp>
      <p:sp>
        <p:nvSpPr>
          <p:cNvPr id="1396" name="Google Shape;1396;p46"/>
          <p:cNvSpPr/>
          <p:nvPr/>
        </p:nvSpPr>
        <p:spPr>
          <a:xfrm>
            <a:off x="665804" y="3385119"/>
            <a:ext cx="1809600" cy="36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904"/>
              <a:buFont typeface="Calibri"/>
              <a:buNone/>
            </a:pPr>
            <a:r>
              <a:rPr b="0" i="0" lang="en-US" sz="904" u="none" cap="none" strike="noStrike">
                <a:solidFill>
                  <a:srgbClr val="ECF0F1"/>
                </a:solidFill>
                <a:latin typeface="Calibri"/>
                <a:ea typeface="Calibri"/>
                <a:cs typeface="Calibri"/>
                <a:sym typeface="Calibri"/>
              </a:rPr>
              <a:t>notifications/email-service</a:t>
            </a:r>
            <a:endParaRPr b="0" i="0" sz="904" u="none" cap="none" strike="noStrike">
              <a:solidFill>
                <a:schemeClr val="dk1"/>
              </a:solidFill>
              <a:latin typeface="Calibri"/>
              <a:ea typeface="Calibri"/>
              <a:cs typeface="Calibri"/>
              <a:sym typeface="Calibri"/>
            </a:endParaRPr>
          </a:p>
        </p:txBody>
      </p:sp>
      <p:sp>
        <p:nvSpPr>
          <p:cNvPr id="1397" name="Google Shape;1397;p46"/>
          <p:cNvSpPr/>
          <p:nvPr/>
        </p:nvSpPr>
        <p:spPr>
          <a:xfrm>
            <a:off x="2492750" y="3385119"/>
            <a:ext cx="1305000" cy="36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856"/>
              <a:buFont typeface="Consolas"/>
              <a:buNone/>
            </a:pPr>
            <a:r>
              <a:rPr b="0" i="0" lang="en-US" sz="856" u="none" cap="none" strike="noStrike">
                <a:solidFill>
                  <a:srgbClr val="ECF0F1"/>
                </a:solidFill>
                <a:latin typeface="Consolas"/>
                <a:ea typeface="Consolas"/>
                <a:cs typeface="Consolas"/>
                <a:sym typeface="Consolas"/>
              </a:rPr>
              <a:t>500m→200m</a:t>
            </a:r>
            <a:endParaRPr b="0" i="0" sz="856" u="none" cap="none" strike="noStrike">
              <a:solidFill>
                <a:schemeClr val="dk1"/>
              </a:solidFill>
              <a:latin typeface="Calibri"/>
              <a:ea typeface="Calibri"/>
              <a:cs typeface="Calibri"/>
              <a:sym typeface="Calibri"/>
            </a:endParaRPr>
          </a:p>
        </p:txBody>
      </p:sp>
      <p:sp>
        <p:nvSpPr>
          <p:cNvPr id="1398" name="Google Shape;1398;p46"/>
          <p:cNvSpPr/>
          <p:nvPr/>
        </p:nvSpPr>
        <p:spPr>
          <a:xfrm>
            <a:off x="3815110" y="3385119"/>
            <a:ext cx="696000" cy="36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7AE60"/>
              </a:buClr>
              <a:buSzPts val="904"/>
              <a:buFont typeface="Calibri"/>
              <a:buNone/>
            </a:pPr>
            <a:r>
              <a:rPr b="1" i="0" lang="en-US" sz="904" u="none" cap="none" strike="noStrike">
                <a:solidFill>
                  <a:srgbClr val="27AE60"/>
                </a:solidFill>
                <a:latin typeface="Calibri"/>
                <a:ea typeface="Calibri"/>
                <a:cs typeface="Calibri"/>
                <a:sym typeface="Calibri"/>
              </a:rPr>
              <a:t>-60%</a:t>
            </a:r>
            <a:endParaRPr b="0" i="0" sz="904" u="none" cap="none" strike="noStrike">
              <a:solidFill>
                <a:schemeClr val="dk1"/>
              </a:solidFill>
              <a:latin typeface="Calibri"/>
              <a:ea typeface="Calibri"/>
              <a:cs typeface="Calibri"/>
              <a:sym typeface="Calibri"/>
            </a:endParaRPr>
          </a:p>
        </p:txBody>
      </p:sp>
      <p:sp>
        <p:nvSpPr>
          <p:cNvPr id="1399" name="Google Shape;1399;p46"/>
          <p:cNvSpPr/>
          <p:nvPr/>
        </p:nvSpPr>
        <p:spPr>
          <a:xfrm>
            <a:off x="4528489" y="3385119"/>
            <a:ext cx="1565700" cy="36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856"/>
              <a:buFont typeface="Consolas"/>
              <a:buNone/>
            </a:pPr>
            <a:r>
              <a:rPr b="0" i="0" lang="en-US" sz="856" u="none" cap="none" strike="noStrike">
                <a:solidFill>
                  <a:srgbClr val="ECF0F1"/>
                </a:solidFill>
                <a:latin typeface="Consolas"/>
                <a:ea typeface="Consolas"/>
                <a:cs typeface="Consolas"/>
                <a:sym typeface="Consolas"/>
              </a:rPr>
              <a:t>2048→1216Mi</a:t>
            </a:r>
            <a:endParaRPr b="0" i="0" sz="856" u="none" cap="none" strike="noStrike">
              <a:solidFill>
                <a:schemeClr val="dk1"/>
              </a:solidFill>
              <a:latin typeface="Calibri"/>
              <a:ea typeface="Calibri"/>
              <a:cs typeface="Calibri"/>
              <a:sym typeface="Calibri"/>
            </a:endParaRPr>
          </a:p>
        </p:txBody>
      </p:sp>
      <p:sp>
        <p:nvSpPr>
          <p:cNvPr id="1400" name="Google Shape;1400;p46"/>
          <p:cNvSpPr/>
          <p:nvPr/>
        </p:nvSpPr>
        <p:spPr>
          <a:xfrm>
            <a:off x="6111842" y="3385119"/>
            <a:ext cx="696000" cy="36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7AE60"/>
              </a:buClr>
              <a:buSzPts val="904"/>
              <a:buFont typeface="Calibri"/>
              <a:buNone/>
            </a:pPr>
            <a:r>
              <a:rPr b="1" i="0" lang="en-US" sz="904" u="none" cap="none" strike="noStrike">
                <a:solidFill>
                  <a:srgbClr val="27AE60"/>
                </a:solidFill>
                <a:latin typeface="Calibri"/>
                <a:ea typeface="Calibri"/>
                <a:cs typeface="Calibri"/>
                <a:sym typeface="Calibri"/>
              </a:rPr>
              <a:t>-41%</a:t>
            </a:r>
            <a:endParaRPr b="0" i="0" sz="904" u="none" cap="none" strike="noStrike">
              <a:solidFill>
                <a:schemeClr val="dk1"/>
              </a:solidFill>
              <a:latin typeface="Calibri"/>
              <a:ea typeface="Calibri"/>
              <a:cs typeface="Calibri"/>
              <a:sym typeface="Calibri"/>
            </a:endParaRPr>
          </a:p>
        </p:txBody>
      </p:sp>
      <p:sp>
        <p:nvSpPr>
          <p:cNvPr id="1401" name="Google Shape;1401;p46"/>
          <p:cNvSpPr/>
          <p:nvPr/>
        </p:nvSpPr>
        <p:spPr>
          <a:xfrm>
            <a:off x="6825220" y="3385119"/>
            <a:ext cx="696000" cy="36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A623"/>
              </a:buClr>
              <a:buSzPts val="856"/>
              <a:buFont typeface="Calibri"/>
              <a:buNone/>
            </a:pPr>
            <a:r>
              <a:rPr b="0" i="0" lang="en-US" sz="856" u="none" cap="none" strike="noStrike">
                <a:solidFill>
                  <a:srgbClr val="F5A623"/>
                </a:solidFill>
                <a:latin typeface="Calibri"/>
                <a:ea typeface="Calibri"/>
                <a:cs typeface="Calibri"/>
                <a:sym typeface="Calibri"/>
              </a:rPr>
              <a:t>95ms</a:t>
            </a:r>
            <a:endParaRPr b="0" i="0" sz="856" u="none" cap="none" strike="noStrike">
              <a:solidFill>
                <a:schemeClr val="dk1"/>
              </a:solidFill>
              <a:latin typeface="Calibri"/>
              <a:ea typeface="Calibri"/>
              <a:cs typeface="Calibri"/>
              <a:sym typeface="Calibri"/>
            </a:endParaRPr>
          </a:p>
        </p:txBody>
      </p:sp>
      <p:sp>
        <p:nvSpPr>
          <p:cNvPr id="1402" name="Google Shape;1402;p46"/>
          <p:cNvSpPr/>
          <p:nvPr/>
        </p:nvSpPr>
        <p:spPr>
          <a:xfrm>
            <a:off x="7538599" y="3385119"/>
            <a:ext cx="1200600" cy="36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09"/>
              <a:buFont typeface="Calibri"/>
              <a:buNone/>
            </a:pPr>
            <a:r>
              <a:rPr b="0" i="0" lang="en-US" sz="809" u="none" cap="none" strike="noStrike">
                <a:solidFill>
                  <a:srgbClr val="90A4AE"/>
                </a:solidFill>
                <a:latin typeface="Calibri"/>
                <a:ea typeface="Calibri"/>
                <a:cs typeface="Calibri"/>
                <a:sym typeface="Calibri"/>
              </a:rPr>
              <a:t>Xmx oversized</a:t>
            </a:r>
            <a:endParaRPr b="0" i="0" sz="809" u="none" cap="none" strike="noStrike">
              <a:solidFill>
                <a:schemeClr val="dk1"/>
              </a:solidFill>
              <a:latin typeface="Calibri"/>
              <a:ea typeface="Calibri"/>
              <a:cs typeface="Calibri"/>
              <a:sym typeface="Calibri"/>
            </a:endParaRPr>
          </a:p>
        </p:txBody>
      </p:sp>
      <p:sp>
        <p:nvSpPr>
          <p:cNvPr id="1403" name="Google Shape;1403;p46"/>
          <p:cNvSpPr/>
          <p:nvPr/>
        </p:nvSpPr>
        <p:spPr>
          <a:xfrm>
            <a:off x="387412" y="3881007"/>
            <a:ext cx="8264700" cy="504600"/>
          </a:xfrm>
          <a:prstGeom prst="rect">
            <a:avLst/>
          </a:prstGeom>
          <a:solidFill>
            <a:srgbClr val="0F1C35"/>
          </a:solidFill>
          <a:ln>
            <a:noFill/>
          </a:ln>
        </p:spPr>
        <p:txBody>
          <a:bodyPr anchorCtr="0" anchor="ctr" bIns="86975" lIns="86975" spcFirstLastPara="1" rIns="86975" wrap="square" tIns="86975">
            <a:noAutofit/>
          </a:bodyPr>
          <a:lstStyle/>
          <a:p>
            <a:pPr indent="0" lvl="0" marL="0" rtl="0" algn="l">
              <a:spcBef>
                <a:spcPts val="0"/>
              </a:spcBef>
              <a:spcAft>
                <a:spcPts val="0"/>
              </a:spcAft>
              <a:buNone/>
            </a:pPr>
            <a:r>
              <a:t/>
            </a:r>
            <a:endParaRPr/>
          </a:p>
        </p:txBody>
      </p:sp>
      <p:sp>
        <p:nvSpPr>
          <p:cNvPr id="1404" name="Google Shape;1404;p46"/>
          <p:cNvSpPr/>
          <p:nvPr/>
        </p:nvSpPr>
        <p:spPr>
          <a:xfrm>
            <a:off x="387412" y="4011503"/>
            <a:ext cx="243600" cy="243600"/>
          </a:xfrm>
          <a:prstGeom prst="rect">
            <a:avLst/>
          </a:prstGeom>
          <a:solidFill>
            <a:srgbClr val="F5A623"/>
          </a:solidFill>
          <a:ln>
            <a:noFill/>
          </a:ln>
        </p:spPr>
        <p:txBody>
          <a:bodyPr anchorCtr="0" anchor="ctr" bIns="86975" lIns="86975" spcFirstLastPara="1" rIns="86975" wrap="square" tIns="86975">
            <a:noAutofit/>
          </a:bodyPr>
          <a:lstStyle/>
          <a:p>
            <a:pPr indent="0" lvl="0" marL="0" rtl="0" algn="l">
              <a:spcBef>
                <a:spcPts val="0"/>
              </a:spcBef>
              <a:spcAft>
                <a:spcPts val="0"/>
              </a:spcAft>
              <a:buNone/>
            </a:pPr>
            <a:r>
              <a:t/>
            </a:r>
            <a:endParaRPr/>
          </a:p>
        </p:txBody>
      </p:sp>
      <p:sp>
        <p:nvSpPr>
          <p:cNvPr id="1405" name="Google Shape;1405;p46"/>
          <p:cNvSpPr/>
          <p:nvPr/>
        </p:nvSpPr>
        <p:spPr>
          <a:xfrm>
            <a:off x="387412" y="4011503"/>
            <a:ext cx="243600" cy="243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66"/>
              <a:buFont typeface="Calibri"/>
              <a:buNone/>
            </a:pPr>
            <a:r>
              <a:rPr b="1" i="0" lang="en-US" sz="666" u="none" cap="none" strike="noStrike">
                <a:solidFill>
                  <a:srgbClr val="FFFFFF"/>
                </a:solidFill>
                <a:latin typeface="Calibri"/>
                <a:ea typeface="Calibri"/>
                <a:cs typeface="Calibri"/>
                <a:sym typeface="Calibri"/>
              </a:rPr>
              <a:t>SB</a:t>
            </a:r>
            <a:endParaRPr b="0" i="0" sz="666" u="none" cap="none" strike="noStrike">
              <a:solidFill>
                <a:schemeClr val="dk1"/>
              </a:solidFill>
              <a:latin typeface="Calibri"/>
              <a:ea typeface="Calibri"/>
              <a:cs typeface="Calibri"/>
              <a:sym typeface="Calibri"/>
            </a:endParaRPr>
          </a:p>
        </p:txBody>
      </p:sp>
      <p:sp>
        <p:nvSpPr>
          <p:cNvPr id="1406" name="Google Shape;1406;p46"/>
          <p:cNvSpPr/>
          <p:nvPr/>
        </p:nvSpPr>
        <p:spPr>
          <a:xfrm>
            <a:off x="665804" y="3950605"/>
            <a:ext cx="1809600" cy="36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904"/>
              <a:buFont typeface="Calibri"/>
              <a:buNone/>
            </a:pPr>
            <a:r>
              <a:rPr b="0" i="0" lang="en-US" sz="904" u="none" cap="none" strike="noStrike">
                <a:solidFill>
                  <a:srgbClr val="ECF0F1"/>
                </a:solidFill>
                <a:latin typeface="Calibri"/>
                <a:ea typeface="Calibri"/>
                <a:cs typeface="Calibri"/>
                <a:sym typeface="Calibri"/>
              </a:rPr>
              <a:t>analytics/report-generator</a:t>
            </a:r>
            <a:endParaRPr b="0" i="0" sz="904" u="none" cap="none" strike="noStrike">
              <a:solidFill>
                <a:schemeClr val="dk1"/>
              </a:solidFill>
              <a:latin typeface="Calibri"/>
              <a:ea typeface="Calibri"/>
              <a:cs typeface="Calibri"/>
              <a:sym typeface="Calibri"/>
            </a:endParaRPr>
          </a:p>
        </p:txBody>
      </p:sp>
      <p:sp>
        <p:nvSpPr>
          <p:cNvPr id="1407" name="Google Shape;1407;p46"/>
          <p:cNvSpPr/>
          <p:nvPr/>
        </p:nvSpPr>
        <p:spPr>
          <a:xfrm>
            <a:off x="2492750" y="3950605"/>
            <a:ext cx="1305000" cy="36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856"/>
              <a:buFont typeface="Consolas"/>
              <a:buNone/>
            </a:pPr>
            <a:r>
              <a:rPr b="0" i="0" lang="en-US" sz="856" u="none" cap="none" strike="noStrike">
                <a:solidFill>
                  <a:srgbClr val="ECF0F1"/>
                </a:solidFill>
                <a:latin typeface="Consolas"/>
                <a:ea typeface="Consolas"/>
                <a:cs typeface="Consolas"/>
                <a:sym typeface="Consolas"/>
              </a:rPr>
              <a:t>4000m→900m</a:t>
            </a:r>
            <a:endParaRPr b="0" i="0" sz="856" u="none" cap="none" strike="noStrike">
              <a:solidFill>
                <a:schemeClr val="dk1"/>
              </a:solidFill>
              <a:latin typeface="Calibri"/>
              <a:ea typeface="Calibri"/>
              <a:cs typeface="Calibri"/>
              <a:sym typeface="Calibri"/>
            </a:endParaRPr>
          </a:p>
        </p:txBody>
      </p:sp>
      <p:sp>
        <p:nvSpPr>
          <p:cNvPr id="1408" name="Google Shape;1408;p46"/>
          <p:cNvSpPr/>
          <p:nvPr/>
        </p:nvSpPr>
        <p:spPr>
          <a:xfrm>
            <a:off x="3815110" y="3950605"/>
            <a:ext cx="696000" cy="36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A623"/>
              </a:buClr>
              <a:buSzPts val="904"/>
              <a:buFont typeface="Calibri"/>
              <a:buNone/>
            </a:pPr>
            <a:r>
              <a:rPr b="1" i="0" lang="en-US" sz="904" u="none" cap="none" strike="noStrike">
                <a:solidFill>
                  <a:srgbClr val="F5A623"/>
                </a:solidFill>
                <a:latin typeface="Calibri"/>
                <a:ea typeface="Calibri"/>
                <a:cs typeface="Calibri"/>
                <a:sym typeface="Calibri"/>
              </a:rPr>
              <a:t>-78%</a:t>
            </a:r>
            <a:endParaRPr b="0" i="0" sz="904" u="none" cap="none" strike="noStrike">
              <a:solidFill>
                <a:schemeClr val="dk1"/>
              </a:solidFill>
              <a:latin typeface="Calibri"/>
              <a:ea typeface="Calibri"/>
              <a:cs typeface="Calibri"/>
              <a:sym typeface="Calibri"/>
            </a:endParaRPr>
          </a:p>
        </p:txBody>
      </p:sp>
      <p:sp>
        <p:nvSpPr>
          <p:cNvPr id="1409" name="Google Shape;1409;p46"/>
          <p:cNvSpPr/>
          <p:nvPr/>
        </p:nvSpPr>
        <p:spPr>
          <a:xfrm>
            <a:off x="4528489" y="3950605"/>
            <a:ext cx="1565700" cy="36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856"/>
              <a:buFont typeface="Consolas"/>
              <a:buNone/>
            </a:pPr>
            <a:r>
              <a:rPr b="0" i="0" lang="en-US" sz="856" u="none" cap="none" strike="noStrike">
                <a:solidFill>
                  <a:srgbClr val="ECF0F1"/>
                </a:solidFill>
                <a:latin typeface="Consolas"/>
                <a:ea typeface="Consolas"/>
                <a:cs typeface="Consolas"/>
                <a:sym typeface="Consolas"/>
              </a:rPr>
              <a:t>8192→7808Mi</a:t>
            </a:r>
            <a:endParaRPr b="0" i="0" sz="856" u="none" cap="none" strike="noStrike">
              <a:solidFill>
                <a:schemeClr val="dk1"/>
              </a:solidFill>
              <a:latin typeface="Calibri"/>
              <a:ea typeface="Calibri"/>
              <a:cs typeface="Calibri"/>
              <a:sym typeface="Calibri"/>
            </a:endParaRPr>
          </a:p>
        </p:txBody>
      </p:sp>
      <p:sp>
        <p:nvSpPr>
          <p:cNvPr id="1410" name="Google Shape;1410;p46"/>
          <p:cNvSpPr/>
          <p:nvPr/>
        </p:nvSpPr>
        <p:spPr>
          <a:xfrm>
            <a:off x="6111842" y="3950605"/>
            <a:ext cx="696000" cy="36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A623"/>
              </a:buClr>
              <a:buSzPts val="904"/>
              <a:buFont typeface="Calibri"/>
              <a:buNone/>
            </a:pPr>
            <a:r>
              <a:rPr b="1" i="0" lang="en-US" sz="904" u="none" cap="none" strike="noStrike">
                <a:solidFill>
                  <a:srgbClr val="F5A623"/>
                </a:solidFill>
                <a:latin typeface="Calibri"/>
                <a:ea typeface="Calibri"/>
                <a:cs typeface="Calibri"/>
                <a:sym typeface="Calibri"/>
              </a:rPr>
              <a:t>-5%</a:t>
            </a:r>
            <a:endParaRPr b="0" i="0" sz="904" u="none" cap="none" strike="noStrike">
              <a:solidFill>
                <a:schemeClr val="dk1"/>
              </a:solidFill>
              <a:latin typeface="Calibri"/>
              <a:ea typeface="Calibri"/>
              <a:cs typeface="Calibri"/>
              <a:sym typeface="Calibri"/>
            </a:endParaRPr>
          </a:p>
        </p:txBody>
      </p:sp>
      <p:sp>
        <p:nvSpPr>
          <p:cNvPr id="1411" name="Google Shape;1411;p46"/>
          <p:cNvSpPr/>
          <p:nvPr/>
        </p:nvSpPr>
        <p:spPr>
          <a:xfrm>
            <a:off x="6825220" y="3950605"/>
            <a:ext cx="696000" cy="36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4855"/>
              </a:buClr>
              <a:buSzPts val="856"/>
              <a:buFont typeface="Calibri"/>
              <a:buNone/>
            </a:pPr>
            <a:r>
              <a:rPr b="0" i="0" lang="en-US" sz="856" u="none" cap="none" strike="noStrike">
                <a:solidFill>
                  <a:srgbClr val="E84855"/>
                </a:solidFill>
                <a:latin typeface="Calibri"/>
                <a:ea typeface="Calibri"/>
                <a:cs typeface="Calibri"/>
                <a:sym typeface="Calibri"/>
              </a:rPr>
              <a:t>850ms</a:t>
            </a:r>
            <a:endParaRPr b="0" i="0" sz="856" u="none" cap="none" strike="noStrike">
              <a:solidFill>
                <a:schemeClr val="dk1"/>
              </a:solidFill>
              <a:latin typeface="Calibri"/>
              <a:ea typeface="Calibri"/>
              <a:cs typeface="Calibri"/>
              <a:sym typeface="Calibri"/>
            </a:endParaRPr>
          </a:p>
        </p:txBody>
      </p:sp>
      <p:sp>
        <p:nvSpPr>
          <p:cNvPr id="1412" name="Google Shape;1412;p46"/>
          <p:cNvSpPr/>
          <p:nvPr/>
        </p:nvSpPr>
        <p:spPr>
          <a:xfrm>
            <a:off x="7538599" y="3950605"/>
            <a:ext cx="1200600" cy="36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09"/>
              <a:buFont typeface="Calibri"/>
              <a:buNone/>
            </a:pPr>
            <a:r>
              <a:rPr b="0" i="0" lang="en-US" sz="809" u="none" cap="none" strike="noStrike">
                <a:solidFill>
                  <a:srgbClr val="90A4AE"/>
                </a:solidFill>
                <a:latin typeface="Calibri"/>
                <a:ea typeface="Calibri"/>
                <a:cs typeface="Calibri"/>
                <a:sym typeface="Calibri"/>
              </a:rPr>
              <a:t>Batch — mem near limit</a:t>
            </a:r>
            <a:endParaRPr b="0" i="0" sz="809" u="none" cap="none" strike="noStrike">
              <a:solidFill>
                <a:schemeClr val="dk1"/>
              </a:solidFill>
              <a:latin typeface="Calibri"/>
              <a:ea typeface="Calibri"/>
              <a:cs typeface="Calibri"/>
              <a:sym typeface="Calibri"/>
            </a:endParaRPr>
          </a:p>
        </p:txBody>
      </p:sp>
      <p:sp>
        <p:nvSpPr>
          <p:cNvPr id="1413" name="Google Shape;1413;p46"/>
          <p:cNvSpPr/>
          <p:nvPr/>
        </p:nvSpPr>
        <p:spPr>
          <a:xfrm>
            <a:off x="387412" y="4446492"/>
            <a:ext cx="8264700" cy="504600"/>
          </a:xfrm>
          <a:prstGeom prst="rect">
            <a:avLst/>
          </a:prstGeom>
          <a:solidFill>
            <a:srgbClr val="122040"/>
          </a:solidFill>
          <a:ln>
            <a:noFill/>
          </a:ln>
        </p:spPr>
        <p:txBody>
          <a:bodyPr anchorCtr="0" anchor="ctr" bIns="86975" lIns="86975" spcFirstLastPara="1" rIns="86975" wrap="square" tIns="86975">
            <a:noAutofit/>
          </a:bodyPr>
          <a:lstStyle/>
          <a:p>
            <a:pPr indent="0" lvl="0" marL="0" rtl="0" algn="l">
              <a:spcBef>
                <a:spcPts val="0"/>
              </a:spcBef>
              <a:spcAft>
                <a:spcPts val="0"/>
              </a:spcAft>
              <a:buNone/>
            </a:pPr>
            <a:r>
              <a:t/>
            </a:r>
            <a:endParaRPr/>
          </a:p>
        </p:txBody>
      </p:sp>
      <p:sp>
        <p:nvSpPr>
          <p:cNvPr id="1414" name="Google Shape;1414;p46"/>
          <p:cNvSpPr/>
          <p:nvPr/>
        </p:nvSpPr>
        <p:spPr>
          <a:xfrm>
            <a:off x="387412" y="4576988"/>
            <a:ext cx="243600" cy="243600"/>
          </a:xfrm>
          <a:prstGeom prst="rect">
            <a:avLst/>
          </a:prstGeom>
          <a:solidFill>
            <a:srgbClr val="00BCD4"/>
          </a:solidFill>
          <a:ln>
            <a:noFill/>
          </a:ln>
        </p:spPr>
        <p:txBody>
          <a:bodyPr anchorCtr="0" anchor="ctr" bIns="86975" lIns="86975" spcFirstLastPara="1" rIns="86975" wrap="square" tIns="86975">
            <a:noAutofit/>
          </a:bodyPr>
          <a:lstStyle/>
          <a:p>
            <a:pPr indent="0" lvl="0" marL="0" rtl="0" algn="l">
              <a:spcBef>
                <a:spcPts val="0"/>
              </a:spcBef>
              <a:spcAft>
                <a:spcPts val="0"/>
              </a:spcAft>
              <a:buNone/>
            </a:pPr>
            <a:r>
              <a:t/>
            </a:r>
            <a:endParaRPr/>
          </a:p>
        </p:txBody>
      </p:sp>
      <p:sp>
        <p:nvSpPr>
          <p:cNvPr id="1415" name="Google Shape;1415;p46"/>
          <p:cNvSpPr/>
          <p:nvPr/>
        </p:nvSpPr>
        <p:spPr>
          <a:xfrm>
            <a:off x="387412" y="4576988"/>
            <a:ext cx="243600" cy="243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66"/>
              <a:buFont typeface="Calibri"/>
              <a:buNone/>
            </a:pPr>
            <a:r>
              <a:rPr b="1" i="0" lang="en-US" sz="666" u="none" cap="none" strike="noStrike">
                <a:solidFill>
                  <a:srgbClr val="FFFFFF"/>
                </a:solidFill>
                <a:latin typeface="Calibri"/>
                <a:ea typeface="Calibri"/>
                <a:cs typeface="Calibri"/>
                <a:sym typeface="Calibri"/>
              </a:rPr>
              <a:t>QK</a:t>
            </a:r>
            <a:endParaRPr b="0" i="0" sz="666" u="none" cap="none" strike="noStrike">
              <a:solidFill>
                <a:schemeClr val="dk1"/>
              </a:solidFill>
              <a:latin typeface="Calibri"/>
              <a:ea typeface="Calibri"/>
              <a:cs typeface="Calibri"/>
              <a:sym typeface="Calibri"/>
            </a:endParaRPr>
          </a:p>
        </p:txBody>
      </p:sp>
      <p:sp>
        <p:nvSpPr>
          <p:cNvPr id="1416" name="Google Shape;1416;p46"/>
          <p:cNvSpPr/>
          <p:nvPr/>
        </p:nvSpPr>
        <p:spPr>
          <a:xfrm>
            <a:off x="665804" y="4516090"/>
            <a:ext cx="1809600" cy="36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904"/>
              <a:buFont typeface="Calibri"/>
              <a:buNone/>
            </a:pPr>
            <a:r>
              <a:rPr b="0" i="0" lang="en-US" sz="904" u="none" cap="none" strike="noStrike">
                <a:solidFill>
                  <a:srgbClr val="ECF0F1"/>
                </a:solidFill>
                <a:latin typeface="Calibri"/>
                <a:ea typeface="Calibri"/>
                <a:cs typeface="Calibri"/>
                <a:sym typeface="Calibri"/>
              </a:rPr>
              <a:t>auth/token-service</a:t>
            </a:r>
            <a:endParaRPr b="0" i="0" sz="904" u="none" cap="none" strike="noStrike">
              <a:solidFill>
                <a:schemeClr val="dk1"/>
              </a:solidFill>
              <a:latin typeface="Calibri"/>
              <a:ea typeface="Calibri"/>
              <a:cs typeface="Calibri"/>
              <a:sym typeface="Calibri"/>
            </a:endParaRPr>
          </a:p>
        </p:txBody>
      </p:sp>
      <p:sp>
        <p:nvSpPr>
          <p:cNvPr id="1417" name="Google Shape;1417;p46"/>
          <p:cNvSpPr/>
          <p:nvPr/>
        </p:nvSpPr>
        <p:spPr>
          <a:xfrm>
            <a:off x="2492750" y="4516090"/>
            <a:ext cx="1305000" cy="36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856"/>
              <a:buFont typeface="Consolas"/>
              <a:buNone/>
            </a:pPr>
            <a:r>
              <a:rPr b="0" i="0" lang="en-US" sz="856" u="none" cap="none" strike="noStrike">
                <a:solidFill>
                  <a:srgbClr val="ECF0F1"/>
                </a:solidFill>
                <a:latin typeface="Consolas"/>
                <a:ea typeface="Consolas"/>
                <a:cs typeface="Consolas"/>
                <a:sym typeface="Consolas"/>
              </a:rPr>
              <a:t>1000m→400m</a:t>
            </a:r>
            <a:endParaRPr b="0" i="0" sz="856" u="none" cap="none" strike="noStrike">
              <a:solidFill>
                <a:schemeClr val="dk1"/>
              </a:solidFill>
              <a:latin typeface="Calibri"/>
              <a:ea typeface="Calibri"/>
              <a:cs typeface="Calibri"/>
              <a:sym typeface="Calibri"/>
            </a:endParaRPr>
          </a:p>
        </p:txBody>
      </p:sp>
      <p:sp>
        <p:nvSpPr>
          <p:cNvPr id="1418" name="Google Shape;1418;p46"/>
          <p:cNvSpPr/>
          <p:nvPr/>
        </p:nvSpPr>
        <p:spPr>
          <a:xfrm>
            <a:off x="3815110" y="4516090"/>
            <a:ext cx="696000" cy="36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7AE60"/>
              </a:buClr>
              <a:buSzPts val="904"/>
              <a:buFont typeface="Calibri"/>
              <a:buNone/>
            </a:pPr>
            <a:r>
              <a:rPr b="1" i="0" lang="en-US" sz="904" u="none" cap="none" strike="noStrike">
                <a:solidFill>
                  <a:srgbClr val="27AE60"/>
                </a:solidFill>
                <a:latin typeface="Calibri"/>
                <a:ea typeface="Calibri"/>
                <a:cs typeface="Calibri"/>
                <a:sym typeface="Calibri"/>
              </a:rPr>
              <a:t>-60%</a:t>
            </a:r>
            <a:endParaRPr b="0" i="0" sz="904" u="none" cap="none" strike="noStrike">
              <a:solidFill>
                <a:schemeClr val="dk1"/>
              </a:solidFill>
              <a:latin typeface="Calibri"/>
              <a:ea typeface="Calibri"/>
              <a:cs typeface="Calibri"/>
              <a:sym typeface="Calibri"/>
            </a:endParaRPr>
          </a:p>
        </p:txBody>
      </p:sp>
      <p:sp>
        <p:nvSpPr>
          <p:cNvPr id="1419" name="Google Shape;1419;p46"/>
          <p:cNvSpPr/>
          <p:nvPr/>
        </p:nvSpPr>
        <p:spPr>
          <a:xfrm>
            <a:off x="4528489" y="4516090"/>
            <a:ext cx="1565700" cy="36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856"/>
              <a:buFont typeface="Consolas"/>
              <a:buNone/>
            </a:pPr>
            <a:r>
              <a:rPr b="0" i="0" lang="en-US" sz="856" u="none" cap="none" strike="noStrike">
                <a:solidFill>
                  <a:srgbClr val="ECF0F1"/>
                </a:solidFill>
                <a:latin typeface="Consolas"/>
                <a:ea typeface="Consolas"/>
                <a:cs typeface="Consolas"/>
                <a:sym typeface="Consolas"/>
              </a:rPr>
              <a:t>1536→704Mi</a:t>
            </a:r>
            <a:endParaRPr b="0" i="0" sz="856" u="none" cap="none" strike="noStrike">
              <a:solidFill>
                <a:schemeClr val="dk1"/>
              </a:solidFill>
              <a:latin typeface="Calibri"/>
              <a:ea typeface="Calibri"/>
              <a:cs typeface="Calibri"/>
              <a:sym typeface="Calibri"/>
            </a:endParaRPr>
          </a:p>
        </p:txBody>
      </p:sp>
      <p:sp>
        <p:nvSpPr>
          <p:cNvPr id="1420" name="Google Shape;1420;p46"/>
          <p:cNvSpPr/>
          <p:nvPr/>
        </p:nvSpPr>
        <p:spPr>
          <a:xfrm>
            <a:off x="6111842" y="4516090"/>
            <a:ext cx="696000" cy="36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7AE60"/>
              </a:buClr>
              <a:buSzPts val="904"/>
              <a:buFont typeface="Calibri"/>
              <a:buNone/>
            </a:pPr>
            <a:r>
              <a:rPr b="1" i="0" lang="en-US" sz="904" u="none" cap="none" strike="noStrike">
                <a:solidFill>
                  <a:srgbClr val="27AE60"/>
                </a:solidFill>
                <a:latin typeface="Calibri"/>
                <a:ea typeface="Calibri"/>
                <a:cs typeface="Calibri"/>
                <a:sym typeface="Calibri"/>
              </a:rPr>
              <a:t>-54%</a:t>
            </a:r>
            <a:endParaRPr b="0" i="0" sz="904" u="none" cap="none" strike="noStrike">
              <a:solidFill>
                <a:schemeClr val="dk1"/>
              </a:solidFill>
              <a:latin typeface="Calibri"/>
              <a:ea typeface="Calibri"/>
              <a:cs typeface="Calibri"/>
              <a:sym typeface="Calibri"/>
            </a:endParaRPr>
          </a:p>
        </p:txBody>
      </p:sp>
      <p:sp>
        <p:nvSpPr>
          <p:cNvPr id="1421" name="Google Shape;1421;p46"/>
          <p:cNvSpPr/>
          <p:nvPr/>
        </p:nvSpPr>
        <p:spPr>
          <a:xfrm>
            <a:off x="6825220" y="4516090"/>
            <a:ext cx="696000" cy="36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BCD4"/>
              </a:buClr>
              <a:buSzPts val="856"/>
              <a:buFont typeface="Calibri"/>
              <a:buNone/>
            </a:pPr>
            <a:r>
              <a:rPr b="0" i="0" lang="en-US" sz="856" u="none" cap="none" strike="noStrike">
                <a:solidFill>
                  <a:srgbClr val="00BCD4"/>
                </a:solidFill>
                <a:latin typeface="Calibri"/>
                <a:ea typeface="Calibri"/>
                <a:cs typeface="Calibri"/>
                <a:sym typeface="Calibri"/>
              </a:rPr>
              <a:t>4ms</a:t>
            </a:r>
            <a:endParaRPr b="0" i="0" sz="856" u="none" cap="none" strike="noStrike">
              <a:solidFill>
                <a:schemeClr val="dk1"/>
              </a:solidFill>
              <a:latin typeface="Calibri"/>
              <a:ea typeface="Calibri"/>
              <a:cs typeface="Calibri"/>
              <a:sym typeface="Calibri"/>
            </a:endParaRPr>
          </a:p>
        </p:txBody>
      </p:sp>
      <p:sp>
        <p:nvSpPr>
          <p:cNvPr id="1422" name="Google Shape;1422;p46"/>
          <p:cNvSpPr/>
          <p:nvPr/>
        </p:nvSpPr>
        <p:spPr>
          <a:xfrm>
            <a:off x="7538599" y="4516090"/>
            <a:ext cx="1200600" cy="36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09"/>
              <a:buFont typeface="Calibri"/>
              <a:buNone/>
            </a:pPr>
            <a:r>
              <a:rPr b="0" i="0" lang="en-US" sz="809" u="none" cap="none" strike="noStrike">
                <a:solidFill>
                  <a:srgbClr val="90A4AE"/>
                </a:solidFill>
                <a:latin typeface="Calibri"/>
                <a:ea typeface="Calibri"/>
                <a:cs typeface="Calibri"/>
                <a:sym typeface="Calibri"/>
              </a:rPr>
              <a:t>ZGC candidate</a:t>
            </a:r>
            <a:endParaRPr b="0" i="0" sz="809" u="none" cap="none" strike="noStrike">
              <a:solidFill>
                <a:schemeClr val="dk1"/>
              </a:solidFill>
              <a:latin typeface="Calibri"/>
              <a:ea typeface="Calibri"/>
              <a:cs typeface="Calibri"/>
              <a:sym typeface="Calibri"/>
            </a:endParaRPr>
          </a:p>
        </p:txBody>
      </p:sp>
      <p:sp>
        <p:nvSpPr>
          <p:cNvPr id="1423" name="Google Shape;1423;p46"/>
          <p:cNvSpPr/>
          <p:nvPr/>
        </p:nvSpPr>
        <p:spPr>
          <a:xfrm>
            <a:off x="0" y="5394960"/>
            <a:ext cx="9144000" cy="201300"/>
          </a:xfrm>
          <a:prstGeom prst="rect">
            <a:avLst/>
          </a:prstGeom>
          <a:solidFill>
            <a:srgbClr val="0610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46"/>
          <p:cNvSpPr/>
          <p:nvPr/>
        </p:nvSpPr>
        <p:spPr>
          <a:xfrm>
            <a:off x="320040" y="5422392"/>
            <a:ext cx="8503800" cy="14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900"/>
              <a:buFont typeface="Calibri"/>
              <a:buNone/>
            </a:pPr>
            <a:r>
              <a:rPr b="0" i="0" lang="en-US" sz="900" u="none" cap="none" strike="noStrike">
                <a:solidFill>
                  <a:srgbClr val="00BCD4"/>
                </a:solidFill>
                <a:latin typeface="Calibri"/>
                <a:ea typeface="Calibri"/>
                <a:cs typeface="Calibri"/>
                <a:sym typeface="Calibri"/>
              </a:rPr>
              <a:t>SB = Spring Boot 4.1.0 · QK = Quarkus 3.33.1 LTS · Methodology: p99 observed × 1.30 CPU · p99 × 1.25 memory</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429" name="Shape 1429"/>
        <p:cNvGrpSpPr/>
        <p:nvPr/>
      </p:nvGrpSpPr>
      <p:grpSpPr>
        <a:xfrm>
          <a:off x="0" y="0"/>
          <a:ext cx="0" cy="0"/>
          <a:chOff x="0" y="0"/>
          <a:chExt cx="0" cy="0"/>
        </a:xfrm>
      </p:grpSpPr>
      <p:sp>
        <p:nvSpPr>
          <p:cNvPr id="1430" name="Google Shape;1430;p47"/>
          <p:cNvSpPr/>
          <p:nvPr/>
        </p:nvSpPr>
        <p:spPr>
          <a:xfrm>
            <a:off x="0" y="0"/>
            <a:ext cx="9144000" cy="64020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47"/>
          <p:cNvSpPr/>
          <p:nvPr/>
        </p:nvSpPr>
        <p:spPr>
          <a:xfrm>
            <a:off x="320040" y="9144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200"/>
              <a:buFont typeface="Calibri"/>
              <a:buNone/>
            </a:pPr>
            <a:r>
              <a:rPr b="1" i="0" lang="en-US" sz="2200" u="none" cap="none" strike="noStrike">
                <a:solidFill>
                  <a:srgbClr val="00BCD4"/>
                </a:solidFill>
                <a:latin typeface="Calibri"/>
                <a:ea typeface="Calibri"/>
                <a:cs typeface="Calibri"/>
                <a:sym typeface="Calibri"/>
              </a:rPr>
              <a:t>Bin-Packing Improvement — Node Density</a:t>
            </a:r>
            <a:endParaRPr b="0" i="0" sz="2200" u="none" cap="none" strike="noStrike">
              <a:solidFill>
                <a:schemeClr val="dk1"/>
              </a:solidFill>
              <a:latin typeface="Calibri"/>
              <a:ea typeface="Calibri"/>
              <a:cs typeface="Calibri"/>
              <a:sym typeface="Calibri"/>
            </a:endParaRPr>
          </a:p>
        </p:txBody>
      </p:sp>
      <p:sp>
        <p:nvSpPr>
          <p:cNvPr id="1432" name="Google Shape;1432;p47"/>
          <p:cNvSpPr/>
          <p:nvPr/>
        </p:nvSpPr>
        <p:spPr>
          <a:xfrm>
            <a:off x="7772400" y="73152"/>
            <a:ext cx="1234500" cy="49380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47"/>
          <p:cNvSpPr/>
          <p:nvPr/>
        </p:nvSpPr>
        <p:spPr>
          <a:xfrm>
            <a:off x="7772400" y="73152"/>
            <a:ext cx="1234500" cy="493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RIGHT-SIZING</a:t>
            </a:r>
            <a:endParaRPr b="0" i="0" sz="1100" u="none" cap="none" strike="noStrike">
              <a:solidFill>
                <a:schemeClr val="dk1"/>
              </a:solidFill>
              <a:latin typeface="Calibri"/>
              <a:ea typeface="Calibri"/>
              <a:cs typeface="Calibri"/>
              <a:sym typeface="Calibri"/>
            </a:endParaRPr>
          </a:p>
        </p:txBody>
      </p:sp>
      <p:sp>
        <p:nvSpPr>
          <p:cNvPr id="1434" name="Google Shape;1434;p47"/>
          <p:cNvSpPr/>
          <p:nvPr/>
        </p:nvSpPr>
        <p:spPr>
          <a:xfrm>
            <a:off x="443900" y="640200"/>
            <a:ext cx="3945900" cy="4215300"/>
          </a:xfrm>
          <a:prstGeom prst="rect">
            <a:avLst/>
          </a:prstGeom>
          <a:solidFill>
            <a:srgbClr val="122040"/>
          </a:solidFill>
          <a:ln cap="flat" cmpd="sng" w="24900">
            <a:solidFill>
              <a:srgbClr val="E84855"/>
            </a:solidFill>
            <a:prstDash val="solid"/>
            <a:round/>
            <a:headEnd len="sm" w="sm" type="none"/>
            <a:tailEnd len="sm" w="sm" type="none"/>
          </a:ln>
        </p:spPr>
        <p:txBody>
          <a:bodyPr anchorCtr="0" anchor="ctr" bIns="89675" lIns="89675" spcFirstLastPara="1" rIns="89675" wrap="square" tIns="89675">
            <a:noAutofit/>
          </a:bodyPr>
          <a:lstStyle/>
          <a:p>
            <a:pPr indent="0" lvl="0" marL="0" rtl="0" algn="l">
              <a:spcBef>
                <a:spcPts val="0"/>
              </a:spcBef>
              <a:spcAft>
                <a:spcPts val="0"/>
              </a:spcAft>
              <a:buNone/>
            </a:pPr>
            <a:r>
              <a:t/>
            </a:r>
            <a:endParaRPr/>
          </a:p>
        </p:txBody>
      </p:sp>
      <p:sp>
        <p:nvSpPr>
          <p:cNvPr id="1435" name="Google Shape;1435;p47"/>
          <p:cNvSpPr/>
          <p:nvPr/>
        </p:nvSpPr>
        <p:spPr>
          <a:xfrm>
            <a:off x="443900" y="640200"/>
            <a:ext cx="3945900" cy="376500"/>
          </a:xfrm>
          <a:prstGeom prst="rect">
            <a:avLst/>
          </a:prstGeom>
          <a:solidFill>
            <a:srgbClr val="E84855"/>
          </a:solidFill>
          <a:ln>
            <a:noFill/>
          </a:ln>
        </p:spPr>
        <p:txBody>
          <a:bodyPr anchorCtr="0" anchor="ctr" bIns="89675" lIns="89675" spcFirstLastPara="1" rIns="89675" wrap="square" tIns="89675">
            <a:noAutofit/>
          </a:bodyPr>
          <a:lstStyle/>
          <a:p>
            <a:pPr indent="0" lvl="0" marL="0" rtl="0" algn="l">
              <a:spcBef>
                <a:spcPts val="0"/>
              </a:spcBef>
              <a:spcAft>
                <a:spcPts val="0"/>
              </a:spcAft>
              <a:buNone/>
            </a:pPr>
            <a:r>
              <a:t/>
            </a:r>
            <a:endParaRPr/>
          </a:p>
        </p:txBody>
      </p:sp>
      <p:sp>
        <p:nvSpPr>
          <p:cNvPr id="1436" name="Google Shape;1436;p47"/>
          <p:cNvSpPr/>
          <p:nvPr/>
        </p:nvSpPr>
        <p:spPr>
          <a:xfrm>
            <a:off x="443900" y="640200"/>
            <a:ext cx="3945900" cy="376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77"/>
              <a:buFont typeface="Calibri"/>
              <a:buNone/>
            </a:pPr>
            <a:r>
              <a:rPr b="1" i="0" lang="en-US" sz="1177" u="none" cap="none" strike="noStrike">
                <a:solidFill>
                  <a:srgbClr val="FFFFFF"/>
                </a:solidFill>
                <a:latin typeface="Calibri"/>
                <a:ea typeface="Calibri"/>
                <a:cs typeface="Calibri"/>
                <a:sym typeface="Calibri"/>
              </a:rPr>
              <a:t>BEFORE right-sizing</a:t>
            </a:r>
            <a:endParaRPr b="0" i="0" sz="1177" u="none" cap="none" strike="noStrike">
              <a:solidFill>
                <a:schemeClr val="dk1"/>
              </a:solidFill>
              <a:latin typeface="Calibri"/>
              <a:ea typeface="Calibri"/>
              <a:cs typeface="Calibri"/>
              <a:sym typeface="Calibri"/>
            </a:endParaRPr>
          </a:p>
        </p:txBody>
      </p:sp>
      <p:sp>
        <p:nvSpPr>
          <p:cNvPr id="1437" name="Google Shape;1437;p47"/>
          <p:cNvSpPr/>
          <p:nvPr/>
        </p:nvSpPr>
        <p:spPr>
          <a:xfrm>
            <a:off x="578423" y="1097578"/>
            <a:ext cx="1883400" cy="39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32"/>
              <a:buFont typeface="Calibri"/>
              <a:buNone/>
            </a:pPr>
            <a:r>
              <a:rPr b="0" i="0" lang="en-US" sz="932" u="none" cap="none" strike="noStrike">
                <a:solidFill>
                  <a:srgbClr val="90A4AE"/>
                </a:solidFill>
                <a:latin typeface="Calibri"/>
                <a:ea typeface="Calibri"/>
                <a:cs typeface="Calibri"/>
                <a:sym typeface="Calibri"/>
              </a:rPr>
              <a:t>Total CPU requested</a:t>
            </a:r>
            <a:endParaRPr b="0" i="0" sz="932" u="none" cap="none" strike="noStrike">
              <a:solidFill>
                <a:schemeClr val="dk1"/>
              </a:solidFill>
              <a:latin typeface="Calibri"/>
              <a:ea typeface="Calibri"/>
              <a:cs typeface="Calibri"/>
              <a:sym typeface="Calibri"/>
            </a:endParaRPr>
          </a:p>
        </p:txBody>
      </p:sp>
      <p:sp>
        <p:nvSpPr>
          <p:cNvPr id="1438" name="Google Shape;1438;p47"/>
          <p:cNvSpPr/>
          <p:nvPr/>
        </p:nvSpPr>
        <p:spPr>
          <a:xfrm>
            <a:off x="2461745" y="1097578"/>
            <a:ext cx="807000" cy="39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855"/>
              </a:buClr>
              <a:buSzPts val="1030"/>
              <a:buFont typeface="Calibri"/>
              <a:buNone/>
            </a:pPr>
            <a:r>
              <a:rPr b="1" i="0" lang="en-US" sz="1030" u="none" cap="none" strike="noStrike">
                <a:solidFill>
                  <a:srgbClr val="E84855"/>
                </a:solidFill>
                <a:latin typeface="Calibri"/>
                <a:ea typeface="Calibri"/>
                <a:cs typeface="Calibri"/>
                <a:sym typeface="Calibri"/>
              </a:rPr>
              <a:t>33,000m</a:t>
            </a:r>
            <a:endParaRPr b="0" i="0" sz="1030" u="none" cap="none" strike="noStrike">
              <a:solidFill>
                <a:schemeClr val="dk1"/>
              </a:solidFill>
              <a:latin typeface="Calibri"/>
              <a:ea typeface="Calibri"/>
              <a:cs typeface="Calibri"/>
              <a:sym typeface="Calibri"/>
            </a:endParaRPr>
          </a:p>
        </p:txBody>
      </p:sp>
      <p:sp>
        <p:nvSpPr>
          <p:cNvPr id="1439" name="Google Shape;1439;p47"/>
          <p:cNvSpPr/>
          <p:nvPr/>
        </p:nvSpPr>
        <p:spPr>
          <a:xfrm>
            <a:off x="3277851" y="1097578"/>
            <a:ext cx="986700" cy="39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34"/>
              <a:buFont typeface="Calibri"/>
              <a:buNone/>
            </a:pPr>
            <a:r>
              <a:rPr b="0" i="0" lang="en-US" sz="834" u="none" cap="none" strike="noStrike">
                <a:solidFill>
                  <a:srgbClr val="90A4AE"/>
                </a:solidFill>
                <a:latin typeface="Calibri"/>
                <a:ea typeface="Calibri"/>
                <a:cs typeface="Calibri"/>
                <a:sym typeface="Calibri"/>
              </a:rPr>
              <a:t>of 36,000m usable</a:t>
            </a:r>
            <a:endParaRPr b="0" i="0" sz="834" u="none" cap="none" strike="noStrike">
              <a:solidFill>
                <a:schemeClr val="dk1"/>
              </a:solidFill>
              <a:latin typeface="Calibri"/>
              <a:ea typeface="Calibri"/>
              <a:cs typeface="Calibri"/>
              <a:sym typeface="Calibri"/>
            </a:endParaRPr>
          </a:p>
        </p:txBody>
      </p:sp>
      <p:sp>
        <p:nvSpPr>
          <p:cNvPr id="1440" name="Google Shape;1440;p47"/>
          <p:cNvSpPr/>
          <p:nvPr/>
        </p:nvSpPr>
        <p:spPr>
          <a:xfrm>
            <a:off x="578423" y="1590830"/>
            <a:ext cx="1883400" cy="39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32"/>
              <a:buFont typeface="Calibri"/>
              <a:buNone/>
            </a:pPr>
            <a:r>
              <a:rPr b="0" i="0" lang="en-US" sz="932" u="none" cap="none" strike="noStrike">
                <a:solidFill>
                  <a:srgbClr val="90A4AE"/>
                </a:solidFill>
                <a:latin typeface="Calibri"/>
                <a:ea typeface="Calibri"/>
                <a:cs typeface="Calibri"/>
                <a:sym typeface="Calibri"/>
              </a:rPr>
              <a:t>Total Mem requested</a:t>
            </a:r>
            <a:endParaRPr b="0" i="0" sz="932" u="none" cap="none" strike="noStrike">
              <a:solidFill>
                <a:schemeClr val="dk1"/>
              </a:solidFill>
              <a:latin typeface="Calibri"/>
              <a:ea typeface="Calibri"/>
              <a:cs typeface="Calibri"/>
              <a:sym typeface="Calibri"/>
            </a:endParaRPr>
          </a:p>
        </p:txBody>
      </p:sp>
      <p:sp>
        <p:nvSpPr>
          <p:cNvPr id="1441" name="Google Shape;1441;p47"/>
          <p:cNvSpPr/>
          <p:nvPr/>
        </p:nvSpPr>
        <p:spPr>
          <a:xfrm>
            <a:off x="2461745" y="1590830"/>
            <a:ext cx="807000" cy="39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855"/>
              </a:buClr>
              <a:buSzPts val="1030"/>
              <a:buFont typeface="Calibri"/>
              <a:buNone/>
            </a:pPr>
            <a:r>
              <a:rPr b="1" i="0" lang="en-US" sz="1030" u="none" cap="none" strike="noStrike">
                <a:solidFill>
                  <a:srgbClr val="E84855"/>
                </a:solidFill>
                <a:latin typeface="Calibri"/>
                <a:ea typeface="Calibri"/>
                <a:cs typeface="Calibri"/>
                <a:sym typeface="Calibri"/>
              </a:rPr>
              <a:t>70,656Mi</a:t>
            </a:r>
            <a:endParaRPr b="0" i="0" sz="1030" u="none" cap="none" strike="noStrike">
              <a:solidFill>
                <a:schemeClr val="dk1"/>
              </a:solidFill>
              <a:latin typeface="Calibri"/>
              <a:ea typeface="Calibri"/>
              <a:cs typeface="Calibri"/>
              <a:sym typeface="Calibri"/>
            </a:endParaRPr>
          </a:p>
        </p:txBody>
      </p:sp>
      <p:sp>
        <p:nvSpPr>
          <p:cNvPr id="1442" name="Google Shape;1442;p47"/>
          <p:cNvSpPr/>
          <p:nvPr/>
        </p:nvSpPr>
        <p:spPr>
          <a:xfrm>
            <a:off x="3277851" y="1590830"/>
            <a:ext cx="986700" cy="39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34"/>
              <a:buFont typeface="Calibri"/>
              <a:buNone/>
            </a:pPr>
            <a:r>
              <a:rPr b="0" i="0" lang="en-US" sz="834" u="none" cap="none" strike="noStrike">
                <a:solidFill>
                  <a:srgbClr val="90A4AE"/>
                </a:solidFill>
                <a:latin typeface="Calibri"/>
                <a:ea typeface="Calibri"/>
                <a:cs typeface="Calibri"/>
                <a:sym typeface="Calibri"/>
              </a:rPr>
              <a:t>of 165,888Mi usable</a:t>
            </a:r>
            <a:endParaRPr b="0" i="0" sz="834" u="none" cap="none" strike="noStrike">
              <a:solidFill>
                <a:schemeClr val="dk1"/>
              </a:solidFill>
              <a:latin typeface="Calibri"/>
              <a:ea typeface="Calibri"/>
              <a:cs typeface="Calibri"/>
              <a:sym typeface="Calibri"/>
            </a:endParaRPr>
          </a:p>
        </p:txBody>
      </p:sp>
      <p:sp>
        <p:nvSpPr>
          <p:cNvPr id="1443" name="Google Shape;1443;p47"/>
          <p:cNvSpPr/>
          <p:nvPr/>
        </p:nvSpPr>
        <p:spPr>
          <a:xfrm>
            <a:off x="578423" y="2084081"/>
            <a:ext cx="1883400" cy="39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32"/>
              <a:buFont typeface="Calibri"/>
              <a:buNone/>
            </a:pPr>
            <a:r>
              <a:rPr b="0" i="0" lang="en-US" sz="932" u="none" cap="none" strike="noStrike">
                <a:solidFill>
                  <a:srgbClr val="90A4AE"/>
                </a:solidFill>
                <a:latin typeface="Calibri"/>
                <a:ea typeface="Calibri"/>
                <a:cs typeface="Calibri"/>
                <a:sym typeface="Calibri"/>
              </a:rPr>
              <a:t>CPU utilisation</a:t>
            </a:r>
            <a:endParaRPr b="0" i="0" sz="932" u="none" cap="none" strike="noStrike">
              <a:solidFill>
                <a:schemeClr val="dk1"/>
              </a:solidFill>
              <a:latin typeface="Calibri"/>
              <a:ea typeface="Calibri"/>
              <a:cs typeface="Calibri"/>
              <a:sym typeface="Calibri"/>
            </a:endParaRPr>
          </a:p>
        </p:txBody>
      </p:sp>
      <p:sp>
        <p:nvSpPr>
          <p:cNvPr id="1444" name="Google Shape;1444;p47"/>
          <p:cNvSpPr/>
          <p:nvPr/>
        </p:nvSpPr>
        <p:spPr>
          <a:xfrm>
            <a:off x="2461745" y="2084081"/>
            <a:ext cx="807000" cy="39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855"/>
              </a:buClr>
              <a:buSzPts val="1030"/>
              <a:buFont typeface="Calibri"/>
              <a:buNone/>
            </a:pPr>
            <a:r>
              <a:rPr b="1" i="0" lang="en-US" sz="1030" u="none" cap="none" strike="noStrike">
                <a:solidFill>
                  <a:srgbClr val="E84855"/>
                </a:solidFill>
                <a:latin typeface="Calibri"/>
                <a:ea typeface="Calibri"/>
                <a:cs typeface="Calibri"/>
                <a:sym typeface="Calibri"/>
              </a:rPr>
              <a:t>92%</a:t>
            </a:r>
            <a:endParaRPr b="0" i="0" sz="1030" u="none" cap="none" strike="noStrike">
              <a:solidFill>
                <a:schemeClr val="dk1"/>
              </a:solidFill>
              <a:latin typeface="Calibri"/>
              <a:ea typeface="Calibri"/>
              <a:cs typeface="Calibri"/>
              <a:sym typeface="Calibri"/>
            </a:endParaRPr>
          </a:p>
        </p:txBody>
      </p:sp>
      <p:sp>
        <p:nvSpPr>
          <p:cNvPr id="1445" name="Google Shape;1445;p47"/>
          <p:cNvSpPr/>
          <p:nvPr/>
        </p:nvSpPr>
        <p:spPr>
          <a:xfrm>
            <a:off x="3277851" y="2084081"/>
            <a:ext cx="986700" cy="39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34"/>
              <a:buFont typeface="Calibri"/>
              <a:buNone/>
            </a:pPr>
            <a:r>
              <a:rPr b="0" i="0" lang="en-US" sz="834" u="none" cap="none" strike="noStrike">
                <a:solidFill>
                  <a:srgbClr val="90A4AE"/>
                </a:solidFill>
                <a:latin typeface="Calibri"/>
                <a:ea typeface="Calibri"/>
                <a:cs typeface="Calibri"/>
                <a:sym typeface="Calibri"/>
              </a:rPr>
              <a:t>requestable</a:t>
            </a:r>
            <a:endParaRPr b="0" i="0" sz="834" u="none" cap="none" strike="noStrike">
              <a:solidFill>
                <a:schemeClr val="dk1"/>
              </a:solidFill>
              <a:latin typeface="Calibri"/>
              <a:ea typeface="Calibri"/>
              <a:cs typeface="Calibri"/>
              <a:sym typeface="Calibri"/>
            </a:endParaRPr>
          </a:p>
        </p:txBody>
      </p:sp>
      <p:sp>
        <p:nvSpPr>
          <p:cNvPr id="1446" name="Google Shape;1446;p47"/>
          <p:cNvSpPr/>
          <p:nvPr/>
        </p:nvSpPr>
        <p:spPr>
          <a:xfrm>
            <a:off x="578423" y="2577333"/>
            <a:ext cx="1883400" cy="39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32"/>
              <a:buFont typeface="Calibri"/>
              <a:buNone/>
            </a:pPr>
            <a:r>
              <a:rPr b="0" i="0" lang="en-US" sz="932" u="none" cap="none" strike="noStrike">
                <a:solidFill>
                  <a:srgbClr val="90A4AE"/>
                </a:solidFill>
                <a:latin typeface="Calibri"/>
                <a:ea typeface="Calibri"/>
                <a:cs typeface="Calibri"/>
                <a:sym typeface="Calibri"/>
              </a:rPr>
              <a:t>Memory utilisation</a:t>
            </a:r>
            <a:endParaRPr b="0" i="0" sz="932" u="none" cap="none" strike="noStrike">
              <a:solidFill>
                <a:schemeClr val="dk1"/>
              </a:solidFill>
              <a:latin typeface="Calibri"/>
              <a:ea typeface="Calibri"/>
              <a:cs typeface="Calibri"/>
              <a:sym typeface="Calibri"/>
            </a:endParaRPr>
          </a:p>
        </p:txBody>
      </p:sp>
      <p:sp>
        <p:nvSpPr>
          <p:cNvPr id="1447" name="Google Shape;1447;p47"/>
          <p:cNvSpPr/>
          <p:nvPr/>
        </p:nvSpPr>
        <p:spPr>
          <a:xfrm>
            <a:off x="2461745" y="2577333"/>
            <a:ext cx="807000" cy="39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855"/>
              </a:buClr>
              <a:buSzPts val="1030"/>
              <a:buFont typeface="Calibri"/>
              <a:buNone/>
            </a:pPr>
            <a:r>
              <a:rPr b="1" i="0" lang="en-US" sz="1030" u="none" cap="none" strike="noStrike">
                <a:solidFill>
                  <a:srgbClr val="E84855"/>
                </a:solidFill>
                <a:latin typeface="Calibri"/>
                <a:ea typeface="Calibri"/>
                <a:cs typeface="Calibri"/>
                <a:sym typeface="Calibri"/>
              </a:rPr>
              <a:t>43%</a:t>
            </a:r>
            <a:endParaRPr b="0" i="0" sz="1030" u="none" cap="none" strike="noStrike">
              <a:solidFill>
                <a:schemeClr val="dk1"/>
              </a:solidFill>
              <a:latin typeface="Calibri"/>
              <a:ea typeface="Calibri"/>
              <a:cs typeface="Calibri"/>
              <a:sym typeface="Calibri"/>
            </a:endParaRPr>
          </a:p>
        </p:txBody>
      </p:sp>
      <p:sp>
        <p:nvSpPr>
          <p:cNvPr id="1448" name="Google Shape;1448;p47"/>
          <p:cNvSpPr/>
          <p:nvPr/>
        </p:nvSpPr>
        <p:spPr>
          <a:xfrm>
            <a:off x="3277851" y="2577333"/>
            <a:ext cx="986700" cy="39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34"/>
              <a:buFont typeface="Calibri"/>
              <a:buNone/>
            </a:pPr>
            <a:r>
              <a:rPr b="0" i="0" lang="en-US" sz="834" u="none" cap="none" strike="noStrike">
                <a:solidFill>
                  <a:srgbClr val="90A4AE"/>
                </a:solidFill>
                <a:latin typeface="Calibri"/>
                <a:ea typeface="Calibri"/>
                <a:cs typeface="Calibri"/>
                <a:sym typeface="Calibri"/>
              </a:rPr>
              <a:t>requests vs node capacity</a:t>
            </a:r>
            <a:endParaRPr b="0" i="0" sz="834" u="none" cap="none" strike="noStrike">
              <a:solidFill>
                <a:schemeClr val="dk1"/>
              </a:solidFill>
              <a:latin typeface="Calibri"/>
              <a:ea typeface="Calibri"/>
              <a:cs typeface="Calibri"/>
              <a:sym typeface="Calibri"/>
            </a:endParaRPr>
          </a:p>
        </p:txBody>
      </p:sp>
      <p:sp>
        <p:nvSpPr>
          <p:cNvPr id="1449" name="Google Shape;1449;p47"/>
          <p:cNvSpPr/>
          <p:nvPr/>
        </p:nvSpPr>
        <p:spPr>
          <a:xfrm>
            <a:off x="578423" y="3070584"/>
            <a:ext cx="1883400" cy="39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32"/>
              <a:buFont typeface="Calibri"/>
              <a:buNone/>
            </a:pPr>
            <a:r>
              <a:rPr b="0" i="0" lang="en-US" sz="932" u="none" cap="none" strike="noStrike">
                <a:solidFill>
                  <a:srgbClr val="90A4AE"/>
                </a:solidFill>
                <a:latin typeface="Calibri"/>
                <a:ea typeface="Calibri"/>
                <a:cs typeface="Calibri"/>
                <a:sym typeface="Calibri"/>
              </a:rPr>
              <a:t>Pods per node (approx)</a:t>
            </a:r>
            <a:endParaRPr b="0" i="0" sz="932" u="none" cap="none" strike="noStrike">
              <a:solidFill>
                <a:schemeClr val="dk1"/>
              </a:solidFill>
              <a:latin typeface="Calibri"/>
              <a:ea typeface="Calibri"/>
              <a:cs typeface="Calibri"/>
              <a:sym typeface="Calibri"/>
            </a:endParaRPr>
          </a:p>
        </p:txBody>
      </p:sp>
      <p:sp>
        <p:nvSpPr>
          <p:cNvPr id="1450" name="Google Shape;1450;p47"/>
          <p:cNvSpPr/>
          <p:nvPr/>
        </p:nvSpPr>
        <p:spPr>
          <a:xfrm>
            <a:off x="2461745" y="3070584"/>
            <a:ext cx="807000" cy="39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855"/>
              </a:buClr>
              <a:buSzPts val="1030"/>
              <a:buFont typeface="Calibri"/>
              <a:buNone/>
            </a:pPr>
            <a:r>
              <a:rPr b="1" i="0" lang="en-US" sz="1030" u="none" cap="none" strike="noStrike">
                <a:solidFill>
                  <a:srgbClr val="E84855"/>
                </a:solidFill>
                <a:latin typeface="Calibri"/>
                <a:ea typeface="Calibri"/>
                <a:cs typeface="Calibri"/>
                <a:sym typeface="Calibri"/>
              </a:rPr>
              <a:t>~4</a:t>
            </a:r>
            <a:endParaRPr b="0" i="0" sz="1030" u="none" cap="none" strike="noStrike">
              <a:solidFill>
                <a:schemeClr val="dk1"/>
              </a:solidFill>
              <a:latin typeface="Calibri"/>
              <a:ea typeface="Calibri"/>
              <a:cs typeface="Calibri"/>
              <a:sym typeface="Calibri"/>
            </a:endParaRPr>
          </a:p>
        </p:txBody>
      </p:sp>
      <p:sp>
        <p:nvSpPr>
          <p:cNvPr id="1451" name="Google Shape;1451;p47"/>
          <p:cNvSpPr/>
          <p:nvPr/>
        </p:nvSpPr>
        <p:spPr>
          <a:xfrm>
            <a:off x="3277851" y="3070584"/>
            <a:ext cx="986700" cy="39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34"/>
              <a:buFont typeface="Calibri"/>
              <a:buNone/>
            </a:pPr>
            <a:r>
              <a:rPr b="0" i="0" lang="en-US" sz="834" u="none" cap="none" strike="noStrike">
                <a:solidFill>
                  <a:srgbClr val="90A4AE"/>
                </a:solidFill>
                <a:latin typeface="Calibri"/>
                <a:ea typeface="Calibri"/>
                <a:cs typeface="Calibri"/>
                <a:sym typeface="Calibri"/>
              </a:rPr>
              <a:t>CPU-limited</a:t>
            </a:r>
            <a:endParaRPr b="0" i="0" sz="834" u="none" cap="none" strike="noStrike">
              <a:solidFill>
                <a:schemeClr val="dk1"/>
              </a:solidFill>
              <a:latin typeface="Calibri"/>
              <a:ea typeface="Calibri"/>
              <a:cs typeface="Calibri"/>
              <a:sym typeface="Calibri"/>
            </a:endParaRPr>
          </a:p>
        </p:txBody>
      </p:sp>
      <p:sp>
        <p:nvSpPr>
          <p:cNvPr id="1452" name="Google Shape;1452;p47"/>
          <p:cNvSpPr/>
          <p:nvPr/>
        </p:nvSpPr>
        <p:spPr>
          <a:xfrm>
            <a:off x="578423" y="3563835"/>
            <a:ext cx="1883400" cy="39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32"/>
              <a:buFont typeface="Calibri"/>
              <a:buNone/>
            </a:pPr>
            <a:r>
              <a:rPr b="0" i="0" lang="en-US" sz="932" u="none" cap="none" strike="noStrike">
                <a:solidFill>
                  <a:srgbClr val="90A4AE"/>
                </a:solidFill>
                <a:latin typeface="Calibri"/>
                <a:ea typeface="Calibri"/>
                <a:cs typeface="Calibri"/>
                <a:sym typeface="Calibri"/>
              </a:rPr>
              <a:t>Nodes required</a:t>
            </a:r>
            <a:endParaRPr b="0" i="0" sz="932" u="none" cap="none" strike="noStrike">
              <a:solidFill>
                <a:schemeClr val="dk1"/>
              </a:solidFill>
              <a:latin typeface="Calibri"/>
              <a:ea typeface="Calibri"/>
              <a:cs typeface="Calibri"/>
              <a:sym typeface="Calibri"/>
            </a:endParaRPr>
          </a:p>
        </p:txBody>
      </p:sp>
      <p:sp>
        <p:nvSpPr>
          <p:cNvPr id="1453" name="Google Shape;1453;p47"/>
          <p:cNvSpPr/>
          <p:nvPr/>
        </p:nvSpPr>
        <p:spPr>
          <a:xfrm>
            <a:off x="2461745" y="3563835"/>
            <a:ext cx="807000" cy="39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855"/>
              </a:buClr>
              <a:buSzPts val="1030"/>
              <a:buFont typeface="Calibri"/>
              <a:buNone/>
            </a:pPr>
            <a:r>
              <a:rPr b="1" i="0" lang="en-US" sz="1030" u="none" cap="none" strike="noStrike">
                <a:solidFill>
                  <a:srgbClr val="E84855"/>
                </a:solidFill>
                <a:latin typeface="Calibri"/>
                <a:ea typeface="Calibri"/>
                <a:cs typeface="Calibri"/>
                <a:sym typeface="Calibri"/>
              </a:rPr>
              <a:t>6</a:t>
            </a:r>
            <a:endParaRPr b="0" i="0" sz="1030" u="none" cap="none" strike="noStrike">
              <a:solidFill>
                <a:schemeClr val="dk1"/>
              </a:solidFill>
              <a:latin typeface="Calibri"/>
              <a:ea typeface="Calibri"/>
              <a:cs typeface="Calibri"/>
              <a:sym typeface="Calibri"/>
            </a:endParaRPr>
          </a:p>
        </p:txBody>
      </p:sp>
      <p:sp>
        <p:nvSpPr>
          <p:cNvPr id="1454" name="Google Shape;1454;p47"/>
          <p:cNvSpPr/>
          <p:nvPr/>
        </p:nvSpPr>
        <p:spPr>
          <a:xfrm>
            <a:off x="3277851" y="3563835"/>
            <a:ext cx="986700" cy="39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34"/>
              <a:buFont typeface="Calibri"/>
              <a:buNone/>
            </a:pPr>
            <a:r>
              <a:rPr b="0" i="0" lang="en-US" sz="834" u="none" cap="none" strike="noStrike">
                <a:solidFill>
                  <a:srgbClr val="90A4AE"/>
                </a:solidFill>
                <a:latin typeface="Calibri"/>
                <a:ea typeface="Calibri"/>
                <a:cs typeface="Calibri"/>
                <a:sym typeface="Calibri"/>
              </a:rPr>
              <a:t>for 24 total replicas</a:t>
            </a:r>
            <a:endParaRPr b="0" i="0" sz="834" u="none" cap="none" strike="noStrike">
              <a:solidFill>
                <a:schemeClr val="dk1"/>
              </a:solidFill>
              <a:latin typeface="Calibri"/>
              <a:ea typeface="Calibri"/>
              <a:cs typeface="Calibri"/>
              <a:sym typeface="Calibri"/>
            </a:endParaRPr>
          </a:p>
        </p:txBody>
      </p:sp>
      <p:sp>
        <p:nvSpPr>
          <p:cNvPr id="1455" name="Google Shape;1455;p47"/>
          <p:cNvSpPr/>
          <p:nvPr/>
        </p:nvSpPr>
        <p:spPr>
          <a:xfrm>
            <a:off x="4434749" y="2478682"/>
            <a:ext cx="448500" cy="44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BCD4"/>
              </a:buClr>
              <a:buSzPts val="2746"/>
              <a:buFont typeface="Calibri"/>
              <a:buNone/>
            </a:pPr>
            <a:r>
              <a:rPr b="1" i="0" lang="en-US" sz="2746" u="none" cap="none" strike="noStrike">
                <a:solidFill>
                  <a:srgbClr val="00BCD4"/>
                </a:solidFill>
                <a:latin typeface="Calibri"/>
                <a:ea typeface="Calibri"/>
                <a:cs typeface="Calibri"/>
                <a:sym typeface="Calibri"/>
              </a:rPr>
              <a:t>→</a:t>
            </a:r>
            <a:endParaRPr b="0" i="0" sz="2746" u="none" cap="none" strike="noStrike">
              <a:solidFill>
                <a:schemeClr val="dk1"/>
              </a:solidFill>
              <a:latin typeface="Calibri"/>
              <a:ea typeface="Calibri"/>
              <a:cs typeface="Calibri"/>
              <a:sym typeface="Calibri"/>
            </a:endParaRPr>
          </a:p>
        </p:txBody>
      </p:sp>
      <p:sp>
        <p:nvSpPr>
          <p:cNvPr id="1456" name="Google Shape;1456;p47"/>
          <p:cNvSpPr/>
          <p:nvPr/>
        </p:nvSpPr>
        <p:spPr>
          <a:xfrm>
            <a:off x="4928000" y="640200"/>
            <a:ext cx="3945900" cy="4215300"/>
          </a:xfrm>
          <a:prstGeom prst="rect">
            <a:avLst/>
          </a:prstGeom>
          <a:solidFill>
            <a:srgbClr val="122040"/>
          </a:solidFill>
          <a:ln cap="flat" cmpd="sng" w="24900">
            <a:solidFill>
              <a:srgbClr val="27AE60"/>
            </a:solidFill>
            <a:prstDash val="solid"/>
            <a:round/>
            <a:headEnd len="sm" w="sm" type="none"/>
            <a:tailEnd len="sm" w="sm" type="none"/>
          </a:ln>
        </p:spPr>
        <p:txBody>
          <a:bodyPr anchorCtr="0" anchor="ctr" bIns="89675" lIns="89675" spcFirstLastPara="1" rIns="89675" wrap="square" tIns="89675">
            <a:noAutofit/>
          </a:bodyPr>
          <a:lstStyle/>
          <a:p>
            <a:pPr indent="0" lvl="0" marL="0" rtl="0" algn="l">
              <a:spcBef>
                <a:spcPts val="0"/>
              </a:spcBef>
              <a:spcAft>
                <a:spcPts val="0"/>
              </a:spcAft>
              <a:buNone/>
            </a:pPr>
            <a:r>
              <a:t/>
            </a:r>
            <a:endParaRPr/>
          </a:p>
        </p:txBody>
      </p:sp>
      <p:sp>
        <p:nvSpPr>
          <p:cNvPr id="1457" name="Google Shape;1457;p47"/>
          <p:cNvSpPr/>
          <p:nvPr/>
        </p:nvSpPr>
        <p:spPr>
          <a:xfrm>
            <a:off x="4928000" y="640200"/>
            <a:ext cx="3945900" cy="376500"/>
          </a:xfrm>
          <a:prstGeom prst="rect">
            <a:avLst/>
          </a:prstGeom>
          <a:solidFill>
            <a:srgbClr val="27AE60"/>
          </a:solidFill>
          <a:ln>
            <a:noFill/>
          </a:ln>
        </p:spPr>
        <p:txBody>
          <a:bodyPr anchorCtr="0" anchor="ctr" bIns="89675" lIns="89675" spcFirstLastPara="1" rIns="89675" wrap="square" tIns="89675">
            <a:noAutofit/>
          </a:bodyPr>
          <a:lstStyle/>
          <a:p>
            <a:pPr indent="0" lvl="0" marL="0" rtl="0" algn="l">
              <a:spcBef>
                <a:spcPts val="0"/>
              </a:spcBef>
              <a:spcAft>
                <a:spcPts val="0"/>
              </a:spcAft>
              <a:buNone/>
            </a:pPr>
            <a:r>
              <a:t/>
            </a:r>
            <a:endParaRPr/>
          </a:p>
        </p:txBody>
      </p:sp>
      <p:sp>
        <p:nvSpPr>
          <p:cNvPr id="1458" name="Google Shape;1458;p47"/>
          <p:cNvSpPr/>
          <p:nvPr/>
        </p:nvSpPr>
        <p:spPr>
          <a:xfrm>
            <a:off x="4928000" y="640200"/>
            <a:ext cx="3945900" cy="376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77"/>
              <a:buFont typeface="Calibri"/>
              <a:buNone/>
            </a:pPr>
            <a:r>
              <a:rPr b="1" i="0" lang="en-US" sz="1177" u="none" cap="none" strike="noStrike">
                <a:solidFill>
                  <a:srgbClr val="FFFFFF"/>
                </a:solidFill>
                <a:latin typeface="Calibri"/>
                <a:ea typeface="Calibri"/>
                <a:cs typeface="Calibri"/>
                <a:sym typeface="Calibri"/>
              </a:rPr>
              <a:t>AFTER right-sizing</a:t>
            </a:r>
            <a:endParaRPr b="0" i="0" sz="1177" u="none" cap="none" strike="noStrike">
              <a:solidFill>
                <a:schemeClr val="dk1"/>
              </a:solidFill>
              <a:latin typeface="Calibri"/>
              <a:ea typeface="Calibri"/>
              <a:cs typeface="Calibri"/>
              <a:sym typeface="Calibri"/>
            </a:endParaRPr>
          </a:p>
        </p:txBody>
      </p:sp>
      <p:sp>
        <p:nvSpPr>
          <p:cNvPr id="1459" name="Google Shape;1459;p47"/>
          <p:cNvSpPr/>
          <p:nvPr/>
        </p:nvSpPr>
        <p:spPr>
          <a:xfrm>
            <a:off x="5062523" y="1097578"/>
            <a:ext cx="1883400" cy="39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32"/>
              <a:buFont typeface="Calibri"/>
              <a:buNone/>
            </a:pPr>
            <a:r>
              <a:rPr b="0" i="0" lang="en-US" sz="932" u="none" cap="none" strike="noStrike">
                <a:solidFill>
                  <a:srgbClr val="90A4AE"/>
                </a:solidFill>
                <a:latin typeface="Calibri"/>
                <a:ea typeface="Calibri"/>
                <a:cs typeface="Calibri"/>
                <a:sym typeface="Calibri"/>
              </a:rPr>
              <a:t>Total CPU requested</a:t>
            </a:r>
            <a:endParaRPr b="0" i="0" sz="932" u="none" cap="none" strike="noStrike">
              <a:solidFill>
                <a:schemeClr val="dk1"/>
              </a:solidFill>
              <a:latin typeface="Calibri"/>
              <a:ea typeface="Calibri"/>
              <a:cs typeface="Calibri"/>
              <a:sym typeface="Calibri"/>
            </a:endParaRPr>
          </a:p>
        </p:txBody>
      </p:sp>
      <p:sp>
        <p:nvSpPr>
          <p:cNvPr id="1460" name="Google Shape;1460;p47"/>
          <p:cNvSpPr/>
          <p:nvPr/>
        </p:nvSpPr>
        <p:spPr>
          <a:xfrm>
            <a:off x="6945846" y="1097578"/>
            <a:ext cx="807000" cy="39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030"/>
              <a:buFont typeface="Calibri"/>
              <a:buNone/>
            </a:pPr>
            <a:r>
              <a:rPr b="1" i="0" lang="en-US" sz="1030" u="none" cap="none" strike="noStrike">
                <a:solidFill>
                  <a:srgbClr val="00BCD4"/>
                </a:solidFill>
                <a:latin typeface="Calibri"/>
                <a:ea typeface="Calibri"/>
                <a:cs typeface="Calibri"/>
                <a:sym typeface="Calibri"/>
              </a:rPr>
              <a:t>10,800m</a:t>
            </a:r>
            <a:endParaRPr b="0" i="0" sz="1030" u="none" cap="none" strike="noStrike">
              <a:solidFill>
                <a:schemeClr val="dk1"/>
              </a:solidFill>
              <a:latin typeface="Calibri"/>
              <a:ea typeface="Calibri"/>
              <a:cs typeface="Calibri"/>
              <a:sym typeface="Calibri"/>
            </a:endParaRPr>
          </a:p>
        </p:txBody>
      </p:sp>
      <p:sp>
        <p:nvSpPr>
          <p:cNvPr id="1461" name="Google Shape;1461;p47"/>
          <p:cNvSpPr/>
          <p:nvPr/>
        </p:nvSpPr>
        <p:spPr>
          <a:xfrm>
            <a:off x="7761952" y="1097578"/>
            <a:ext cx="986700" cy="39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34"/>
              <a:buFont typeface="Calibri"/>
              <a:buNone/>
            </a:pPr>
            <a:r>
              <a:rPr b="0" i="0" lang="en-US" sz="834" u="none" cap="none" strike="noStrike">
                <a:solidFill>
                  <a:srgbClr val="90A4AE"/>
                </a:solidFill>
                <a:latin typeface="Calibri"/>
                <a:ea typeface="Calibri"/>
                <a:cs typeface="Calibri"/>
                <a:sym typeface="Calibri"/>
              </a:rPr>
              <a:t>of 12,000m usable</a:t>
            </a:r>
            <a:endParaRPr b="0" i="0" sz="834" u="none" cap="none" strike="noStrike">
              <a:solidFill>
                <a:schemeClr val="dk1"/>
              </a:solidFill>
              <a:latin typeface="Calibri"/>
              <a:ea typeface="Calibri"/>
              <a:cs typeface="Calibri"/>
              <a:sym typeface="Calibri"/>
            </a:endParaRPr>
          </a:p>
        </p:txBody>
      </p:sp>
      <p:sp>
        <p:nvSpPr>
          <p:cNvPr id="1462" name="Google Shape;1462;p47"/>
          <p:cNvSpPr/>
          <p:nvPr/>
        </p:nvSpPr>
        <p:spPr>
          <a:xfrm>
            <a:off x="5062523" y="1590830"/>
            <a:ext cx="1883400" cy="39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32"/>
              <a:buFont typeface="Calibri"/>
              <a:buNone/>
            </a:pPr>
            <a:r>
              <a:rPr b="0" i="0" lang="en-US" sz="932" u="none" cap="none" strike="noStrike">
                <a:solidFill>
                  <a:srgbClr val="90A4AE"/>
                </a:solidFill>
                <a:latin typeface="Calibri"/>
                <a:ea typeface="Calibri"/>
                <a:cs typeface="Calibri"/>
                <a:sym typeface="Calibri"/>
              </a:rPr>
              <a:t>Total Mem requested</a:t>
            </a:r>
            <a:endParaRPr b="0" i="0" sz="932" u="none" cap="none" strike="noStrike">
              <a:solidFill>
                <a:schemeClr val="dk1"/>
              </a:solidFill>
              <a:latin typeface="Calibri"/>
              <a:ea typeface="Calibri"/>
              <a:cs typeface="Calibri"/>
              <a:sym typeface="Calibri"/>
            </a:endParaRPr>
          </a:p>
        </p:txBody>
      </p:sp>
      <p:sp>
        <p:nvSpPr>
          <p:cNvPr id="1463" name="Google Shape;1463;p47"/>
          <p:cNvSpPr/>
          <p:nvPr/>
        </p:nvSpPr>
        <p:spPr>
          <a:xfrm>
            <a:off x="6945846" y="1590830"/>
            <a:ext cx="807000" cy="39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030"/>
              <a:buFont typeface="Calibri"/>
              <a:buNone/>
            </a:pPr>
            <a:r>
              <a:rPr b="1" i="0" lang="en-US" sz="1030" u="none" cap="none" strike="noStrike">
                <a:solidFill>
                  <a:srgbClr val="00BCD4"/>
                </a:solidFill>
                <a:latin typeface="Calibri"/>
                <a:ea typeface="Calibri"/>
                <a:cs typeface="Calibri"/>
                <a:sym typeface="Calibri"/>
              </a:rPr>
              <a:t>50,624Mi</a:t>
            </a:r>
            <a:endParaRPr b="0" i="0" sz="1030" u="none" cap="none" strike="noStrike">
              <a:solidFill>
                <a:schemeClr val="dk1"/>
              </a:solidFill>
              <a:latin typeface="Calibri"/>
              <a:ea typeface="Calibri"/>
              <a:cs typeface="Calibri"/>
              <a:sym typeface="Calibri"/>
            </a:endParaRPr>
          </a:p>
        </p:txBody>
      </p:sp>
      <p:sp>
        <p:nvSpPr>
          <p:cNvPr id="1464" name="Google Shape;1464;p47"/>
          <p:cNvSpPr/>
          <p:nvPr/>
        </p:nvSpPr>
        <p:spPr>
          <a:xfrm>
            <a:off x="7761952" y="1590830"/>
            <a:ext cx="986700" cy="39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34"/>
              <a:buFont typeface="Calibri"/>
              <a:buNone/>
            </a:pPr>
            <a:r>
              <a:rPr b="0" i="0" lang="en-US" sz="834" u="none" cap="none" strike="noStrike">
                <a:solidFill>
                  <a:srgbClr val="90A4AE"/>
                </a:solidFill>
                <a:latin typeface="Calibri"/>
                <a:ea typeface="Calibri"/>
                <a:cs typeface="Calibri"/>
                <a:sym typeface="Calibri"/>
              </a:rPr>
              <a:t>of 55,296Mi usable</a:t>
            </a:r>
            <a:endParaRPr b="0" i="0" sz="834" u="none" cap="none" strike="noStrike">
              <a:solidFill>
                <a:schemeClr val="dk1"/>
              </a:solidFill>
              <a:latin typeface="Calibri"/>
              <a:ea typeface="Calibri"/>
              <a:cs typeface="Calibri"/>
              <a:sym typeface="Calibri"/>
            </a:endParaRPr>
          </a:p>
        </p:txBody>
      </p:sp>
      <p:sp>
        <p:nvSpPr>
          <p:cNvPr id="1465" name="Google Shape;1465;p47"/>
          <p:cNvSpPr/>
          <p:nvPr/>
        </p:nvSpPr>
        <p:spPr>
          <a:xfrm>
            <a:off x="5062523" y="2084081"/>
            <a:ext cx="1883400" cy="39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32"/>
              <a:buFont typeface="Calibri"/>
              <a:buNone/>
            </a:pPr>
            <a:r>
              <a:rPr b="0" i="0" lang="en-US" sz="932" u="none" cap="none" strike="noStrike">
                <a:solidFill>
                  <a:srgbClr val="90A4AE"/>
                </a:solidFill>
                <a:latin typeface="Calibri"/>
                <a:ea typeface="Calibri"/>
                <a:cs typeface="Calibri"/>
                <a:sym typeface="Calibri"/>
              </a:rPr>
              <a:t>CPU utilisation</a:t>
            </a:r>
            <a:endParaRPr b="0" i="0" sz="932" u="none" cap="none" strike="noStrike">
              <a:solidFill>
                <a:schemeClr val="dk1"/>
              </a:solidFill>
              <a:latin typeface="Calibri"/>
              <a:ea typeface="Calibri"/>
              <a:cs typeface="Calibri"/>
              <a:sym typeface="Calibri"/>
            </a:endParaRPr>
          </a:p>
        </p:txBody>
      </p:sp>
      <p:sp>
        <p:nvSpPr>
          <p:cNvPr id="1466" name="Google Shape;1466;p47"/>
          <p:cNvSpPr/>
          <p:nvPr/>
        </p:nvSpPr>
        <p:spPr>
          <a:xfrm>
            <a:off x="6945846" y="2084081"/>
            <a:ext cx="807000" cy="39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030"/>
              <a:buFont typeface="Calibri"/>
              <a:buNone/>
            </a:pPr>
            <a:r>
              <a:rPr b="1" i="0" lang="en-US" sz="1030" u="none" cap="none" strike="noStrike">
                <a:solidFill>
                  <a:srgbClr val="00BCD4"/>
                </a:solidFill>
                <a:latin typeface="Calibri"/>
                <a:ea typeface="Calibri"/>
                <a:cs typeface="Calibri"/>
                <a:sym typeface="Calibri"/>
              </a:rPr>
              <a:t>90%</a:t>
            </a:r>
            <a:endParaRPr b="0" i="0" sz="1030" u="none" cap="none" strike="noStrike">
              <a:solidFill>
                <a:schemeClr val="dk1"/>
              </a:solidFill>
              <a:latin typeface="Calibri"/>
              <a:ea typeface="Calibri"/>
              <a:cs typeface="Calibri"/>
              <a:sym typeface="Calibri"/>
            </a:endParaRPr>
          </a:p>
        </p:txBody>
      </p:sp>
      <p:sp>
        <p:nvSpPr>
          <p:cNvPr id="1467" name="Google Shape;1467;p47"/>
          <p:cNvSpPr/>
          <p:nvPr/>
        </p:nvSpPr>
        <p:spPr>
          <a:xfrm>
            <a:off x="7761952" y="2084081"/>
            <a:ext cx="986700" cy="39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34"/>
              <a:buFont typeface="Calibri"/>
              <a:buNone/>
            </a:pPr>
            <a:r>
              <a:rPr b="0" i="0" lang="en-US" sz="834" u="none" cap="none" strike="noStrike">
                <a:solidFill>
                  <a:srgbClr val="90A4AE"/>
                </a:solidFill>
                <a:latin typeface="Calibri"/>
                <a:ea typeface="Calibri"/>
                <a:cs typeface="Calibri"/>
                <a:sym typeface="Calibri"/>
              </a:rPr>
              <a:t>requestable (tightly packed)</a:t>
            </a:r>
            <a:endParaRPr b="0" i="0" sz="834" u="none" cap="none" strike="noStrike">
              <a:solidFill>
                <a:schemeClr val="dk1"/>
              </a:solidFill>
              <a:latin typeface="Calibri"/>
              <a:ea typeface="Calibri"/>
              <a:cs typeface="Calibri"/>
              <a:sym typeface="Calibri"/>
            </a:endParaRPr>
          </a:p>
        </p:txBody>
      </p:sp>
      <p:sp>
        <p:nvSpPr>
          <p:cNvPr id="1468" name="Google Shape;1468;p47"/>
          <p:cNvSpPr/>
          <p:nvPr/>
        </p:nvSpPr>
        <p:spPr>
          <a:xfrm>
            <a:off x="5062523" y="2577333"/>
            <a:ext cx="1883400" cy="39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32"/>
              <a:buFont typeface="Calibri"/>
              <a:buNone/>
            </a:pPr>
            <a:r>
              <a:rPr b="0" i="0" lang="en-US" sz="932" u="none" cap="none" strike="noStrike">
                <a:solidFill>
                  <a:srgbClr val="90A4AE"/>
                </a:solidFill>
                <a:latin typeface="Calibri"/>
                <a:ea typeface="Calibri"/>
                <a:cs typeface="Calibri"/>
                <a:sym typeface="Calibri"/>
              </a:rPr>
              <a:t>Memory utilisation</a:t>
            </a:r>
            <a:endParaRPr b="0" i="0" sz="932" u="none" cap="none" strike="noStrike">
              <a:solidFill>
                <a:schemeClr val="dk1"/>
              </a:solidFill>
              <a:latin typeface="Calibri"/>
              <a:ea typeface="Calibri"/>
              <a:cs typeface="Calibri"/>
              <a:sym typeface="Calibri"/>
            </a:endParaRPr>
          </a:p>
        </p:txBody>
      </p:sp>
      <p:sp>
        <p:nvSpPr>
          <p:cNvPr id="1469" name="Google Shape;1469;p47"/>
          <p:cNvSpPr/>
          <p:nvPr/>
        </p:nvSpPr>
        <p:spPr>
          <a:xfrm>
            <a:off x="6945846" y="2577333"/>
            <a:ext cx="807000" cy="39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030"/>
              <a:buFont typeface="Calibri"/>
              <a:buNone/>
            </a:pPr>
            <a:r>
              <a:rPr b="1" i="0" lang="en-US" sz="1030" u="none" cap="none" strike="noStrike">
                <a:solidFill>
                  <a:srgbClr val="00BCD4"/>
                </a:solidFill>
                <a:latin typeface="Calibri"/>
                <a:ea typeface="Calibri"/>
                <a:cs typeface="Calibri"/>
                <a:sym typeface="Calibri"/>
              </a:rPr>
              <a:t>92%</a:t>
            </a:r>
            <a:endParaRPr b="0" i="0" sz="1030" u="none" cap="none" strike="noStrike">
              <a:solidFill>
                <a:schemeClr val="dk1"/>
              </a:solidFill>
              <a:latin typeface="Calibri"/>
              <a:ea typeface="Calibri"/>
              <a:cs typeface="Calibri"/>
              <a:sym typeface="Calibri"/>
            </a:endParaRPr>
          </a:p>
        </p:txBody>
      </p:sp>
      <p:sp>
        <p:nvSpPr>
          <p:cNvPr id="1470" name="Google Shape;1470;p47"/>
          <p:cNvSpPr/>
          <p:nvPr/>
        </p:nvSpPr>
        <p:spPr>
          <a:xfrm>
            <a:off x="7761952" y="2577333"/>
            <a:ext cx="986700" cy="39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34"/>
              <a:buFont typeface="Calibri"/>
              <a:buNone/>
            </a:pPr>
            <a:r>
              <a:rPr b="0" i="0" lang="en-US" sz="834" u="none" cap="none" strike="noStrike">
                <a:solidFill>
                  <a:srgbClr val="90A4AE"/>
                </a:solidFill>
                <a:latin typeface="Calibri"/>
                <a:ea typeface="Calibri"/>
                <a:cs typeface="Calibri"/>
                <a:sym typeface="Calibri"/>
              </a:rPr>
              <a:t>actual usage now matches requests</a:t>
            </a:r>
            <a:endParaRPr b="0" i="0" sz="834" u="none" cap="none" strike="noStrike">
              <a:solidFill>
                <a:schemeClr val="dk1"/>
              </a:solidFill>
              <a:latin typeface="Calibri"/>
              <a:ea typeface="Calibri"/>
              <a:cs typeface="Calibri"/>
              <a:sym typeface="Calibri"/>
            </a:endParaRPr>
          </a:p>
        </p:txBody>
      </p:sp>
      <p:sp>
        <p:nvSpPr>
          <p:cNvPr id="1471" name="Google Shape;1471;p47"/>
          <p:cNvSpPr/>
          <p:nvPr/>
        </p:nvSpPr>
        <p:spPr>
          <a:xfrm>
            <a:off x="5062523" y="3070584"/>
            <a:ext cx="1883400" cy="39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32"/>
              <a:buFont typeface="Calibri"/>
              <a:buNone/>
            </a:pPr>
            <a:r>
              <a:rPr b="0" i="0" lang="en-US" sz="932" u="none" cap="none" strike="noStrike">
                <a:solidFill>
                  <a:srgbClr val="90A4AE"/>
                </a:solidFill>
                <a:latin typeface="Calibri"/>
                <a:ea typeface="Calibri"/>
                <a:cs typeface="Calibri"/>
                <a:sym typeface="Calibri"/>
              </a:rPr>
              <a:t>Pods per node (approx)</a:t>
            </a:r>
            <a:endParaRPr b="0" i="0" sz="932" u="none" cap="none" strike="noStrike">
              <a:solidFill>
                <a:schemeClr val="dk1"/>
              </a:solidFill>
              <a:latin typeface="Calibri"/>
              <a:ea typeface="Calibri"/>
              <a:cs typeface="Calibri"/>
              <a:sym typeface="Calibri"/>
            </a:endParaRPr>
          </a:p>
        </p:txBody>
      </p:sp>
      <p:sp>
        <p:nvSpPr>
          <p:cNvPr id="1472" name="Google Shape;1472;p47"/>
          <p:cNvSpPr/>
          <p:nvPr/>
        </p:nvSpPr>
        <p:spPr>
          <a:xfrm>
            <a:off x="6945846" y="3070584"/>
            <a:ext cx="807000" cy="39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1030"/>
              <a:buFont typeface="Calibri"/>
              <a:buNone/>
            </a:pPr>
            <a:r>
              <a:rPr b="1" i="0" lang="en-US" sz="1030" u="none" cap="none" strike="noStrike">
                <a:solidFill>
                  <a:srgbClr val="27AE60"/>
                </a:solidFill>
                <a:latin typeface="Calibri"/>
                <a:ea typeface="Calibri"/>
                <a:cs typeface="Calibri"/>
                <a:sym typeface="Calibri"/>
              </a:rPr>
              <a:t>~13</a:t>
            </a:r>
            <a:endParaRPr b="0" i="0" sz="1030" u="none" cap="none" strike="noStrike">
              <a:solidFill>
                <a:schemeClr val="dk1"/>
              </a:solidFill>
              <a:latin typeface="Calibri"/>
              <a:ea typeface="Calibri"/>
              <a:cs typeface="Calibri"/>
              <a:sym typeface="Calibri"/>
            </a:endParaRPr>
          </a:p>
        </p:txBody>
      </p:sp>
      <p:sp>
        <p:nvSpPr>
          <p:cNvPr id="1473" name="Google Shape;1473;p47"/>
          <p:cNvSpPr/>
          <p:nvPr/>
        </p:nvSpPr>
        <p:spPr>
          <a:xfrm>
            <a:off x="7761952" y="3070584"/>
            <a:ext cx="986700" cy="39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34"/>
              <a:buFont typeface="Calibri"/>
              <a:buNone/>
            </a:pPr>
            <a:r>
              <a:rPr b="0" i="0" lang="en-US" sz="834" u="none" cap="none" strike="noStrike">
                <a:solidFill>
                  <a:srgbClr val="90A4AE"/>
                </a:solidFill>
                <a:latin typeface="Calibri"/>
                <a:ea typeface="Calibri"/>
                <a:cs typeface="Calibri"/>
                <a:sym typeface="Calibri"/>
              </a:rPr>
              <a:t>+225% density improvement</a:t>
            </a:r>
            <a:endParaRPr b="0" i="0" sz="834" u="none" cap="none" strike="noStrike">
              <a:solidFill>
                <a:schemeClr val="dk1"/>
              </a:solidFill>
              <a:latin typeface="Calibri"/>
              <a:ea typeface="Calibri"/>
              <a:cs typeface="Calibri"/>
              <a:sym typeface="Calibri"/>
            </a:endParaRPr>
          </a:p>
        </p:txBody>
      </p:sp>
      <p:sp>
        <p:nvSpPr>
          <p:cNvPr id="1474" name="Google Shape;1474;p47"/>
          <p:cNvSpPr/>
          <p:nvPr/>
        </p:nvSpPr>
        <p:spPr>
          <a:xfrm>
            <a:off x="5062523" y="3563835"/>
            <a:ext cx="1883400" cy="39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32"/>
              <a:buFont typeface="Calibri"/>
              <a:buNone/>
            </a:pPr>
            <a:r>
              <a:rPr b="0" i="0" lang="en-US" sz="932" u="none" cap="none" strike="noStrike">
                <a:solidFill>
                  <a:srgbClr val="90A4AE"/>
                </a:solidFill>
                <a:latin typeface="Calibri"/>
                <a:ea typeface="Calibri"/>
                <a:cs typeface="Calibri"/>
                <a:sym typeface="Calibri"/>
              </a:rPr>
              <a:t>Nodes required</a:t>
            </a:r>
            <a:endParaRPr b="0" i="0" sz="932" u="none" cap="none" strike="noStrike">
              <a:solidFill>
                <a:schemeClr val="dk1"/>
              </a:solidFill>
              <a:latin typeface="Calibri"/>
              <a:ea typeface="Calibri"/>
              <a:cs typeface="Calibri"/>
              <a:sym typeface="Calibri"/>
            </a:endParaRPr>
          </a:p>
        </p:txBody>
      </p:sp>
      <p:sp>
        <p:nvSpPr>
          <p:cNvPr id="1475" name="Google Shape;1475;p47"/>
          <p:cNvSpPr/>
          <p:nvPr/>
        </p:nvSpPr>
        <p:spPr>
          <a:xfrm>
            <a:off x="6945846" y="3563835"/>
            <a:ext cx="807000" cy="39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1030"/>
              <a:buFont typeface="Calibri"/>
              <a:buNone/>
            </a:pPr>
            <a:r>
              <a:rPr b="1" i="0" lang="en-US" sz="1030" u="none" cap="none" strike="noStrike">
                <a:solidFill>
                  <a:srgbClr val="27AE60"/>
                </a:solidFill>
                <a:latin typeface="Calibri"/>
                <a:ea typeface="Calibri"/>
                <a:cs typeface="Calibri"/>
                <a:sym typeface="Calibri"/>
              </a:rPr>
              <a:t>2</a:t>
            </a:r>
            <a:endParaRPr b="0" i="0" sz="1030" u="none" cap="none" strike="noStrike">
              <a:solidFill>
                <a:schemeClr val="dk1"/>
              </a:solidFill>
              <a:latin typeface="Calibri"/>
              <a:ea typeface="Calibri"/>
              <a:cs typeface="Calibri"/>
              <a:sym typeface="Calibri"/>
            </a:endParaRPr>
          </a:p>
        </p:txBody>
      </p:sp>
      <p:sp>
        <p:nvSpPr>
          <p:cNvPr id="1476" name="Google Shape;1476;p47"/>
          <p:cNvSpPr/>
          <p:nvPr/>
        </p:nvSpPr>
        <p:spPr>
          <a:xfrm>
            <a:off x="7761952" y="3563835"/>
            <a:ext cx="986700" cy="39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34"/>
              <a:buFont typeface="Calibri"/>
              <a:buNone/>
            </a:pPr>
            <a:r>
              <a:rPr b="0" i="0" lang="en-US" sz="834" u="none" cap="none" strike="noStrike">
                <a:solidFill>
                  <a:srgbClr val="90A4AE"/>
                </a:solidFill>
                <a:latin typeface="Calibri"/>
                <a:ea typeface="Calibri"/>
                <a:cs typeface="Calibri"/>
                <a:sym typeface="Calibri"/>
              </a:rPr>
              <a:t>for 24 total replicas</a:t>
            </a:r>
            <a:endParaRPr b="0" i="0" sz="834" u="none" cap="none" strike="noStrike">
              <a:solidFill>
                <a:schemeClr val="dk1"/>
              </a:solidFill>
              <a:latin typeface="Calibri"/>
              <a:ea typeface="Calibri"/>
              <a:cs typeface="Calibri"/>
              <a:sym typeface="Calibri"/>
            </a:endParaRPr>
          </a:p>
        </p:txBody>
      </p:sp>
      <p:sp>
        <p:nvSpPr>
          <p:cNvPr id="1477" name="Google Shape;1477;p47"/>
          <p:cNvSpPr/>
          <p:nvPr/>
        </p:nvSpPr>
        <p:spPr>
          <a:xfrm>
            <a:off x="443900" y="4900098"/>
            <a:ext cx="8430000" cy="286800"/>
          </a:xfrm>
          <a:prstGeom prst="rect">
            <a:avLst/>
          </a:prstGeom>
          <a:solidFill>
            <a:srgbClr val="0D1F3C"/>
          </a:solidFill>
          <a:ln>
            <a:noFill/>
          </a:ln>
        </p:spPr>
        <p:txBody>
          <a:bodyPr anchorCtr="0" anchor="ctr" bIns="89675" lIns="89675" spcFirstLastPara="1" rIns="89675" wrap="square" tIns="89675">
            <a:noAutofit/>
          </a:bodyPr>
          <a:lstStyle/>
          <a:p>
            <a:pPr indent="0" lvl="0" marL="0" rtl="0" algn="l">
              <a:spcBef>
                <a:spcPts val="0"/>
              </a:spcBef>
              <a:spcAft>
                <a:spcPts val="0"/>
              </a:spcAft>
              <a:buNone/>
            </a:pPr>
            <a:r>
              <a:t/>
            </a:r>
            <a:endParaRPr/>
          </a:p>
        </p:txBody>
      </p:sp>
      <p:sp>
        <p:nvSpPr>
          <p:cNvPr id="1478" name="Google Shape;1478;p47"/>
          <p:cNvSpPr/>
          <p:nvPr/>
        </p:nvSpPr>
        <p:spPr>
          <a:xfrm>
            <a:off x="443900" y="4900098"/>
            <a:ext cx="8430000" cy="286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7AE60"/>
              </a:buClr>
              <a:buSzPts val="932"/>
              <a:buFont typeface="Calibri"/>
              <a:buNone/>
            </a:pPr>
            <a:r>
              <a:rPr b="1" i="0" lang="en-US" sz="932" u="none" cap="none" strike="noStrike">
                <a:solidFill>
                  <a:srgbClr val="27AE60"/>
                </a:solidFill>
                <a:latin typeface="Calibri"/>
                <a:ea typeface="Calibri"/>
                <a:cs typeface="Calibri"/>
                <a:sym typeface="Calibri"/>
              </a:rPr>
              <a:t>4 nodes eliminated  ·  +225% pods per node  ·  $1,121/month saving  ·  Zero code changes  ·  One rolling restart per service</a:t>
            </a:r>
            <a:endParaRPr b="0" i="0" sz="932" u="none" cap="none" strike="noStrike">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483" name="Shape 1483"/>
        <p:cNvGrpSpPr/>
        <p:nvPr/>
      </p:nvGrpSpPr>
      <p:grpSpPr>
        <a:xfrm>
          <a:off x="0" y="0"/>
          <a:ext cx="0" cy="0"/>
          <a:chOff x="0" y="0"/>
          <a:chExt cx="0" cy="0"/>
        </a:xfrm>
      </p:grpSpPr>
      <p:sp>
        <p:nvSpPr>
          <p:cNvPr id="1484" name="Google Shape;1484;p48"/>
          <p:cNvSpPr/>
          <p:nvPr/>
        </p:nvSpPr>
        <p:spPr>
          <a:xfrm>
            <a:off x="0" y="0"/>
            <a:ext cx="9144000" cy="64020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48"/>
          <p:cNvSpPr/>
          <p:nvPr/>
        </p:nvSpPr>
        <p:spPr>
          <a:xfrm>
            <a:off x="320040" y="9144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200"/>
              <a:buFont typeface="Calibri"/>
              <a:buNone/>
            </a:pPr>
            <a:r>
              <a:rPr b="1" i="0" lang="en-US" sz="2200" u="none" cap="none" strike="noStrike">
                <a:solidFill>
                  <a:srgbClr val="00BCD4"/>
                </a:solidFill>
                <a:latin typeface="Calibri"/>
                <a:ea typeface="Calibri"/>
                <a:cs typeface="Calibri"/>
                <a:sym typeface="Calibri"/>
              </a:rPr>
              <a:t>Cost Impact Analysis &amp; Business Case</a:t>
            </a:r>
            <a:endParaRPr b="0" i="0" sz="2200" u="none" cap="none" strike="noStrike">
              <a:solidFill>
                <a:schemeClr val="dk1"/>
              </a:solidFill>
              <a:latin typeface="Calibri"/>
              <a:ea typeface="Calibri"/>
              <a:cs typeface="Calibri"/>
              <a:sym typeface="Calibri"/>
            </a:endParaRPr>
          </a:p>
        </p:txBody>
      </p:sp>
      <p:sp>
        <p:nvSpPr>
          <p:cNvPr id="1486" name="Google Shape;1486;p48"/>
          <p:cNvSpPr/>
          <p:nvPr/>
        </p:nvSpPr>
        <p:spPr>
          <a:xfrm>
            <a:off x="7772400" y="73152"/>
            <a:ext cx="1234500" cy="49380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48"/>
          <p:cNvSpPr/>
          <p:nvPr/>
        </p:nvSpPr>
        <p:spPr>
          <a:xfrm>
            <a:off x="7772400" y="73152"/>
            <a:ext cx="1234500" cy="493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COST</a:t>
            </a:r>
            <a:endParaRPr b="0" i="0" sz="1100" u="none" cap="none" strike="noStrike">
              <a:solidFill>
                <a:schemeClr val="dk1"/>
              </a:solidFill>
              <a:latin typeface="Calibri"/>
              <a:ea typeface="Calibri"/>
              <a:cs typeface="Calibri"/>
              <a:sym typeface="Calibri"/>
            </a:endParaRPr>
          </a:p>
        </p:txBody>
      </p:sp>
      <p:sp>
        <p:nvSpPr>
          <p:cNvPr id="1488" name="Google Shape;1488;p48"/>
          <p:cNvSpPr/>
          <p:nvPr/>
        </p:nvSpPr>
        <p:spPr>
          <a:xfrm>
            <a:off x="563350" y="640200"/>
            <a:ext cx="3075600" cy="2021100"/>
          </a:xfrm>
          <a:prstGeom prst="rect">
            <a:avLst/>
          </a:prstGeom>
          <a:solidFill>
            <a:srgbClr val="122040"/>
          </a:solidFill>
          <a:ln cap="flat" cmpd="sng" w="24400">
            <a:solidFill>
              <a:srgbClr val="27AE60"/>
            </a:solidFill>
            <a:prstDash val="solid"/>
            <a:round/>
            <a:headEnd len="sm" w="sm" type="none"/>
            <a:tailEnd len="sm" w="sm" type="none"/>
          </a:ln>
        </p:spPr>
        <p:txBody>
          <a:bodyPr anchorCtr="0" anchor="ctr" bIns="87875" lIns="87875" spcFirstLastPara="1" rIns="87875" wrap="square" tIns="87875">
            <a:noAutofit/>
          </a:bodyPr>
          <a:lstStyle/>
          <a:p>
            <a:pPr indent="0" lvl="0" marL="0" rtl="0" algn="l">
              <a:spcBef>
                <a:spcPts val="0"/>
              </a:spcBef>
              <a:spcAft>
                <a:spcPts val="0"/>
              </a:spcAft>
              <a:buNone/>
            </a:pPr>
            <a:r>
              <a:t/>
            </a:r>
            <a:endParaRPr/>
          </a:p>
        </p:txBody>
      </p:sp>
      <p:sp>
        <p:nvSpPr>
          <p:cNvPr id="1489" name="Google Shape;1489;p48"/>
          <p:cNvSpPr/>
          <p:nvPr/>
        </p:nvSpPr>
        <p:spPr>
          <a:xfrm>
            <a:off x="563350" y="772016"/>
            <a:ext cx="3075600" cy="79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7AE60"/>
              </a:buClr>
              <a:buSzPts val="4613"/>
              <a:buFont typeface="Calibri"/>
              <a:buNone/>
            </a:pPr>
            <a:r>
              <a:rPr b="1" i="0" lang="en-US" sz="4613" u="none" cap="none" strike="noStrike">
                <a:solidFill>
                  <a:srgbClr val="27AE60"/>
                </a:solidFill>
                <a:latin typeface="Calibri"/>
                <a:ea typeface="Calibri"/>
                <a:cs typeface="Calibri"/>
                <a:sym typeface="Calibri"/>
              </a:rPr>
              <a:t>$13,455</a:t>
            </a:r>
            <a:endParaRPr b="0" i="0" sz="4613" u="none" cap="none" strike="noStrike">
              <a:solidFill>
                <a:schemeClr val="dk1"/>
              </a:solidFill>
              <a:latin typeface="Calibri"/>
              <a:ea typeface="Calibri"/>
              <a:cs typeface="Calibri"/>
              <a:sym typeface="Calibri"/>
            </a:endParaRPr>
          </a:p>
        </p:txBody>
      </p:sp>
      <p:sp>
        <p:nvSpPr>
          <p:cNvPr id="1490" name="Google Shape;1490;p48"/>
          <p:cNvSpPr/>
          <p:nvPr/>
        </p:nvSpPr>
        <p:spPr>
          <a:xfrm>
            <a:off x="563350" y="1562914"/>
            <a:ext cx="3075600" cy="263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0A4AE"/>
              </a:buClr>
              <a:buSzPts val="1249"/>
              <a:buFont typeface="Calibri"/>
              <a:buNone/>
            </a:pPr>
            <a:r>
              <a:rPr b="0" i="0" lang="en-US" sz="1249" u="none" cap="none" strike="noStrike">
                <a:solidFill>
                  <a:srgbClr val="90A4AE"/>
                </a:solidFill>
                <a:latin typeface="Calibri"/>
                <a:ea typeface="Calibri"/>
                <a:cs typeface="Calibri"/>
                <a:sym typeface="Calibri"/>
              </a:rPr>
              <a:t>annual saving</a:t>
            </a:r>
            <a:endParaRPr b="0" i="0" sz="1249" u="none" cap="none" strike="noStrike">
              <a:solidFill>
                <a:schemeClr val="dk1"/>
              </a:solidFill>
              <a:latin typeface="Calibri"/>
              <a:ea typeface="Calibri"/>
              <a:cs typeface="Calibri"/>
              <a:sym typeface="Calibri"/>
            </a:endParaRPr>
          </a:p>
        </p:txBody>
      </p:sp>
      <p:sp>
        <p:nvSpPr>
          <p:cNvPr id="1491" name="Google Shape;1491;p48"/>
          <p:cNvSpPr/>
          <p:nvPr/>
        </p:nvSpPr>
        <p:spPr>
          <a:xfrm>
            <a:off x="563350" y="1861698"/>
            <a:ext cx="3075600" cy="24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0A4AE"/>
              </a:buClr>
              <a:buSzPts val="913"/>
              <a:buFont typeface="Calibri"/>
              <a:buNone/>
            </a:pPr>
            <a:r>
              <a:rPr b="0" i="1" lang="en-US" sz="913" u="none" cap="none" strike="noStrike">
                <a:solidFill>
                  <a:srgbClr val="90A4AE"/>
                </a:solidFill>
                <a:latin typeface="Calibri"/>
                <a:ea typeface="Calibri"/>
                <a:cs typeface="Calibri"/>
                <a:sym typeface="Calibri"/>
              </a:rPr>
              <a:t>4 nodes × $0.384/hr × 8,760 hrs</a:t>
            </a:r>
            <a:endParaRPr b="0" i="0" sz="913" u="none" cap="none" strike="noStrike">
              <a:solidFill>
                <a:schemeClr val="dk1"/>
              </a:solidFill>
              <a:latin typeface="Calibri"/>
              <a:ea typeface="Calibri"/>
              <a:cs typeface="Calibri"/>
              <a:sym typeface="Calibri"/>
            </a:endParaRPr>
          </a:p>
        </p:txBody>
      </p:sp>
      <p:sp>
        <p:nvSpPr>
          <p:cNvPr id="1492" name="Google Shape;1492;p48"/>
          <p:cNvSpPr/>
          <p:nvPr/>
        </p:nvSpPr>
        <p:spPr>
          <a:xfrm>
            <a:off x="563350" y="2160482"/>
            <a:ext cx="3075600" cy="386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A623"/>
              </a:buClr>
              <a:buSzPts val="1009"/>
              <a:buFont typeface="Calibri"/>
              <a:buNone/>
            </a:pPr>
            <a:r>
              <a:rPr b="1" i="0" lang="en-US" sz="1009" u="none" cap="none" strike="noStrike">
                <a:solidFill>
                  <a:srgbClr val="F5A623"/>
                </a:solidFill>
                <a:latin typeface="Calibri"/>
                <a:ea typeface="Calibri"/>
                <a:cs typeface="Calibri"/>
                <a:sym typeface="Calibri"/>
              </a:rPr>
              <a:t>this cluster alone</a:t>
            </a:r>
            <a:endParaRPr b="0" i="0" sz="1009" u="none" cap="none" strike="noStrike">
              <a:solidFill>
                <a:schemeClr val="dk1"/>
              </a:solidFill>
              <a:latin typeface="Calibri"/>
              <a:ea typeface="Calibri"/>
              <a:cs typeface="Calibri"/>
              <a:sym typeface="Calibri"/>
            </a:endParaRPr>
          </a:p>
        </p:txBody>
      </p:sp>
      <p:sp>
        <p:nvSpPr>
          <p:cNvPr id="1493" name="Google Shape;1493;p48"/>
          <p:cNvSpPr/>
          <p:nvPr/>
        </p:nvSpPr>
        <p:spPr>
          <a:xfrm>
            <a:off x="3770884" y="640200"/>
            <a:ext cx="5052900" cy="2021100"/>
          </a:xfrm>
          <a:prstGeom prst="rect">
            <a:avLst/>
          </a:prstGeom>
          <a:solidFill>
            <a:srgbClr val="122040"/>
          </a:solidFill>
          <a:ln cap="flat" cmpd="sng" w="12200">
            <a:solidFill>
              <a:srgbClr val="1E3A5F"/>
            </a:solidFill>
            <a:prstDash val="solid"/>
            <a:round/>
            <a:headEnd len="sm" w="sm" type="none"/>
            <a:tailEnd len="sm" w="sm" type="none"/>
          </a:ln>
        </p:spPr>
        <p:txBody>
          <a:bodyPr anchorCtr="0" anchor="ctr" bIns="87875" lIns="87875" spcFirstLastPara="1" rIns="87875" wrap="square" tIns="87875">
            <a:noAutofit/>
          </a:bodyPr>
          <a:lstStyle/>
          <a:p>
            <a:pPr indent="0" lvl="0" marL="0" rtl="0" algn="l">
              <a:spcBef>
                <a:spcPts val="0"/>
              </a:spcBef>
              <a:spcAft>
                <a:spcPts val="0"/>
              </a:spcAft>
              <a:buNone/>
            </a:pPr>
            <a:r>
              <a:t/>
            </a:r>
            <a:endParaRPr/>
          </a:p>
        </p:txBody>
      </p:sp>
      <p:sp>
        <p:nvSpPr>
          <p:cNvPr id="1494" name="Google Shape;1494;p48"/>
          <p:cNvSpPr/>
          <p:nvPr/>
        </p:nvSpPr>
        <p:spPr>
          <a:xfrm>
            <a:off x="3749040" y="841248"/>
            <a:ext cx="49377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100"/>
              <a:buFont typeface="Calibri"/>
              <a:buNone/>
            </a:pPr>
            <a:r>
              <a:rPr b="1" i="0" lang="en-US" sz="1100" u="none" cap="none" strike="noStrike">
                <a:solidFill>
                  <a:srgbClr val="00BCD4"/>
                </a:solidFill>
                <a:latin typeface="Calibri"/>
                <a:ea typeface="Calibri"/>
                <a:cs typeface="Calibri"/>
                <a:sym typeface="Calibri"/>
              </a:rPr>
              <a:t>Cost breakdown</a:t>
            </a:r>
            <a:endParaRPr b="0" i="0" sz="1100" u="none" cap="none" strike="noStrike">
              <a:solidFill>
                <a:schemeClr val="dk1"/>
              </a:solidFill>
              <a:latin typeface="Calibri"/>
              <a:ea typeface="Calibri"/>
              <a:cs typeface="Calibri"/>
              <a:sym typeface="Calibri"/>
            </a:endParaRPr>
          </a:p>
        </p:txBody>
      </p:sp>
      <p:sp>
        <p:nvSpPr>
          <p:cNvPr id="1495" name="Google Shape;1495;p48"/>
          <p:cNvSpPr/>
          <p:nvPr/>
        </p:nvSpPr>
        <p:spPr>
          <a:xfrm>
            <a:off x="3902701" y="1018074"/>
            <a:ext cx="1581600" cy="281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13"/>
              <a:buFont typeface="Calibri"/>
              <a:buNone/>
            </a:pPr>
            <a:r>
              <a:rPr b="0" i="0" lang="en-US" sz="913" u="none" cap="none" strike="noStrike">
                <a:solidFill>
                  <a:srgbClr val="90A4AE"/>
                </a:solidFill>
                <a:latin typeface="Calibri"/>
                <a:ea typeface="Calibri"/>
                <a:cs typeface="Calibri"/>
                <a:sym typeface="Calibri"/>
              </a:rPr>
              <a:t>Nodes before</a:t>
            </a:r>
            <a:endParaRPr b="0" i="0" sz="913" u="none" cap="none" strike="noStrike">
              <a:solidFill>
                <a:schemeClr val="dk1"/>
              </a:solidFill>
              <a:latin typeface="Calibri"/>
              <a:ea typeface="Calibri"/>
              <a:cs typeface="Calibri"/>
              <a:sym typeface="Calibri"/>
            </a:endParaRPr>
          </a:p>
        </p:txBody>
      </p:sp>
      <p:sp>
        <p:nvSpPr>
          <p:cNvPr id="1496" name="Google Shape;1496;p48"/>
          <p:cNvSpPr/>
          <p:nvPr/>
        </p:nvSpPr>
        <p:spPr>
          <a:xfrm>
            <a:off x="5502074" y="1018074"/>
            <a:ext cx="439500" cy="281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13"/>
              <a:buFont typeface="Calibri"/>
              <a:buNone/>
            </a:pPr>
            <a:r>
              <a:rPr b="0" i="0" lang="en-US" sz="913" u="none" cap="none" strike="noStrike">
                <a:solidFill>
                  <a:srgbClr val="ECF0F1"/>
                </a:solidFill>
                <a:latin typeface="Calibri"/>
                <a:ea typeface="Calibri"/>
                <a:cs typeface="Calibri"/>
                <a:sym typeface="Calibri"/>
              </a:rPr>
              <a:t>6</a:t>
            </a:r>
            <a:endParaRPr b="0" i="0" sz="913" u="none" cap="none" strike="noStrike">
              <a:solidFill>
                <a:schemeClr val="dk1"/>
              </a:solidFill>
              <a:latin typeface="Calibri"/>
              <a:ea typeface="Calibri"/>
              <a:cs typeface="Calibri"/>
              <a:sym typeface="Calibri"/>
            </a:endParaRPr>
          </a:p>
        </p:txBody>
      </p:sp>
      <p:sp>
        <p:nvSpPr>
          <p:cNvPr id="1497" name="Google Shape;1497;p48"/>
          <p:cNvSpPr/>
          <p:nvPr/>
        </p:nvSpPr>
        <p:spPr>
          <a:xfrm>
            <a:off x="5959038" y="1018074"/>
            <a:ext cx="1318200" cy="281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13"/>
              <a:buFont typeface="Calibri"/>
              <a:buNone/>
            </a:pPr>
            <a:r>
              <a:rPr b="0" i="0" lang="en-US" sz="913" u="none" cap="none" strike="noStrike">
                <a:solidFill>
                  <a:srgbClr val="90A4AE"/>
                </a:solidFill>
                <a:latin typeface="Calibri"/>
                <a:ea typeface="Calibri"/>
                <a:cs typeface="Calibri"/>
                <a:sym typeface="Calibri"/>
              </a:rPr>
              <a:t>× $280/month</a:t>
            </a:r>
            <a:endParaRPr b="0" i="0" sz="913" u="none" cap="none" strike="noStrike">
              <a:solidFill>
                <a:schemeClr val="dk1"/>
              </a:solidFill>
              <a:latin typeface="Calibri"/>
              <a:ea typeface="Calibri"/>
              <a:cs typeface="Calibri"/>
              <a:sym typeface="Calibri"/>
            </a:endParaRPr>
          </a:p>
        </p:txBody>
      </p:sp>
      <p:sp>
        <p:nvSpPr>
          <p:cNvPr id="1498" name="Google Shape;1498;p48"/>
          <p:cNvSpPr/>
          <p:nvPr/>
        </p:nvSpPr>
        <p:spPr>
          <a:xfrm>
            <a:off x="7294779" y="1018074"/>
            <a:ext cx="1406100" cy="281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CF0F1"/>
              </a:buClr>
              <a:buSzPts val="961"/>
              <a:buFont typeface="Calibri"/>
              <a:buNone/>
            </a:pPr>
            <a:r>
              <a:rPr b="0" i="0" lang="en-US" sz="961" u="none" cap="none" strike="noStrike">
                <a:solidFill>
                  <a:srgbClr val="ECF0F1"/>
                </a:solidFill>
                <a:latin typeface="Calibri"/>
                <a:ea typeface="Calibri"/>
                <a:cs typeface="Calibri"/>
                <a:sym typeface="Calibri"/>
              </a:rPr>
              <a:t>= $1,682/month</a:t>
            </a:r>
            <a:endParaRPr b="0" i="0" sz="961" u="none" cap="none" strike="noStrike">
              <a:solidFill>
                <a:schemeClr val="dk1"/>
              </a:solidFill>
              <a:latin typeface="Calibri"/>
              <a:ea typeface="Calibri"/>
              <a:cs typeface="Calibri"/>
              <a:sym typeface="Calibri"/>
            </a:endParaRPr>
          </a:p>
        </p:txBody>
      </p:sp>
      <p:sp>
        <p:nvSpPr>
          <p:cNvPr id="1499" name="Google Shape;1499;p48"/>
          <p:cNvSpPr/>
          <p:nvPr/>
        </p:nvSpPr>
        <p:spPr>
          <a:xfrm>
            <a:off x="3902701" y="1334433"/>
            <a:ext cx="1581600" cy="281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13"/>
              <a:buFont typeface="Calibri"/>
              <a:buNone/>
            </a:pPr>
            <a:r>
              <a:rPr b="0" i="0" lang="en-US" sz="913" u="none" cap="none" strike="noStrike">
                <a:solidFill>
                  <a:srgbClr val="90A4AE"/>
                </a:solidFill>
                <a:latin typeface="Calibri"/>
                <a:ea typeface="Calibri"/>
                <a:cs typeface="Calibri"/>
                <a:sym typeface="Calibri"/>
              </a:rPr>
              <a:t>Nodes after</a:t>
            </a:r>
            <a:endParaRPr b="0" i="0" sz="913" u="none" cap="none" strike="noStrike">
              <a:solidFill>
                <a:schemeClr val="dk1"/>
              </a:solidFill>
              <a:latin typeface="Calibri"/>
              <a:ea typeface="Calibri"/>
              <a:cs typeface="Calibri"/>
              <a:sym typeface="Calibri"/>
            </a:endParaRPr>
          </a:p>
        </p:txBody>
      </p:sp>
      <p:sp>
        <p:nvSpPr>
          <p:cNvPr id="1500" name="Google Shape;1500;p48"/>
          <p:cNvSpPr/>
          <p:nvPr/>
        </p:nvSpPr>
        <p:spPr>
          <a:xfrm>
            <a:off x="5502074" y="1334433"/>
            <a:ext cx="439500" cy="281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13"/>
              <a:buFont typeface="Calibri"/>
              <a:buNone/>
            </a:pPr>
            <a:r>
              <a:rPr b="0" i="0" lang="en-US" sz="913" u="none" cap="none" strike="noStrike">
                <a:solidFill>
                  <a:srgbClr val="ECF0F1"/>
                </a:solidFill>
                <a:latin typeface="Calibri"/>
                <a:ea typeface="Calibri"/>
                <a:cs typeface="Calibri"/>
                <a:sym typeface="Calibri"/>
              </a:rPr>
              <a:t>2</a:t>
            </a:r>
            <a:endParaRPr b="0" i="0" sz="913" u="none" cap="none" strike="noStrike">
              <a:solidFill>
                <a:schemeClr val="dk1"/>
              </a:solidFill>
              <a:latin typeface="Calibri"/>
              <a:ea typeface="Calibri"/>
              <a:cs typeface="Calibri"/>
              <a:sym typeface="Calibri"/>
            </a:endParaRPr>
          </a:p>
        </p:txBody>
      </p:sp>
      <p:sp>
        <p:nvSpPr>
          <p:cNvPr id="1501" name="Google Shape;1501;p48"/>
          <p:cNvSpPr/>
          <p:nvPr/>
        </p:nvSpPr>
        <p:spPr>
          <a:xfrm>
            <a:off x="5959038" y="1334433"/>
            <a:ext cx="1318200" cy="281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13"/>
              <a:buFont typeface="Calibri"/>
              <a:buNone/>
            </a:pPr>
            <a:r>
              <a:rPr b="0" i="0" lang="en-US" sz="913" u="none" cap="none" strike="noStrike">
                <a:solidFill>
                  <a:srgbClr val="90A4AE"/>
                </a:solidFill>
                <a:latin typeface="Calibri"/>
                <a:ea typeface="Calibri"/>
                <a:cs typeface="Calibri"/>
                <a:sym typeface="Calibri"/>
              </a:rPr>
              <a:t>× $280/month</a:t>
            </a:r>
            <a:endParaRPr b="0" i="0" sz="913" u="none" cap="none" strike="noStrike">
              <a:solidFill>
                <a:schemeClr val="dk1"/>
              </a:solidFill>
              <a:latin typeface="Calibri"/>
              <a:ea typeface="Calibri"/>
              <a:cs typeface="Calibri"/>
              <a:sym typeface="Calibri"/>
            </a:endParaRPr>
          </a:p>
        </p:txBody>
      </p:sp>
      <p:sp>
        <p:nvSpPr>
          <p:cNvPr id="1502" name="Google Shape;1502;p48"/>
          <p:cNvSpPr/>
          <p:nvPr/>
        </p:nvSpPr>
        <p:spPr>
          <a:xfrm>
            <a:off x="7294779" y="1334433"/>
            <a:ext cx="1406100" cy="281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CF0F1"/>
              </a:buClr>
              <a:buSzPts val="961"/>
              <a:buFont typeface="Calibri"/>
              <a:buNone/>
            </a:pPr>
            <a:r>
              <a:rPr b="0" i="0" lang="en-US" sz="961" u="none" cap="none" strike="noStrike">
                <a:solidFill>
                  <a:srgbClr val="ECF0F1"/>
                </a:solidFill>
                <a:latin typeface="Calibri"/>
                <a:ea typeface="Calibri"/>
                <a:cs typeface="Calibri"/>
                <a:sym typeface="Calibri"/>
              </a:rPr>
              <a:t>= $561/month</a:t>
            </a:r>
            <a:endParaRPr b="0" i="0" sz="961" u="none" cap="none" strike="noStrike">
              <a:solidFill>
                <a:schemeClr val="dk1"/>
              </a:solidFill>
              <a:latin typeface="Calibri"/>
              <a:ea typeface="Calibri"/>
              <a:cs typeface="Calibri"/>
              <a:sym typeface="Calibri"/>
            </a:endParaRPr>
          </a:p>
        </p:txBody>
      </p:sp>
      <p:sp>
        <p:nvSpPr>
          <p:cNvPr id="1503" name="Google Shape;1503;p48"/>
          <p:cNvSpPr/>
          <p:nvPr/>
        </p:nvSpPr>
        <p:spPr>
          <a:xfrm>
            <a:off x="3902701" y="1650792"/>
            <a:ext cx="1581600" cy="281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13"/>
              <a:buFont typeface="Calibri"/>
              <a:buNone/>
            </a:pPr>
            <a:r>
              <a:rPr b="0" i="0" lang="en-US" sz="913" u="none" cap="none" strike="noStrike">
                <a:solidFill>
                  <a:srgbClr val="90A4AE"/>
                </a:solidFill>
                <a:latin typeface="Calibri"/>
                <a:ea typeface="Calibri"/>
                <a:cs typeface="Calibri"/>
                <a:sym typeface="Calibri"/>
              </a:rPr>
              <a:t>Monthly saving</a:t>
            </a:r>
            <a:endParaRPr b="0" i="0" sz="913" u="none" cap="none" strike="noStrike">
              <a:solidFill>
                <a:schemeClr val="dk1"/>
              </a:solidFill>
              <a:latin typeface="Calibri"/>
              <a:ea typeface="Calibri"/>
              <a:cs typeface="Calibri"/>
              <a:sym typeface="Calibri"/>
            </a:endParaRPr>
          </a:p>
        </p:txBody>
      </p:sp>
      <p:sp>
        <p:nvSpPr>
          <p:cNvPr id="1504" name="Google Shape;1504;p48"/>
          <p:cNvSpPr/>
          <p:nvPr/>
        </p:nvSpPr>
        <p:spPr>
          <a:xfrm>
            <a:off x="5502074" y="1650792"/>
            <a:ext cx="439500" cy="281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913"/>
              <a:buFont typeface="Calibri"/>
              <a:buNone/>
            </a:pPr>
            <a:r>
              <a:t/>
            </a:r>
            <a:endParaRPr b="0" i="0" sz="913" u="none" cap="none" strike="noStrike">
              <a:solidFill>
                <a:schemeClr val="dk1"/>
              </a:solidFill>
              <a:latin typeface="Calibri"/>
              <a:ea typeface="Calibri"/>
              <a:cs typeface="Calibri"/>
              <a:sym typeface="Calibri"/>
            </a:endParaRPr>
          </a:p>
        </p:txBody>
      </p:sp>
      <p:sp>
        <p:nvSpPr>
          <p:cNvPr id="1505" name="Google Shape;1505;p48"/>
          <p:cNvSpPr/>
          <p:nvPr/>
        </p:nvSpPr>
        <p:spPr>
          <a:xfrm>
            <a:off x="5959038" y="1650792"/>
            <a:ext cx="1318200" cy="281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913"/>
              <a:buFont typeface="Calibri"/>
              <a:buNone/>
            </a:pPr>
            <a:r>
              <a:t/>
            </a:r>
            <a:endParaRPr b="0" i="0" sz="913" u="none" cap="none" strike="noStrike">
              <a:solidFill>
                <a:schemeClr val="dk1"/>
              </a:solidFill>
              <a:latin typeface="Calibri"/>
              <a:ea typeface="Calibri"/>
              <a:cs typeface="Calibri"/>
              <a:sym typeface="Calibri"/>
            </a:endParaRPr>
          </a:p>
        </p:txBody>
      </p:sp>
      <p:sp>
        <p:nvSpPr>
          <p:cNvPr id="1506" name="Google Shape;1506;p48"/>
          <p:cNvSpPr/>
          <p:nvPr/>
        </p:nvSpPr>
        <p:spPr>
          <a:xfrm>
            <a:off x="7294779" y="1650792"/>
            <a:ext cx="1406100" cy="281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7AE60"/>
              </a:buClr>
              <a:buSzPts val="961"/>
              <a:buFont typeface="Calibri"/>
              <a:buNone/>
            </a:pPr>
            <a:r>
              <a:rPr b="1" i="0" lang="en-US" sz="961" u="none" cap="none" strike="noStrike">
                <a:solidFill>
                  <a:srgbClr val="27AE60"/>
                </a:solidFill>
                <a:latin typeface="Calibri"/>
                <a:ea typeface="Calibri"/>
                <a:cs typeface="Calibri"/>
                <a:sym typeface="Calibri"/>
              </a:rPr>
              <a:t>$1,121/month</a:t>
            </a:r>
            <a:endParaRPr b="0" i="0" sz="961" u="none" cap="none" strike="noStrike">
              <a:solidFill>
                <a:schemeClr val="dk1"/>
              </a:solidFill>
              <a:latin typeface="Calibri"/>
              <a:ea typeface="Calibri"/>
              <a:cs typeface="Calibri"/>
              <a:sym typeface="Calibri"/>
            </a:endParaRPr>
          </a:p>
        </p:txBody>
      </p:sp>
      <p:sp>
        <p:nvSpPr>
          <p:cNvPr id="1507" name="Google Shape;1507;p48"/>
          <p:cNvSpPr/>
          <p:nvPr/>
        </p:nvSpPr>
        <p:spPr>
          <a:xfrm>
            <a:off x="3902701" y="1967151"/>
            <a:ext cx="1581600" cy="281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13"/>
              <a:buFont typeface="Calibri"/>
              <a:buNone/>
            </a:pPr>
            <a:r>
              <a:rPr b="0" i="0" lang="en-US" sz="913" u="none" cap="none" strike="noStrike">
                <a:solidFill>
                  <a:srgbClr val="90A4AE"/>
                </a:solidFill>
                <a:latin typeface="Calibri"/>
                <a:ea typeface="Calibri"/>
                <a:cs typeface="Calibri"/>
                <a:sym typeface="Calibri"/>
              </a:rPr>
              <a:t>Annual saving</a:t>
            </a:r>
            <a:endParaRPr b="0" i="0" sz="913" u="none" cap="none" strike="noStrike">
              <a:solidFill>
                <a:schemeClr val="dk1"/>
              </a:solidFill>
              <a:latin typeface="Calibri"/>
              <a:ea typeface="Calibri"/>
              <a:cs typeface="Calibri"/>
              <a:sym typeface="Calibri"/>
            </a:endParaRPr>
          </a:p>
        </p:txBody>
      </p:sp>
      <p:sp>
        <p:nvSpPr>
          <p:cNvPr id="1508" name="Google Shape;1508;p48"/>
          <p:cNvSpPr/>
          <p:nvPr/>
        </p:nvSpPr>
        <p:spPr>
          <a:xfrm>
            <a:off x="5502074" y="1967151"/>
            <a:ext cx="439500" cy="281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913"/>
              <a:buFont typeface="Calibri"/>
              <a:buNone/>
            </a:pPr>
            <a:r>
              <a:t/>
            </a:r>
            <a:endParaRPr b="0" i="0" sz="913" u="none" cap="none" strike="noStrike">
              <a:solidFill>
                <a:schemeClr val="dk1"/>
              </a:solidFill>
              <a:latin typeface="Calibri"/>
              <a:ea typeface="Calibri"/>
              <a:cs typeface="Calibri"/>
              <a:sym typeface="Calibri"/>
            </a:endParaRPr>
          </a:p>
        </p:txBody>
      </p:sp>
      <p:sp>
        <p:nvSpPr>
          <p:cNvPr id="1509" name="Google Shape;1509;p48"/>
          <p:cNvSpPr/>
          <p:nvPr/>
        </p:nvSpPr>
        <p:spPr>
          <a:xfrm>
            <a:off x="5959038" y="1967151"/>
            <a:ext cx="1318200" cy="281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913"/>
              <a:buFont typeface="Calibri"/>
              <a:buNone/>
            </a:pPr>
            <a:r>
              <a:t/>
            </a:r>
            <a:endParaRPr b="0" i="0" sz="913" u="none" cap="none" strike="noStrike">
              <a:solidFill>
                <a:schemeClr val="dk1"/>
              </a:solidFill>
              <a:latin typeface="Calibri"/>
              <a:ea typeface="Calibri"/>
              <a:cs typeface="Calibri"/>
              <a:sym typeface="Calibri"/>
            </a:endParaRPr>
          </a:p>
        </p:txBody>
      </p:sp>
      <p:sp>
        <p:nvSpPr>
          <p:cNvPr id="1510" name="Google Shape;1510;p48"/>
          <p:cNvSpPr/>
          <p:nvPr/>
        </p:nvSpPr>
        <p:spPr>
          <a:xfrm>
            <a:off x="7294779" y="1967151"/>
            <a:ext cx="1406100" cy="281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7AE60"/>
              </a:buClr>
              <a:buSzPts val="961"/>
              <a:buFont typeface="Calibri"/>
              <a:buNone/>
            </a:pPr>
            <a:r>
              <a:rPr b="1" i="0" lang="en-US" sz="961" u="none" cap="none" strike="noStrike">
                <a:solidFill>
                  <a:srgbClr val="27AE60"/>
                </a:solidFill>
                <a:latin typeface="Calibri"/>
                <a:ea typeface="Calibri"/>
                <a:cs typeface="Calibri"/>
                <a:sym typeface="Calibri"/>
              </a:rPr>
              <a:t>$13,455/year</a:t>
            </a:r>
            <a:endParaRPr b="0" i="0" sz="961" u="none" cap="none" strike="noStrike">
              <a:solidFill>
                <a:schemeClr val="dk1"/>
              </a:solidFill>
              <a:latin typeface="Calibri"/>
              <a:ea typeface="Calibri"/>
              <a:cs typeface="Calibri"/>
              <a:sym typeface="Calibri"/>
            </a:endParaRPr>
          </a:p>
        </p:txBody>
      </p:sp>
      <p:sp>
        <p:nvSpPr>
          <p:cNvPr id="1511" name="Google Shape;1511;p48"/>
          <p:cNvSpPr/>
          <p:nvPr/>
        </p:nvSpPr>
        <p:spPr>
          <a:xfrm>
            <a:off x="3902701" y="2283510"/>
            <a:ext cx="1581600" cy="281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13"/>
              <a:buFont typeface="Calibri"/>
              <a:buNone/>
            </a:pPr>
            <a:r>
              <a:rPr b="0" i="0" lang="en-US" sz="913" u="none" cap="none" strike="noStrike">
                <a:solidFill>
                  <a:srgbClr val="90A4AE"/>
                </a:solidFill>
                <a:latin typeface="Calibri"/>
                <a:ea typeface="Calibri"/>
                <a:cs typeface="Calibri"/>
                <a:sym typeface="Calibri"/>
              </a:rPr>
              <a:t>5-cluster saving</a:t>
            </a:r>
            <a:endParaRPr b="0" i="0" sz="913" u="none" cap="none" strike="noStrike">
              <a:solidFill>
                <a:schemeClr val="dk1"/>
              </a:solidFill>
              <a:latin typeface="Calibri"/>
              <a:ea typeface="Calibri"/>
              <a:cs typeface="Calibri"/>
              <a:sym typeface="Calibri"/>
            </a:endParaRPr>
          </a:p>
        </p:txBody>
      </p:sp>
      <p:sp>
        <p:nvSpPr>
          <p:cNvPr id="1512" name="Google Shape;1512;p48"/>
          <p:cNvSpPr/>
          <p:nvPr/>
        </p:nvSpPr>
        <p:spPr>
          <a:xfrm>
            <a:off x="5502074" y="2283510"/>
            <a:ext cx="439500" cy="281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913"/>
              <a:buFont typeface="Calibri"/>
              <a:buNone/>
            </a:pPr>
            <a:r>
              <a:t/>
            </a:r>
            <a:endParaRPr b="0" i="0" sz="913" u="none" cap="none" strike="noStrike">
              <a:solidFill>
                <a:schemeClr val="dk1"/>
              </a:solidFill>
              <a:latin typeface="Calibri"/>
              <a:ea typeface="Calibri"/>
              <a:cs typeface="Calibri"/>
              <a:sym typeface="Calibri"/>
            </a:endParaRPr>
          </a:p>
        </p:txBody>
      </p:sp>
      <p:sp>
        <p:nvSpPr>
          <p:cNvPr id="1513" name="Google Shape;1513;p48"/>
          <p:cNvSpPr/>
          <p:nvPr/>
        </p:nvSpPr>
        <p:spPr>
          <a:xfrm>
            <a:off x="5959038" y="2283510"/>
            <a:ext cx="1318200" cy="281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13"/>
              <a:buFont typeface="Calibri"/>
              <a:buNone/>
            </a:pPr>
            <a:r>
              <a:rPr b="0" i="0" lang="en-US" sz="913" u="none" cap="none" strike="noStrike">
                <a:solidFill>
                  <a:srgbClr val="90A4AE"/>
                </a:solidFill>
                <a:latin typeface="Calibri"/>
                <a:ea typeface="Calibri"/>
                <a:cs typeface="Calibri"/>
                <a:sym typeface="Calibri"/>
              </a:rPr>
              <a:t>(typical org)</a:t>
            </a:r>
            <a:endParaRPr b="0" i="0" sz="913" u="none" cap="none" strike="noStrike">
              <a:solidFill>
                <a:schemeClr val="dk1"/>
              </a:solidFill>
              <a:latin typeface="Calibri"/>
              <a:ea typeface="Calibri"/>
              <a:cs typeface="Calibri"/>
              <a:sym typeface="Calibri"/>
            </a:endParaRPr>
          </a:p>
        </p:txBody>
      </p:sp>
      <p:sp>
        <p:nvSpPr>
          <p:cNvPr id="1514" name="Google Shape;1514;p48"/>
          <p:cNvSpPr/>
          <p:nvPr/>
        </p:nvSpPr>
        <p:spPr>
          <a:xfrm>
            <a:off x="7294779" y="2283510"/>
            <a:ext cx="1406100" cy="281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7AE60"/>
              </a:buClr>
              <a:buSzPts val="961"/>
              <a:buFont typeface="Calibri"/>
              <a:buNone/>
            </a:pPr>
            <a:r>
              <a:rPr b="1" i="0" lang="en-US" sz="961" u="none" cap="none" strike="noStrike">
                <a:solidFill>
                  <a:srgbClr val="27AE60"/>
                </a:solidFill>
                <a:latin typeface="Calibri"/>
                <a:ea typeface="Calibri"/>
                <a:cs typeface="Calibri"/>
                <a:sym typeface="Calibri"/>
              </a:rPr>
              <a:t>$67,275/year</a:t>
            </a:r>
            <a:endParaRPr b="0" i="0" sz="961" u="none" cap="none" strike="noStrike">
              <a:solidFill>
                <a:schemeClr val="dk1"/>
              </a:solidFill>
              <a:latin typeface="Calibri"/>
              <a:ea typeface="Calibri"/>
              <a:cs typeface="Calibri"/>
              <a:sym typeface="Calibri"/>
            </a:endParaRPr>
          </a:p>
        </p:txBody>
      </p:sp>
      <p:sp>
        <p:nvSpPr>
          <p:cNvPr id="1515" name="Google Shape;1515;p48"/>
          <p:cNvSpPr/>
          <p:nvPr/>
        </p:nvSpPr>
        <p:spPr>
          <a:xfrm>
            <a:off x="3902701" y="2599869"/>
            <a:ext cx="1581600" cy="281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13"/>
              <a:buFont typeface="Calibri"/>
              <a:buNone/>
            </a:pPr>
            <a:r>
              <a:rPr b="0" i="0" lang="en-US" sz="913" u="none" cap="none" strike="noStrike">
                <a:solidFill>
                  <a:srgbClr val="90A4AE"/>
                </a:solidFill>
                <a:latin typeface="Calibri"/>
                <a:ea typeface="Calibri"/>
                <a:cs typeface="Calibri"/>
                <a:sym typeface="Calibri"/>
              </a:rPr>
              <a:t>10-cluster saving</a:t>
            </a:r>
            <a:endParaRPr b="0" i="0" sz="913" u="none" cap="none" strike="noStrike">
              <a:solidFill>
                <a:schemeClr val="dk1"/>
              </a:solidFill>
              <a:latin typeface="Calibri"/>
              <a:ea typeface="Calibri"/>
              <a:cs typeface="Calibri"/>
              <a:sym typeface="Calibri"/>
            </a:endParaRPr>
          </a:p>
        </p:txBody>
      </p:sp>
      <p:sp>
        <p:nvSpPr>
          <p:cNvPr id="1516" name="Google Shape;1516;p48"/>
          <p:cNvSpPr/>
          <p:nvPr/>
        </p:nvSpPr>
        <p:spPr>
          <a:xfrm>
            <a:off x="5502074" y="2599869"/>
            <a:ext cx="439500" cy="281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913"/>
              <a:buFont typeface="Calibri"/>
              <a:buNone/>
            </a:pPr>
            <a:r>
              <a:t/>
            </a:r>
            <a:endParaRPr b="0" i="0" sz="913" u="none" cap="none" strike="noStrike">
              <a:solidFill>
                <a:schemeClr val="dk1"/>
              </a:solidFill>
              <a:latin typeface="Calibri"/>
              <a:ea typeface="Calibri"/>
              <a:cs typeface="Calibri"/>
              <a:sym typeface="Calibri"/>
            </a:endParaRPr>
          </a:p>
        </p:txBody>
      </p:sp>
      <p:sp>
        <p:nvSpPr>
          <p:cNvPr id="1517" name="Google Shape;1517;p48"/>
          <p:cNvSpPr/>
          <p:nvPr/>
        </p:nvSpPr>
        <p:spPr>
          <a:xfrm>
            <a:off x="5959038" y="2599869"/>
            <a:ext cx="1318200" cy="281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13"/>
              <a:buFont typeface="Calibri"/>
              <a:buNone/>
            </a:pPr>
            <a:r>
              <a:rPr b="0" i="0" lang="en-US" sz="913" u="none" cap="none" strike="noStrike">
                <a:solidFill>
                  <a:srgbClr val="90A4AE"/>
                </a:solidFill>
                <a:latin typeface="Calibri"/>
                <a:ea typeface="Calibri"/>
                <a:cs typeface="Calibri"/>
                <a:sym typeface="Calibri"/>
              </a:rPr>
              <a:t>(large org)</a:t>
            </a:r>
            <a:endParaRPr b="0" i="0" sz="913" u="none" cap="none" strike="noStrike">
              <a:solidFill>
                <a:schemeClr val="dk1"/>
              </a:solidFill>
              <a:latin typeface="Calibri"/>
              <a:ea typeface="Calibri"/>
              <a:cs typeface="Calibri"/>
              <a:sym typeface="Calibri"/>
            </a:endParaRPr>
          </a:p>
        </p:txBody>
      </p:sp>
      <p:sp>
        <p:nvSpPr>
          <p:cNvPr id="1518" name="Google Shape;1518;p48"/>
          <p:cNvSpPr/>
          <p:nvPr/>
        </p:nvSpPr>
        <p:spPr>
          <a:xfrm>
            <a:off x="7294779" y="2599869"/>
            <a:ext cx="1406100" cy="281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7AE60"/>
              </a:buClr>
              <a:buSzPts val="961"/>
              <a:buFont typeface="Calibri"/>
              <a:buNone/>
            </a:pPr>
            <a:r>
              <a:rPr b="1" i="0" lang="en-US" sz="961" u="none" cap="none" strike="noStrike">
                <a:solidFill>
                  <a:srgbClr val="27AE60"/>
                </a:solidFill>
                <a:latin typeface="Calibri"/>
                <a:ea typeface="Calibri"/>
                <a:cs typeface="Calibri"/>
                <a:sym typeface="Calibri"/>
              </a:rPr>
              <a:t>$134,550/year</a:t>
            </a:r>
            <a:endParaRPr b="0" i="0" sz="961" u="none" cap="none" strike="noStrike">
              <a:solidFill>
                <a:schemeClr val="dk1"/>
              </a:solidFill>
              <a:latin typeface="Calibri"/>
              <a:ea typeface="Calibri"/>
              <a:cs typeface="Calibri"/>
              <a:sym typeface="Calibri"/>
            </a:endParaRPr>
          </a:p>
        </p:txBody>
      </p:sp>
      <p:sp>
        <p:nvSpPr>
          <p:cNvPr id="1519" name="Google Shape;1519;p48"/>
          <p:cNvSpPr/>
          <p:nvPr/>
        </p:nvSpPr>
        <p:spPr>
          <a:xfrm>
            <a:off x="563350" y="2775624"/>
            <a:ext cx="8260500" cy="263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249"/>
              <a:buFont typeface="Calibri"/>
              <a:buNone/>
            </a:pPr>
            <a:r>
              <a:rPr b="1" i="0" lang="en-US" sz="1249" u="none" cap="none" strike="noStrike">
                <a:solidFill>
                  <a:srgbClr val="00BCD4"/>
                </a:solidFill>
                <a:latin typeface="Calibri"/>
                <a:ea typeface="Calibri"/>
                <a:cs typeface="Calibri"/>
                <a:sym typeface="Calibri"/>
              </a:rPr>
              <a:t>Building the business case</a:t>
            </a:r>
            <a:endParaRPr b="0" i="0" sz="1249" u="none" cap="none" strike="noStrike">
              <a:solidFill>
                <a:schemeClr val="dk1"/>
              </a:solidFill>
              <a:latin typeface="Calibri"/>
              <a:ea typeface="Calibri"/>
              <a:cs typeface="Calibri"/>
              <a:sym typeface="Calibri"/>
            </a:endParaRPr>
          </a:p>
        </p:txBody>
      </p:sp>
      <p:sp>
        <p:nvSpPr>
          <p:cNvPr id="1520" name="Google Shape;1520;p48"/>
          <p:cNvSpPr/>
          <p:nvPr/>
        </p:nvSpPr>
        <p:spPr>
          <a:xfrm>
            <a:off x="563350" y="3100771"/>
            <a:ext cx="3954600" cy="949200"/>
          </a:xfrm>
          <a:prstGeom prst="rect">
            <a:avLst/>
          </a:prstGeom>
          <a:solidFill>
            <a:srgbClr val="122040"/>
          </a:solidFill>
          <a:ln cap="flat" cmpd="sng" w="12200">
            <a:solidFill>
              <a:srgbClr val="1E3A5F"/>
            </a:solidFill>
            <a:prstDash val="solid"/>
            <a:round/>
            <a:headEnd len="sm" w="sm" type="none"/>
            <a:tailEnd len="sm" w="sm" type="none"/>
          </a:ln>
        </p:spPr>
        <p:txBody>
          <a:bodyPr anchorCtr="0" anchor="ctr" bIns="87875" lIns="87875" spcFirstLastPara="1" rIns="87875" wrap="square" tIns="87875">
            <a:noAutofit/>
          </a:bodyPr>
          <a:lstStyle/>
          <a:p>
            <a:pPr indent="0" lvl="0" marL="0" rtl="0" algn="l">
              <a:spcBef>
                <a:spcPts val="0"/>
              </a:spcBef>
              <a:spcAft>
                <a:spcPts val="0"/>
              </a:spcAft>
              <a:buNone/>
            </a:pPr>
            <a:r>
              <a:t/>
            </a:r>
            <a:endParaRPr/>
          </a:p>
        </p:txBody>
      </p:sp>
      <p:sp>
        <p:nvSpPr>
          <p:cNvPr id="1521" name="Google Shape;1521;p48"/>
          <p:cNvSpPr/>
          <p:nvPr/>
        </p:nvSpPr>
        <p:spPr>
          <a:xfrm>
            <a:off x="668803" y="3153498"/>
            <a:ext cx="3743400" cy="24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09"/>
              <a:buFont typeface="Calibri"/>
              <a:buNone/>
            </a:pPr>
            <a:r>
              <a:rPr b="1" i="0" lang="en-US" sz="1009" u="none" cap="none" strike="noStrike">
                <a:solidFill>
                  <a:srgbClr val="ECF0F1"/>
                </a:solidFill>
                <a:latin typeface="Calibri"/>
                <a:ea typeface="Calibri"/>
                <a:cs typeface="Calibri"/>
                <a:sym typeface="Calibri"/>
              </a:rPr>
              <a:t>💰 Direct savings</a:t>
            </a:r>
            <a:endParaRPr b="0" i="0" sz="1009" u="none" cap="none" strike="noStrike">
              <a:solidFill>
                <a:schemeClr val="dk1"/>
              </a:solidFill>
              <a:latin typeface="Calibri"/>
              <a:ea typeface="Calibri"/>
              <a:cs typeface="Calibri"/>
              <a:sym typeface="Calibri"/>
            </a:endParaRPr>
          </a:p>
        </p:txBody>
      </p:sp>
      <p:sp>
        <p:nvSpPr>
          <p:cNvPr id="1522" name="Google Shape;1522;p48"/>
          <p:cNvSpPr/>
          <p:nvPr/>
        </p:nvSpPr>
        <p:spPr>
          <a:xfrm>
            <a:off x="668803" y="3417131"/>
            <a:ext cx="3743400" cy="56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65"/>
              <a:buFont typeface="Calibri"/>
              <a:buNone/>
            </a:pPr>
            <a:r>
              <a:rPr b="0" i="0" lang="en-US" sz="865" u="none" cap="none" strike="noStrike">
                <a:solidFill>
                  <a:srgbClr val="90A4AE"/>
                </a:solidFill>
                <a:latin typeface="Calibri"/>
                <a:ea typeface="Calibri"/>
                <a:cs typeface="Calibri"/>
                <a:sym typeface="Calibri"/>
              </a:rPr>
              <a:t>Node reduction: 4 nodes eliminated per cluster</a:t>
            </a:r>
            <a:endParaRPr b="0" i="0" sz="865"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0A4AE"/>
              </a:buClr>
              <a:buSzPts val="865"/>
              <a:buFont typeface="Calibri"/>
              <a:buNone/>
            </a:pPr>
            <a:r>
              <a:rPr b="0" i="0" lang="en-US" sz="865" u="none" cap="none" strike="noStrike">
                <a:solidFill>
                  <a:srgbClr val="90A4AE"/>
                </a:solidFill>
                <a:latin typeface="Calibri"/>
                <a:ea typeface="Calibri"/>
                <a:cs typeface="Calibri"/>
                <a:sym typeface="Calibri"/>
              </a:rPr>
              <a:t>Infrastructure bill: $1,682 → $561/month</a:t>
            </a:r>
            <a:endParaRPr b="0" i="0" sz="865" u="none" cap="none" strike="noStrike">
              <a:solidFill>
                <a:schemeClr val="dk1"/>
              </a:solidFill>
              <a:latin typeface="Calibri"/>
              <a:ea typeface="Calibri"/>
              <a:cs typeface="Calibri"/>
              <a:sym typeface="Calibri"/>
            </a:endParaRPr>
          </a:p>
        </p:txBody>
      </p:sp>
      <p:sp>
        <p:nvSpPr>
          <p:cNvPr id="1523" name="Google Shape;1523;p48"/>
          <p:cNvSpPr/>
          <p:nvPr/>
        </p:nvSpPr>
        <p:spPr>
          <a:xfrm>
            <a:off x="4737539" y="3100771"/>
            <a:ext cx="3954600" cy="949200"/>
          </a:xfrm>
          <a:prstGeom prst="rect">
            <a:avLst/>
          </a:prstGeom>
          <a:solidFill>
            <a:srgbClr val="122040"/>
          </a:solidFill>
          <a:ln cap="flat" cmpd="sng" w="12200">
            <a:solidFill>
              <a:srgbClr val="1E3A5F"/>
            </a:solidFill>
            <a:prstDash val="solid"/>
            <a:round/>
            <a:headEnd len="sm" w="sm" type="none"/>
            <a:tailEnd len="sm" w="sm" type="none"/>
          </a:ln>
        </p:spPr>
        <p:txBody>
          <a:bodyPr anchorCtr="0" anchor="ctr" bIns="87875" lIns="87875" spcFirstLastPara="1" rIns="87875" wrap="square" tIns="87875">
            <a:noAutofit/>
          </a:bodyPr>
          <a:lstStyle/>
          <a:p>
            <a:pPr indent="0" lvl="0" marL="0" rtl="0" algn="l">
              <a:spcBef>
                <a:spcPts val="0"/>
              </a:spcBef>
              <a:spcAft>
                <a:spcPts val="0"/>
              </a:spcAft>
              <a:buNone/>
            </a:pPr>
            <a:r>
              <a:t/>
            </a:r>
            <a:endParaRPr/>
          </a:p>
        </p:txBody>
      </p:sp>
      <p:sp>
        <p:nvSpPr>
          <p:cNvPr id="1524" name="Google Shape;1524;p48"/>
          <p:cNvSpPr/>
          <p:nvPr/>
        </p:nvSpPr>
        <p:spPr>
          <a:xfrm>
            <a:off x="4842992" y="3153498"/>
            <a:ext cx="3743400" cy="24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09"/>
              <a:buFont typeface="Calibri"/>
              <a:buNone/>
            </a:pPr>
            <a:r>
              <a:rPr b="1" i="0" lang="en-US" sz="1009" u="none" cap="none" strike="noStrike">
                <a:solidFill>
                  <a:srgbClr val="ECF0F1"/>
                </a:solidFill>
                <a:latin typeface="Calibri"/>
                <a:ea typeface="Calibri"/>
                <a:cs typeface="Calibri"/>
                <a:sym typeface="Calibri"/>
              </a:rPr>
              <a:t>⏱ Engineering cost</a:t>
            </a:r>
            <a:endParaRPr b="0" i="0" sz="1009" u="none" cap="none" strike="noStrike">
              <a:solidFill>
                <a:schemeClr val="dk1"/>
              </a:solidFill>
              <a:latin typeface="Calibri"/>
              <a:ea typeface="Calibri"/>
              <a:cs typeface="Calibri"/>
              <a:sym typeface="Calibri"/>
            </a:endParaRPr>
          </a:p>
        </p:txBody>
      </p:sp>
      <p:sp>
        <p:nvSpPr>
          <p:cNvPr id="1525" name="Google Shape;1525;p48"/>
          <p:cNvSpPr/>
          <p:nvPr/>
        </p:nvSpPr>
        <p:spPr>
          <a:xfrm>
            <a:off x="4842992" y="3417131"/>
            <a:ext cx="3743400" cy="56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65"/>
              <a:buFont typeface="Calibri"/>
              <a:buNone/>
            </a:pPr>
            <a:r>
              <a:rPr b="0" i="0" lang="en-US" sz="865" u="none" cap="none" strike="noStrike">
                <a:solidFill>
                  <a:srgbClr val="90A4AE"/>
                </a:solidFill>
                <a:latin typeface="Calibri"/>
                <a:ea typeface="Calibri"/>
                <a:cs typeface="Calibri"/>
                <a:sym typeface="Calibri"/>
              </a:rPr>
              <a:t>~4 hours to update resource specs</a:t>
            </a:r>
            <a:endParaRPr b="0" i="0" sz="865"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0A4AE"/>
              </a:buClr>
              <a:buSzPts val="865"/>
              <a:buFont typeface="Calibri"/>
              <a:buNone/>
            </a:pPr>
            <a:r>
              <a:rPr b="0" i="0" lang="en-US" sz="865" u="none" cap="none" strike="noStrike">
                <a:solidFill>
                  <a:srgbClr val="90A4AE"/>
                </a:solidFill>
                <a:latin typeface="Calibri"/>
                <a:ea typeface="Calibri"/>
                <a:cs typeface="Calibri"/>
                <a:sym typeface="Calibri"/>
              </a:rPr>
              <a:t>One rolling restart per service — zero downtime</a:t>
            </a:r>
            <a:endParaRPr b="0" i="0" sz="865"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0A4AE"/>
              </a:buClr>
              <a:buSzPts val="865"/>
              <a:buFont typeface="Calibri"/>
              <a:buNone/>
            </a:pPr>
            <a:r>
              <a:rPr b="0" i="0" lang="en-US" sz="865" u="none" cap="none" strike="noStrike">
                <a:solidFill>
                  <a:srgbClr val="90A4AE"/>
                </a:solidFill>
                <a:latin typeface="Calibri"/>
                <a:ea typeface="Calibri"/>
                <a:cs typeface="Calibri"/>
                <a:sym typeface="Calibri"/>
              </a:rPr>
              <a:t>ROI: $13,455 saving for ~$269 engineering time</a:t>
            </a:r>
            <a:endParaRPr b="0" i="0" sz="865" u="none" cap="none" strike="noStrike">
              <a:solidFill>
                <a:schemeClr val="dk1"/>
              </a:solidFill>
              <a:latin typeface="Calibri"/>
              <a:ea typeface="Calibri"/>
              <a:cs typeface="Calibri"/>
              <a:sym typeface="Calibri"/>
            </a:endParaRPr>
          </a:p>
        </p:txBody>
      </p:sp>
      <p:sp>
        <p:nvSpPr>
          <p:cNvPr id="1526" name="Google Shape;1526;p48"/>
          <p:cNvSpPr/>
          <p:nvPr/>
        </p:nvSpPr>
        <p:spPr>
          <a:xfrm>
            <a:off x="563350" y="4137726"/>
            <a:ext cx="3954600" cy="949200"/>
          </a:xfrm>
          <a:prstGeom prst="rect">
            <a:avLst/>
          </a:prstGeom>
          <a:solidFill>
            <a:srgbClr val="122040"/>
          </a:solidFill>
          <a:ln cap="flat" cmpd="sng" w="12200">
            <a:solidFill>
              <a:srgbClr val="1E3A5F"/>
            </a:solidFill>
            <a:prstDash val="solid"/>
            <a:round/>
            <a:headEnd len="sm" w="sm" type="none"/>
            <a:tailEnd len="sm" w="sm" type="none"/>
          </a:ln>
        </p:spPr>
        <p:txBody>
          <a:bodyPr anchorCtr="0" anchor="ctr" bIns="87875" lIns="87875" spcFirstLastPara="1" rIns="87875" wrap="square" tIns="87875">
            <a:noAutofit/>
          </a:bodyPr>
          <a:lstStyle/>
          <a:p>
            <a:pPr indent="0" lvl="0" marL="0" rtl="0" algn="l">
              <a:spcBef>
                <a:spcPts val="0"/>
              </a:spcBef>
              <a:spcAft>
                <a:spcPts val="0"/>
              </a:spcAft>
              <a:buNone/>
            </a:pPr>
            <a:r>
              <a:t/>
            </a:r>
            <a:endParaRPr/>
          </a:p>
        </p:txBody>
      </p:sp>
      <p:sp>
        <p:nvSpPr>
          <p:cNvPr id="1527" name="Google Shape;1527;p48"/>
          <p:cNvSpPr/>
          <p:nvPr/>
        </p:nvSpPr>
        <p:spPr>
          <a:xfrm>
            <a:off x="668803" y="4190453"/>
            <a:ext cx="3743400" cy="24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09"/>
              <a:buFont typeface="Calibri"/>
              <a:buNone/>
            </a:pPr>
            <a:r>
              <a:rPr b="1" i="0" lang="en-US" sz="1009" u="none" cap="none" strike="noStrike">
                <a:solidFill>
                  <a:srgbClr val="ECF0F1"/>
                </a:solidFill>
                <a:latin typeface="Calibri"/>
                <a:ea typeface="Calibri"/>
                <a:cs typeface="Calibri"/>
                <a:sym typeface="Calibri"/>
              </a:rPr>
              <a:t>📈 Indirect benefits</a:t>
            </a:r>
            <a:endParaRPr b="0" i="0" sz="1009" u="none" cap="none" strike="noStrike">
              <a:solidFill>
                <a:schemeClr val="dk1"/>
              </a:solidFill>
              <a:latin typeface="Calibri"/>
              <a:ea typeface="Calibri"/>
              <a:cs typeface="Calibri"/>
              <a:sym typeface="Calibri"/>
            </a:endParaRPr>
          </a:p>
        </p:txBody>
      </p:sp>
      <p:sp>
        <p:nvSpPr>
          <p:cNvPr id="1528" name="Google Shape;1528;p48"/>
          <p:cNvSpPr/>
          <p:nvPr/>
        </p:nvSpPr>
        <p:spPr>
          <a:xfrm>
            <a:off x="668803" y="4454086"/>
            <a:ext cx="3743400" cy="56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65"/>
              <a:buFont typeface="Calibri"/>
              <a:buNone/>
            </a:pPr>
            <a:r>
              <a:rPr b="0" i="0" lang="en-US" sz="865" u="none" cap="none" strike="noStrike">
                <a:solidFill>
                  <a:srgbClr val="90A4AE"/>
                </a:solidFill>
                <a:latin typeface="Calibri"/>
                <a:ea typeface="Calibri"/>
                <a:cs typeface="Calibri"/>
                <a:sym typeface="Calibri"/>
              </a:rPr>
              <a:t>Faster pod scheduling · HPA stability</a:t>
            </a:r>
            <a:endParaRPr b="0" i="0" sz="865"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0A4AE"/>
              </a:buClr>
              <a:buSzPts val="865"/>
              <a:buFont typeface="Calibri"/>
              <a:buNone/>
            </a:pPr>
            <a:r>
              <a:rPr b="0" i="0" lang="en-US" sz="865" u="none" cap="none" strike="noStrike">
                <a:solidFill>
                  <a:srgbClr val="90A4AE"/>
                </a:solidFill>
                <a:latin typeface="Calibri"/>
                <a:ea typeface="Calibri"/>
                <a:cs typeface="Calibri"/>
                <a:sym typeface="Calibri"/>
              </a:rPr>
              <a:t>VPA recommendations now reliable</a:t>
            </a:r>
            <a:endParaRPr b="0" i="0" sz="865"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0A4AE"/>
              </a:buClr>
              <a:buSzPts val="865"/>
              <a:buFont typeface="Calibri"/>
              <a:buNone/>
            </a:pPr>
            <a:r>
              <a:rPr b="0" i="0" lang="en-US" sz="865" u="none" cap="none" strike="noStrike">
                <a:solidFill>
                  <a:srgbClr val="90A4AE"/>
                </a:solidFill>
                <a:latin typeface="Calibri"/>
                <a:ea typeface="Calibri"/>
                <a:cs typeface="Calibri"/>
                <a:sym typeface="Calibri"/>
              </a:rPr>
              <a:t>Correct autoscaling thresholds</a:t>
            </a:r>
            <a:endParaRPr b="0" i="0" sz="865" u="none" cap="none" strike="noStrike">
              <a:solidFill>
                <a:schemeClr val="dk1"/>
              </a:solidFill>
              <a:latin typeface="Calibri"/>
              <a:ea typeface="Calibri"/>
              <a:cs typeface="Calibri"/>
              <a:sym typeface="Calibri"/>
            </a:endParaRPr>
          </a:p>
        </p:txBody>
      </p:sp>
      <p:sp>
        <p:nvSpPr>
          <p:cNvPr id="1529" name="Google Shape;1529;p48"/>
          <p:cNvSpPr/>
          <p:nvPr/>
        </p:nvSpPr>
        <p:spPr>
          <a:xfrm>
            <a:off x="4737539" y="4137726"/>
            <a:ext cx="3954600" cy="949200"/>
          </a:xfrm>
          <a:prstGeom prst="rect">
            <a:avLst/>
          </a:prstGeom>
          <a:solidFill>
            <a:srgbClr val="122040"/>
          </a:solidFill>
          <a:ln cap="flat" cmpd="sng" w="12200">
            <a:solidFill>
              <a:srgbClr val="1E3A5F"/>
            </a:solidFill>
            <a:prstDash val="solid"/>
            <a:round/>
            <a:headEnd len="sm" w="sm" type="none"/>
            <a:tailEnd len="sm" w="sm" type="none"/>
          </a:ln>
        </p:spPr>
        <p:txBody>
          <a:bodyPr anchorCtr="0" anchor="ctr" bIns="87875" lIns="87875" spcFirstLastPara="1" rIns="87875" wrap="square" tIns="87875">
            <a:noAutofit/>
          </a:bodyPr>
          <a:lstStyle/>
          <a:p>
            <a:pPr indent="0" lvl="0" marL="0" rtl="0" algn="l">
              <a:spcBef>
                <a:spcPts val="0"/>
              </a:spcBef>
              <a:spcAft>
                <a:spcPts val="0"/>
              </a:spcAft>
              <a:buNone/>
            </a:pPr>
            <a:r>
              <a:t/>
            </a:r>
            <a:endParaRPr/>
          </a:p>
        </p:txBody>
      </p:sp>
      <p:sp>
        <p:nvSpPr>
          <p:cNvPr id="1530" name="Google Shape;1530;p48"/>
          <p:cNvSpPr/>
          <p:nvPr/>
        </p:nvSpPr>
        <p:spPr>
          <a:xfrm>
            <a:off x="4842992" y="4190453"/>
            <a:ext cx="3743400" cy="24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09"/>
              <a:buFont typeface="Calibri"/>
              <a:buNone/>
            </a:pPr>
            <a:r>
              <a:rPr b="1" i="0" lang="en-US" sz="1009" u="none" cap="none" strike="noStrike">
                <a:solidFill>
                  <a:srgbClr val="ECF0F1"/>
                </a:solidFill>
                <a:latin typeface="Calibri"/>
                <a:ea typeface="Calibri"/>
                <a:cs typeface="Calibri"/>
                <a:sym typeface="Calibri"/>
              </a:rPr>
              <a:t>🏢 Organisational scale</a:t>
            </a:r>
            <a:endParaRPr b="0" i="0" sz="1009" u="none" cap="none" strike="noStrike">
              <a:solidFill>
                <a:schemeClr val="dk1"/>
              </a:solidFill>
              <a:latin typeface="Calibri"/>
              <a:ea typeface="Calibri"/>
              <a:cs typeface="Calibri"/>
              <a:sym typeface="Calibri"/>
            </a:endParaRPr>
          </a:p>
        </p:txBody>
      </p:sp>
      <p:sp>
        <p:nvSpPr>
          <p:cNvPr id="1531" name="Google Shape;1531;p48"/>
          <p:cNvSpPr/>
          <p:nvPr/>
        </p:nvSpPr>
        <p:spPr>
          <a:xfrm>
            <a:off x="4842992" y="4454086"/>
            <a:ext cx="3743400" cy="56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65"/>
              <a:buFont typeface="Calibri"/>
              <a:buNone/>
            </a:pPr>
            <a:r>
              <a:rPr b="0" i="0" lang="en-US" sz="865" u="none" cap="none" strike="noStrike">
                <a:solidFill>
                  <a:srgbClr val="90A4AE"/>
                </a:solidFill>
                <a:latin typeface="Calibri"/>
                <a:ea typeface="Calibri"/>
                <a:cs typeface="Calibri"/>
                <a:sym typeface="Calibri"/>
              </a:rPr>
              <a:t>10 clusters × 7 services = $134,550/year</a:t>
            </a:r>
            <a:endParaRPr b="0" i="0" sz="865"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0A4AE"/>
              </a:buClr>
              <a:buSzPts val="865"/>
              <a:buFont typeface="Calibri"/>
              <a:buNone/>
            </a:pPr>
            <a:r>
              <a:rPr b="0" i="0" lang="en-US" sz="865" u="none" cap="none" strike="noStrike">
                <a:solidFill>
                  <a:srgbClr val="90A4AE"/>
                </a:solidFill>
                <a:latin typeface="Calibri"/>
                <a:ea typeface="Calibri"/>
                <a:cs typeface="Calibri"/>
                <a:sym typeface="Calibri"/>
              </a:rPr>
              <a:t>CI gate: reject PRs with requests &gt; 2× p99</a:t>
            </a:r>
            <a:endParaRPr b="0" i="0" sz="865"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0A4AE"/>
              </a:buClr>
              <a:buSzPts val="865"/>
              <a:buFont typeface="Calibri"/>
              <a:buNone/>
            </a:pPr>
            <a:r>
              <a:rPr b="0" i="0" lang="en-US" sz="865" u="none" cap="none" strike="noStrike">
                <a:solidFill>
                  <a:srgbClr val="90A4AE"/>
                </a:solidFill>
                <a:latin typeface="Calibri"/>
                <a:ea typeface="Calibri"/>
                <a:cs typeface="Calibri"/>
                <a:sym typeface="Calibri"/>
              </a:rPr>
              <a:t>OpenShift Cost Management Optimizations tab</a:t>
            </a:r>
            <a:endParaRPr b="0" i="0" sz="865" u="none" cap="none" strike="noStrike">
              <a:solidFill>
                <a:schemeClr val="dk1"/>
              </a:solidFill>
              <a:latin typeface="Calibri"/>
              <a:ea typeface="Calibri"/>
              <a:cs typeface="Calibri"/>
              <a:sym typeface="Calibri"/>
            </a:endParaRPr>
          </a:p>
        </p:txBody>
      </p:sp>
      <p:sp>
        <p:nvSpPr>
          <p:cNvPr id="1532" name="Google Shape;1532;p48"/>
          <p:cNvSpPr/>
          <p:nvPr/>
        </p:nvSpPr>
        <p:spPr>
          <a:xfrm>
            <a:off x="0" y="5394960"/>
            <a:ext cx="9144000" cy="201300"/>
          </a:xfrm>
          <a:prstGeom prst="rect">
            <a:avLst/>
          </a:prstGeom>
          <a:solidFill>
            <a:srgbClr val="0610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48"/>
          <p:cNvSpPr/>
          <p:nvPr/>
        </p:nvSpPr>
        <p:spPr>
          <a:xfrm>
            <a:off x="320040" y="5422392"/>
            <a:ext cx="8503800" cy="14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900"/>
              <a:buFont typeface="Calibri"/>
              <a:buNone/>
            </a:pPr>
            <a:r>
              <a:rPr b="0" i="0" lang="en-US" sz="900" u="none" cap="none" strike="noStrike">
                <a:solidFill>
                  <a:srgbClr val="00BCD4"/>
                </a:solidFill>
                <a:latin typeface="Calibri"/>
                <a:ea typeface="Calibri"/>
                <a:cs typeface="Calibri"/>
                <a:sym typeface="Calibri"/>
              </a:rPr>
              <a:t>OpenShift Cost Management: Console → Cost Management → Optimizations  ·  API: /api/cost-management/v1/recommendations/openshift/</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538" name="Shape 1538"/>
        <p:cNvGrpSpPr/>
        <p:nvPr/>
      </p:nvGrpSpPr>
      <p:grpSpPr>
        <a:xfrm>
          <a:off x="0" y="0"/>
          <a:ext cx="0" cy="0"/>
          <a:chOff x="0" y="0"/>
          <a:chExt cx="0" cy="0"/>
        </a:xfrm>
      </p:grpSpPr>
      <p:sp>
        <p:nvSpPr>
          <p:cNvPr id="1539" name="Google Shape;1539;p49"/>
          <p:cNvSpPr/>
          <p:nvPr/>
        </p:nvSpPr>
        <p:spPr>
          <a:xfrm>
            <a:off x="6583680" y="-731520"/>
            <a:ext cx="3291900" cy="3291900"/>
          </a:xfrm>
          <a:prstGeom prst="ellipse">
            <a:avLst/>
          </a:prstGeom>
          <a:noFill/>
          <a:ln cap="flat" cmpd="sng" w="2540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49"/>
          <p:cNvSpPr/>
          <p:nvPr/>
        </p:nvSpPr>
        <p:spPr>
          <a:xfrm>
            <a:off x="7498080" y="3474720"/>
            <a:ext cx="2011800" cy="2011800"/>
          </a:xfrm>
          <a:prstGeom prst="ellipse">
            <a:avLst/>
          </a:prstGeom>
          <a:noFill/>
          <a:ln cap="flat" cmpd="sng" w="19050">
            <a:solidFill>
              <a:srgbClr val="F5A6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49"/>
          <p:cNvSpPr/>
          <p:nvPr/>
        </p:nvSpPr>
        <p:spPr>
          <a:xfrm>
            <a:off x="457200" y="502920"/>
            <a:ext cx="2743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1100"/>
              <a:buFont typeface="Calibri"/>
              <a:buNone/>
            </a:pPr>
            <a:r>
              <a:rPr b="1" i="0" lang="en-US" sz="1100" u="none" cap="none" strike="noStrike">
                <a:solidFill>
                  <a:srgbClr val="27AE60"/>
                </a:solidFill>
                <a:latin typeface="Calibri"/>
                <a:ea typeface="Calibri"/>
                <a:cs typeface="Calibri"/>
                <a:sym typeface="Calibri"/>
              </a:rPr>
              <a:t>DEMO 07</a:t>
            </a:r>
            <a:endParaRPr b="0" i="0" sz="1100" u="none" cap="none" strike="noStrike">
              <a:solidFill>
                <a:schemeClr val="dk1"/>
              </a:solidFill>
              <a:latin typeface="Calibri"/>
              <a:ea typeface="Calibri"/>
              <a:cs typeface="Calibri"/>
              <a:sym typeface="Calibri"/>
            </a:endParaRPr>
          </a:p>
        </p:txBody>
      </p:sp>
      <p:sp>
        <p:nvSpPr>
          <p:cNvPr id="1542" name="Google Shape;1542;p49"/>
          <p:cNvSpPr/>
          <p:nvPr/>
        </p:nvSpPr>
        <p:spPr>
          <a:xfrm>
            <a:off x="457200" y="777240"/>
            <a:ext cx="7772400" cy="65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Calibri"/>
              <a:buNone/>
            </a:pPr>
            <a:r>
              <a:rPr b="1" i="0" lang="en-US" sz="4400" u="none" cap="none" strike="noStrike">
                <a:solidFill>
                  <a:srgbClr val="FFFFFF"/>
                </a:solidFill>
                <a:latin typeface="Calibri"/>
                <a:ea typeface="Calibri"/>
                <a:cs typeface="Calibri"/>
                <a:sym typeface="Calibri"/>
              </a:rPr>
              <a:t>Right-Sizing &amp;</a:t>
            </a:r>
            <a:endParaRPr b="0" i="0" sz="4400" u="none" cap="none" strike="noStrike">
              <a:solidFill>
                <a:schemeClr val="dk1"/>
              </a:solidFill>
              <a:latin typeface="Calibri"/>
              <a:ea typeface="Calibri"/>
              <a:cs typeface="Calibri"/>
              <a:sym typeface="Calibri"/>
            </a:endParaRPr>
          </a:p>
        </p:txBody>
      </p:sp>
      <p:sp>
        <p:nvSpPr>
          <p:cNvPr id="1543" name="Google Shape;1543;p49"/>
          <p:cNvSpPr/>
          <p:nvPr/>
        </p:nvSpPr>
        <p:spPr>
          <a:xfrm>
            <a:off x="457200" y="1417320"/>
            <a:ext cx="68580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3600"/>
              <a:buFont typeface="Calibri"/>
              <a:buNone/>
            </a:pPr>
            <a:r>
              <a:rPr b="1" i="0" lang="en-US" sz="3600" u="none" cap="none" strike="noStrike">
                <a:solidFill>
                  <a:srgbClr val="27AE60"/>
                </a:solidFill>
                <a:latin typeface="Calibri"/>
                <a:ea typeface="Calibri"/>
                <a:cs typeface="Calibri"/>
                <a:sym typeface="Calibri"/>
              </a:rPr>
              <a:t>Cost Impact Analysis</a:t>
            </a:r>
            <a:endParaRPr b="0" i="0" sz="3600" u="none" cap="none" strike="noStrike">
              <a:solidFill>
                <a:schemeClr val="dk1"/>
              </a:solidFill>
              <a:latin typeface="Calibri"/>
              <a:ea typeface="Calibri"/>
              <a:cs typeface="Calibri"/>
              <a:sym typeface="Calibri"/>
            </a:endParaRPr>
          </a:p>
        </p:txBody>
      </p:sp>
      <p:sp>
        <p:nvSpPr>
          <p:cNvPr id="1544" name="Google Shape;1544;p49"/>
          <p:cNvSpPr/>
          <p:nvPr/>
        </p:nvSpPr>
        <p:spPr>
          <a:xfrm>
            <a:off x="457200" y="2029968"/>
            <a:ext cx="73152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100"/>
              <a:buFont typeface="Calibri"/>
              <a:buNone/>
            </a:pPr>
            <a:r>
              <a:rPr b="0" i="0" lang="en-US" sz="1100" u="none" cap="none" strike="noStrike">
                <a:solidFill>
                  <a:srgbClr val="90A4AE"/>
                </a:solidFill>
                <a:latin typeface="Calibri"/>
                <a:ea typeface="Calibri"/>
                <a:cs typeface="Calibri"/>
                <a:sym typeface="Calibri"/>
              </a:rPr>
              <a:t>Python · stdlib only · No cluster required  ·  quarkus-demo-07-rightsizing/</a:t>
            </a:r>
            <a:endParaRPr b="0" i="0" sz="1100" u="none" cap="none" strike="noStrike">
              <a:solidFill>
                <a:schemeClr val="dk1"/>
              </a:solidFill>
              <a:latin typeface="Calibri"/>
              <a:ea typeface="Calibri"/>
              <a:cs typeface="Calibri"/>
              <a:sym typeface="Calibri"/>
            </a:endParaRPr>
          </a:p>
        </p:txBody>
      </p:sp>
      <p:sp>
        <p:nvSpPr>
          <p:cNvPr id="1545" name="Google Shape;1545;p49"/>
          <p:cNvSpPr/>
          <p:nvPr/>
        </p:nvSpPr>
        <p:spPr>
          <a:xfrm>
            <a:off x="457200" y="2322576"/>
            <a:ext cx="4572000" cy="36600"/>
          </a:xfrm>
          <a:prstGeom prst="rect">
            <a:avLst/>
          </a:prstGeom>
          <a:solidFill>
            <a:srgbClr val="27AE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49"/>
          <p:cNvSpPr/>
          <p:nvPr/>
        </p:nvSpPr>
        <p:spPr>
          <a:xfrm>
            <a:off x="457200" y="2450592"/>
            <a:ext cx="45720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1300"/>
              <a:buFont typeface="Calibri"/>
              <a:buNone/>
            </a:pPr>
            <a:r>
              <a:rPr b="1" i="0" lang="en-US" sz="1300" u="none" cap="none" strike="noStrike">
                <a:solidFill>
                  <a:srgbClr val="27AE60"/>
                </a:solidFill>
                <a:latin typeface="Calibri"/>
                <a:ea typeface="Calibri"/>
                <a:cs typeface="Calibri"/>
                <a:sym typeface="Calibri"/>
              </a:rPr>
              <a:t>What you'll see:</a:t>
            </a:r>
            <a:endParaRPr b="0" i="0" sz="1300" u="none" cap="none" strike="noStrike">
              <a:solidFill>
                <a:schemeClr val="dk1"/>
              </a:solidFill>
              <a:latin typeface="Calibri"/>
              <a:ea typeface="Calibri"/>
              <a:cs typeface="Calibri"/>
              <a:sym typeface="Calibri"/>
            </a:endParaRPr>
          </a:p>
        </p:txBody>
      </p:sp>
      <p:sp>
        <p:nvSpPr>
          <p:cNvPr id="1547" name="Google Shape;1547;p49"/>
          <p:cNvSpPr/>
          <p:nvPr/>
        </p:nvSpPr>
        <p:spPr>
          <a:xfrm>
            <a:off x="457200" y="2761488"/>
            <a:ext cx="36600" cy="274200"/>
          </a:xfrm>
          <a:prstGeom prst="rect">
            <a:avLst/>
          </a:prstGeom>
          <a:solidFill>
            <a:srgbClr val="27AE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49"/>
          <p:cNvSpPr/>
          <p:nvPr/>
        </p:nvSpPr>
        <p:spPr>
          <a:xfrm>
            <a:off x="621792" y="2743200"/>
            <a:ext cx="51207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100"/>
              <a:buFont typeface="Calibri"/>
              <a:buNone/>
            </a:pPr>
            <a:r>
              <a:rPr b="0" i="0" lang="en-US" sz="1100" u="none" cap="none" strike="noStrike">
                <a:solidFill>
                  <a:srgbClr val="ECF0F1"/>
                </a:solidFill>
                <a:latin typeface="Calibri"/>
                <a:ea typeface="Calibri"/>
                <a:cs typeface="Calibri"/>
                <a:sym typeface="Calibri"/>
              </a:rPr>
              <a:t>14 days of Prometheus data — 7 realistic Spring Boot + Quarkus workloads</a:t>
            </a:r>
            <a:endParaRPr b="0" i="0" sz="1100" u="none" cap="none" strike="noStrike">
              <a:solidFill>
                <a:schemeClr val="dk1"/>
              </a:solidFill>
              <a:latin typeface="Calibri"/>
              <a:ea typeface="Calibri"/>
              <a:cs typeface="Calibri"/>
              <a:sym typeface="Calibri"/>
            </a:endParaRPr>
          </a:p>
        </p:txBody>
      </p:sp>
      <p:sp>
        <p:nvSpPr>
          <p:cNvPr id="1549" name="Google Shape;1549;p49"/>
          <p:cNvSpPr/>
          <p:nvPr/>
        </p:nvSpPr>
        <p:spPr>
          <a:xfrm>
            <a:off x="457200" y="3163824"/>
            <a:ext cx="36600" cy="274200"/>
          </a:xfrm>
          <a:prstGeom prst="rect">
            <a:avLst/>
          </a:prstGeom>
          <a:solidFill>
            <a:srgbClr val="27AE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49"/>
          <p:cNvSpPr/>
          <p:nvPr/>
        </p:nvSpPr>
        <p:spPr>
          <a:xfrm>
            <a:off x="621792" y="3145536"/>
            <a:ext cx="51207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100"/>
              <a:buFont typeface="Calibri"/>
              <a:buNone/>
            </a:pPr>
            <a:r>
              <a:rPr b="0" i="0" lang="en-US" sz="1100" u="none" cap="none" strike="noStrike">
                <a:solidFill>
                  <a:srgbClr val="ECF0F1"/>
                </a:solidFill>
                <a:latin typeface="Calibri"/>
                <a:ea typeface="Calibri"/>
                <a:cs typeface="Calibri"/>
                <a:sym typeface="Calibri"/>
              </a:rPr>
              <a:t>p99 observed → right-sized requests: 40-78% CPU reduction across services</a:t>
            </a:r>
            <a:endParaRPr b="0" i="0" sz="1100" u="none" cap="none" strike="noStrike">
              <a:solidFill>
                <a:schemeClr val="dk1"/>
              </a:solidFill>
              <a:latin typeface="Calibri"/>
              <a:ea typeface="Calibri"/>
              <a:cs typeface="Calibri"/>
              <a:sym typeface="Calibri"/>
            </a:endParaRPr>
          </a:p>
        </p:txBody>
      </p:sp>
      <p:sp>
        <p:nvSpPr>
          <p:cNvPr id="1551" name="Google Shape;1551;p49"/>
          <p:cNvSpPr/>
          <p:nvPr/>
        </p:nvSpPr>
        <p:spPr>
          <a:xfrm>
            <a:off x="457200" y="3566160"/>
            <a:ext cx="36600" cy="274200"/>
          </a:xfrm>
          <a:prstGeom prst="rect">
            <a:avLst/>
          </a:prstGeom>
          <a:solidFill>
            <a:srgbClr val="27AE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49"/>
          <p:cNvSpPr/>
          <p:nvPr/>
        </p:nvSpPr>
        <p:spPr>
          <a:xfrm>
            <a:off x="621792" y="3547872"/>
            <a:ext cx="51207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100"/>
              <a:buFont typeface="Calibri"/>
              <a:buNone/>
            </a:pPr>
            <a:r>
              <a:rPr b="0" i="0" lang="en-US" sz="1100" u="none" cap="none" strike="noStrike">
                <a:solidFill>
                  <a:srgbClr val="ECF0F1"/>
                </a:solidFill>
                <a:latin typeface="Calibri"/>
                <a:ea typeface="Calibri"/>
                <a:cs typeface="Calibri"/>
                <a:sym typeface="Calibri"/>
              </a:rPr>
              <a:t>GC spike detection: CPU p99/p50 &gt; 3× → uses p95 as basis, not p99</a:t>
            </a:r>
            <a:endParaRPr b="0" i="0" sz="1100" u="none" cap="none" strike="noStrike">
              <a:solidFill>
                <a:schemeClr val="dk1"/>
              </a:solidFill>
              <a:latin typeface="Calibri"/>
              <a:ea typeface="Calibri"/>
              <a:cs typeface="Calibri"/>
              <a:sym typeface="Calibri"/>
            </a:endParaRPr>
          </a:p>
        </p:txBody>
      </p:sp>
      <p:sp>
        <p:nvSpPr>
          <p:cNvPr id="1553" name="Google Shape;1553;p49"/>
          <p:cNvSpPr/>
          <p:nvPr/>
        </p:nvSpPr>
        <p:spPr>
          <a:xfrm>
            <a:off x="457200" y="3968496"/>
            <a:ext cx="36600" cy="274200"/>
          </a:xfrm>
          <a:prstGeom prst="rect">
            <a:avLst/>
          </a:prstGeom>
          <a:solidFill>
            <a:srgbClr val="27AE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49"/>
          <p:cNvSpPr/>
          <p:nvPr/>
        </p:nvSpPr>
        <p:spPr>
          <a:xfrm>
            <a:off x="621792" y="3950208"/>
            <a:ext cx="51207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100"/>
              <a:buFont typeface="Calibri"/>
              <a:buNone/>
            </a:pPr>
            <a:r>
              <a:rPr b="0" i="0" lang="en-US" sz="1100" u="none" cap="none" strike="noStrike">
                <a:solidFill>
                  <a:srgbClr val="ECF0F1"/>
                </a:solidFill>
                <a:latin typeface="Calibri"/>
                <a:ea typeface="Calibri"/>
                <a:cs typeface="Calibri"/>
                <a:sym typeface="Calibri"/>
              </a:rPr>
              <a:t>Bin-packing: 6 nodes → 2 nodes, +225% pod density, zero code changes</a:t>
            </a:r>
            <a:endParaRPr b="0" i="0" sz="1100" u="none" cap="none" strike="noStrike">
              <a:solidFill>
                <a:schemeClr val="dk1"/>
              </a:solidFill>
              <a:latin typeface="Calibri"/>
              <a:ea typeface="Calibri"/>
              <a:cs typeface="Calibri"/>
              <a:sym typeface="Calibri"/>
            </a:endParaRPr>
          </a:p>
        </p:txBody>
      </p:sp>
      <p:sp>
        <p:nvSpPr>
          <p:cNvPr id="1555" name="Google Shape;1555;p49"/>
          <p:cNvSpPr/>
          <p:nvPr/>
        </p:nvSpPr>
        <p:spPr>
          <a:xfrm>
            <a:off x="457200" y="4370832"/>
            <a:ext cx="36600" cy="274200"/>
          </a:xfrm>
          <a:prstGeom prst="rect">
            <a:avLst/>
          </a:prstGeom>
          <a:solidFill>
            <a:srgbClr val="27AE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49"/>
          <p:cNvSpPr/>
          <p:nvPr/>
        </p:nvSpPr>
        <p:spPr>
          <a:xfrm>
            <a:off x="621792" y="4352544"/>
            <a:ext cx="51207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100"/>
              <a:buFont typeface="Calibri"/>
              <a:buNone/>
            </a:pPr>
            <a:r>
              <a:rPr b="0" i="0" lang="en-US" sz="1100" u="none" cap="none" strike="noStrike">
                <a:solidFill>
                  <a:srgbClr val="ECF0F1"/>
                </a:solidFill>
                <a:latin typeface="Calibri"/>
                <a:ea typeface="Calibri"/>
                <a:cs typeface="Calibri"/>
                <a:sym typeface="Calibri"/>
              </a:rPr>
              <a:t>Cost impact: $13,455/year saving, ~50× ROI on engineering effort</a:t>
            </a:r>
            <a:endParaRPr b="0" i="0" sz="1100" u="none" cap="none" strike="noStrike">
              <a:solidFill>
                <a:schemeClr val="dk1"/>
              </a:solidFill>
              <a:latin typeface="Calibri"/>
              <a:ea typeface="Calibri"/>
              <a:cs typeface="Calibri"/>
              <a:sym typeface="Calibri"/>
            </a:endParaRPr>
          </a:p>
        </p:txBody>
      </p:sp>
      <p:sp>
        <p:nvSpPr>
          <p:cNvPr id="1557" name="Google Shape;1557;p49"/>
          <p:cNvSpPr/>
          <p:nvPr/>
        </p:nvSpPr>
        <p:spPr>
          <a:xfrm>
            <a:off x="457200" y="4773168"/>
            <a:ext cx="36600" cy="274200"/>
          </a:xfrm>
          <a:prstGeom prst="rect">
            <a:avLst/>
          </a:prstGeom>
          <a:solidFill>
            <a:srgbClr val="27AE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49"/>
          <p:cNvSpPr/>
          <p:nvPr/>
        </p:nvSpPr>
        <p:spPr>
          <a:xfrm>
            <a:off x="621792" y="4754880"/>
            <a:ext cx="51207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100"/>
              <a:buFont typeface="Calibri"/>
              <a:buNone/>
            </a:pPr>
            <a:r>
              <a:rPr b="0" i="0" lang="en-US" sz="1100" u="none" cap="none" strike="noStrike">
                <a:solidFill>
                  <a:srgbClr val="ECF0F1"/>
                </a:solidFill>
                <a:latin typeface="Calibri"/>
                <a:ea typeface="Calibri"/>
                <a:cs typeface="Calibri"/>
                <a:sym typeface="Calibri"/>
              </a:rPr>
              <a:t>GC algorithm recommendations per workload based on pause p99</a:t>
            </a:r>
            <a:endParaRPr b="0" i="0" sz="1100" u="none" cap="none" strike="noStrike">
              <a:solidFill>
                <a:schemeClr val="dk1"/>
              </a:solidFill>
              <a:latin typeface="Calibri"/>
              <a:ea typeface="Calibri"/>
              <a:cs typeface="Calibri"/>
              <a:sym typeface="Calibri"/>
            </a:endParaRPr>
          </a:p>
        </p:txBody>
      </p:sp>
      <p:sp>
        <p:nvSpPr>
          <p:cNvPr id="1559" name="Google Shape;1559;p49"/>
          <p:cNvSpPr/>
          <p:nvPr/>
        </p:nvSpPr>
        <p:spPr>
          <a:xfrm>
            <a:off x="457200" y="5175504"/>
            <a:ext cx="36600" cy="274200"/>
          </a:xfrm>
          <a:prstGeom prst="rect">
            <a:avLst/>
          </a:prstGeom>
          <a:solidFill>
            <a:srgbClr val="27AE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49"/>
          <p:cNvSpPr/>
          <p:nvPr/>
        </p:nvSpPr>
        <p:spPr>
          <a:xfrm>
            <a:off x="621792" y="5157216"/>
            <a:ext cx="51207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100"/>
              <a:buFont typeface="Calibri"/>
              <a:buNone/>
            </a:pPr>
            <a:r>
              <a:rPr b="0" i="0" lang="en-US" sz="1100" u="none" cap="none" strike="noStrike">
                <a:solidFill>
                  <a:srgbClr val="ECF0F1"/>
                </a:solidFill>
                <a:latin typeface="Calibri"/>
                <a:ea typeface="Calibri"/>
                <a:cs typeface="Calibri"/>
                <a:sym typeface="Calibri"/>
              </a:rPr>
              <a:t>kubectl commands generated — ready to apply as rolling updates</a:t>
            </a:r>
            <a:endParaRPr b="0" i="0" sz="1100" u="none" cap="none" strike="noStrike">
              <a:solidFill>
                <a:schemeClr val="dk1"/>
              </a:solidFill>
              <a:latin typeface="Calibri"/>
              <a:ea typeface="Calibri"/>
              <a:cs typeface="Calibri"/>
              <a:sym typeface="Calibri"/>
            </a:endParaRPr>
          </a:p>
        </p:txBody>
      </p:sp>
      <p:sp>
        <p:nvSpPr>
          <p:cNvPr id="1561" name="Google Shape;1561;p49"/>
          <p:cNvSpPr/>
          <p:nvPr/>
        </p:nvSpPr>
        <p:spPr>
          <a:xfrm>
            <a:off x="5989320" y="2450592"/>
            <a:ext cx="2834700" cy="2743200"/>
          </a:xfrm>
          <a:prstGeom prst="rect">
            <a:avLst/>
          </a:prstGeom>
          <a:solidFill>
            <a:srgbClr val="0D2137"/>
          </a:solidFill>
          <a:ln cap="flat" cmpd="sng" w="12700">
            <a:solidFill>
              <a:srgbClr val="1E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49"/>
          <p:cNvSpPr/>
          <p:nvPr/>
        </p:nvSpPr>
        <p:spPr>
          <a:xfrm>
            <a:off x="6126480" y="2542032"/>
            <a:ext cx="2596800" cy="2578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CF0F1"/>
              </a:buClr>
              <a:buSzPts val="850"/>
              <a:buFont typeface="Consolas"/>
              <a:buNone/>
            </a:pPr>
            <a:r>
              <a:rPr b="0" i="0" lang="en-US" sz="850" u="none" cap="none" strike="noStrike">
                <a:solidFill>
                  <a:srgbClr val="ECF0F1"/>
                </a:solidFill>
                <a:latin typeface="Consolas"/>
                <a:ea typeface="Consolas"/>
                <a:cs typeface="Consolas"/>
                <a:sym typeface="Consolas"/>
              </a:rPr>
              <a:t># No containers, no cluster</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0"/>
              <a:buFont typeface="Consolas"/>
              <a:buNone/>
            </a:pPr>
            <a:r>
              <a:rPr b="0" i="0" lang="en-US" sz="850" u="none" cap="none" strike="noStrike">
                <a:solidFill>
                  <a:srgbClr val="ECF0F1"/>
                </a:solidFill>
                <a:latin typeface="Consolas"/>
                <a:ea typeface="Consolas"/>
                <a:cs typeface="Consolas"/>
                <a:sym typeface="Consolas"/>
              </a:rPr>
              <a:t># python3 stdlib only</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850"/>
              <a:buFont typeface="Calibri"/>
              <a:buNone/>
            </a:pPr>
            <a:r>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0"/>
              <a:buFont typeface="Consolas"/>
              <a:buNone/>
            </a:pPr>
            <a:r>
              <a:rPr b="0" i="0" lang="en-US" sz="850" u="none" cap="none" strike="noStrike">
                <a:solidFill>
                  <a:srgbClr val="ECF0F1"/>
                </a:solidFill>
                <a:latin typeface="Consolas"/>
                <a:ea typeface="Consolas"/>
                <a:cs typeface="Consolas"/>
                <a:sym typeface="Consolas"/>
              </a:rPr>
              <a:t>cd quarkus-demo-07-rightsizing</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0"/>
              <a:buFont typeface="Consolas"/>
              <a:buNone/>
            </a:pPr>
            <a:r>
              <a:rPr b="0" i="0" lang="en-US" sz="850" u="none" cap="none" strike="noStrike">
                <a:solidFill>
                  <a:srgbClr val="ECF0F1"/>
                </a:solidFill>
                <a:latin typeface="Consolas"/>
                <a:ea typeface="Consolas"/>
                <a:cs typeface="Consolas"/>
                <a:sym typeface="Consolas"/>
              </a:rPr>
              <a:t>./demo.sh</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850"/>
              <a:buFont typeface="Calibri"/>
              <a:buNone/>
            </a:pPr>
            <a:r>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0"/>
              <a:buFont typeface="Consolas"/>
              <a:buNone/>
            </a:pPr>
            <a:r>
              <a:rPr b="0" i="0" lang="en-US" sz="850" u="none" cap="none" strike="noStrike">
                <a:solidFill>
                  <a:srgbClr val="ECF0F1"/>
                </a:solidFill>
                <a:latin typeface="Consolas"/>
                <a:ea typeface="Consolas"/>
                <a:cs typeface="Consolas"/>
                <a:sym typeface="Consolas"/>
              </a:rPr>
              <a:t># Or run the analysis directly:</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0"/>
              <a:buFont typeface="Consolas"/>
              <a:buNone/>
            </a:pPr>
            <a:r>
              <a:rPr b="0" i="0" lang="en-US" sz="850" u="none" cap="none" strike="noStrike">
                <a:solidFill>
                  <a:srgbClr val="ECF0F1"/>
                </a:solidFill>
                <a:latin typeface="Consolas"/>
                <a:ea typeface="Consolas"/>
                <a:cs typeface="Consolas"/>
                <a:sym typeface="Consolas"/>
              </a:rPr>
              <a:t>python3 analyze.py</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850"/>
              <a:buFont typeface="Calibri"/>
              <a:buNone/>
            </a:pPr>
            <a:r>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0"/>
              <a:buFont typeface="Consolas"/>
              <a:buNone/>
            </a:pPr>
            <a:r>
              <a:rPr b="0" i="0" lang="en-US" sz="850" u="none" cap="none" strike="noStrike">
                <a:solidFill>
                  <a:srgbClr val="ECF0F1"/>
                </a:solidFill>
                <a:latin typeface="Consolas"/>
                <a:ea typeface="Consolas"/>
                <a:cs typeface="Consolas"/>
                <a:sym typeface="Consolas"/>
              </a:rPr>
              <a:t># Live cluster mode:</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0"/>
              <a:buFont typeface="Consolas"/>
              <a:buNone/>
            </a:pPr>
            <a:r>
              <a:rPr b="0" i="0" lang="en-US" sz="850" u="none" cap="none" strike="noStrike">
                <a:solidFill>
                  <a:srgbClr val="ECF0F1"/>
                </a:solidFill>
                <a:latin typeface="Consolas"/>
                <a:ea typeface="Consolas"/>
                <a:cs typeface="Consolas"/>
                <a:sym typeface="Consolas"/>
              </a:rPr>
              <a:t>./demo.sh --live</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850"/>
              <a:buFont typeface="Calibri"/>
              <a:buNone/>
            </a:pPr>
            <a:r>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0"/>
              <a:buFont typeface="Consolas"/>
              <a:buNone/>
            </a:pPr>
            <a:r>
              <a:rPr b="0" i="0" lang="en-US" sz="850" u="none" cap="none" strike="noStrike">
                <a:solidFill>
                  <a:srgbClr val="ECF0F1"/>
                </a:solidFill>
                <a:latin typeface="Consolas"/>
                <a:ea typeface="Consolas"/>
                <a:cs typeface="Consolas"/>
                <a:sym typeface="Consolas"/>
              </a:rPr>
              <a:t># Custom node cost: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0"/>
              <a:buFont typeface="Consolas"/>
              <a:buNone/>
            </a:pPr>
            <a:r>
              <a:rPr b="0" i="0" lang="en-US" sz="850" u="none" cap="none" strike="noStrike">
                <a:solidFill>
                  <a:srgbClr val="ECF0F1"/>
                </a:solidFill>
                <a:latin typeface="Consolas"/>
                <a:ea typeface="Consolas"/>
                <a:cs typeface="Consolas"/>
                <a:sym typeface="Consolas"/>
              </a:rPr>
              <a:t>python3 analyze.py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0"/>
              <a:buFont typeface="Consolas"/>
              <a:buNone/>
            </a:pPr>
            <a:r>
              <a:rPr b="0" i="0" lang="en-US" sz="850" u="none" cap="none" strike="noStrike">
                <a:solidFill>
                  <a:srgbClr val="ECF0F1"/>
                </a:solidFill>
                <a:latin typeface="Consolas"/>
                <a:ea typeface="Consolas"/>
                <a:cs typeface="Consolas"/>
                <a:sym typeface="Consolas"/>
              </a:rPr>
              <a:t>  --cost-per-node-hour 0.768</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850"/>
              <a:buFont typeface="Calibri"/>
              <a:buNone/>
            </a:pPr>
            <a:r>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0"/>
              <a:buFont typeface="Consolas"/>
              <a:buNone/>
            </a:pPr>
            <a:r>
              <a:rPr b="0" i="0" lang="en-US" sz="850" u="none" cap="none" strike="noStrike">
                <a:solidFill>
                  <a:srgbClr val="ECF0F1"/>
                </a:solidFill>
                <a:latin typeface="Consolas"/>
                <a:ea typeface="Consolas"/>
                <a:cs typeface="Consolas"/>
                <a:sym typeface="Consolas"/>
              </a:rPr>
              <a:t># Output: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0"/>
              <a:buFont typeface="Consolas"/>
              <a:buNone/>
            </a:pPr>
            <a:r>
              <a:rPr b="0" i="0" lang="en-US" sz="850" u="none" cap="none" strike="noStrike">
                <a:solidFill>
                  <a:srgbClr val="ECF0F1"/>
                </a:solidFill>
                <a:latin typeface="Consolas"/>
                <a:ea typeface="Consolas"/>
                <a:cs typeface="Consolas"/>
                <a:sym typeface="Consolas"/>
              </a:rPr>
              <a:t># rightsizing-report.json</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0"/>
              <a:buFont typeface="Consolas"/>
              <a:buNone/>
            </a:pPr>
            <a:r>
              <a:rPr b="0" i="0" lang="en-US" sz="850" u="none" cap="none" strike="noStrike">
                <a:solidFill>
                  <a:srgbClr val="ECF0F1"/>
                </a:solidFill>
                <a:latin typeface="Consolas"/>
                <a:ea typeface="Consolas"/>
                <a:cs typeface="Consolas"/>
                <a:sym typeface="Consolas"/>
              </a:rPr>
              <a:t># kubectl apply commands</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567" name="Shape 1567"/>
        <p:cNvGrpSpPr/>
        <p:nvPr/>
      </p:nvGrpSpPr>
      <p:grpSpPr>
        <a:xfrm>
          <a:off x="0" y="0"/>
          <a:ext cx="0" cy="0"/>
          <a:chOff x="0" y="0"/>
          <a:chExt cx="0" cy="0"/>
        </a:xfrm>
      </p:grpSpPr>
      <p:sp>
        <p:nvSpPr>
          <p:cNvPr id="1568" name="Google Shape;1568;p50"/>
          <p:cNvSpPr/>
          <p:nvPr/>
        </p:nvSpPr>
        <p:spPr>
          <a:xfrm>
            <a:off x="0" y="0"/>
            <a:ext cx="9144000" cy="64020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50"/>
          <p:cNvSpPr/>
          <p:nvPr/>
        </p:nvSpPr>
        <p:spPr>
          <a:xfrm>
            <a:off x="320040" y="9144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200"/>
              <a:buFont typeface="Calibri"/>
              <a:buNone/>
            </a:pPr>
            <a:r>
              <a:rPr b="1" i="0" lang="en-US" sz="2200" u="none" cap="none" strike="noStrike">
                <a:solidFill>
                  <a:srgbClr val="00BCD4"/>
                </a:solidFill>
                <a:latin typeface="Calibri"/>
                <a:ea typeface="Calibri"/>
                <a:cs typeface="Calibri"/>
                <a:sym typeface="Calibri"/>
              </a:rPr>
              <a:t>Project Panama — The End of JNI</a:t>
            </a:r>
            <a:endParaRPr b="0" i="0" sz="2200" u="none" cap="none" strike="noStrike">
              <a:solidFill>
                <a:schemeClr val="dk1"/>
              </a:solidFill>
              <a:latin typeface="Calibri"/>
              <a:ea typeface="Calibri"/>
              <a:cs typeface="Calibri"/>
              <a:sym typeface="Calibri"/>
            </a:endParaRPr>
          </a:p>
        </p:txBody>
      </p:sp>
      <p:sp>
        <p:nvSpPr>
          <p:cNvPr id="1570" name="Google Shape;1570;p50"/>
          <p:cNvSpPr/>
          <p:nvPr/>
        </p:nvSpPr>
        <p:spPr>
          <a:xfrm>
            <a:off x="7772400" y="73152"/>
            <a:ext cx="1234500" cy="49380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50"/>
          <p:cNvSpPr/>
          <p:nvPr/>
        </p:nvSpPr>
        <p:spPr>
          <a:xfrm>
            <a:off x="7772400" y="73152"/>
            <a:ext cx="1234500" cy="493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PANAMA</a:t>
            </a:r>
            <a:endParaRPr b="0" i="0" sz="1100" u="none" cap="none" strike="noStrike">
              <a:solidFill>
                <a:schemeClr val="dk1"/>
              </a:solidFill>
              <a:latin typeface="Calibri"/>
              <a:ea typeface="Calibri"/>
              <a:cs typeface="Calibri"/>
              <a:sym typeface="Calibri"/>
            </a:endParaRPr>
          </a:p>
        </p:txBody>
      </p:sp>
      <p:sp>
        <p:nvSpPr>
          <p:cNvPr id="1572" name="Google Shape;1572;p50"/>
          <p:cNvSpPr/>
          <p:nvPr/>
        </p:nvSpPr>
        <p:spPr>
          <a:xfrm>
            <a:off x="7498080" y="-365760"/>
            <a:ext cx="2560200" cy="2560200"/>
          </a:xfrm>
          <a:prstGeom prst="ellipse">
            <a:avLst/>
          </a:prstGeom>
          <a:noFill/>
          <a:ln cap="flat" cmpd="sng" w="19050">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50"/>
          <p:cNvSpPr/>
          <p:nvPr/>
        </p:nvSpPr>
        <p:spPr>
          <a:xfrm>
            <a:off x="320040" y="749808"/>
            <a:ext cx="4023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855"/>
              </a:buClr>
              <a:buSzPts val="1300"/>
              <a:buFont typeface="Calibri"/>
              <a:buNone/>
            </a:pPr>
            <a:r>
              <a:rPr b="1" i="0" lang="en-US" sz="1300" u="none" cap="none" strike="noStrike">
                <a:solidFill>
                  <a:srgbClr val="E84855"/>
                </a:solidFill>
                <a:latin typeface="Calibri"/>
                <a:ea typeface="Calibri"/>
                <a:cs typeface="Calibri"/>
                <a:sym typeface="Calibri"/>
              </a:rPr>
              <a:t>JNI (1996)</a:t>
            </a:r>
            <a:endParaRPr b="0" i="0" sz="1300" u="none" cap="none" strike="noStrike">
              <a:solidFill>
                <a:schemeClr val="dk1"/>
              </a:solidFill>
              <a:latin typeface="Calibri"/>
              <a:ea typeface="Calibri"/>
              <a:cs typeface="Calibri"/>
              <a:sym typeface="Calibri"/>
            </a:endParaRPr>
          </a:p>
        </p:txBody>
      </p:sp>
      <p:sp>
        <p:nvSpPr>
          <p:cNvPr id="1574" name="Google Shape;1574;p50"/>
          <p:cNvSpPr/>
          <p:nvPr/>
        </p:nvSpPr>
        <p:spPr>
          <a:xfrm>
            <a:off x="320040" y="1060704"/>
            <a:ext cx="36600" cy="329100"/>
          </a:xfrm>
          <a:prstGeom prst="rect">
            <a:avLst/>
          </a:prstGeom>
          <a:solidFill>
            <a:srgbClr val="E848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50"/>
          <p:cNvSpPr/>
          <p:nvPr/>
        </p:nvSpPr>
        <p:spPr>
          <a:xfrm>
            <a:off x="457200" y="1042416"/>
            <a:ext cx="38406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Write Java + C header + C wrapper — three languages for one call</a:t>
            </a:r>
            <a:endParaRPr b="0" i="0" sz="1000" u="none" cap="none" strike="noStrike">
              <a:solidFill>
                <a:schemeClr val="dk1"/>
              </a:solidFill>
              <a:latin typeface="Calibri"/>
              <a:ea typeface="Calibri"/>
              <a:cs typeface="Calibri"/>
              <a:sym typeface="Calibri"/>
            </a:endParaRPr>
          </a:p>
        </p:txBody>
      </p:sp>
      <p:sp>
        <p:nvSpPr>
          <p:cNvPr id="1576" name="Google Shape;1576;p50"/>
          <p:cNvSpPr/>
          <p:nvPr/>
        </p:nvSpPr>
        <p:spPr>
          <a:xfrm>
            <a:off x="320040" y="1536192"/>
            <a:ext cx="36600" cy="329100"/>
          </a:xfrm>
          <a:prstGeom prst="rect">
            <a:avLst/>
          </a:prstGeom>
          <a:solidFill>
            <a:srgbClr val="E848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50"/>
          <p:cNvSpPr/>
          <p:nvPr/>
        </p:nvSpPr>
        <p:spPr>
          <a:xfrm>
            <a:off x="457200" y="1517904"/>
            <a:ext cx="38406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Compile C per platform and architecture (x86, ARM, aarch64 ...)</a:t>
            </a:r>
            <a:endParaRPr b="0" i="0" sz="1000" u="none" cap="none" strike="noStrike">
              <a:solidFill>
                <a:schemeClr val="dk1"/>
              </a:solidFill>
              <a:latin typeface="Calibri"/>
              <a:ea typeface="Calibri"/>
              <a:cs typeface="Calibri"/>
              <a:sym typeface="Calibri"/>
            </a:endParaRPr>
          </a:p>
        </p:txBody>
      </p:sp>
      <p:sp>
        <p:nvSpPr>
          <p:cNvPr id="1578" name="Google Shape;1578;p50"/>
          <p:cNvSpPr/>
          <p:nvPr/>
        </p:nvSpPr>
        <p:spPr>
          <a:xfrm>
            <a:off x="320040" y="2011680"/>
            <a:ext cx="36600" cy="329100"/>
          </a:xfrm>
          <a:prstGeom prst="rect">
            <a:avLst/>
          </a:prstGeom>
          <a:solidFill>
            <a:srgbClr val="E848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50"/>
          <p:cNvSpPr/>
          <p:nvPr/>
        </p:nvSpPr>
        <p:spPr>
          <a:xfrm>
            <a:off x="457200" y="1993392"/>
            <a:ext cx="38406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Manual native memory management — leaks and segfaults kill the JVM</a:t>
            </a:r>
            <a:endParaRPr b="0" i="0" sz="1000" u="none" cap="none" strike="noStrike">
              <a:solidFill>
                <a:schemeClr val="dk1"/>
              </a:solidFill>
              <a:latin typeface="Calibri"/>
              <a:ea typeface="Calibri"/>
              <a:cs typeface="Calibri"/>
              <a:sym typeface="Calibri"/>
            </a:endParaRPr>
          </a:p>
        </p:txBody>
      </p:sp>
      <p:sp>
        <p:nvSpPr>
          <p:cNvPr id="1580" name="Google Shape;1580;p50"/>
          <p:cNvSpPr/>
          <p:nvPr/>
        </p:nvSpPr>
        <p:spPr>
          <a:xfrm>
            <a:off x="320040" y="2487168"/>
            <a:ext cx="36600" cy="329100"/>
          </a:xfrm>
          <a:prstGeom prst="rect">
            <a:avLst/>
          </a:prstGeom>
          <a:solidFill>
            <a:srgbClr val="E848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50"/>
          <p:cNvSpPr/>
          <p:nvPr/>
        </p:nvSpPr>
        <p:spPr>
          <a:xfrm>
            <a:off x="457200" y="2468880"/>
            <a:ext cx="38406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JNI transitions are expensive — managed/unmanaged context switch</a:t>
            </a:r>
            <a:endParaRPr b="0" i="0" sz="1000" u="none" cap="none" strike="noStrike">
              <a:solidFill>
                <a:schemeClr val="dk1"/>
              </a:solidFill>
              <a:latin typeface="Calibri"/>
              <a:ea typeface="Calibri"/>
              <a:cs typeface="Calibri"/>
              <a:sym typeface="Calibri"/>
            </a:endParaRPr>
          </a:p>
        </p:txBody>
      </p:sp>
      <p:sp>
        <p:nvSpPr>
          <p:cNvPr id="1582" name="Google Shape;1582;p50"/>
          <p:cNvSpPr/>
          <p:nvPr/>
        </p:nvSpPr>
        <p:spPr>
          <a:xfrm>
            <a:off x="320040" y="2962656"/>
            <a:ext cx="36600" cy="329100"/>
          </a:xfrm>
          <a:prstGeom prst="rect">
            <a:avLst/>
          </a:prstGeom>
          <a:solidFill>
            <a:srgbClr val="E848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50"/>
          <p:cNvSpPr/>
          <p:nvPr/>
        </p:nvSpPr>
        <p:spPr>
          <a:xfrm>
            <a:off x="457200" y="2944368"/>
            <a:ext cx="38406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A crash in native code = no Java stack trace, no recovery</a:t>
            </a:r>
            <a:endParaRPr b="0" i="0" sz="1000" u="none" cap="none" strike="noStrike">
              <a:solidFill>
                <a:schemeClr val="dk1"/>
              </a:solidFill>
              <a:latin typeface="Calibri"/>
              <a:ea typeface="Calibri"/>
              <a:cs typeface="Calibri"/>
              <a:sym typeface="Calibri"/>
            </a:endParaRPr>
          </a:p>
        </p:txBody>
      </p:sp>
      <p:sp>
        <p:nvSpPr>
          <p:cNvPr id="1584" name="Google Shape;1584;p50"/>
          <p:cNvSpPr/>
          <p:nvPr/>
        </p:nvSpPr>
        <p:spPr>
          <a:xfrm>
            <a:off x="320040" y="3438144"/>
            <a:ext cx="36600" cy="329100"/>
          </a:xfrm>
          <a:prstGeom prst="rect">
            <a:avLst/>
          </a:prstGeom>
          <a:solidFill>
            <a:srgbClr val="E848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50"/>
          <p:cNvSpPr/>
          <p:nvPr/>
        </p:nvSpPr>
        <p:spPr>
          <a:xfrm>
            <a:off x="457200" y="3419856"/>
            <a:ext cx="38406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00"/>
              <a:buFont typeface="Calibri"/>
              <a:buNone/>
            </a:pPr>
            <a:r>
              <a:rPr b="0" i="0" lang="en-US" sz="1000" u="none" cap="none" strike="noStrike">
                <a:solidFill>
                  <a:srgbClr val="ECF0F1"/>
                </a:solidFill>
                <a:latin typeface="Calibri"/>
                <a:ea typeface="Calibri"/>
                <a:cs typeface="Calibri"/>
                <a:sym typeface="Calibri"/>
              </a:rPr>
              <a:t>sun.misc.Unsafe used by Netty, drivers, frameworks — private API, breaks every JDK version</a:t>
            </a:r>
            <a:endParaRPr b="0" i="0" sz="1000" u="none" cap="none" strike="noStrike">
              <a:solidFill>
                <a:schemeClr val="dk1"/>
              </a:solidFill>
              <a:latin typeface="Calibri"/>
              <a:ea typeface="Calibri"/>
              <a:cs typeface="Calibri"/>
              <a:sym typeface="Calibri"/>
            </a:endParaRPr>
          </a:p>
        </p:txBody>
      </p:sp>
      <p:sp>
        <p:nvSpPr>
          <p:cNvPr id="1586" name="Google Shape;1586;p50"/>
          <p:cNvSpPr/>
          <p:nvPr/>
        </p:nvSpPr>
        <p:spPr>
          <a:xfrm>
            <a:off x="4315968" y="2377440"/>
            <a:ext cx="8046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B59B6"/>
              </a:buClr>
              <a:buSzPts val="1100"/>
              <a:buFont typeface="Calibri"/>
              <a:buNone/>
            </a:pPr>
            <a:r>
              <a:rPr b="1" i="0" lang="en-US" sz="1100" u="none" cap="none" strike="noStrike">
                <a:solidFill>
                  <a:srgbClr val="9B59B6"/>
                </a:solidFill>
                <a:latin typeface="Calibri"/>
                <a:ea typeface="Calibri"/>
                <a:cs typeface="Calibri"/>
                <a:sym typeface="Calibri"/>
              </a:rPr>
              <a:t>Panama</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B59B6"/>
              </a:buClr>
              <a:buSzPts val="1100"/>
              <a:buFont typeface="Calibri"/>
              <a:buNone/>
            </a:pPr>
            <a:r>
              <a:rPr b="1" i="0" lang="en-US" sz="1100" u="none" cap="none" strike="noStrike">
                <a:solidFill>
                  <a:srgbClr val="9B59B6"/>
                </a:solidFill>
                <a:latin typeface="Calibri"/>
                <a:ea typeface="Calibri"/>
                <a:cs typeface="Calibri"/>
                <a:sym typeface="Calibri"/>
              </a:rPr>
              <a:t>JDK 22+</a:t>
            </a:r>
            <a:endParaRPr b="0" i="0" sz="1100" u="none" cap="none" strike="noStrike">
              <a:solidFill>
                <a:schemeClr val="dk1"/>
              </a:solidFill>
              <a:latin typeface="Calibri"/>
              <a:ea typeface="Calibri"/>
              <a:cs typeface="Calibri"/>
              <a:sym typeface="Calibri"/>
            </a:endParaRPr>
          </a:p>
        </p:txBody>
      </p:sp>
      <p:sp>
        <p:nvSpPr>
          <p:cNvPr id="1587" name="Google Shape;1587;p50"/>
          <p:cNvSpPr/>
          <p:nvPr/>
        </p:nvSpPr>
        <p:spPr>
          <a:xfrm>
            <a:off x="4315968" y="2926080"/>
            <a:ext cx="8046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B59B6"/>
              </a:buClr>
              <a:buSzPts val="2200"/>
              <a:buFont typeface="Calibri"/>
              <a:buNone/>
            </a:pPr>
            <a:r>
              <a:rPr b="1" i="0" lang="en-US" sz="2200" u="none" cap="none" strike="noStrike">
                <a:solidFill>
                  <a:srgbClr val="9B59B6"/>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1588" name="Google Shape;1588;p50"/>
          <p:cNvSpPr/>
          <p:nvPr/>
        </p:nvSpPr>
        <p:spPr>
          <a:xfrm>
            <a:off x="5212080" y="749808"/>
            <a:ext cx="3657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300"/>
              <a:buFont typeface="Calibri"/>
              <a:buNone/>
            </a:pPr>
            <a:r>
              <a:rPr b="1" i="0" lang="en-US" sz="1300" u="none" cap="none" strike="noStrike">
                <a:solidFill>
                  <a:srgbClr val="00BCD4"/>
                </a:solidFill>
                <a:latin typeface="Calibri"/>
                <a:ea typeface="Calibri"/>
                <a:cs typeface="Calibri"/>
                <a:sym typeface="Calibri"/>
              </a:rPr>
              <a:t>Panama (JDK 22 — finalized)</a:t>
            </a:r>
            <a:endParaRPr b="0" i="0" sz="1300" u="none" cap="none" strike="noStrike">
              <a:solidFill>
                <a:schemeClr val="dk1"/>
              </a:solidFill>
              <a:latin typeface="Calibri"/>
              <a:ea typeface="Calibri"/>
              <a:cs typeface="Calibri"/>
              <a:sym typeface="Calibri"/>
            </a:endParaRPr>
          </a:p>
        </p:txBody>
      </p:sp>
      <p:sp>
        <p:nvSpPr>
          <p:cNvPr id="1589" name="Google Shape;1589;p50"/>
          <p:cNvSpPr/>
          <p:nvPr/>
        </p:nvSpPr>
        <p:spPr>
          <a:xfrm>
            <a:off x="5212080" y="1060704"/>
            <a:ext cx="3657600" cy="896100"/>
          </a:xfrm>
          <a:prstGeom prst="rect">
            <a:avLst/>
          </a:prstGeom>
          <a:solidFill>
            <a:srgbClr val="122040"/>
          </a:solidFill>
          <a:ln cap="flat" cmpd="sng" w="1905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50"/>
          <p:cNvSpPr/>
          <p:nvPr/>
        </p:nvSpPr>
        <p:spPr>
          <a:xfrm>
            <a:off x="5212080" y="1060704"/>
            <a:ext cx="36600" cy="896100"/>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50"/>
          <p:cNvSpPr/>
          <p:nvPr/>
        </p:nvSpPr>
        <p:spPr>
          <a:xfrm>
            <a:off x="5340096" y="1097280"/>
            <a:ext cx="34380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050"/>
              <a:buFont typeface="Calibri"/>
              <a:buNone/>
            </a:pPr>
            <a:r>
              <a:rPr b="1" i="0" lang="en-US" sz="1050" u="none" cap="none" strike="noStrike">
                <a:solidFill>
                  <a:srgbClr val="00BCD4"/>
                </a:solidFill>
                <a:latin typeface="Calibri"/>
                <a:ea typeface="Calibri"/>
                <a:cs typeface="Calibri"/>
                <a:sym typeface="Calibri"/>
              </a:rPr>
              <a:t>Foreign Function &amp; Memory API (FFM)</a:t>
            </a:r>
            <a:endParaRPr b="0" i="0" sz="1050" u="none" cap="none" strike="noStrike">
              <a:solidFill>
                <a:schemeClr val="dk1"/>
              </a:solidFill>
              <a:latin typeface="Calibri"/>
              <a:ea typeface="Calibri"/>
              <a:cs typeface="Calibri"/>
              <a:sym typeface="Calibri"/>
            </a:endParaRPr>
          </a:p>
        </p:txBody>
      </p:sp>
      <p:sp>
        <p:nvSpPr>
          <p:cNvPr id="1592" name="Google Shape;1592;p50"/>
          <p:cNvSpPr/>
          <p:nvPr/>
        </p:nvSpPr>
        <p:spPr>
          <a:xfrm>
            <a:off x="5340096" y="1371600"/>
            <a:ext cx="3438000" cy="51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50"/>
              <a:buFont typeface="Calibri"/>
              <a:buNone/>
            </a:pPr>
            <a:r>
              <a:rPr b="0" i="0" lang="en-US" sz="950" u="none" cap="none" strike="noStrike">
                <a:solidFill>
                  <a:srgbClr val="90A4AE"/>
                </a:solidFill>
                <a:latin typeface="Calibri"/>
                <a:ea typeface="Calibri"/>
                <a:cs typeface="Calibri"/>
                <a:sym typeface="Calibri"/>
              </a:rPr>
              <a:t>Call C/C++ from pure Java — no wrapper code</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0A4AE"/>
              </a:buClr>
              <a:buSzPts val="950"/>
              <a:buFont typeface="Calibri"/>
              <a:buNone/>
            </a:pPr>
            <a:r>
              <a:rPr b="0" i="0" lang="en-US" sz="950" u="none" cap="none" strike="noStrike">
                <a:solidFill>
                  <a:srgbClr val="90A4AE"/>
                </a:solidFill>
                <a:latin typeface="Calibri"/>
                <a:ea typeface="Calibri"/>
                <a:cs typeface="Calibri"/>
                <a:sym typeface="Calibri"/>
              </a:rPr>
              <a:t>Arenas: deterministic native memory lifetimes</a:t>
            </a:r>
            <a:endParaRPr b="0" i="0" sz="950" u="none" cap="none" strike="noStrike">
              <a:solidFill>
                <a:schemeClr val="dk1"/>
              </a:solidFill>
              <a:latin typeface="Calibri"/>
              <a:ea typeface="Calibri"/>
              <a:cs typeface="Calibri"/>
              <a:sym typeface="Calibri"/>
            </a:endParaRPr>
          </a:p>
        </p:txBody>
      </p:sp>
      <p:sp>
        <p:nvSpPr>
          <p:cNvPr id="1593" name="Google Shape;1593;p50"/>
          <p:cNvSpPr/>
          <p:nvPr/>
        </p:nvSpPr>
        <p:spPr>
          <a:xfrm>
            <a:off x="5212080" y="2066544"/>
            <a:ext cx="3657600" cy="896100"/>
          </a:xfrm>
          <a:prstGeom prst="rect">
            <a:avLst/>
          </a:prstGeom>
          <a:solidFill>
            <a:srgbClr val="122040"/>
          </a:solidFill>
          <a:ln cap="flat" cmpd="sng" w="19050">
            <a:solidFill>
              <a:srgbClr val="F5A6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50"/>
          <p:cNvSpPr/>
          <p:nvPr/>
        </p:nvSpPr>
        <p:spPr>
          <a:xfrm>
            <a:off x="5212080" y="2066544"/>
            <a:ext cx="36600" cy="896100"/>
          </a:xfrm>
          <a:prstGeom prst="rect">
            <a:avLst/>
          </a:prstGeom>
          <a:solidFill>
            <a:srgbClr val="F5A6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50"/>
          <p:cNvSpPr/>
          <p:nvPr/>
        </p:nvSpPr>
        <p:spPr>
          <a:xfrm>
            <a:off x="5340096" y="2103120"/>
            <a:ext cx="34380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A623"/>
              </a:buClr>
              <a:buSzPts val="1050"/>
              <a:buFont typeface="Calibri"/>
              <a:buNone/>
            </a:pPr>
            <a:r>
              <a:rPr b="1" i="0" lang="en-US" sz="1050" u="none" cap="none" strike="noStrike">
                <a:solidFill>
                  <a:srgbClr val="F5A623"/>
                </a:solidFill>
                <a:latin typeface="Calibri"/>
                <a:ea typeface="Calibri"/>
                <a:cs typeface="Calibri"/>
                <a:sym typeface="Calibri"/>
              </a:rPr>
              <a:t>Vector API (incubating)</a:t>
            </a:r>
            <a:endParaRPr b="0" i="0" sz="1050" u="none" cap="none" strike="noStrike">
              <a:solidFill>
                <a:schemeClr val="dk1"/>
              </a:solidFill>
              <a:latin typeface="Calibri"/>
              <a:ea typeface="Calibri"/>
              <a:cs typeface="Calibri"/>
              <a:sym typeface="Calibri"/>
            </a:endParaRPr>
          </a:p>
        </p:txBody>
      </p:sp>
      <p:sp>
        <p:nvSpPr>
          <p:cNvPr id="1596" name="Google Shape;1596;p50"/>
          <p:cNvSpPr/>
          <p:nvPr/>
        </p:nvSpPr>
        <p:spPr>
          <a:xfrm>
            <a:off x="5340096" y="2377440"/>
            <a:ext cx="3438000" cy="51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50"/>
              <a:buFont typeface="Calibri"/>
              <a:buNone/>
            </a:pPr>
            <a:r>
              <a:rPr b="0" i="0" lang="en-US" sz="950" u="none" cap="none" strike="noStrike">
                <a:solidFill>
                  <a:srgbClr val="90A4AE"/>
                </a:solidFill>
                <a:latin typeface="Calibri"/>
                <a:ea typeface="Calibri"/>
                <a:cs typeface="Calibri"/>
                <a:sym typeface="Calibri"/>
              </a:rPr>
              <a:t>SIMD instructions (AVX-512, NEON) from Java</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0A4AE"/>
              </a:buClr>
              <a:buSzPts val="950"/>
              <a:buFont typeface="Calibri"/>
              <a:buNone/>
            </a:pPr>
            <a:r>
              <a:rPr b="0" i="0" lang="en-US" sz="950" u="none" cap="none" strike="noStrike">
                <a:solidFill>
                  <a:srgbClr val="90A4AE"/>
                </a:solidFill>
                <a:latin typeface="Calibri"/>
                <a:ea typeface="Calibri"/>
                <a:cs typeface="Calibri"/>
                <a:sym typeface="Calibri"/>
              </a:rPr>
              <a:t>Process 16 floats in one CPU instruction</a:t>
            </a:r>
            <a:endParaRPr b="0" i="0" sz="950" u="none" cap="none" strike="noStrike">
              <a:solidFill>
                <a:schemeClr val="dk1"/>
              </a:solidFill>
              <a:latin typeface="Calibri"/>
              <a:ea typeface="Calibri"/>
              <a:cs typeface="Calibri"/>
              <a:sym typeface="Calibri"/>
            </a:endParaRPr>
          </a:p>
        </p:txBody>
      </p:sp>
      <p:sp>
        <p:nvSpPr>
          <p:cNvPr id="1597" name="Google Shape;1597;p50"/>
          <p:cNvSpPr/>
          <p:nvPr/>
        </p:nvSpPr>
        <p:spPr>
          <a:xfrm>
            <a:off x="5212080" y="3072384"/>
            <a:ext cx="3657600" cy="896100"/>
          </a:xfrm>
          <a:prstGeom prst="rect">
            <a:avLst/>
          </a:prstGeom>
          <a:solidFill>
            <a:srgbClr val="122040"/>
          </a:solidFill>
          <a:ln cap="flat" cmpd="sng" w="1905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50"/>
          <p:cNvSpPr/>
          <p:nvPr/>
        </p:nvSpPr>
        <p:spPr>
          <a:xfrm>
            <a:off x="5212080" y="3072384"/>
            <a:ext cx="36600" cy="896100"/>
          </a:xfrm>
          <a:prstGeom prst="rect">
            <a:avLst/>
          </a:prstGeom>
          <a:solidFill>
            <a:srgbClr val="27AE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50"/>
          <p:cNvSpPr/>
          <p:nvPr/>
        </p:nvSpPr>
        <p:spPr>
          <a:xfrm>
            <a:off x="5340096" y="3108960"/>
            <a:ext cx="34380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1050"/>
              <a:buFont typeface="Calibri"/>
              <a:buNone/>
            </a:pPr>
            <a:r>
              <a:rPr b="1" i="0" lang="en-US" sz="1050" u="none" cap="none" strike="noStrike">
                <a:solidFill>
                  <a:srgbClr val="27AE60"/>
                </a:solidFill>
                <a:latin typeface="Calibri"/>
                <a:ea typeface="Calibri"/>
                <a:cs typeface="Calibri"/>
                <a:sym typeface="Calibri"/>
              </a:rPr>
              <a:t>jextract</a:t>
            </a:r>
            <a:endParaRPr b="0" i="0" sz="1050" u="none" cap="none" strike="noStrike">
              <a:solidFill>
                <a:schemeClr val="dk1"/>
              </a:solidFill>
              <a:latin typeface="Calibri"/>
              <a:ea typeface="Calibri"/>
              <a:cs typeface="Calibri"/>
              <a:sym typeface="Calibri"/>
            </a:endParaRPr>
          </a:p>
        </p:txBody>
      </p:sp>
      <p:sp>
        <p:nvSpPr>
          <p:cNvPr id="1600" name="Google Shape;1600;p50"/>
          <p:cNvSpPr/>
          <p:nvPr/>
        </p:nvSpPr>
        <p:spPr>
          <a:xfrm>
            <a:off x="5340096" y="3383280"/>
            <a:ext cx="3438000" cy="51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50"/>
              <a:buFont typeface="Calibri"/>
              <a:buNone/>
            </a:pPr>
            <a:r>
              <a:rPr b="0" i="0" lang="en-US" sz="950" u="none" cap="none" strike="noStrike">
                <a:solidFill>
                  <a:srgbClr val="90A4AE"/>
                </a:solidFill>
                <a:latin typeface="Calibri"/>
                <a:ea typeface="Calibri"/>
                <a:cs typeface="Calibri"/>
                <a:sym typeface="Calibri"/>
              </a:rPr>
              <a:t>Generate Java bindings from a C header file</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0A4AE"/>
              </a:buClr>
              <a:buSzPts val="950"/>
              <a:buFont typeface="Calibri"/>
              <a:buNone/>
            </a:pPr>
            <a:r>
              <a:rPr b="0" i="0" lang="en-US" sz="950" u="none" cap="none" strike="noStrike">
                <a:solidFill>
                  <a:srgbClr val="90A4AE"/>
                </a:solidFill>
                <a:latin typeface="Calibri"/>
                <a:ea typeface="Calibri"/>
                <a:cs typeface="Calibri"/>
                <a:sym typeface="Calibri"/>
              </a:rPr>
              <a:t>OpenSSL, SQLite, BLAS, llama.cpp in minutes</a:t>
            </a:r>
            <a:endParaRPr b="0" i="0" sz="950" u="none" cap="none" strike="noStrike">
              <a:solidFill>
                <a:schemeClr val="dk1"/>
              </a:solidFill>
              <a:latin typeface="Calibri"/>
              <a:ea typeface="Calibri"/>
              <a:cs typeface="Calibri"/>
              <a:sym typeface="Calibri"/>
            </a:endParaRPr>
          </a:p>
        </p:txBody>
      </p:sp>
      <p:sp>
        <p:nvSpPr>
          <p:cNvPr id="1601" name="Google Shape;1601;p50"/>
          <p:cNvSpPr/>
          <p:nvPr/>
        </p:nvSpPr>
        <p:spPr>
          <a:xfrm>
            <a:off x="5212080" y="4078224"/>
            <a:ext cx="3657600" cy="896100"/>
          </a:xfrm>
          <a:prstGeom prst="rect">
            <a:avLst/>
          </a:prstGeom>
          <a:solidFill>
            <a:srgbClr val="122040"/>
          </a:solidFill>
          <a:ln cap="flat" cmpd="sng" w="19050">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50"/>
          <p:cNvSpPr/>
          <p:nvPr/>
        </p:nvSpPr>
        <p:spPr>
          <a:xfrm>
            <a:off x="5212080" y="4078224"/>
            <a:ext cx="36600" cy="896100"/>
          </a:xfrm>
          <a:prstGeom prst="rect">
            <a:avLst/>
          </a:prstGeom>
          <a:solidFill>
            <a:srgbClr val="9B59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50"/>
          <p:cNvSpPr/>
          <p:nvPr/>
        </p:nvSpPr>
        <p:spPr>
          <a:xfrm>
            <a:off x="5340096" y="4114800"/>
            <a:ext cx="34380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59B6"/>
              </a:buClr>
              <a:buSzPts val="1050"/>
              <a:buFont typeface="Calibri"/>
              <a:buNone/>
            </a:pPr>
            <a:r>
              <a:rPr b="1" i="0" lang="en-US" sz="1050" u="none" cap="none" strike="noStrike">
                <a:solidFill>
                  <a:srgbClr val="9B59B6"/>
                </a:solidFill>
                <a:latin typeface="Calibri"/>
                <a:ea typeface="Calibri"/>
                <a:cs typeface="Calibri"/>
                <a:sym typeface="Calibri"/>
              </a:rPr>
              <a:t>MemorySegment replaces Unsafe</a:t>
            </a:r>
            <a:endParaRPr b="0" i="0" sz="1050" u="none" cap="none" strike="noStrike">
              <a:solidFill>
                <a:schemeClr val="dk1"/>
              </a:solidFill>
              <a:latin typeface="Calibri"/>
              <a:ea typeface="Calibri"/>
              <a:cs typeface="Calibri"/>
              <a:sym typeface="Calibri"/>
            </a:endParaRPr>
          </a:p>
        </p:txBody>
      </p:sp>
      <p:sp>
        <p:nvSpPr>
          <p:cNvPr id="1604" name="Google Shape;1604;p50"/>
          <p:cNvSpPr/>
          <p:nvPr/>
        </p:nvSpPr>
        <p:spPr>
          <a:xfrm>
            <a:off x="5340096" y="4389120"/>
            <a:ext cx="3438000" cy="51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50"/>
              <a:buFont typeface="Calibri"/>
              <a:buNone/>
            </a:pPr>
            <a:r>
              <a:rPr b="0" i="0" lang="en-US" sz="950" u="none" cap="none" strike="noStrike">
                <a:solidFill>
                  <a:srgbClr val="90A4AE"/>
                </a:solidFill>
                <a:latin typeface="Calibri"/>
                <a:ea typeface="Calibri"/>
                <a:cs typeface="Calibri"/>
                <a:sym typeface="Calibri"/>
              </a:rPr>
              <a:t>Official, safe, supported — Netty / Agrona</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0A4AE"/>
              </a:buClr>
              <a:buSzPts val="950"/>
              <a:buFont typeface="Calibri"/>
              <a:buNone/>
            </a:pPr>
            <a:r>
              <a:rPr b="0" i="0" lang="en-US" sz="950" u="none" cap="none" strike="noStrike">
                <a:solidFill>
                  <a:srgbClr val="90A4AE"/>
                </a:solidFill>
                <a:latin typeface="Calibri"/>
                <a:ea typeface="Calibri"/>
                <a:cs typeface="Calibri"/>
                <a:sym typeface="Calibri"/>
              </a:rPr>
              <a:t>migrating away from sun.misc.Unsafe</a:t>
            </a:r>
            <a:endParaRPr b="0" i="0" sz="950" u="none" cap="none" strike="noStrike">
              <a:solidFill>
                <a:schemeClr val="dk1"/>
              </a:solidFill>
              <a:latin typeface="Calibri"/>
              <a:ea typeface="Calibri"/>
              <a:cs typeface="Calibri"/>
              <a:sym typeface="Calibri"/>
            </a:endParaRPr>
          </a:p>
        </p:txBody>
      </p:sp>
      <p:sp>
        <p:nvSpPr>
          <p:cNvPr id="1605" name="Google Shape;1605;p50"/>
          <p:cNvSpPr/>
          <p:nvPr/>
        </p:nvSpPr>
        <p:spPr>
          <a:xfrm>
            <a:off x="0" y="5394960"/>
            <a:ext cx="9144000" cy="201300"/>
          </a:xfrm>
          <a:prstGeom prst="rect">
            <a:avLst/>
          </a:prstGeom>
          <a:solidFill>
            <a:srgbClr val="0610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50"/>
          <p:cNvSpPr/>
          <p:nvPr/>
        </p:nvSpPr>
        <p:spPr>
          <a:xfrm>
            <a:off x="320040" y="5422392"/>
            <a:ext cx="8503800" cy="14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900"/>
              <a:buFont typeface="Calibri"/>
              <a:buNone/>
            </a:pPr>
            <a:r>
              <a:rPr b="0" i="0" lang="en-US" sz="900" u="none" cap="none" strike="noStrike">
                <a:solidFill>
                  <a:srgbClr val="00BCD4"/>
                </a:solidFill>
                <a:latin typeface="Calibri"/>
                <a:ea typeface="Calibri"/>
                <a:cs typeface="Calibri"/>
                <a:sym typeface="Calibri"/>
              </a:rPr>
              <a:t>FFM API: JEP 454 (finalized JDK 22)  ·  Vector API: JEP 508 (Tenth Incubator, JDK 25)  ·  jextract: separate download at jdk.java.net</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611" name="Shape 1611"/>
        <p:cNvGrpSpPr/>
        <p:nvPr/>
      </p:nvGrpSpPr>
      <p:grpSpPr>
        <a:xfrm>
          <a:off x="0" y="0"/>
          <a:ext cx="0" cy="0"/>
          <a:chOff x="0" y="0"/>
          <a:chExt cx="0" cy="0"/>
        </a:xfrm>
      </p:grpSpPr>
      <p:sp>
        <p:nvSpPr>
          <p:cNvPr id="1612" name="Google Shape;1612;p51"/>
          <p:cNvSpPr/>
          <p:nvPr/>
        </p:nvSpPr>
        <p:spPr>
          <a:xfrm>
            <a:off x="0" y="0"/>
            <a:ext cx="9144000" cy="64020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51"/>
          <p:cNvSpPr/>
          <p:nvPr/>
        </p:nvSpPr>
        <p:spPr>
          <a:xfrm>
            <a:off x="320040" y="9144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200"/>
              <a:buFont typeface="Calibri"/>
              <a:buNone/>
            </a:pPr>
            <a:r>
              <a:rPr b="1" i="0" lang="en-US" sz="2200" u="none" cap="none" strike="noStrike">
                <a:solidFill>
                  <a:srgbClr val="00BCD4"/>
                </a:solidFill>
                <a:latin typeface="Calibri"/>
                <a:ea typeface="Calibri"/>
                <a:cs typeface="Calibri"/>
                <a:sym typeface="Calibri"/>
              </a:rPr>
              <a:t>Demo 08 — Calling C++ from Quarkus via FFM</a:t>
            </a:r>
            <a:endParaRPr b="0" i="0" sz="2200" u="none" cap="none" strike="noStrike">
              <a:solidFill>
                <a:schemeClr val="dk1"/>
              </a:solidFill>
              <a:latin typeface="Calibri"/>
              <a:ea typeface="Calibri"/>
              <a:cs typeface="Calibri"/>
              <a:sym typeface="Calibri"/>
            </a:endParaRPr>
          </a:p>
        </p:txBody>
      </p:sp>
      <p:sp>
        <p:nvSpPr>
          <p:cNvPr id="1614" name="Google Shape;1614;p51"/>
          <p:cNvSpPr/>
          <p:nvPr/>
        </p:nvSpPr>
        <p:spPr>
          <a:xfrm>
            <a:off x="7772400" y="73152"/>
            <a:ext cx="1234500" cy="49380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51"/>
          <p:cNvSpPr/>
          <p:nvPr/>
        </p:nvSpPr>
        <p:spPr>
          <a:xfrm>
            <a:off x="7772400" y="73152"/>
            <a:ext cx="1234500" cy="493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PANAMA</a:t>
            </a:r>
            <a:endParaRPr b="0" i="0" sz="1100" u="none" cap="none" strike="noStrike">
              <a:solidFill>
                <a:schemeClr val="dk1"/>
              </a:solidFill>
              <a:latin typeface="Calibri"/>
              <a:ea typeface="Calibri"/>
              <a:cs typeface="Calibri"/>
              <a:sym typeface="Calibri"/>
            </a:endParaRPr>
          </a:p>
        </p:txBody>
      </p:sp>
      <p:sp>
        <p:nvSpPr>
          <p:cNvPr id="1616" name="Google Shape;1616;p51"/>
          <p:cNvSpPr/>
          <p:nvPr/>
        </p:nvSpPr>
        <p:spPr>
          <a:xfrm>
            <a:off x="320040" y="749808"/>
            <a:ext cx="40233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200"/>
              <a:buFont typeface="Calibri"/>
              <a:buNone/>
            </a:pPr>
            <a:r>
              <a:rPr b="1" i="0" lang="en-US" sz="1200" u="none" cap="none" strike="noStrike">
                <a:solidFill>
                  <a:srgbClr val="00BCD4"/>
                </a:solidFill>
                <a:latin typeface="Calibri"/>
                <a:ea typeface="Calibri"/>
                <a:cs typeface="Calibri"/>
                <a:sym typeface="Calibri"/>
              </a:rPr>
              <a:t>How it works</a:t>
            </a:r>
            <a:endParaRPr b="0" i="0" sz="1200" u="none" cap="none" strike="noStrike">
              <a:solidFill>
                <a:schemeClr val="dk1"/>
              </a:solidFill>
              <a:latin typeface="Calibri"/>
              <a:ea typeface="Calibri"/>
              <a:cs typeface="Calibri"/>
              <a:sym typeface="Calibri"/>
            </a:endParaRPr>
          </a:p>
        </p:txBody>
      </p:sp>
      <p:sp>
        <p:nvSpPr>
          <p:cNvPr id="1617" name="Google Shape;1617;p51"/>
          <p:cNvSpPr/>
          <p:nvPr/>
        </p:nvSpPr>
        <p:spPr>
          <a:xfrm>
            <a:off x="320040" y="1042416"/>
            <a:ext cx="347400" cy="694800"/>
          </a:xfrm>
          <a:prstGeom prst="rect">
            <a:avLst/>
          </a:prstGeom>
          <a:solidFill>
            <a:srgbClr val="F5A6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51"/>
          <p:cNvSpPr/>
          <p:nvPr/>
        </p:nvSpPr>
        <p:spPr>
          <a:xfrm>
            <a:off x="320040" y="1042416"/>
            <a:ext cx="347400" cy="69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1619" name="Google Shape;1619;p51"/>
          <p:cNvSpPr/>
          <p:nvPr/>
        </p:nvSpPr>
        <p:spPr>
          <a:xfrm>
            <a:off x="667512" y="1042416"/>
            <a:ext cx="3383400" cy="694800"/>
          </a:xfrm>
          <a:prstGeom prst="rect">
            <a:avLst/>
          </a:prstGeom>
          <a:solidFill>
            <a:srgbClr val="122040"/>
          </a:solidFill>
          <a:ln cap="flat" cmpd="sng" w="12700">
            <a:solidFill>
              <a:srgbClr val="F5A6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51"/>
          <p:cNvSpPr/>
          <p:nvPr/>
        </p:nvSpPr>
        <p:spPr>
          <a:xfrm>
            <a:off x="786384" y="1078992"/>
            <a:ext cx="31821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1" i="0" lang="en-US" sz="1050" u="none" cap="none" strike="noStrike">
                <a:solidFill>
                  <a:srgbClr val="ECF0F1"/>
                </a:solidFill>
                <a:latin typeface="Calibri"/>
                <a:ea typeface="Calibri"/>
                <a:cs typeface="Calibri"/>
                <a:sym typeface="Calibri"/>
              </a:rPr>
              <a:t>Write C++ functions</a:t>
            </a:r>
            <a:endParaRPr b="0" i="0" sz="1050" u="none" cap="none" strike="noStrike">
              <a:solidFill>
                <a:schemeClr val="dk1"/>
              </a:solidFill>
              <a:latin typeface="Calibri"/>
              <a:ea typeface="Calibri"/>
              <a:cs typeface="Calibri"/>
              <a:sym typeface="Calibri"/>
            </a:endParaRPr>
          </a:p>
        </p:txBody>
      </p:sp>
      <p:sp>
        <p:nvSpPr>
          <p:cNvPr id="1621" name="Google Shape;1621;p51"/>
          <p:cNvSpPr/>
          <p:nvPr/>
        </p:nvSpPr>
        <p:spPr>
          <a:xfrm>
            <a:off x="786384" y="1335024"/>
            <a:ext cx="31821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00"/>
              <a:buFont typeface="Calibri"/>
              <a:buNone/>
            </a:pPr>
            <a:r>
              <a:rPr b="0" i="0" lang="en-US" sz="900" u="none" cap="none" strike="noStrike">
                <a:solidFill>
                  <a:srgbClr val="90A4AE"/>
                </a:solidFill>
                <a:latin typeface="Calibri"/>
                <a:ea typeface="Calibri"/>
                <a:cs typeface="Calibri"/>
                <a:sym typeface="Calibri"/>
              </a:rPr>
              <a:t>extern "C" linkage — FFM needs C ABI</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0A4AE"/>
              </a:buClr>
              <a:buSzPts val="900"/>
              <a:buFont typeface="Calibri"/>
              <a:buNone/>
            </a:pPr>
            <a:r>
              <a:rPr b="0" i="0" lang="en-US" sz="900" u="none" cap="none" strike="noStrike">
                <a:solidFill>
                  <a:srgbClr val="90A4AE"/>
                </a:solidFill>
                <a:latin typeface="Calibri"/>
                <a:ea typeface="Calibri"/>
                <a:cs typeface="Calibri"/>
                <a:sym typeface="Calibri"/>
              </a:rPr>
              <a:t>C++20 features (spans, ranges) inside</a:t>
            </a:r>
            <a:endParaRPr b="0" i="0" sz="900" u="none" cap="none" strike="noStrike">
              <a:solidFill>
                <a:schemeClr val="dk1"/>
              </a:solidFill>
              <a:latin typeface="Calibri"/>
              <a:ea typeface="Calibri"/>
              <a:cs typeface="Calibri"/>
              <a:sym typeface="Calibri"/>
            </a:endParaRPr>
          </a:p>
        </p:txBody>
      </p:sp>
      <p:sp>
        <p:nvSpPr>
          <p:cNvPr id="1622" name="Google Shape;1622;p51"/>
          <p:cNvSpPr/>
          <p:nvPr/>
        </p:nvSpPr>
        <p:spPr>
          <a:xfrm>
            <a:off x="320040" y="1847088"/>
            <a:ext cx="347400" cy="694800"/>
          </a:xfrm>
          <a:prstGeom prst="rect">
            <a:avLst/>
          </a:prstGeom>
          <a:solidFill>
            <a:srgbClr val="F5A6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51"/>
          <p:cNvSpPr/>
          <p:nvPr/>
        </p:nvSpPr>
        <p:spPr>
          <a:xfrm>
            <a:off x="320040" y="1847088"/>
            <a:ext cx="347400" cy="69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1624" name="Google Shape;1624;p51"/>
          <p:cNvSpPr/>
          <p:nvPr/>
        </p:nvSpPr>
        <p:spPr>
          <a:xfrm>
            <a:off x="667512" y="1847088"/>
            <a:ext cx="3383400" cy="694800"/>
          </a:xfrm>
          <a:prstGeom prst="rect">
            <a:avLst/>
          </a:prstGeom>
          <a:solidFill>
            <a:srgbClr val="122040"/>
          </a:solidFill>
          <a:ln cap="flat" cmpd="sng" w="12700">
            <a:solidFill>
              <a:srgbClr val="F5A6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51"/>
          <p:cNvSpPr/>
          <p:nvPr/>
        </p:nvSpPr>
        <p:spPr>
          <a:xfrm>
            <a:off x="786384" y="1883664"/>
            <a:ext cx="31821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1" i="0" lang="en-US" sz="1050" u="none" cap="none" strike="noStrike">
                <a:solidFill>
                  <a:srgbClr val="ECF0F1"/>
                </a:solidFill>
                <a:latin typeface="Calibri"/>
                <a:ea typeface="Calibri"/>
                <a:cs typeface="Calibri"/>
                <a:sym typeface="Calibri"/>
              </a:rPr>
              <a:t>Compile to .so/.dylib</a:t>
            </a:r>
            <a:endParaRPr b="0" i="0" sz="1050" u="none" cap="none" strike="noStrike">
              <a:solidFill>
                <a:schemeClr val="dk1"/>
              </a:solidFill>
              <a:latin typeface="Calibri"/>
              <a:ea typeface="Calibri"/>
              <a:cs typeface="Calibri"/>
              <a:sym typeface="Calibri"/>
            </a:endParaRPr>
          </a:p>
        </p:txBody>
      </p:sp>
      <p:sp>
        <p:nvSpPr>
          <p:cNvPr id="1626" name="Google Shape;1626;p51"/>
          <p:cNvSpPr/>
          <p:nvPr/>
        </p:nvSpPr>
        <p:spPr>
          <a:xfrm>
            <a:off x="786384" y="2139696"/>
            <a:ext cx="31821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00"/>
              <a:buFont typeface="Calibri"/>
              <a:buNone/>
            </a:pPr>
            <a:r>
              <a:rPr b="0" i="0" lang="en-US" sz="900" u="none" cap="none" strike="noStrike">
                <a:solidFill>
                  <a:srgbClr val="90A4AE"/>
                </a:solidFill>
                <a:latin typeface="Calibri"/>
                <a:ea typeface="Calibri"/>
                <a:cs typeface="Calibri"/>
                <a:sym typeface="Calibri"/>
              </a:rPr>
              <a:t>g++ -std=c++20 -shared -fPIC</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0A4AE"/>
              </a:buClr>
              <a:buSzPts val="900"/>
              <a:buFont typeface="Calibri"/>
              <a:buNone/>
            </a:pPr>
            <a:r>
              <a:rPr b="0" i="0" lang="en-US" sz="900" u="none" cap="none" strike="noStrike">
                <a:solidFill>
                  <a:srgbClr val="90A4AE"/>
                </a:solidFill>
                <a:latin typeface="Calibri"/>
                <a:ea typeface="Calibri"/>
                <a:cs typeface="Calibri"/>
                <a:sym typeface="Calibri"/>
              </a:rPr>
              <a:t>One binary, all platforms handled by Podman</a:t>
            </a:r>
            <a:endParaRPr b="0" i="0" sz="900" u="none" cap="none" strike="noStrike">
              <a:solidFill>
                <a:schemeClr val="dk1"/>
              </a:solidFill>
              <a:latin typeface="Calibri"/>
              <a:ea typeface="Calibri"/>
              <a:cs typeface="Calibri"/>
              <a:sym typeface="Calibri"/>
            </a:endParaRPr>
          </a:p>
        </p:txBody>
      </p:sp>
      <p:sp>
        <p:nvSpPr>
          <p:cNvPr id="1627" name="Google Shape;1627;p51"/>
          <p:cNvSpPr/>
          <p:nvPr/>
        </p:nvSpPr>
        <p:spPr>
          <a:xfrm>
            <a:off x="320040" y="2651760"/>
            <a:ext cx="347400" cy="694800"/>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51"/>
          <p:cNvSpPr/>
          <p:nvPr/>
        </p:nvSpPr>
        <p:spPr>
          <a:xfrm>
            <a:off x="320040" y="2651760"/>
            <a:ext cx="347400" cy="69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1629" name="Google Shape;1629;p51"/>
          <p:cNvSpPr/>
          <p:nvPr/>
        </p:nvSpPr>
        <p:spPr>
          <a:xfrm>
            <a:off x="667512" y="2651760"/>
            <a:ext cx="3383400" cy="694800"/>
          </a:xfrm>
          <a:prstGeom prst="rect">
            <a:avLst/>
          </a:prstGeom>
          <a:solidFill>
            <a:srgbClr val="122040"/>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51"/>
          <p:cNvSpPr/>
          <p:nvPr/>
        </p:nvSpPr>
        <p:spPr>
          <a:xfrm>
            <a:off x="786384" y="2688336"/>
            <a:ext cx="31821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1" i="0" lang="en-US" sz="1050" u="none" cap="none" strike="noStrike">
                <a:solidFill>
                  <a:srgbClr val="ECF0F1"/>
                </a:solidFill>
                <a:latin typeface="Calibri"/>
                <a:ea typeface="Calibri"/>
                <a:cs typeface="Calibri"/>
                <a:sym typeface="Calibri"/>
              </a:rPr>
              <a:t>jextract reads header</a:t>
            </a:r>
            <a:endParaRPr b="0" i="0" sz="1050" u="none" cap="none" strike="noStrike">
              <a:solidFill>
                <a:schemeClr val="dk1"/>
              </a:solidFill>
              <a:latin typeface="Calibri"/>
              <a:ea typeface="Calibri"/>
              <a:cs typeface="Calibri"/>
              <a:sym typeface="Calibri"/>
            </a:endParaRPr>
          </a:p>
        </p:txBody>
      </p:sp>
      <p:sp>
        <p:nvSpPr>
          <p:cNvPr id="1631" name="Google Shape;1631;p51"/>
          <p:cNvSpPr/>
          <p:nvPr/>
        </p:nvSpPr>
        <p:spPr>
          <a:xfrm>
            <a:off x="786384" y="2944368"/>
            <a:ext cx="31821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00"/>
              <a:buFont typeface="Calibri"/>
              <a:buNone/>
            </a:pPr>
            <a:r>
              <a:rPr b="0" i="0" lang="en-US" sz="900" u="none" cap="none" strike="noStrike">
                <a:solidFill>
                  <a:srgbClr val="90A4AE"/>
                </a:solidFill>
                <a:latin typeface="Calibri"/>
                <a:ea typeface="Calibri"/>
                <a:cs typeface="Calibri"/>
                <a:sym typeface="Calibri"/>
              </a:rPr>
              <a:t>Generates Java MemoryLayout + MethodHandle</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0A4AE"/>
              </a:buClr>
              <a:buSzPts val="900"/>
              <a:buFont typeface="Calibri"/>
              <a:buNone/>
            </a:pPr>
            <a:r>
              <a:rPr b="0" i="0" lang="en-US" sz="900" u="none" cap="none" strike="noStrike">
                <a:solidFill>
                  <a:srgbClr val="90A4AE"/>
                </a:solidFill>
                <a:latin typeface="Calibri"/>
                <a:ea typeface="Calibri"/>
                <a:cs typeface="Calibri"/>
                <a:sym typeface="Calibri"/>
              </a:rPr>
              <a:t>bindings automatically from jvmstats.h</a:t>
            </a:r>
            <a:endParaRPr b="0" i="0" sz="900" u="none" cap="none" strike="noStrike">
              <a:solidFill>
                <a:schemeClr val="dk1"/>
              </a:solidFill>
              <a:latin typeface="Calibri"/>
              <a:ea typeface="Calibri"/>
              <a:cs typeface="Calibri"/>
              <a:sym typeface="Calibri"/>
            </a:endParaRPr>
          </a:p>
        </p:txBody>
      </p:sp>
      <p:sp>
        <p:nvSpPr>
          <p:cNvPr id="1632" name="Google Shape;1632;p51"/>
          <p:cNvSpPr/>
          <p:nvPr/>
        </p:nvSpPr>
        <p:spPr>
          <a:xfrm>
            <a:off x="320040" y="3456432"/>
            <a:ext cx="347400" cy="694800"/>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51"/>
          <p:cNvSpPr/>
          <p:nvPr/>
        </p:nvSpPr>
        <p:spPr>
          <a:xfrm>
            <a:off x="320040" y="3456432"/>
            <a:ext cx="347400" cy="69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4</a:t>
            </a:r>
            <a:endParaRPr b="0" i="0" sz="1600" u="none" cap="none" strike="noStrike">
              <a:solidFill>
                <a:schemeClr val="dk1"/>
              </a:solidFill>
              <a:latin typeface="Calibri"/>
              <a:ea typeface="Calibri"/>
              <a:cs typeface="Calibri"/>
              <a:sym typeface="Calibri"/>
            </a:endParaRPr>
          </a:p>
        </p:txBody>
      </p:sp>
      <p:sp>
        <p:nvSpPr>
          <p:cNvPr id="1634" name="Google Shape;1634;p51"/>
          <p:cNvSpPr/>
          <p:nvPr/>
        </p:nvSpPr>
        <p:spPr>
          <a:xfrm>
            <a:off x="667512" y="3456432"/>
            <a:ext cx="3383400" cy="694800"/>
          </a:xfrm>
          <a:prstGeom prst="rect">
            <a:avLst/>
          </a:prstGeom>
          <a:solidFill>
            <a:srgbClr val="122040"/>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51"/>
          <p:cNvSpPr/>
          <p:nvPr/>
        </p:nvSpPr>
        <p:spPr>
          <a:xfrm>
            <a:off x="786384" y="3493008"/>
            <a:ext cx="31821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1" i="0" lang="en-US" sz="1050" u="none" cap="none" strike="noStrike">
                <a:solidFill>
                  <a:srgbClr val="ECF0F1"/>
                </a:solidFill>
                <a:latin typeface="Calibri"/>
                <a:ea typeface="Calibri"/>
                <a:cs typeface="Calibri"/>
                <a:sym typeface="Calibri"/>
              </a:rPr>
              <a:t>Quarkus calls via FFM</a:t>
            </a:r>
            <a:endParaRPr b="0" i="0" sz="1050" u="none" cap="none" strike="noStrike">
              <a:solidFill>
                <a:schemeClr val="dk1"/>
              </a:solidFill>
              <a:latin typeface="Calibri"/>
              <a:ea typeface="Calibri"/>
              <a:cs typeface="Calibri"/>
              <a:sym typeface="Calibri"/>
            </a:endParaRPr>
          </a:p>
        </p:txBody>
      </p:sp>
      <p:sp>
        <p:nvSpPr>
          <p:cNvPr id="1636" name="Google Shape;1636;p51"/>
          <p:cNvSpPr/>
          <p:nvPr/>
        </p:nvSpPr>
        <p:spPr>
          <a:xfrm>
            <a:off x="786384" y="3749040"/>
            <a:ext cx="31821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00"/>
              <a:buFont typeface="Calibri"/>
              <a:buNone/>
            </a:pPr>
            <a:r>
              <a:rPr b="0" i="0" lang="en-US" sz="900" u="none" cap="none" strike="noStrike">
                <a:solidFill>
                  <a:srgbClr val="90A4AE"/>
                </a:solidFill>
                <a:latin typeface="Calibri"/>
                <a:ea typeface="Calibri"/>
                <a:cs typeface="Calibri"/>
                <a:sym typeface="Calibri"/>
              </a:rPr>
              <a:t>SymbolLookup → MethodHandle → invoke()</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0A4AE"/>
              </a:buClr>
              <a:buSzPts val="900"/>
              <a:buFont typeface="Calibri"/>
              <a:buNone/>
            </a:pPr>
            <a:r>
              <a:rPr b="0" i="0" lang="en-US" sz="900" u="none" cap="none" strike="noStrike">
                <a:solidFill>
                  <a:srgbClr val="90A4AE"/>
                </a:solidFill>
                <a:latin typeface="Calibri"/>
                <a:ea typeface="Calibri"/>
                <a:cs typeface="Calibri"/>
                <a:sym typeface="Calibri"/>
              </a:rPr>
              <a:t>Arena manages native memory lifetime</a:t>
            </a:r>
            <a:endParaRPr b="0" i="0" sz="900" u="none" cap="none" strike="noStrike">
              <a:solidFill>
                <a:schemeClr val="dk1"/>
              </a:solidFill>
              <a:latin typeface="Calibri"/>
              <a:ea typeface="Calibri"/>
              <a:cs typeface="Calibri"/>
              <a:sym typeface="Calibri"/>
            </a:endParaRPr>
          </a:p>
        </p:txBody>
      </p:sp>
      <p:sp>
        <p:nvSpPr>
          <p:cNvPr id="1637" name="Google Shape;1637;p51"/>
          <p:cNvSpPr/>
          <p:nvPr/>
        </p:nvSpPr>
        <p:spPr>
          <a:xfrm>
            <a:off x="320040" y="4261104"/>
            <a:ext cx="347400" cy="694800"/>
          </a:xfrm>
          <a:prstGeom prst="rect">
            <a:avLst/>
          </a:prstGeom>
          <a:solidFill>
            <a:srgbClr val="27AE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51"/>
          <p:cNvSpPr/>
          <p:nvPr/>
        </p:nvSpPr>
        <p:spPr>
          <a:xfrm>
            <a:off x="320040" y="4261104"/>
            <a:ext cx="347400" cy="69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5</a:t>
            </a:r>
            <a:endParaRPr b="0" i="0" sz="1600" u="none" cap="none" strike="noStrike">
              <a:solidFill>
                <a:schemeClr val="dk1"/>
              </a:solidFill>
              <a:latin typeface="Calibri"/>
              <a:ea typeface="Calibri"/>
              <a:cs typeface="Calibri"/>
              <a:sym typeface="Calibri"/>
            </a:endParaRPr>
          </a:p>
        </p:txBody>
      </p:sp>
      <p:sp>
        <p:nvSpPr>
          <p:cNvPr id="1639" name="Google Shape;1639;p51"/>
          <p:cNvSpPr/>
          <p:nvPr/>
        </p:nvSpPr>
        <p:spPr>
          <a:xfrm>
            <a:off x="667512" y="4261104"/>
            <a:ext cx="3383400" cy="694800"/>
          </a:xfrm>
          <a:prstGeom prst="rect">
            <a:avLst/>
          </a:prstGeom>
          <a:solidFill>
            <a:srgbClr val="122040"/>
          </a:solidFill>
          <a:ln cap="flat" cmpd="sng" w="1270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51"/>
          <p:cNvSpPr/>
          <p:nvPr/>
        </p:nvSpPr>
        <p:spPr>
          <a:xfrm>
            <a:off x="786384" y="4297680"/>
            <a:ext cx="31821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050"/>
              <a:buFont typeface="Calibri"/>
              <a:buNone/>
            </a:pPr>
            <a:r>
              <a:rPr b="1" i="0" lang="en-US" sz="1050" u="none" cap="none" strike="noStrike">
                <a:solidFill>
                  <a:srgbClr val="ECF0F1"/>
                </a:solidFill>
                <a:latin typeface="Calibri"/>
                <a:ea typeface="Calibri"/>
                <a:cs typeface="Calibri"/>
                <a:sym typeface="Calibri"/>
              </a:rPr>
              <a:t>REST endpoint returns</a:t>
            </a:r>
            <a:endParaRPr b="0" i="0" sz="1050" u="none" cap="none" strike="noStrike">
              <a:solidFill>
                <a:schemeClr val="dk1"/>
              </a:solidFill>
              <a:latin typeface="Calibri"/>
              <a:ea typeface="Calibri"/>
              <a:cs typeface="Calibri"/>
              <a:sym typeface="Calibri"/>
            </a:endParaRPr>
          </a:p>
        </p:txBody>
      </p:sp>
      <p:sp>
        <p:nvSpPr>
          <p:cNvPr id="1641" name="Google Shape;1641;p51"/>
          <p:cNvSpPr/>
          <p:nvPr/>
        </p:nvSpPr>
        <p:spPr>
          <a:xfrm>
            <a:off x="786384" y="4553712"/>
            <a:ext cx="31821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00"/>
              <a:buFont typeface="Calibri"/>
              <a:buNone/>
            </a:pPr>
            <a:r>
              <a:rPr b="0" i="0" lang="en-US" sz="900" u="none" cap="none" strike="noStrike">
                <a:solidFill>
                  <a:srgbClr val="90A4AE"/>
                </a:solidFill>
                <a:latin typeface="Calibri"/>
                <a:ea typeface="Calibri"/>
                <a:cs typeface="Calibri"/>
                <a:sym typeface="Calibri"/>
              </a:rPr>
              <a:t>JSON wrapping the native computation result</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0A4AE"/>
              </a:buClr>
              <a:buSzPts val="900"/>
              <a:buFont typeface="Calibri"/>
              <a:buNone/>
            </a:pPr>
            <a:r>
              <a:rPr b="0" i="0" lang="en-US" sz="900" u="none" cap="none" strike="noStrike">
                <a:solidFill>
                  <a:srgbClr val="90A4AE"/>
                </a:solidFill>
                <a:latin typeface="Calibri"/>
                <a:ea typeface="Calibri"/>
                <a:cs typeface="Calibri"/>
                <a:sym typeface="Calibri"/>
              </a:rPr>
              <a:t>full type safety, no segfault risk</a:t>
            </a:r>
            <a:endParaRPr b="0" i="0" sz="900" u="none" cap="none" strike="noStrike">
              <a:solidFill>
                <a:schemeClr val="dk1"/>
              </a:solidFill>
              <a:latin typeface="Calibri"/>
              <a:ea typeface="Calibri"/>
              <a:cs typeface="Calibri"/>
              <a:sym typeface="Calibri"/>
            </a:endParaRPr>
          </a:p>
        </p:txBody>
      </p:sp>
      <p:sp>
        <p:nvSpPr>
          <p:cNvPr id="1642" name="Google Shape;1642;p51"/>
          <p:cNvSpPr/>
          <p:nvPr/>
        </p:nvSpPr>
        <p:spPr>
          <a:xfrm>
            <a:off x="4343400" y="749808"/>
            <a:ext cx="4572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A623"/>
              </a:buClr>
              <a:buSzPts val="1000"/>
              <a:buFont typeface="Calibri"/>
              <a:buNone/>
            </a:pPr>
            <a:r>
              <a:rPr b="1" i="0" lang="en-US" sz="1000" u="none" cap="none" strike="noStrike">
                <a:solidFill>
                  <a:srgbClr val="F5A623"/>
                </a:solidFill>
                <a:latin typeface="Calibri"/>
                <a:ea typeface="Calibri"/>
                <a:cs typeface="Calibri"/>
                <a:sym typeface="Calibri"/>
              </a:rPr>
              <a:t>C++ (jvmstats.cpp)</a:t>
            </a:r>
            <a:endParaRPr b="0" i="0" sz="1000" u="none" cap="none" strike="noStrike">
              <a:solidFill>
                <a:schemeClr val="dk1"/>
              </a:solidFill>
              <a:latin typeface="Calibri"/>
              <a:ea typeface="Calibri"/>
              <a:cs typeface="Calibri"/>
              <a:sym typeface="Calibri"/>
            </a:endParaRPr>
          </a:p>
        </p:txBody>
      </p:sp>
      <p:sp>
        <p:nvSpPr>
          <p:cNvPr id="1643" name="Google Shape;1643;p51"/>
          <p:cNvSpPr/>
          <p:nvPr/>
        </p:nvSpPr>
        <p:spPr>
          <a:xfrm>
            <a:off x="4343400" y="1005840"/>
            <a:ext cx="4572000" cy="1389900"/>
          </a:xfrm>
          <a:prstGeom prst="rect">
            <a:avLst/>
          </a:prstGeom>
          <a:solidFill>
            <a:srgbClr val="0D2137"/>
          </a:solidFill>
          <a:ln cap="flat" cmpd="sng" w="12700">
            <a:solidFill>
              <a:srgbClr val="1E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51"/>
          <p:cNvSpPr/>
          <p:nvPr/>
        </p:nvSpPr>
        <p:spPr>
          <a:xfrm>
            <a:off x="4462272" y="1042416"/>
            <a:ext cx="4352400" cy="131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CF0F1"/>
              </a:buClr>
              <a:buSzPts val="800"/>
              <a:buFont typeface="Consolas"/>
              <a:buNone/>
            </a:pPr>
            <a:r>
              <a:rPr b="0" i="0" lang="en-US" sz="800" u="none" cap="none" strike="noStrike">
                <a:solidFill>
                  <a:srgbClr val="ECF0F1"/>
                </a:solidFill>
                <a:latin typeface="Consolas"/>
                <a:ea typeface="Consolas"/>
                <a:cs typeface="Consolas"/>
                <a:sym typeface="Consolas"/>
              </a:rPr>
              <a:t>extern "C" {</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00"/>
              <a:buFont typeface="Consolas"/>
              <a:buNone/>
            </a:pPr>
            <a:r>
              <a:rPr b="0" i="0" lang="en-US" sz="800" u="none" cap="none" strike="noStrike">
                <a:solidFill>
                  <a:srgbClr val="ECF0F1"/>
                </a:solidFill>
                <a:latin typeface="Consolas"/>
                <a:ea typeface="Consolas"/>
                <a:cs typeface="Consolas"/>
                <a:sym typeface="Consolas"/>
              </a:rPr>
              <a:t>  // Analyse GC pause percentiles from a native array</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00"/>
              <a:buFont typeface="Consolas"/>
              <a:buNone/>
            </a:pPr>
            <a:r>
              <a:rPr b="0" i="0" lang="en-US" sz="800" u="none" cap="none" strike="noStrike">
                <a:solidFill>
                  <a:srgbClr val="ECF0F1"/>
                </a:solidFill>
                <a:latin typeface="Consolas"/>
                <a:ea typeface="Consolas"/>
                <a:cs typeface="Consolas"/>
                <a:sym typeface="Consolas"/>
              </a:rPr>
              <a:t>  // Returns recommended GC: 0=G1, 1=Shenandoah, 2=ZGC</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00"/>
              <a:buFont typeface="Consolas"/>
              <a:buNone/>
            </a:pPr>
            <a:r>
              <a:rPr b="0" i="0" lang="en-US" sz="800" u="none" cap="none" strike="noStrike">
                <a:solidFill>
                  <a:srgbClr val="ECF0F1"/>
                </a:solidFill>
                <a:latin typeface="Consolas"/>
                <a:ea typeface="Consolas"/>
                <a:cs typeface="Consolas"/>
                <a:sym typeface="Consolas"/>
              </a:rPr>
              <a:t>  int recommend_gc(const double* pauses_ms,</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00"/>
              <a:buFont typeface="Consolas"/>
              <a:buNone/>
            </a:pPr>
            <a:r>
              <a:rPr b="0" i="0" lang="en-US" sz="800" u="none" cap="none" strike="noStrike">
                <a:solidFill>
                  <a:srgbClr val="ECF0F1"/>
                </a:solidFill>
                <a:latin typeface="Consolas"/>
                <a:ea typeface="Consolas"/>
                <a:cs typeface="Consolas"/>
                <a:sym typeface="Consolas"/>
              </a:rPr>
              <a:t>                   int count,</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00"/>
              <a:buFont typeface="Consolas"/>
              <a:buNone/>
            </a:pPr>
            <a:r>
              <a:rPr b="0" i="0" lang="en-US" sz="800" u="none" cap="none" strike="noStrike">
                <a:solidFill>
                  <a:srgbClr val="ECF0F1"/>
                </a:solidFill>
                <a:latin typeface="Consolas"/>
                <a:ea typeface="Consolas"/>
                <a:cs typeface="Consolas"/>
                <a:sym typeface="Consolas"/>
              </a:rPr>
              <a:t>                   double* out_p99) {</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00"/>
              <a:buFont typeface="Consolas"/>
              <a:buNone/>
            </a:pPr>
            <a:r>
              <a:rPr b="0" i="0" lang="en-US" sz="800" u="none" cap="none" strike="noStrike">
                <a:solidFill>
                  <a:srgbClr val="ECF0F1"/>
                </a:solidFill>
                <a:latin typeface="Consolas"/>
                <a:ea typeface="Consolas"/>
                <a:cs typeface="Consolas"/>
                <a:sym typeface="Consolas"/>
              </a:rPr>
              <a:t>    std::span&lt;const double&gt; v{pauses_ms, (size_t)count};</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00"/>
              <a:buFont typeface="Consolas"/>
              <a:buNone/>
            </a:pPr>
            <a:r>
              <a:rPr b="0" i="0" lang="en-US" sz="800" u="none" cap="none" strike="noStrike">
                <a:solidFill>
                  <a:srgbClr val="ECF0F1"/>
                </a:solidFill>
                <a:latin typeface="Consolas"/>
                <a:ea typeface="Consolas"/>
                <a:cs typeface="Consolas"/>
                <a:sym typeface="Consolas"/>
              </a:rPr>
              <a:t>    auto sorted = std::vector(v.begin(), v.end());</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00"/>
              <a:buFont typeface="Consolas"/>
              <a:buNone/>
            </a:pPr>
            <a:r>
              <a:rPr b="0" i="0" lang="en-US" sz="800" u="none" cap="none" strike="noStrike">
                <a:solidFill>
                  <a:srgbClr val="ECF0F1"/>
                </a:solidFill>
                <a:latin typeface="Consolas"/>
                <a:ea typeface="Consolas"/>
                <a:cs typeface="Consolas"/>
                <a:sym typeface="Consolas"/>
              </a:rPr>
              <a:t>    std::ranges::sort(sorted);</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00"/>
              <a:buFont typeface="Consolas"/>
              <a:buNone/>
            </a:pPr>
            <a:r>
              <a:rPr b="0" i="0" lang="en-US" sz="800" u="none" cap="none" strike="noStrike">
                <a:solidFill>
                  <a:srgbClr val="ECF0F1"/>
                </a:solidFill>
                <a:latin typeface="Consolas"/>
                <a:ea typeface="Consolas"/>
                <a:cs typeface="Consolas"/>
                <a:sym typeface="Consolas"/>
              </a:rPr>
              <a:t>    *out_p99 = sorted[(int)(count*0.99)];</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00"/>
              <a:buFont typeface="Consolas"/>
              <a:buNone/>
            </a:pPr>
            <a:r>
              <a:rPr b="0" i="0" lang="en-US" sz="800" u="none" cap="none" strike="noStrike">
                <a:solidFill>
                  <a:srgbClr val="ECF0F1"/>
                </a:solidFill>
                <a:latin typeface="Consolas"/>
                <a:ea typeface="Consolas"/>
                <a:cs typeface="Consolas"/>
                <a:sym typeface="Consolas"/>
              </a:rPr>
              <a:t>    return *out_p99 &lt; 1.0  ? 2   // ZGC</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00"/>
              <a:buFont typeface="Consolas"/>
              <a:buNone/>
            </a:pPr>
            <a:r>
              <a:rPr b="0" i="0" lang="en-US" sz="800" u="none" cap="none" strike="noStrike">
                <a:solidFill>
                  <a:srgbClr val="ECF0F1"/>
                </a:solidFill>
                <a:latin typeface="Consolas"/>
                <a:ea typeface="Consolas"/>
                <a:cs typeface="Consolas"/>
                <a:sym typeface="Consolas"/>
              </a:rPr>
              <a:t>         : *out_p99 &lt; 20.0 ? 1   // Shenandoah</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00"/>
              <a:buFont typeface="Consolas"/>
              <a:buNone/>
            </a:pPr>
            <a:r>
              <a:rPr b="0" i="0" lang="en-US" sz="800" u="none" cap="none" strike="noStrike">
                <a:solidFill>
                  <a:srgbClr val="ECF0F1"/>
                </a:solidFill>
                <a:latin typeface="Consolas"/>
                <a:ea typeface="Consolas"/>
                <a:cs typeface="Consolas"/>
                <a:sym typeface="Consolas"/>
              </a:rPr>
              <a:t>         : 0;                     // G1GC</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00"/>
              <a:buFont typeface="Consolas"/>
              <a:buNone/>
            </a:pPr>
            <a:r>
              <a:rPr b="0" i="0" lang="en-US" sz="800" u="none" cap="none" strike="noStrike">
                <a:solidFill>
                  <a:srgbClr val="ECF0F1"/>
                </a:solidFill>
                <a:latin typeface="Consolas"/>
                <a:ea typeface="Consolas"/>
                <a:cs typeface="Consolas"/>
                <a:sym typeface="Consolas"/>
              </a:rPr>
              <a:t>  }</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00"/>
              <a:buFont typeface="Consolas"/>
              <a:buNone/>
            </a:pPr>
            <a:r>
              <a:rPr b="0" i="0" lang="en-US" sz="800" u="none" cap="none" strike="noStrike">
                <a:solidFill>
                  <a:srgbClr val="ECF0F1"/>
                </a:solidFill>
                <a:latin typeface="Consolas"/>
                <a:ea typeface="Consolas"/>
                <a:cs typeface="Consolas"/>
                <a:sym typeface="Consolas"/>
              </a:rPr>
              <a:t>}</a:t>
            </a:r>
            <a:endParaRPr b="0" i="0" sz="800" u="none" cap="none" strike="noStrike">
              <a:solidFill>
                <a:schemeClr val="dk1"/>
              </a:solidFill>
              <a:latin typeface="Calibri"/>
              <a:ea typeface="Calibri"/>
              <a:cs typeface="Calibri"/>
              <a:sym typeface="Calibri"/>
            </a:endParaRPr>
          </a:p>
        </p:txBody>
      </p:sp>
      <p:sp>
        <p:nvSpPr>
          <p:cNvPr id="1645" name="Google Shape;1645;p51"/>
          <p:cNvSpPr/>
          <p:nvPr/>
        </p:nvSpPr>
        <p:spPr>
          <a:xfrm>
            <a:off x="4343400" y="2487168"/>
            <a:ext cx="4572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000"/>
              <a:buFont typeface="Calibri"/>
              <a:buNone/>
            </a:pPr>
            <a:r>
              <a:rPr b="1" i="0" lang="en-US" sz="1000" u="none" cap="none" strike="noStrike">
                <a:solidFill>
                  <a:srgbClr val="00BCD4"/>
                </a:solidFill>
                <a:latin typeface="Calibri"/>
                <a:ea typeface="Calibri"/>
                <a:cs typeface="Calibri"/>
                <a:sym typeface="Calibri"/>
              </a:rPr>
              <a:t>Quarkus FFM call</a:t>
            </a:r>
            <a:endParaRPr b="0" i="0" sz="1000" u="none" cap="none" strike="noStrike">
              <a:solidFill>
                <a:schemeClr val="dk1"/>
              </a:solidFill>
              <a:latin typeface="Calibri"/>
              <a:ea typeface="Calibri"/>
              <a:cs typeface="Calibri"/>
              <a:sym typeface="Calibri"/>
            </a:endParaRPr>
          </a:p>
        </p:txBody>
      </p:sp>
      <p:sp>
        <p:nvSpPr>
          <p:cNvPr id="1646" name="Google Shape;1646;p51"/>
          <p:cNvSpPr/>
          <p:nvPr/>
        </p:nvSpPr>
        <p:spPr>
          <a:xfrm>
            <a:off x="4343400" y="2706624"/>
            <a:ext cx="4572000" cy="2469000"/>
          </a:xfrm>
          <a:prstGeom prst="rect">
            <a:avLst/>
          </a:prstGeom>
          <a:solidFill>
            <a:srgbClr val="0D2137"/>
          </a:solidFill>
          <a:ln cap="flat" cmpd="sng" w="12700">
            <a:solidFill>
              <a:srgbClr val="1E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51"/>
          <p:cNvSpPr/>
          <p:nvPr/>
        </p:nvSpPr>
        <p:spPr>
          <a:xfrm>
            <a:off x="4462272" y="2743200"/>
            <a:ext cx="4352400" cy="2359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CF0F1"/>
              </a:buClr>
              <a:buSzPts val="800"/>
              <a:buFont typeface="Consolas"/>
              <a:buNone/>
            </a:pPr>
            <a:r>
              <a:rPr b="0" i="0" lang="en-US" sz="800" u="none" cap="none" strike="noStrike">
                <a:solidFill>
                  <a:srgbClr val="ECF0F1"/>
                </a:solidFill>
                <a:latin typeface="Consolas"/>
                <a:ea typeface="Consolas"/>
                <a:cs typeface="Consolas"/>
                <a:sym typeface="Consolas"/>
              </a:rPr>
              <a:t>// Bound by hand via Linker.downcallHandle (jextract can also generate this)</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00"/>
              <a:buFont typeface="Consolas"/>
              <a:buNone/>
            </a:pPr>
            <a:r>
              <a:rPr b="0" i="0" lang="en-US" sz="800" u="none" cap="none" strike="noStrike">
                <a:solidFill>
                  <a:srgbClr val="ECF0F1"/>
                </a:solidFill>
                <a:latin typeface="Consolas"/>
                <a:ea typeface="Consolas"/>
                <a:cs typeface="Consolas"/>
                <a:sym typeface="Consolas"/>
              </a:rPr>
              <a:t>MethodHandle recommendGc =</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00"/>
              <a:buFont typeface="Consolas"/>
              <a:buNone/>
            </a:pPr>
            <a:r>
              <a:rPr b="0" i="0" lang="en-US" sz="800" u="none" cap="none" strike="noStrike">
                <a:solidFill>
                  <a:srgbClr val="ECF0F1"/>
                </a:solidFill>
                <a:latin typeface="Consolas"/>
                <a:ea typeface="Consolas"/>
                <a:cs typeface="Consolas"/>
                <a:sym typeface="Consolas"/>
              </a:rPr>
              <a:t>  JvmStats.recommend_gc$handle();</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800"/>
              <a:buFont typeface="Calibri"/>
              <a:buNone/>
            </a:pPr>
            <a:r>
              <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00"/>
              <a:buFont typeface="Consolas"/>
              <a:buNone/>
            </a:pPr>
            <a:r>
              <a:rPr b="0" i="0" lang="en-US" sz="800" u="none" cap="none" strike="noStrike">
                <a:solidFill>
                  <a:srgbClr val="ECF0F1"/>
                </a:solidFill>
                <a:latin typeface="Consolas"/>
                <a:ea typeface="Consolas"/>
                <a:cs typeface="Consolas"/>
                <a:sym typeface="Consolas"/>
              </a:rPr>
              <a:t>try (Arena arena = Arena.ofConfined()) {</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00"/>
              <a:buFont typeface="Consolas"/>
              <a:buNone/>
            </a:pPr>
            <a:r>
              <a:rPr b="0" i="0" lang="en-US" sz="800" u="none" cap="none" strike="noStrike">
                <a:solidFill>
                  <a:srgbClr val="ECF0F1"/>
                </a:solidFill>
                <a:latin typeface="Consolas"/>
                <a:ea typeface="Consolas"/>
                <a:cs typeface="Consolas"/>
                <a:sym typeface="Consolas"/>
              </a:rPr>
              <a:t>  // Allocate native double array — freed on close</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00"/>
              <a:buFont typeface="Consolas"/>
              <a:buNone/>
            </a:pPr>
            <a:r>
              <a:rPr b="0" i="0" lang="en-US" sz="800" u="none" cap="none" strike="noStrike">
                <a:solidFill>
                  <a:srgbClr val="ECF0F1"/>
                </a:solidFill>
                <a:latin typeface="Consolas"/>
                <a:ea typeface="Consolas"/>
                <a:cs typeface="Consolas"/>
                <a:sym typeface="Consolas"/>
              </a:rPr>
              <a:t>  MemorySegment pauses =</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00"/>
              <a:buFont typeface="Consolas"/>
              <a:buNone/>
            </a:pPr>
            <a:r>
              <a:rPr b="0" i="0" lang="en-US" sz="800" u="none" cap="none" strike="noStrike">
                <a:solidFill>
                  <a:srgbClr val="ECF0F1"/>
                </a:solidFill>
                <a:latin typeface="Consolas"/>
                <a:ea typeface="Consolas"/>
                <a:cs typeface="Consolas"/>
                <a:sym typeface="Consolas"/>
              </a:rPr>
              <a:t>    arena.allocateFrom(JAVA_DOUBLE, data);</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00"/>
              <a:buFont typeface="Consolas"/>
              <a:buNone/>
            </a:pPr>
            <a:r>
              <a:rPr b="0" i="0" lang="en-US" sz="800" u="none" cap="none" strike="noStrike">
                <a:solidFill>
                  <a:srgbClr val="ECF0F1"/>
                </a:solidFill>
                <a:latin typeface="Consolas"/>
                <a:ea typeface="Consolas"/>
                <a:cs typeface="Consolas"/>
                <a:sym typeface="Consolas"/>
              </a:rPr>
              <a:t>  MemorySegment p99Out =</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00"/>
              <a:buFont typeface="Consolas"/>
              <a:buNone/>
            </a:pPr>
            <a:r>
              <a:rPr b="0" i="0" lang="en-US" sz="800" u="none" cap="none" strike="noStrike">
                <a:solidFill>
                  <a:srgbClr val="ECF0F1"/>
                </a:solidFill>
                <a:latin typeface="Consolas"/>
                <a:ea typeface="Consolas"/>
                <a:cs typeface="Consolas"/>
                <a:sym typeface="Consolas"/>
              </a:rPr>
              <a:t>    arena.allocate(JAVA_DOUBLE);</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800"/>
              <a:buFont typeface="Calibri"/>
              <a:buNone/>
            </a:pPr>
            <a:r>
              <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00"/>
              <a:buFont typeface="Consolas"/>
              <a:buNone/>
            </a:pPr>
            <a:r>
              <a:rPr b="0" i="0" lang="en-US" sz="800" u="none" cap="none" strike="noStrike">
                <a:solidFill>
                  <a:srgbClr val="ECF0F1"/>
                </a:solidFill>
                <a:latin typeface="Consolas"/>
                <a:ea typeface="Consolas"/>
                <a:cs typeface="Consolas"/>
                <a:sym typeface="Consolas"/>
              </a:rPr>
              <a:t>  // Call into C++ — no JNI, no wrapper</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00"/>
              <a:buFont typeface="Consolas"/>
              <a:buNone/>
            </a:pPr>
            <a:r>
              <a:rPr b="0" i="0" lang="en-US" sz="800" u="none" cap="none" strike="noStrike">
                <a:solidFill>
                  <a:srgbClr val="ECF0F1"/>
                </a:solidFill>
                <a:latin typeface="Consolas"/>
                <a:ea typeface="Consolas"/>
                <a:cs typeface="Consolas"/>
                <a:sym typeface="Consolas"/>
              </a:rPr>
              <a:t>  int gc = (int) recommendGc.invoke(</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00"/>
              <a:buFont typeface="Consolas"/>
              <a:buNone/>
            </a:pPr>
            <a:r>
              <a:rPr b="0" i="0" lang="en-US" sz="800" u="none" cap="none" strike="noStrike">
                <a:solidFill>
                  <a:srgbClr val="ECF0F1"/>
                </a:solidFill>
                <a:latin typeface="Consolas"/>
                <a:ea typeface="Consolas"/>
                <a:cs typeface="Consolas"/>
                <a:sym typeface="Consolas"/>
              </a:rPr>
              <a:t>    pauses, data.length, p99Out);</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800"/>
              <a:buFont typeface="Calibri"/>
              <a:buNone/>
            </a:pPr>
            <a:r>
              <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00"/>
              <a:buFont typeface="Consolas"/>
              <a:buNone/>
            </a:pPr>
            <a:r>
              <a:rPr b="0" i="0" lang="en-US" sz="800" u="none" cap="none" strike="noStrike">
                <a:solidFill>
                  <a:srgbClr val="ECF0F1"/>
                </a:solidFill>
                <a:latin typeface="Consolas"/>
                <a:ea typeface="Consolas"/>
                <a:cs typeface="Consolas"/>
                <a:sym typeface="Consolas"/>
              </a:rPr>
              <a:t>  double p99 = p99Out.get(JAVA_DOUBLE, 0);</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00"/>
              <a:buFont typeface="Consolas"/>
              <a:buNone/>
            </a:pPr>
            <a:r>
              <a:rPr b="0" i="0" lang="en-US" sz="800" u="none" cap="none" strike="noStrike">
                <a:solidFill>
                  <a:srgbClr val="ECF0F1"/>
                </a:solidFill>
                <a:latin typeface="Consolas"/>
                <a:ea typeface="Consolas"/>
                <a:cs typeface="Consolas"/>
                <a:sym typeface="Consolas"/>
              </a:rPr>
              <a:t>  return new GcRecommendation(gcName(gc), p99);</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00"/>
              <a:buFont typeface="Consolas"/>
              <a:buNone/>
            </a:pPr>
            <a:r>
              <a:rPr b="0" i="0" lang="en-US" sz="800" u="none" cap="none" strike="noStrike">
                <a:solidFill>
                  <a:srgbClr val="ECF0F1"/>
                </a:solidFill>
                <a:latin typeface="Consolas"/>
                <a:ea typeface="Consolas"/>
                <a:cs typeface="Consolas"/>
                <a:sym typeface="Consolas"/>
              </a:rPr>
              <a:t>} // arena freed here — zero leaks possible</a:t>
            </a:r>
            <a:endParaRPr b="0" i="0" sz="800" u="none" cap="none" strike="noStrike">
              <a:solidFill>
                <a:schemeClr val="dk1"/>
              </a:solidFill>
              <a:latin typeface="Calibri"/>
              <a:ea typeface="Calibri"/>
              <a:cs typeface="Calibri"/>
              <a:sym typeface="Calibri"/>
            </a:endParaRPr>
          </a:p>
        </p:txBody>
      </p:sp>
      <p:sp>
        <p:nvSpPr>
          <p:cNvPr id="1648" name="Google Shape;1648;p51"/>
          <p:cNvSpPr/>
          <p:nvPr/>
        </p:nvSpPr>
        <p:spPr>
          <a:xfrm>
            <a:off x="0" y="5394960"/>
            <a:ext cx="9144000" cy="201300"/>
          </a:xfrm>
          <a:prstGeom prst="rect">
            <a:avLst/>
          </a:prstGeom>
          <a:solidFill>
            <a:srgbClr val="0610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51"/>
          <p:cNvSpPr/>
          <p:nvPr/>
        </p:nvSpPr>
        <p:spPr>
          <a:xfrm>
            <a:off x="320040" y="5422392"/>
            <a:ext cx="8503800" cy="14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900"/>
              <a:buFont typeface="Calibri"/>
              <a:buNone/>
            </a:pPr>
            <a:r>
              <a:rPr b="0" i="0" lang="en-US" sz="900" u="none" cap="none" strike="noStrike">
                <a:solidFill>
                  <a:srgbClr val="00BCD4"/>
                </a:solidFill>
                <a:latin typeface="Calibri"/>
                <a:ea typeface="Calibri"/>
                <a:cs typeface="Calibri"/>
                <a:sym typeface="Calibri"/>
              </a:rPr>
              <a:t>quarkus-demo-08-panama/  ·  JDK 25 LTS  ·  Quarkus 3.33.1  ·  C++20  ·  no --enable-preview needed</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654" name="Shape 1654"/>
        <p:cNvGrpSpPr/>
        <p:nvPr/>
      </p:nvGrpSpPr>
      <p:grpSpPr>
        <a:xfrm>
          <a:off x="0" y="0"/>
          <a:ext cx="0" cy="0"/>
          <a:chOff x="0" y="0"/>
          <a:chExt cx="0" cy="0"/>
        </a:xfrm>
      </p:grpSpPr>
      <p:sp>
        <p:nvSpPr>
          <p:cNvPr id="1655" name="Google Shape;1655;p52"/>
          <p:cNvSpPr/>
          <p:nvPr/>
        </p:nvSpPr>
        <p:spPr>
          <a:xfrm>
            <a:off x="0" y="0"/>
            <a:ext cx="9144000" cy="64020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52"/>
          <p:cNvSpPr/>
          <p:nvPr/>
        </p:nvSpPr>
        <p:spPr>
          <a:xfrm>
            <a:off x="320040" y="9144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200"/>
              <a:buFont typeface="Calibri"/>
              <a:buNone/>
            </a:pPr>
            <a:r>
              <a:rPr b="1" i="0" lang="en-US" sz="2200" u="none" cap="none" strike="noStrike">
                <a:solidFill>
                  <a:srgbClr val="00BCD4"/>
                </a:solidFill>
                <a:latin typeface="Calibri"/>
                <a:ea typeface="Calibri"/>
                <a:cs typeface="Calibri"/>
                <a:sym typeface="Calibri"/>
              </a:rPr>
              <a:t>Demo 09 — AI Inference in Quarkus via Panama + ONNX</a:t>
            </a:r>
            <a:endParaRPr b="0" i="0" sz="2200" u="none" cap="none" strike="noStrike">
              <a:solidFill>
                <a:schemeClr val="dk1"/>
              </a:solidFill>
              <a:latin typeface="Calibri"/>
              <a:ea typeface="Calibri"/>
              <a:cs typeface="Calibri"/>
              <a:sym typeface="Calibri"/>
            </a:endParaRPr>
          </a:p>
        </p:txBody>
      </p:sp>
      <p:sp>
        <p:nvSpPr>
          <p:cNvPr id="1657" name="Google Shape;1657;p52"/>
          <p:cNvSpPr/>
          <p:nvPr/>
        </p:nvSpPr>
        <p:spPr>
          <a:xfrm>
            <a:off x="7772400" y="73152"/>
            <a:ext cx="1234500" cy="49380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52"/>
          <p:cNvSpPr/>
          <p:nvPr/>
        </p:nvSpPr>
        <p:spPr>
          <a:xfrm>
            <a:off x="7772400" y="73152"/>
            <a:ext cx="1234500" cy="493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PANAMA</a:t>
            </a:r>
            <a:endParaRPr b="0" i="0" sz="1100" u="none" cap="none" strike="noStrike">
              <a:solidFill>
                <a:schemeClr val="dk1"/>
              </a:solidFill>
              <a:latin typeface="Calibri"/>
              <a:ea typeface="Calibri"/>
              <a:cs typeface="Calibri"/>
              <a:sym typeface="Calibri"/>
            </a:endParaRPr>
          </a:p>
        </p:txBody>
      </p:sp>
      <p:sp>
        <p:nvSpPr>
          <p:cNvPr id="1659" name="Google Shape;1659;p52"/>
          <p:cNvSpPr/>
          <p:nvPr/>
        </p:nvSpPr>
        <p:spPr>
          <a:xfrm>
            <a:off x="357925" y="601538"/>
            <a:ext cx="4124400" cy="23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177"/>
              <a:buFont typeface="Calibri"/>
              <a:buNone/>
            </a:pPr>
            <a:r>
              <a:rPr b="1" i="0" lang="en-US" sz="1177" u="none" cap="none" strike="noStrike">
                <a:solidFill>
                  <a:srgbClr val="00BCD4"/>
                </a:solidFill>
                <a:latin typeface="Calibri"/>
                <a:ea typeface="Calibri"/>
                <a:cs typeface="Calibri"/>
                <a:sym typeface="Calibri"/>
              </a:rPr>
              <a:t>LangChain4j + ONNX Runtime + Panama</a:t>
            </a:r>
            <a:endParaRPr b="0" i="0" sz="1177" u="none" cap="none" strike="noStrike">
              <a:solidFill>
                <a:schemeClr val="dk1"/>
              </a:solidFill>
              <a:latin typeface="Calibri"/>
              <a:ea typeface="Calibri"/>
              <a:cs typeface="Calibri"/>
              <a:sym typeface="Calibri"/>
            </a:endParaRPr>
          </a:p>
        </p:txBody>
      </p:sp>
      <p:sp>
        <p:nvSpPr>
          <p:cNvPr id="1660" name="Google Shape;1660;p52"/>
          <p:cNvSpPr/>
          <p:nvPr/>
        </p:nvSpPr>
        <p:spPr>
          <a:xfrm>
            <a:off x="357925" y="888452"/>
            <a:ext cx="3945000" cy="555900"/>
          </a:xfrm>
          <a:prstGeom prst="rect">
            <a:avLst/>
          </a:prstGeom>
          <a:solidFill>
            <a:srgbClr val="122040"/>
          </a:solidFill>
          <a:ln cap="flat" cmpd="sng" w="18675">
            <a:solidFill>
              <a:srgbClr val="00BCD4"/>
            </a:solidFill>
            <a:prstDash val="solid"/>
            <a:round/>
            <a:headEnd len="sm" w="sm" type="none"/>
            <a:tailEnd len="sm" w="sm" type="none"/>
          </a:ln>
        </p:spPr>
        <p:txBody>
          <a:bodyPr anchorCtr="0" anchor="ctr" bIns="89650" lIns="89650" spcFirstLastPara="1" rIns="89650" wrap="square" tIns="89650">
            <a:noAutofit/>
          </a:bodyPr>
          <a:lstStyle/>
          <a:p>
            <a:pPr indent="0" lvl="0" marL="0" rtl="0" algn="l">
              <a:spcBef>
                <a:spcPts val="0"/>
              </a:spcBef>
              <a:spcAft>
                <a:spcPts val="0"/>
              </a:spcAft>
              <a:buNone/>
            </a:pPr>
            <a:r>
              <a:t/>
            </a:r>
            <a:endParaRPr/>
          </a:p>
        </p:txBody>
      </p:sp>
      <p:sp>
        <p:nvSpPr>
          <p:cNvPr id="1661" name="Google Shape;1661;p52"/>
          <p:cNvSpPr/>
          <p:nvPr/>
        </p:nvSpPr>
        <p:spPr>
          <a:xfrm>
            <a:off x="474484" y="942249"/>
            <a:ext cx="3711900" cy="21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030"/>
              <a:buFont typeface="Calibri"/>
              <a:buNone/>
            </a:pPr>
            <a:r>
              <a:rPr b="1" i="0" lang="en-US" sz="1030" u="none" cap="none" strike="noStrike">
                <a:solidFill>
                  <a:srgbClr val="00BCD4"/>
                </a:solidFill>
                <a:latin typeface="Calibri"/>
                <a:ea typeface="Calibri"/>
                <a:cs typeface="Calibri"/>
                <a:sym typeface="Calibri"/>
              </a:rPr>
              <a:t>Quarkus REST endpoint</a:t>
            </a:r>
            <a:endParaRPr b="0" i="0" sz="1030" u="none" cap="none" strike="noStrike">
              <a:solidFill>
                <a:schemeClr val="dk1"/>
              </a:solidFill>
              <a:latin typeface="Calibri"/>
              <a:ea typeface="Calibri"/>
              <a:cs typeface="Calibri"/>
              <a:sym typeface="Calibri"/>
            </a:endParaRPr>
          </a:p>
        </p:txBody>
      </p:sp>
      <p:sp>
        <p:nvSpPr>
          <p:cNvPr id="1662" name="Google Shape;1662;p52"/>
          <p:cNvSpPr/>
          <p:nvPr/>
        </p:nvSpPr>
        <p:spPr>
          <a:xfrm>
            <a:off x="474484" y="1175367"/>
            <a:ext cx="3711900" cy="19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82"/>
              <a:buFont typeface="Calibri"/>
              <a:buNone/>
            </a:pPr>
            <a:r>
              <a:rPr b="0" i="0" lang="en-US" sz="882" u="none" cap="none" strike="noStrike">
                <a:solidFill>
                  <a:srgbClr val="90A4AE"/>
                </a:solidFill>
                <a:latin typeface="Calibri"/>
                <a:ea typeface="Calibri"/>
                <a:cs typeface="Calibri"/>
                <a:sym typeface="Calibri"/>
              </a:rPr>
              <a:t>/embed, /similarity, /classify</a:t>
            </a:r>
            <a:endParaRPr b="0" i="0" sz="882" u="none" cap="none" strike="noStrike">
              <a:solidFill>
                <a:schemeClr val="dk1"/>
              </a:solidFill>
              <a:latin typeface="Calibri"/>
              <a:ea typeface="Calibri"/>
              <a:cs typeface="Calibri"/>
              <a:sym typeface="Calibri"/>
            </a:endParaRPr>
          </a:p>
        </p:txBody>
      </p:sp>
      <p:sp>
        <p:nvSpPr>
          <p:cNvPr id="1663" name="Google Shape;1663;p52"/>
          <p:cNvSpPr/>
          <p:nvPr/>
        </p:nvSpPr>
        <p:spPr>
          <a:xfrm>
            <a:off x="2151139" y="1462281"/>
            <a:ext cx="448200" cy="19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BCD4"/>
              </a:buClr>
              <a:buSzPts val="1079"/>
              <a:buFont typeface="Calibri"/>
              <a:buNone/>
            </a:pPr>
            <a:r>
              <a:rPr b="1" i="0" lang="en-US" sz="1079" u="none" cap="none" strike="noStrike">
                <a:solidFill>
                  <a:srgbClr val="00BCD4"/>
                </a:solidFill>
                <a:latin typeface="Calibri"/>
                <a:ea typeface="Calibri"/>
                <a:cs typeface="Calibri"/>
                <a:sym typeface="Calibri"/>
              </a:rPr>
              <a:t>↓</a:t>
            </a:r>
            <a:endParaRPr b="0" i="0" sz="1079" u="none" cap="none" strike="noStrike">
              <a:solidFill>
                <a:schemeClr val="dk1"/>
              </a:solidFill>
              <a:latin typeface="Calibri"/>
              <a:ea typeface="Calibri"/>
              <a:cs typeface="Calibri"/>
              <a:sym typeface="Calibri"/>
            </a:endParaRPr>
          </a:p>
        </p:txBody>
      </p:sp>
      <p:sp>
        <p:nvSpPr>
          <p:cNvPr id="1664" name="Google Shape;1664;p52"/>
          <p:cNvSpPr/>
          <p:nvPr/>
        </p:nvSpPr>
        <p:spPr>
          <a:xfrm>
            <a:off x="357925" y="1516078"/>
            <a:ext cx="3945000" cy="555900"/>
          </a:xfrm>
          <a:prstGeom prst="rect">
            <a:avLst/>
          </a:prstGeom>
          <a:solidFill>
            <a:srgbClr val="122040"/>
          </a:solidFill>
          <a:ln cap="flat" cmpd="sng" w="18675">
            <a:solidFill>
              <a:srgbClr val="9B59B6"/>
            </a:solidFill>
            <a:prstDash val="solid"/>
            <a:round/>
            <a:headEnd len="sm" w="sm" type="none"/>
            <a:tailEnd len="sm" w="sm" type="none"/>
          </a:ln>
        </p:spPr>
        <p:txBody>
          <a:bodyPr anchorCtr="0" anchor="ctr" bIns="89650" lIns="89650" spcFirstLastPara="1" rIns="89650" wrap="square" tIns="89650">
            <a:noAutofit/>
          </a:bodyPr>
          <a:lstStyle/>
          <a:p>
            <a:pPr indent="0" lvl="0" marL="0" rtl="0" algn="l">
              <a:spcBef>
                <a:spcPts val="0"/>
              </a:spcBef>
              <a:spcAft>
                <a:spcPts val="0"/>
              </a:spcAft>
              <a:buNone/>
            </a:pPr>
            <a:r>
              <a:t/>
            </a:r>
            <a:endParaRPr/>
          </a:p>
        </p:txBody>
      </p:sp>
      <p:sp>
        <p:nvSpPr>
          <p:cNvPr id="1665" name="Google Shape;1665;p52"/>
          <p:cNvSpPr/>
          <p:nvPr/>
        </p:nvSpPr>
        <p:spPr>
          <a:xfrm>
            <a:off x="474484" y="1569874"/>
            <a:ext cx="3711900" cy="21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59B6"/>
              </a:buClr>
              <a:buSzPts val="1030"/>
              <a:buFont typeface="Calibri"/>
              <a:buNone/>
            </a:pPr>
            <a:r>
              <a:rPr b="1" i="0" lang="en-US" sz="1030" u="none" cap="none" strike="noStrike">
                <a:solidFill>
                  <a:srgbClr val="9B59B6"/>
                </a:solidFill>
                <a:latin typeface="Calibri"/>
                <a:ea typeface="Calibri"/>
                <a:cs typeface="Calibri"/>
                <a:sym typeface="Calibri"/>
              </a:rPr>
              <a:t>LangChain4j API</a:t>
            </a:r>
            <a:endParaRPr b="0" i="0" sz="1030" u="none" cap="none" strike="noStrike">
              <a:solidFill>
                <a:schemeClr val="dk1"/>
              </a:solidFill>
              <a:latin typeface="Calibri"/>
              <a:ea typeface="Calibri"/>
              <a:cs typeface="Calibri"/>
              <a:sym typeface="Calibri"/>
            </a:endParaRPr>
          </a:p>
        </p:txBody>
      </p:sp>
      <p:sp>
        <p:nvSpPr>
          <p:cNvPr id="1666" name="Google Shape;1666;p52"/>
          <p:cNvSpPr/>
          <p:nvPr/>
        </p:nvSpPr>
        <p:spPr>
          <a:xfrm>
            <a:off x="474484" y="1802992"/>
            <a:ext cx="3711900" cy="19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82"/>
              <a:buFont typeface="Calibri"/>
              <a:buNone/>
            </a:pPr>
            <a:r>
              <a:rPr b="0" i="0" lang="en-US" sz="882" u="none" cap="none" strike="noStrike">
                <a:solidFill>
                  <a:srgbClr val="90A4AE"/>
                </a:solidFill>
                <a:latin typeface="Calibri"/>
                <a:ea typeface="Calibri"/>
                <a:cs typeface="Calibri"/>
                <a:sym typeface="Calibri"/>
              </a:rPr>
              <a:t>EmbeddingModel, ScoringModel</a:t>
            </a:r>
            <a:endParaRPr b="0" i="0" sz="882" u="none" cap="none" strike="noStrike">
              <a:solidFill>
                <a:schemeClr val="dk1"/>
              </a:solidFill>
              <a:latin typeface="Calibri"/>
              <a:ea typeface="Calibri"/>
              <a:cs typeface="Calibri"/>
              <a:sym typeface="Calibri"/>
            </a:endParaRPr>
          </a:p>
        </p:txBody>
      </p:sp>
      <p:sp>
        <p:nvSpPr>
          <p:cNvPr id="1667" name="Google Shape;1667;p52"/>
          <p:cNvSpPr/>
          <p:nvPr/>
        </p:nvSpPr>
        <p:spPr>
          <a:xfrm>
            <a:off x="2151139" y="2089907"/>
            <a:ext cx="448200" cy="19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B59B6"/>
              </a:buClr>
              <a:buSzPts val="1079"/>
              <a:buFont typeface="Calibri"/>
              <a:buNone/>
            </a:pPr>
            <a:r>
              <a:rPr b="1" i="0" lang="en-US" sz="1079" u="none" cap="none" strike="noStrike">
                <a:solidFill>
                  <a:srgbClr val="9B59B6"/>
                </a:solidFill>
                <a:latin typeface="Calibri"/>
                <a:ea typeface="Calibri"/>
                <a:cs typeface="Calibri"/>
                <a:sym typeface="Calibri"/>
              </a:rPr>
              <a:t>↓</a:t>
            </a:r>
            <a:endParaRPr b="0" i="0" sz="1079" u="none" cap="none" strike="noStrike">
              <a:solidFill>
                <a:schemeClr val="dk1"/>
              </a:solidFill>
              <a:latin typeface="Calibri"/>
              <a:ea typeface="Calibri"/>
              <a:cs typeface="Calibri"/>
              <a:sym typeface="Calibri"/>
            </a:endParaRPr>
          </a:p>
        </p:txBody>
      </p:sp>
      <p:sp>
        <p:nvSpPr>
          <p:cNvPr id="1668" name="Google Shape;1668;p52"/>
          <p:cNvSpPr/>
          <p:nvPr/>
        </p:nvSpPr>
        <p:spPr>
          <a:xfrm>
            <a:off x="357925" y="2143703"/>
            <a:ext cx="3945000" cy="555900"/>
          </a:xfrm>
          <a:prstGeom prst="rect">
            <a:avLst/>
          </a:prstGeom>
          <a:solidFill>
            <a:srgbClr val="122040"/>
          </a:solidFill>
          <a:ln cap="flat" cmpd="sng" w="18675">
            <a:solidFill>
              <a:srgbClr val="F5A623"/>
            </a:solidFill>
            <a:prstDash val="solid"/>
            <a:round/>
            <a:headEnd len="sm" w="sm" type="none"/>
            <a:tailEnd len="sm" w="sm" type="none"/>
          </a:ln>
        </p:spPr>
        <p:txBody>
          <a:bodyPr anchorCtr="0" anchor="ctr" bIns="89650" lIns="89650" spcFirstLastPara="1" rIns="89650" wrap="square" tIns="89650">
            <a:noAutofit/>
          </a:bodyPr>
          <a:lstStyle/>
          <a:p>
            <a:pPr indent="0" lvl="0" marL="0" rtl="0" algn="l">
              <a:spcBef>
                <a:spcPts val="0"/>
              </a:spcBef>
              <a:spcAft>
                <a:spcPts val="0"/>
              </a:spcAft>
              <a:buNone/>
            </a:pPr>
            <a:r>
              <a:t/>
            </a:r>
            <a:endParaRPr/>
          </a:p>
        </p:txBody>
      </p:sp>
      <p:sp>
        <p:nvSpPr>
          <p:cNvPr id="1669" name="Google Shape;1669;p52"/>
          <p:cNvSpPr/>
          <p:nvPr/>
        </p:nvSpPr>
        <p:spPr>
          <a:xfrm>
            <a:off x="474484" y="2197500"/>
            <a:ext cx="3711900" cy="21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A623"/>
              </a:buClr>
              <a:buSzPts val="1030"/>
              <a:buFont typeface="Calibri"/>
              <a:buNone/>
            </a:pPr>
            <a:r>
              <a:rPr b="1" i="0" lang="en-US" sz="1030" u="none" cap="none" strike="noStrike">
                <a:solidFill>
                  <a:srgbClr val="F5A623"/>
                </a:solidFill>
                <a:latin typeface="Calibri"/>
                <a:ea typeface="Calibri"/>
                <a:cs typeface="Calibri"/>
                <a:sym typeface="Calibri"/>
              </a:rPr>
              <a:t>ONNX Runtime (Java)</a:t>
            </a:r>
            <a:endParaRPr b="0" i="0" sz="1030" u="none" cap="none" strike="noStrike">
              <a:solidFill>
                <a:schemeClr val="dk1"/>
              </a:solidFill>
              <a:latin typeface="Calibri"/>
              <a:ea typeface="Calibri"/>
              <a:cs typeface="Calibri"/>
              <a:sym typeface="Calibri"/>
            </a:endParaRPr>
          </a:p>
        </p:txBody>
      </p:sp>
      <p:sp>
        <p:nvSpPr>
          <p:cNvPr id="1670" name="Google Shape;1670;p52"/>
          <p:cNvSpPr/>
          <p:nvPr/>
        </p:nvSpPr>
        <p:spPr>
          <a:xfrm>
            <a:off x="474484" y="2430618"/>
            <a:ext cx="3711900" cy="19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82"/>
              <a:buFont typeface="Calibri"/>
              <a:buNone/>
            </a:pPr>
            <a:r>
              <a:rPr b="0" i="0" lang="en-US" sz="882" u="none" cap="none" strike="noStrike">
                <a:solidFill>
                  <a:srgbClr val="90A4AE"/>
                </a:solidFill>
                <a:latin typeface="Calibri"/>
                <a:ea typeface="Calibri"/>
                <a:cs typeface="Calibri"/>
                <a:sym typeface="Calibri"/>
              </a:rPr>
              <a:t>OrtSession, OrtTensor</a:t>
            </a:r>
            <a:endParaRPr b="0" i="0" sz="882" u="none" cap="none" strike="noStrike">
              <a:solidFill>
                <a:schemeClr val="dk1"/>
              </a:solidFill>
              <a:latin typeface="Calibri"/>
              <a:ea typeface="Calibri"/>
              <a:cs typeface="Calibri"/>
              <a:sym typeface="Calibri"/>
            </a:endParaRPr>
          </a:p>
        </p:txBody>
      </p:sp>
      <p:sp>
        <p:nvSpPr>
          <p:cNvPr id="1671" name="Google Shape;1671;p52"/>
          <p:cNvSpPr/>
          <p:nvPr/>
        </p:nvSpPr>
        <p:spPr>
          <a:xfrm>
            <a:off x="2151139" y="2717532"/>
            <a:ext cx="448200" cy="19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A623"/>
              </a:buClr>
              <a:buSzPts val="1079"/>
              <a:buFont typeface="Calibri"/>
              <a:buNone/>
            </a:pPr>
            <a:r>
              <a:rPr b="1" i="0" lang="en-US" sz="1079" u="none" cap="none" strike="noStrike">
                <a:solidFill>
                  <a:srgbClr val="F5A623"/>
                </a:solidFill>
                <a:latin typeface="Calibri"/>
                <a:ea typeface="Calibri"/>
                <a:cs typeface="Calibri"/>
                <a:sym typeface="Calibri"/>
              </a:rPr>
              <a:t>↓</a:t>
            </a:r>
            <a:endParaRPr b="0" i="0" sz="1079" u="none" cap="none" strike="noStrike">
              <a:solidFill>
                <a:schemeClr val="dk1"/>
              </a:solidFill>
              <a:latin typeface="Calibri"/>
              <a:ea typeface="Calibri"/>
              <a:cs typeface="Calibri"/>
              <a:sym typeface="Calibri"/>
            </a:endParaRPr>
          </a:p>
        </p:txBody>
      </p:sp>
      <p:sp>
        <p:nvSpPr>
          <p:cNvPr id="1672" name="Google Shape;1672;p52"/>
          <p:cNvSpPr/>
          <p:nvPr/>
        </p:nvSpPr>
        <p:spPr>
          <a:xfrm>
            <a:off x="357925" y="2771329"/>
            <a:ext cx="3945000" cy="555900"/>
          </a:xfrm>
          <a:prstGeom prst="rect">
            <a:avLst/>
          </a:prstGeom>
          <a:solidFill>
            <a:srgbClr val="122040"/>
          </a:solidFill>
          <a:ln cap="flat" cmpd="sng" w="18675">
            <a:solidFill>
              <a:srgbClr val="1E6FC8"/>
            </a:solidFill>
            <a:prstDash val="solid"/>
            <a:round/>
            <a:headEnd len="sm" w="sm" type="none"/>
            <a:tailEnd len="sm" w="sm" type="none"/>
          </a:ln>
        </p:spPr>
        <p:txBody>
          <a:bodyPr anchorCtr="0" anchor="ctr" bIns="89650" lIns="89650" spcFirstLastPara="1" rIns="89650" wrap="square" tIns="89650">
            <a:noAutofit/>
          </a:bodyPr>
          <a:lstStyle/>
          <a:p>
            <a:pPr indent="0" lvl="0" marL="0" rtl="0" algn="l">
              <a:spcBef>
                <a:spcPts val="0"/>
              </a:spcBef>
              <a:spcAft>
                <a:spcPts val="0"/>
              </a:spcAft>
              <a:buNone/>
            </a:pPr>
            <a:r>
              <a:t/>
            </a:r>
            <a:endParaRPr/>
          </a:p>
        </p:txBody>
      </p:sp>
      <p:sp>
        <p:nvSpPr>
          <p:cNvPr id="1673" name="Google Shape;1673;p52"/>
          <p:cNvSpPr/>
          <p:nvPr/>
        </p:nvSpPr>
        <p:spPr>
          <a:xfrm>
            <a:off x="474484" y="2825125"/>
            <a:ext cx="3711900" cy="21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6FC8"/>
              </a:buClr>
              <a:buSzPts val="1030"/>
              <a:buFont typeface="Calibri"/>
              <a:buNone/>
            </a:pPr>
            <a:r>
              <a:rPr b="1" i="0" lang="en-US" sz="1030" u="none" cap="none" strike="noStrike">
                <a:solidFill>
                  <a:srgbClr val="1E6FC8"/>
                </a:solidFill>
                <a:latin typeface="Calibri"/>
                <a:ea typeface="Calibri"/>
                <a:cs typeface="Calibri"/>
                <a:sym typeface="Calibri"/>
              </a:rPr>
              <a:t>Panama FFM</a:t>
            </a:r>
            <a:endParaRPr b="0" i="0" sz="1030" u="none" cap="none" strike="noStrike">
              <a:solidFill>
                <a:schemeClr val="dk1"/>
              </a:solidFill>
              <a:latin typeface="Calibri"/>
              <a:ea typeface="Calibri"/>
              <a:cs typeface="Calibri"/>
              <a:sym typeface="Calibri"/>
            </a:endParaRPr>
          </a:p>
        </p:txBody>
      </p:sp>
      <p:sp>
        <p:nvSpPr>
          <p:cNvPr id="1674" name="Google Shape;1674;p52"/>
          <p:cNvSpPr/>
          <p:nvPr/>
        </p:nvSpPr>
        <p:spPr>
          <a:xfrm>
            <a:off x="474484" y="3058243"/>
            <a:ext cx="3711900" cy="19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82"/>
              <a:buFont typeface="Calibri"/>
              <a:buNone/>
            </a:pPr>
            <a:r>
              <a:rPr b="0" i="0" lang="en-US" sz="882" u="none" cap="none" strike="noStrike">
                <a:solidFill>
                  <a:srgbClr val="90A4AE"/>
                </a:solidFill>
                <a:latin typeface="Calibri"/>
                <a:ea typeface="Calibri"/>
                <a:cs typeface="Calibri"/>
                <a:sym typeface="Calibri"/>
              </a:rPr>
              <a:t>Calls native ONNX Runtime .so</a:t>
            </a:r>
            <a:endParaRPr b="0" i="0" sz="882" u="none" cap="none" strike="noStrike">
              <a:solidFill>
                <a:schemeClr val="dk1"/>
              </a:solidFill>
              <a:latin typeface="Calibri"/>
              <a:ea typeface="Calibri"/>
              <a:cs typeface="Calibri"/>
              <a:sym typeface="Calibri"/>
            </a:endParaRPr>
          </a:p>
        </p:txBody>
      </p:sp>
      <p:sp>
        <p:nvSpPr>
          <p:cNvPr id="1675" name="Google Shape;1675;p52"/>
          <p:cNvSpPr/>
          <p:nvPr/>
        </p:nvSpPr>
        <p:spPr>
          <a:xfrm>
            <a:off x="2151139" y="3345158"/>
            <a:ext cx="448200" cy="19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6FC8"/>
              </a:buClr>
              <a:buSzPts val="1079"/>
              <a:buFont typeface="Calibri"/>
              <a:buNone/>
            </a:pPr>
            <a:r>
              <a:rPr b="1" i="0" lang="en-US" sz="1079" u="none" cap="none" strike="noStrike">
                <a:solidFill>
                  <a:srgbClr val="1E6FC8"/>
                </a:solidFill>
                <a:latin typeface="Calibri"/>
                <a:ea typeface="Calibri"/>
                <a:cs typeface="Calibri"/>
                <a:sym typeface="Calibri"/>
              </a:rPr>
              <a:t>↓</a:t>
            </a:r>
            <a:endParaRPr b="0" i="0" sz="1079" u="none" cap="none" strike="noStrike">
              <a:solidFill>
                <a:schemeClr val="dk1"/>
              </a:solidFill>
              <a:latin typeface="Calibri"/>
              <a:ea typeface="Calibri"/>
              <a:cs typeface="Calibri"/>
              <a:sym typeface="Calibri"/>
            </a:endParaRPr>
          </a:p>
        </p:txBody>
      </p:sp>
      <p:sp>
        <p:nvSpPr>
          <p:cNvPr id="1676" name="Google Shape;1676;p52"/>
          <p:cNvSpPr/>
          <p:nvPr/>
        </p:nvSpPr>
        <p:spPr>
          <a:xfrm>
            <a:off x="357925" y="3398954"/>
            <a:ext cx="3945000" cy="555900"/>
          </a:xfrm>
          <a:prstGeom prst="rect">
            <a:avLst/>
          </a:prstGeom>
          <a:solidFill>
            <a:srgbClr val="122040"/>
          </a:solidFill>
          <a:ln cap="flat" cmpd="sng" w="18675">
            <a:solidFill>
              <a:srgbClr val="27AE60"/>
            </a:solidFill>
            <a:prstDash val="solid"/>
            <a:round/>
            <a:headEnd len="sm" w="sm" type="none"/>
            <a:tailEnd len="sm" w="sm" type="none"/>
          </a:ln>
        </p:spPr>
        <p:txBody>
          <a:bodyPr anchorCtr="0" anchor="ctr" bIns="89650" lIns="89650" spcFirstLastPara="1" rIns="89650" wrap="square" tIns="89650">
            <a:noAutofit/>
          </a:bodyPr>
          <a:lstStyle/>
          <a:p>
            <a:pPr indent="0" lvl="0" marL="0" rtl="0" algn="l">
              <a:spcBef>
                <a:spcPts val="0"/>
              </a:spcBef>
              <a:spcAft>
                <a:spcPts val="0"/>
              </a:spcAft>
              <a:buNone/>
            </a:pPr>
            <a:r>
              <a:t/>
            </a:r>
            <a:endParaRPr/>
          </a:p>
        </p:txBody>
      </p:sp>
      <p:sp>
        <p:nvSpPr>
          <p:cNvPr id="1677" name="Google Shape;1677;p52"/>
          <p:cNvSpPr/>
          <p:nvPr/>
        </p:nvSpPr>
        <p:spPr>
          <a:xfrm>
            <a:off x="474484" y="3452751"/>
            <a:ext cx="3711900" cy="21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1030"/>
              <a:buFont typeface="Calibri"/>
              <a:buNone/>
            </a:pPr>
            <a:r>
              <a:rPr b="1" i="0" lang="en-US" sz="1030" u="none" cap="none" strike="noStrike">
                <a:solidFill>
                  <a:srgbClr val="27AE60"/>
                </a:solidFill>
                <a:latin typeface="Calibri"/>
                <a:ea typeface="Calibri"/>
                <a:cs typeface="Calibri"/>
                <a:sym typeface="Calibri"/>
              </a:rPr>
              <a:t>MiniLM-L6-v2 model</a:t>
            </a:r>
            <a:endParaRPr b="0" i="0" sz="1030" u="none" cap="none" strike="noStrike">
              <a:solidFill>
                <a:schemeClr val="dk1"/>
              </a:solidFill>
              <a:latin typeface="Calibri"/>
              <a:ea typeface="Calibri"/>
              <a:cs typeface="Calibri"/>
              <a:sym typeface="Calibri"/>
            </a:endParaRPr>
          </a:p>
        </p:txBody>
      </p:sp>
      <p:sp>
        <p:nvSpPr>
          <p:cNvPr id="1678" name="Google Shape;1678;p52"/>
          <p:cNvSpPr/>
          <p:nvPr/>
        </p:nvSpPr>
        <p:spPr>
          <a:xfrm>
            <a:off x="474484" y="3685869"/>
            <a:ext cx="3711900" cy="19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82"/>
              <a:buFont typeface="Calibri"/>
              <a:buNone/>
            </a:pPr>
            <a:r>
              <a:rPr b="0" i="0" lang="en-US" sz="882" u="none" cap="none" strike="noStrike">
                <a:solidFill>
                  <a:srgbClr val="90A4AE"/>
                </a:solidFill>
                <a:latin typeface="Calibri"/>
                <a:ea typeface="Calibri"/>
                <a:cs typeface="Calibri"/>
                <a:sym typeface="Calibri"/>
              </a:rPr>
              <a:t>~25MB ONNX model, bundled in JAR</a:t>
            </a:r>
            <a:endParaRPr b="0" i="0" sz="882" u="none" cap="none" strike="noStrike">
              <a:solidFill>
                <a:schemeClr val="dk1"/>
              </a:solidFill>
              <a:latin typeface="Calibri"/>
              <a:ea typeface="Calibri"/>
              <a:cs typeface="Calibri"/>
              <a:sym typeface="Calibri"/>
            </a:endParaRPr>
          </a:p>
        </p:txBody>
      </p:sp>
      <p:sp>
        <p:nvSpPr>
          <p:cNvPr id="1679" name="Google Shape;1679;p52"/>
          <p:cNvSpPr/>
          <p:nvPr/>
        </p:nvSpPr>
        <p:spPr>
          <a:xfrm>
            <a:off x="4571979" y="601538"/>
            <a:ext cx="4214100" cy="23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981"/>
              <a:buFont typeface="Calibri"/>
              <a:buNone/>
            </a:pPr>
            <a:r>
              <a:rPr b="1" i="0" lang="en-US" sz="981" u="none" cap="none" strike="noStrike">
                <a:solidFill>
                  <a:srgbClr val="00BCD4"/>
                </a:solidFill>
                <a:latin typeface="Calibri"/>
                <a:ea typeface="Calibri"/>
                <a:cs typeface="Calibri"/>
                <a:sym typeface="Calibri"/>
              </a:rPr>
              <a:t>Quarkus endpoint</a:t>
            </a:r>
            <a:endParaRPr b="0" i="0" sz="981" u="none" cap="none" strike="noStrike">
              <a:solidFill>
                <a:schemeClr val="dk1"/>
              </a:solidFill>
              <a:latin typeface="Calibri"/>
              <a:ea typeface="Calibri"/>
              <a:cs typeface="Calibri"/>
              <a:sym typeface="Calibri"/>
            </a:endParaRPr>
          </a:p>
        </p:txBody>
      </p:sp>
      <p:sp>
        <p:nvSpPr>
          <p:cNvPr id="1680" name="Google Shape;1680;p52"/>
          <p:cNvSpPr/>
          <p:nvPr/>
        </p:nvSpPr>
        <p:spPr>
          <a:xfrm>
            <a:off x="4571979" y="852588"/>
            <a:ext cx="4214100" cy="2008500"/>
          </a:xfrm>
          <a:prstGeom prst="rect">
            <a:avLst/>
          </a:prstGeom>
          <a:solidFill>
            <a:srgbClr val="0D2137"/>
          </a:solidFill>
          <a:ln cap="flat" cmpd="sng" w="12450">
            <a:solidFill>
              <a:srgbClr val="1E3A5F"/>
            </a:solidFill>
            <a:prstDash val="solid"/>
            <a:round/>
            <a:headEnd len="sm" w="sm" type="none"/>
            <a:tailEnd len="sm" w="sm" type="none"/>
          </a:ln>
        </p:spPr>
        <p:txBody>
          <a:bodyPr anchorCtr="0" anchor="ctr" bIns="89650" lIns="89650" spcFirstLastPara="1" rIns="89650" wrap="square" tIns="89650">
            <a:noAutofit/>
          </a:bodyPr>
          <a:lstStyle/>
          <a:p>
            <a:pPr indent="0" lvl="0" marL="0" rtl="0" algn="l">
              <a:spcBef>
                <a:spcPts val="0"/>
              </a:spcBef>
              <a:spcAft>
                <a:spcPts val="0"/>
              </a:spcAft>
              <a:buNone/>
            </a:pPr>
            <a:r>
              <a:t/>
            </a:r>
            <a:endParaRPr/>
          </a:p>
        </p:txBody>
      </p:sp>
      <p:sp>
        <p:nvSpPr>
          <p:cNvPr id="1681" name="Google Shape;1681;p52"/>
          <p:cNvSpPr/>
          <p:nvPr/>
        </p:nvSpPr>
        <p:spPr>
          <a:xfrm>
            <a:off x="4688538" y="888452"/>
            <a:ext cx="3981000" cy="1936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CF0F1"/>
              </a:buClr>
              <a:buSzPts val="784"/>
              <a:buFont typeface="Consolas"/>
              <a:buNone/>
            </a:pPr>
            <a:r>
              <a:rPr b="0" i="0" lang="en-US" sz="700" u="none" cap="none" strike="noStrike">
                <a:solidFill>
                  <a:srgbClr val="ECF0F1"/>
                </a:solidFill>
                <a:latin typeface="Consolas"/>
                <a:ea typeface="Consolas"/>
                <a:cs typeface="Consolas"/>
                <a:sym typeface="Consolas"/>
              </a:rPr>
              <a:t>@Inject EmbeddingModel model;</a:t>
            </a:r>
            <a:endParaRPr b="0" i="0" sz="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784"/>
              <a:buFont typeface="Calibri"/>
              <a:buNone/>
            </a:pPr>
            <a:r>
              <a:t/>
            </a:r>
            <a:endParaRPr b="0" i="0" sz="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784"/>
              <a:buFont typeface="Consolas"/>
              <a:buNone/>
            </a:pPr>
            <a:r>
              <a:rPr b="0" i="0" lang="en-US" sz="700" u="none" cap="none" strike="noStrike">
                <a:solidFill>
                  <a:srgbClr val="ECF0F1"/>
                </a:solidFill>
                <a:latin typeface="Consolas"/>
                <a:ea typeface="Consolas"/>
                <a:cs typeface="Consolas"/>
                <a:sym typeface="Consolas"/>
              </a:rPr>
              <a:t>@GET @Path("/embed")</a:t>
            </a:r>
            <a:endParaRPr b="0" i="0" sz="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784"/>
              <a:buFont typeface="Consolas"/>
              <a:buNone/>
            </a:pPr>
            <a:r>
              <a:rPr b="0" i="0" lang="en-US" sz="700" u="none" cap="none" strike="noStrike">
                <a:solidFill>
                  <a:srgbClr val="ECF0F1"/>
                </a:solidFill>
                <a:latin typeface="Consolas"/>
                <a:ea typeface="Consolas"/>
                <a:cs typeface="Consolas"/>
                <a:sym typeface="Consolas"/>
              </a:rPr>
              <a:t>public EmbedResponse embed(</a:t>
            </a:r>
            <a:endParaRPr b="0" i="0" sz="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784"/>
              <a:buFont typeface="Consolas"/>
              <a:buNone/>
            </a:pPr>
            <a:r>
              <a:rPr b="0" i="0" lang="en-US" sz="700" u="none" cap="none" strike="noStrike">
                <a:solidFill>
                  <a:srgbClr val="ECF0F1"/>
                </a:solidFill>
                <a:latin typeface="Consolas"/>
                <a:ea typeface="Consolas"/>
                <a:cs typeface="Consolas"/>
                <a:sym typeface="Consolas"/>
              </a:rPr>
              <a:t>    @QueryParam("text") String text) {</a:t>
            </a:r>
            <a:endParaRPr b="0" i="0" sz="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784"/>
              <a:buFont typeface="Calibri"/>
              <a:buNone/>
            </a:pPr>
            <a:r>
              <a:t/>
            </a:r>
            <a:endParaRPr b="0" i="0" sz="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784"/>
              <a:buFont typeface="Consolas"/>
              <a:buNone/>
            </a:pPr>
            <a:r>
              <a:rPr b="0" i="0" lang="en-US" sz="700" u="none" cap="none" strike="noStrike">
                <a:solidFill>
                  <a:srgbClr val="ECF0F1"/>
                </a:solidFill>
                <a:latin typeface="Consolas"/>
                <a:ea typeface="Consolas"/>
                <a:cs typeface="Consolas"/>
                <a:sym typeface="Consolas"/>
              </a:rPr>
              <a:t>  Embedding e = model.embed(text).content();</a:t>
            </a:r>
            <a:endParaRPr b="0" i="0" sz="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784"/>
              <a:buFont typeface="Consolas"/>
              <a:buNone/>
            </a:pPr>
            <a:r>
              <a:rPr b="0" i="0" lang="en-US" sz="700" u="none" cap="none" strike="noStrike">
                <a:solidFill>
                  <a:srgbClr val="ECF0F1"/>
                </a:solidFill>
                <a:latin typeface="Consolas"/>
                <a:ea typeface="Consolas"/>
                <a:cs typeface="Consolas"/>
                <a:sym typeface="Consolas"/>
              </a:rPr>
              <a:t>  return new EmbedResponse(</a:t>
            </a:r>
            <a:endParaRPr b="0" i="0" sz="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784"/>
              <a:buFont typeface="Consolas"/>
              <a:buNone/>
            </a:pPr>
            <a:r>
              <a:rPr b="0" i="0" lang="en-US" sz="700" u="none" cap="none" strike="noStrike">
                <a:solidFill>
                  <a:srgbClr val="ECF0F1"/>
                </a:solidFill>
                <a:latin typeface="Consolas"/>
                <a:ea typeface="Consolas"/>
                <a:cs typeface="Consolas"/>
                <a:sym typeface="Consolas"/>
              </a:rPr>
              <a:t>    text, e.vectorAsList(), e.dimension());</a:t>
            </a:r>
            <a:endParaRPr b="0" i="0" sz="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784"/>
              <a:buFont typeface="Consolas"/>
              <a:buNone/>
            </a:pPr>
            <a:r>
              <a:rPr b="0" i="0" lang="en-US" sz="700" u="none" cap="none" strike="noStrike">
                <a:solidFill>
                  <a:srgbClr val="ECF0F1"/>
                </a:solidFill>
                <a:latin typeface="Consolas"/>
                <a:ea typeface="Consolas"/>
                <a:cs typeface="Consolas"/>
                <a:sym typeface="Consolas"/>
              </a:rPr>
              <a:t>}</a:t>
            </a:r>
            <a:endParaRPr b="0" i="0" sz="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784"/>
              <a:buFont typeface="Calibri"/>
              <a:buNone/>
            </a:pPr>
            <a:r>
              <a:t/>
            </a:r>
            <a:endParaRPr b="0" i="0" sz="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784"/>
              <a:buFont typeface="Consolas"/>
              <a:buNone/>
            </a:pPr>
            <a:r>
              <a:rPr b="0" i="0" lang="en-US" sz="700" u="none" cap="none" strike="noStrike">
                <a:solidFill>
                  <a:srgbClr val="ECF0F1"/>
                </a:solidFill>
                <a:latin typeface="Consolas"/>
                <a:ea typeface="Consolas"/>
                <a:cs typeface="Consolas"/>
                <a:sym typeface="Consolas"/>
              </a:rPr>
              <a:t>@GET @Path("/similarity")</a:t>
            </a:r>
            <a:endParaRPr b="0" i="0" sz="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784"/>
              <a:buFont typeface="Consolas"/>
              <a:buNone/>
            </a:pPr>
            <a:r>
              <a:rPr b="0" i="0" lang="en-US" sz="700" u="none" cap="none" strike="noStrike">
                <a:solidFill>
                  <a:srgbClr val="ECF0F1"/>
                </a:solidFill>
                <a:latin typeface="Consolas"/>
                <a:ea typeface="Consolas"/>
                <a:cs typeface="Consolas"/>
                <a:sym typeface="Consolas"/>
              </a:rPr>
              <a:t>public double similarity(</a:t>
            </a:r>
            <a:endParaRPr b="0" i="0" sz="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784"/>
              <a:buFont typeface="Consolas"/>
              <a:buNone/>
            </a:pPr>
            <a:r>
              <a:rPr b="0" i="0" lang="en-US" sz="700" u="none" cap="none" strike="noStrike">
                <a:solidFill>
                  <a:srgbClr val="ECF0F1"/>
                </a:solidFill>
                <a:latin typeface="Consolas"/>
                <a:ea typeface="Consolas"/>
                <a:cs typeface="Consolas"/>
                <a:sym typeface="Consolas"/>
              </a:rPr>
              <a:t>    @QueryParam("a") String a,</a:t>
            </a:r>
            <a:endParaRPr b="0" i="0" sz="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784"/>
              <a:buFont typeface="Consolas"/>
              <a:buNone/>
            </a:pPr>
            <a:r>
              <a:rPr b="0" i="0" lang="en-US" sz="700" u="none" cap="none" strike="noStrike">
                <a:solidFill>
                  <a:srgbClr val="ECF0F1"/>
                </a:solidFill>
                <a:latin typeface="Consolas"/>
                <a:ea typeface="Consolas"/>
                <a:cs typeface="Consolas"/>
                <a:sym typeface="Consolas"/>
              </a:rPr>
              <a:t>    @QueryParam("b") String b) {</a:t>
            </a:r>
            <a:endParaRPr b="0" i="0" sz="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784"/>
              <a:buFont typeface="Consolas"/>
              <a:buNone/>
            </a:pPr>
            <a:r>
              <a:rPr b="0" i="0" lang="en-US" sz="700" u="none" cap="none" strike="noStrike">
                <a:solidFill>
                  <a:srgbClr val="ECF0F1"/>
                </a:solidFill>
                <a:latin typeface="Consolas"/>
                <a:ea typeface="Consolas"/>
                <a:cs typeface="Consolas"/>
                <a:sym typeface="Consolas"/>
              </a:rPr>
              <a:t>  var ea = model.embed(a).content();</a:t>
            </a:r>
            <a:endParaRPr b="0" i="0" sz="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784"/>
              <a:buFont typeface="Consolas"/>
              <a:buNone/>
            </a:pPr>
            <a:r>
              <a:rPr b="0" i="0" lang="en-US" sz="700" u="none" cap="none" strike="noStrike">
                <a:solidFill>
                  <a:srgbClr val="ECF0F1"/>
                </a:solidFill>
                <a:latin typeface="Consolas"/>
                <a:ea typeface="Consolas"/>
                <a:cs typeface="Consolas"/>
                <a:sym typeface="Consolas"/>
              </a:rPr>
              <a:t>  var eb = model.embed(b).content();</a:t>
            </a:r>
            <a:endParaRPr b="0" i="0" sz="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784"/>
              <a:buFont typeface="Consolas"/>
              <a:buNone/>
            </a:pPr>
            <a:r>
              <a:rPr b="0" i="0" lang="en-US" sz="700" u="none" cap="none" strike="noStrike">
                <a:solidFill>
                  <a:srgbClr val="ECF0F1"/>
                </a:solidFill>
                <a:latin typeface="Consolas"/>
                <a:ea typeface="Consolas"/>
                <a:cs typeface="Consolas"/>
                <a:sym typeface="Consolas"/>
              </a:rPr>
              <a:t>  return CosineSimilarity.between(ea, eb);</a:t>
            </a:r>
            <a:endParaRPr b="0" i="0" sz="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784"/>
              <a:buFont typeface="Consolas"/>
              <a:buNone/>
            </a:pPr>
            <a:r>
              <a:rPr b="0" i="0" lang="en-US" sz="700" u="none" cap="none" strike="noStrike">
                <a:solidFill>
                  <a:srgbClr val="ECF0F1"/>
                </a:solidFill>
                <a:latin typeface="Consolas"/>
                <a:ea typeface="Consolas"/>
                <a:cs typeface="Consolas"/>
                <a:sym typeface="Consolas"/>
              </a:rPr>
              <a:t>}</a:t>
            </a:r>
            <a:endParaRPr b="0" i="0" sz="700" u="none" cap="none" strike="noStrike">
              <a:solidFill>
                <a:schemeClr val="dk1"/>
              </a:solidFill>
              <a:latin typeface="Calibri"/>
              <a:ea typeface="Calibri"/>
              <a:cs typeface="Calibri"/>
              <a:sym typeface="Calibri"/>
            </a:endParaRPr>
          </a:p>
        </p:txBody>
      </p:sp>
      <p:sp>
        <p:nvSpPr>
          <p:cNvPr id="1682" name="Google Shape;1682;p52"/>
          <p:cNvSpPr/>
          <p:nvPr/>
        </p:nvSpPr>
        <p:spPr>
          <a:xfrm>
            <a:off x="4571979" y="2932718"/>
            <a:ext cx="4214100" cy="23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59B6"/>
              </a:buClr>
              <a:buSzPts val="981"/>
              <a:buFont typeface="Calibri"/>
              <a:buNone/>
            </a:pPr>
            <a:r>
              <a:rPr b="1" i="0" lang="en-US" sz="981" u="none" cap="none" strike="noStrike">
                <a:solidFill>
                  <a:srgbClr val="9B59B6"/>
                </a:solidFill>
                <a:latin typeface="Calibri"/>
                <a:ea typeface="Calibri"/>
                <a:cs typeface="Calibri"/>
                <a:sym typeface="Calibri"/>
              </a:rPr>
              <a:t>What Panama enables here</a:t>
            </a:r>
            <a:endParaRPr b="0" i="0" sz="981" u="none" cap="none" strike="noStrike">
              <a:solidFill>
                <a:schemeClr val="dk1"/>
              </a:solidFill>
              <a:latin typeface="Calibri"/>
              <a:ea typeface="Calibri"/>
              <a:cs typeface="Calibri"/>
              <a:sym typeface="Calibri"/>
            </a:endParaRPr>
          </a:p>
        </p:txBody>
      </p:sp>
      <p:sp>
        <p:nvSpPr>
          <p:cNvPr id="1683" name="Google Shape;1683;p52"/>
          <p:cNvSpPr/>
          <p:nvPr/>
        </p:nvSpPr>
        <p:spPr>
          <a:xfrm>
            <a:off x="4571979" y="3201701"/>
            <a:ext cx="4214100" cy="412500"/>
          </a:xfrm>
          <a:prstGeom prst="rect">
            <a:avLst/>
          </a:prstGeom>
          <a:solidFill>
            <a:srgbClr val="122040"/>
          </a:solidFill>
          <a:ln cap="flat" cmpd="sng" w="12450">
            <a:solidFill>
              <a:srgbClr val="9B59B6"/>
            </a:solidFill>
            <a:prstDash val="solid"/>
            <a:round/>
            <a:headEnd len="sm" w="sm" type="none"/>
            <a:tailEnd len="sm" w="sm" type="none"/>
          </a:ln>
        </p:spPr>
        <p:txBody>
          <a:bodyPr anchorCtr="0" anchor="ctr" bIns="89650" lIns="89650" spcFirstLastPara="1" rIns="89650" wrap="square" tIns="89650">
            <a:noAutofit/>
          </a:bodyPr>
          <a:lstStyle/>
          <a:p>
            <a:pPr indent="0" lvl="0" marL="0" rtl="0" algn="l">
              <a:spcBef>
                <a:spcPts val="0"/>
              </a:spcBef>
              <a:spcAft>
                <a:spcPts val="0"/>
              </a:spcAft>
              <a:buNone/>
            </a:pPr>
            <a:r>
              <a:t/>
            </a:r>
            <a:endParaRPr/>
          </a:p>
        </p:txBody>
      </p:sp>
      <p:sp>
        <p:nvSpPr>
          <p:cNvPr id="1684" name="Google Shape;1684;p52"/>
          <p:cNvSpPr/>
          <p:nvPr/>
        </p:nvSpPr>
        <p:spPr>
          <a:xfrm>
            <a:off x="4688538" y="3219633"/>
            <a:ext cx="3981000" cy="19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59B6"/>
              </a:buClr>
              <a:buSzPts val="932"/>
              <a:buFont typeface="Calibri"/>
              <a:buNone/>
            </a:pPr>
            <a:r>
              <a:rPr b="1" i="0" lang="en-US" sz="932" u="none" cap="none" strike="noStrike">
                <a:solidFill>
                  <a:srgbClr val="9B59B6"/>
                </a:solidFill>
                <a:latin typeface="Calibri"/>
                <a:ea typeface="Calibri"/>
                <a:cs typeface="Calibri"/>
                <a:sym typeface="Calibri"/>
              </a:rPr>
              <a:t>✓ No Python sidecar</a:t>
            </a:r>
            <a:endParaRPr b="0" i="0" sz="932" u="none" cap="none" strike="noStrike">
              <a:solidFill>
                <a:schemeClr val="dk1"/>
              </a:solidFill>
              <a:latin typeface="Calibri"/>
              <a:ea typeface="Calibri"/>
              <a:cs typeface="Calibri"/>
              <a:sym typeface="Calibri"/>
            </a:endParaRPr>
          </a:p>
        </p:txBody>
      </p:sp>
      <p:sp>
        <p:nvSpPr>
          <p:cNvPr id="1685" name="Google Shape;1685;p52"/>
          <p:cNvSpPr/>
          <p:nvPr/>
        </p:nvSpPr>
        <p:spPr>
          <a:xfrm>
            <a:off x="4688538" y="3416887"/>
            <a:ext cx="3981000" cy="179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33"/>
              <a:buFont typeface="Calibri"/>
              <a:buNone/>
            </a:pPr>
            <a:r>
              <a:rPr b="0" i="0" lang="en-US" sz="833" u="none" cap="none" strike="noStrike">
                <a:solidFill>
                  <a:srgbClr val="90A4AE"/>
                </a:solidFill>
                <a:latin typeface="Calibri"/>
                <a:ea typeface="Calibri"/>
                <a:cs typeface="Calibri"/>
                <a:sym typeface="Calibri"/>
              </a:rPr>
              <a:t>ONNX Runtime runs in-process via Panama FFM</a:t>
            </a:r>
            <a:endParaRPr b="0" i="0" sz="833"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0A4AE"/>
              </a:buClr>
              <a:buSzPts val="833"/>
              <a:buFont typeface="Calibri"/>
              <a:buNone/>
            </a:pPr>
            <a:r>
              <a:rPr b="0" i="0" lang="en-US" sz="833" u="none" cap="none" strike="noStrike">
                <a:solidFill>
                  <a:srgbClr val="90A4AE"/>
                </a:solidFill>
                <a:latin typeface="Calibri"/>
                <a:ea typeface="Calibri"/>
                <a:cs typeface="Calibri"/>
                <a:sym typeface="Calibri"/>
              </a:rPr>
              <a:t>Same JVM, same memory space, no IPC overhead</a:t>
            </a:r>
            <a:endParaRPr b="0" i="0" sz="833" u="none" cap="none" strike="noStrike">
              <a:solidFill>
                <a:schemeClr val="dk1"/>
              </a:solidFill>
              <a:latin typeface="Calibri"/>
              <a:ea typeface="Calibri"/>
              <a:cs typeface="Calibri"/>
              <a:sym typeface="Calibri"/>
            </a:endParaRPr>
          </a:p>
        </p:txBody>
      </p:sp>
      <p:sp>
        <p:nvSpPr>
          <p:cNvPr id="1686" name="Google Shape;1686;p52"/>
          <p:cNvSpPr/>
          <p:nvPr/>
        </p:nvSpPr>
        <p:spPr>
          <a:xfrm>
            <a:off x="4571979" y="3667937"/>
            <a:ext cx="4214100" cy="412500"/>
          </a:xfrm>
          <a:prstGeom prst="rect">
            <a:avLst/>
          </a:prstGeom>
          <a:solidFill>
            <a:srgbClr val="122040"/>
          </a:solidFill>
          <a:ln cap="flat" cmpd="sng" w="12450">
            <a:solidFill>
              <a:srgbClr val="9B59B6"/>
            </a:solidFill>
            <a:prstDash val="solid"/>
            <a:round/>
            <a:headEnd len="sm" w="sm" type="none"/>
            <a:tailEnd len="sm" w="sm" type="none"/>
          </a:ln>
        </p:spPr>
        <p:txBody>
          <a:bodyPr anchorCtr="0" anchor="ctr" bIns="89650" lIns="89650" spcFirstLastPara="1" rIns="89650" wrap="square" tIns="89650">
            <a:noAutofit/>
          </a:bodyPr>
          <a:lstStyle/>
          <a:p>
            <a:pPr indent="0" lvl="0" marL="0" rtl="0" algn="l">
              <a:spcBef>
                <a:spcPts val="0"/>
              </a:spcBef>
              <a:spcAft>
                <a:spcPts val="0"/>
              </a:spcAft>
              <a:buNone/>
            </a:pPr>
            <a:r>
              <a:t/>
            </a:r>
            <a:endParaRPr/>
          </a:p>
        </p:txBody>
      </p:sp>
      <p:sp>
        <p:nvSpPr>
          <p:cNvPr id="1687" name="Google Shape;1687;p52"/>
          <p:cNvSpPr/>
          <p:nvPr/>
        </p:nvSpPr>
        <p:spPr>
          <a:xfrm>
            <a:off x="4688538" y="3685869"/>
            <a:ext cx="3981000" cy="19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59B6"/>
              </a:buClr>
              <a:buSzPts val="932"/>
              <a:buFont typeface="Calibri"/>
              <a:buNone/>
            </a:pPr>
            <a:r>
              <a:rPr b="1" i="0" lang="en-US" sz="932" u="none" cap="none" strike="noStrike">
                <a:solidFill>
                  <a:srgbClr val="9B59B6"/>
                </a:solidFill>
                <a:latin typeface="Calibri"/>
                <a:ea typeface="Calibri"/>
                <a:cs typeface="Calibri"/>
                <a:sym typeface="Calibri"/>
              </a:rPr>
              <a:t>✓ Real model performance</a:t>
            </a:r>
            <a:endParaRPr b="0" i="0" sz="932" u="none" cap="none" strike="noStrike">
              <a:solidFill>
                <a:schemeClr val="dk1"/>
              </a:solidFill>
              <a:latin typeface="Calibri"/>
              <a:ea typeface="Calibri"/>
              <a:cs typeface="Calibri"/>
              <a:sym typeface="Calibri"/>
            </a:endParaRPr>
          </a:p>
        </p:txBody>
      </p:sp>
      <p:sp>
        <p:nvSpPr>
          <p:cNvPr id="1688" name="Google Shape;1688;p52"/>
          <p:cNvSpPr/>
          <p:nvPr/>
        </p:nvSpPr>
        <p:spPr>
          <a:xfrm>
            <a:off x="4688538" y="3883123"/>
            <a:ext cx="3981000" cy="179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33"/>
              <a:buFont typeface="Calibri"/>
              <a:buNone/>
            </a:pPr>
            <a:r>
              <a:rPr b="0" i="0" lang="en-US" sz="833" u="none" cap="none" strike="noStrike">
                <a:solidFill>
                  <a:srgbClr val="90A4AE"/>
                </a:solidFill>
                <a:latin typeface="Calibri"/>
                <a:ea typeface="Calibri"/>
                <a:cs typeface="Calibri"/>
                <a:sym typeface="Calibri"/>
              </a:rPr>
              <a:t>Native BLAS/OpenMP inside ONNX Runtime</a:t>
            </a:r>
            <a:endParaRPr b="0" i="0" sz="833"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0A4AE"/>
              </a:buClr>
              <a:buSzPts val="833"/>
              <a:buFont typeface="Calibri"/>
              <a:buNone/>
            </a:pPr>
            <a:r>
              <a:rPr b="0" i="0" lang="en-US" sz="833" u="none" cap="none" strike="noStrike">
                <a:solidFill>
                  <a:srgbClr val="90A4AE"/>
                </a:solidFill>
                <a:latin typeface="Calibri"/>
                <a:ea typeface="Calibri"/>
                <a:cs typeface="Calibri"/>
                <a:sym typeface="Calibri"/>
              </a:rPr>
              <a:t>Same optimised kernels Python would use</a:t>
            </a:r>
            <a:endParaRPr b="0" i="0" sz="833" u="none" cap="none" strike="noStrike">
              <a:solidFill>
                <a:schemeClr val="dk1"/>
              </a:solidFill>
              <a:latin typeface="Calibri"/>
              <a:ea typeface="Calibri"/>
              <a:cs typeface="Calibri"/>
              <a:sym typeface="Calibri"/>
            </a:endParaRPr>
          </a:p>
        </p:txBody>
      </p:sp>
      <p:sp>
        <p:nvSpPr>
          <p:cNvPr id="1689" name="Google Shape;1689;p52"/>
          <p:cNvSpPr/>
          <p:nvPr/>
        </p:nvSpPr>
        <p:spPr>
          <a:xfrm>
            <a:off x="4571979" y="4134173"/>
            <a:ext cx="4214100" cy="412500"/>
          </a:xfrm>
          <a:prstGeom prst="rect">
            <a:avLst/>
          </a:prstGeom>
          <a:solidFill>
            <a:srgbClr val="122040"/>
          </a:solidFill>
          <a:ln cap="flat" cmpd="sng" w="12450">
            <a:solidFill>
              <a:srgbClr val="9B59B6"/>
            </a:solidFill>
            <a:prstDash val="solid"/>
            <a:round/>
            <a:headEnd len="sm" w="sm" type="none"/>
            <a:tailEnd len="sm" w="sm" type="none"/>
          </a:ln>
        </p:spPr>
        <p:txBody>
          <a:bodyPr anchorCtr="0" anchor="ctr" bIns="89650" lIns="89650" spcFirstLastPara="1" rIns="89650" wrap="square" tIns="89650">
            <a:noAutofit/>
          </a:bodyPr>
          <a:lstStyle/>
          <a:p>
            <a:pPr indent="0" lvl="0" marL="0" rtl="0" algn="l">
              <a:spcBef>
                <a:spcPts val="0"/>
              </a:spcBef>
              <a:spcAft>
                <a:spcPts val="0"/>
              </a:spcAft>
              <a:buNone/>
            </a:pPr>
            <a:r>
              <a:t/>
            </a:r>
            <a:endParaRPr/>
          </a:p>
        </p:txBody>
      </p:sp>
      <p:sp>
        <p:nvSpPr>
          <p:cNvPr id="1690" name="Google Shape;1690;p52"/>
          <p:cNvSpPr/>
          <p:nvPr/>
        </p:nvSpPr>
        <p:spPr>
          <a:xfrm>
            <a:off x="4688538" y="4152105"/>
            <a:ext cx="3981000" cy="19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59B6"/>
              </a:buClr>
              <a:buSzPts val="932"/>
              <a:buFont typeface="Calibri"/>
              <a:buNone/>
            </a:pPr>
            <a:r>
              <a:rPr b="1" i="0" lang="en-US" sz="932" u="none" cap="none" strike="noStrike">
                <a:solidFill>
                  <a:srgbClr val="9B59B6"/>
                </a:solidFill>
                <a:latin typeface="Calibri"/>
                <a:ea typeface="Calibri"/>
                <a:cs typeface="Calibri"/>
                <a:sym typeface="Calibri"/>
              </a:rPr>
              <a:t>✓ Full Quarkus integration</a:t>
            </a:r>
            <a:endParaRPr b="0" i="0" sz="932" u="none" cap="none" strike="noStrike">
              <a:solidFill>
                <a:schemeClr val="dk1"/>
              </a:solidFill>
              <a:latin typeface="Calibri"/>
              <a:ea typeface="Calibri"/>
              <a:cs typeface="Calibri"/>
              <a:sym typeface="Calibri"/>
            </a:endParaRPr>
          </a:p>
        </p:txBody>
      </p:sp>
      <p:sp>
        <p:nvSpPr>
          <p:cNvPr id="1691" name="Google Shape;1691;p52"/>
          <p:cNvSpPr/>
          <p:nvPr/>
        </p:nvSpPr>
        <p:spPr>
          <a:xfrm>
            <a:off x="4688538" y="4349359"/>
            <a:ext cx="3981000" cy="179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33"/>
              <a:buFont typeface="Calibri"/>
              <a:buNone/>
            </a:pPr>
            <a:r>
              <a:rPr b="0" i="0" lang="en-US" sz="833" u="none" cap="none" strike="noStrike">
                <a:solidFill>
                  <a:srgbClr val="90A4AE"/>
                </a:solidFill>
                <a:latin typeface="Calibri"/>
                <a:ea typeface="Calibri"/>
                <a:cs typeface="Calibri"/>
                <a:sym typeface="Calibri"/>
              </a:rPr>
              <a:t>CDI injection, metrics, health, tracing</a:t>
            </a:r>
            <a:endParaRPr b="0" i="0" sz="833"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0A4AE"/>
              </a:buClr>
              <a:buSzPts val="833"/>
              <a:buFont typeface="Calibri"/>
              <a:buNone/>
            </a:pPr>
            <a:r>
              <a:rPr b="0" i="0" lang="en-US" sz="833" u="none" cap="none" strike="noStrike">
                <a:solidFill>
                  <a:srgbClr val="90A4AE"/>
                </a:solidFill>
                <a:latin typeface="Calibri"/>
                <a:ea typeface="Calibri"/>
                <a:cs typeface="Calibri"/>
                <a:sym typeface="Calibri"/>
              </a:rPr>
              <a:t>Embedding latency in Prometheus out of the box</a:t>
            </a:r>
            <a:endParaRPr b="0" i="0" sz="833" u="none" cap="none" strike="noStrike">
              <a:solidFill>
                <a:schemeClr val="dk1"/>
              </a:solidFill>
              <a:latin typeface="Calibri"/>
              <a:ea typeface="Calibri"/>
              <a:cs typeface="Calibri"/>
              <a:sym typeface="Calibri"/>
            </a:endParaRPr>
          </a:p>
        </p:txBody>
      </p:sp>
      <p:sp>
        <p:nvSpPr>
          <p:cNvPr id="1692" name="Google Shape;1692;p52"/>
          <p:cNvSpPr/>
          <p:nvPr/>
        </p:nvSpPr>
        <p:spPr>
          <a:xfrm>
            <a:off x="4571979" y="4600409"/>
            <a:ext cx="4214100" cy="412500"/>
          </a:xfrm>
          <a:prstGeom prst="rect">
            <a:avLst/>
          </a:prstGeom>
          <a:solidFill>
            <a:srgbClr val="122040"/>
          </a:solidFill>
          <a:ln cap="flat" cmpd="sng" w="12450">
            <a:solidFill>
              <a:srgbClr val="9B59B6"/>
            </a:solidFill>
            <a:prstDash val="solid"/>
            <a:round/>
            <a:headEnd len="sm" w="sm" type="none"/>
            <a:tailEnd len="sm" w="sm" type="none"/>
          </a:ln>
        </p:spPr>
        <p:txBody>
          <a:bodyPr anchorCtr="0" anchor="ctr" bIns="89650" lIns="89650" spcFirstLastPara="1" rIns="89650" wrap="square" tIns="89650">
            <a:noAutofit/>
          </a:bodyPr>
          <a:lstStyle/>
          <a:p>
            <a:pPr indent="0" lvl="0" marL="0" rtl="0" algn="l">
              <a:spcBef>
                <a:spcPts val="0"/>
              </a:spcBef>
              <a:spcAft>
                <a:spcPts val="0"/>
              </a:spcAft>
              <a:buNone/>
            </a:pPr>
            <a:r>
              <a:t/>
            </a:r>
            <a:endParaRPr/>
          </a:p>
        </p:txBody>
      </p:sp>
      <p:sp>
        <p:nvSpPr>
          <p:cNvPr id="1693" name="Google Shape;1693;p52"/>
          <p:cNvSpPr/>
          <p:nvPr/>
        </p:nvSpPr>
        <p:spPr>
          <a:xfrm>
            <a:off x="4688538" y="4618341"/>
            <a:ext cx="3981000" cy="19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59B6"/>
              </a:buClr>
              <a:buSzPts val="932"/>
              <a:buFont typeface="Calibri"/>
              <a:buNone/>
            </a:pPr>
            <a:r>
              <a:rPr b="1" i="0" lang="en-US" sz="932" u="none" cap="none" strike="noStrike">
                <a:solidFill>
                  <a:srgbClr val="9B59B6"/>
                </a:solidFill>
                <a:latin typeface="Calibri"/>
                <a:ea typeface="Calibri"/>
                <a:cs typeface="Calibri"/>
                <a:sym typeface="Calibri"/>
              </a:rPr>
              <a:t>✓ Also compiles native (optional)</a:t>
            </a:r>
            <a:endParaRPr b="0" i="0" sz="932" u="none" cap="none" strike="noStrike">
              <a:solidFill>
                <a:schemeClr val="dk1"/>
              </a:solidFill>
              <a:latin typeface="Calibri"/>
              <a:ea typeface="Calibri"/>
              <a:cs typeface="Calibri"/>
              <a:sym typeface="Calibri"/>
            </a:endParaRPr>
          </a:p>
        </p:txBody>
      </p:sp>
      <p:sp>
        <p:nvSpPr>
          <p:cNvPr id="1694" name="Google Shape;1694;p52"/>
          <p:cNvSpPr/>
          <p:nvPr/>
        </p:nvSpPr>
        <p:spPr>
          <a:xfrm>
            <a:off x="4688542" y="4794438"/>
            <a:ext cx="40599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50"/>
              <a:buFont typeface="Calibri"/>
              <a:buNone/>
            </a:pPr>
            <a:r>
              <a:rPr b="0" i="0" lang="en-US" sz="850" u="none" cap="none" strike="noStrike">
                <a:solidFill>
                  <a:srgbClr val="90A4AE"/>
                </a:solidFill>
                <a:latin typeface="Calibri"/>
                <a:ea typeface="Calibri"/>
                <a:cs typeface="Calibri"/>
                <a:sym typeface="Calibri"/>
              </a:rPr>
              <a:t>Quarkus + ONNX can build a GraalVM native binary</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0A4AE"/>
              </a:buClr>
              <a:buSzPts val="850"/>
              <a:buFont typeface="Calibri"/>
              <a:buNone/>
            </a:pPr>
            <a:r>
              <a:rPr b="0" i="0" lang="en-US" sz="850" u="none" cap="none" strike="noStrike">
                <a:solidFill>
                  <a:srgbClr val="90A4AE"/>
                </a:solidFill>
                <a:latin typeface="Calibri"/>
                <a:ea typeface="Calibri"/>
                <a:cs typeface="Calibri"/>
                <a:sym typeface="Calibri"/>
              </a:rPr>
              <a:t>A separate tool with its own trade-offs — out of scope here</a:t>
            </a:r>
            <a:endParaRPr b="0" i="0" sz="850" u="none" cap="none" strike="noStrike">
              <a:solidFill>
                <a:schemeClr val="dk1"/>
              </a:solidFill>
              <a:latin typeface="Calibri"/>
              <a:ea typeface="Calibri"/>
              <a:cs typeface="Calibri"/>
              <a:sym typeface="Calibri"/>
            </a:endParaRPr>
          </a:p>
        </p:txBody>
      </p:sp>
      <p:sp>
        <p:nvSpPr>
          <p:cNvPr id="1695" name="Google Shape;1695;p52"/>
          <p:cNvSpPr/>
          <p:nvPr/>
        </p:nvSpPr>
        <p:spPr>
          <a:xfrm>
            <a:off x="0" y="5394960"/>
            <a:ext cx="9144000" cy="201300"/>
          </a:xfrm>
          <a:prstGeom prst="rect">
            <a:avLst/>
          </a:prstGeom>
          <a:solidFill>
            <a:srgbClr val="0610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52"/>
          <p:cNvSpPr/>
          <p:nvPr/>
        </p:nvSpPr>
        <p:spPr>
          <a:xfrm>
            <a:off x="320040" y="5422392"/>
            <a:ext cx="8503800" cy="14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900"/>
              <a:buFont typeface="Calibri"/>
              <a:buNone/>
            </a:pPr>
            <a:r>
              <a:rPr b="0" i="0" lang="en-US" sz="900" u="none" cap="none" strike="noStrike">
                <a:solidFill>
                  <a:srgbClr val="00BCD4"/>
                </a:solidFill>
                <a:latin typeface="Calibri"/>
                <a:ea typeface="Calibri"/>
                <a:cs typeface="Calibri"/>
                <a:sym typeface="Calibri"/>
              </a:rPr>
              <a:t>quarkus-demo-09-onnx/  ·  LangChain4j 1.18.1  ·  ONNX Runtime 1.18+  ·  MiniLM-L6-v2 (~25 MB)  ·  JDK 25 LTS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701" name="Shape 1701"/>
        <p:cNvGrpSpPr/>
        <p:nvPr/>
      </p:nvGrpSpPr>
      <p:grpSpPr>
        <a:xfrm>
          <a:off x="0" y="0"/>
          <a:ext cx="0" cy="0"/>
          <a:chOff x="0" y="0"/>
          <a:chExt cx="0" cy="0"/>
        </a:xfrm>
      </p:grpSpPr>
      <p:sp>
        <p:nvSpPr>
          <p:cNvPr id="1702" name="Google Shape;1702;p53"/>
          <p:cNvSpPr/>
          <p:nvPr/>
        </p:nvSpPr>
        <p:spPr>
          <a:xfrm>
            <a:off x="0" y="0"/>
            <a:ext cx="9144000" cy="64020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53"/>
          <p:cNvSpPr/>
          <p:nvPr/>
        </p:nvSpPr>
        <p:spPr>
          <a:xfrm>
            <a:off x="320040" y="9144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200"/>
              <a:buFont typeface="Calibri"/>
              <a:buNone/>
            </a:pPr>
            <a:r>
              <a:rPr b="1" i="0" lang="en-US" sz="2200" u="none" cap="none" strike="noStrike">
                <a:solidFill>
                  <a:srgbClr val="00BCD4"/>
                </a:solidFill>
                <a:latin typeface="Calibri"/>
                <a:ea typeface="Calibri"/>
                <a:cs typeface="Calibri"/>
                <a:sym typeface="Calibri"/>
              </a:rPr>
              <a:t>Project Valhalla — Closing the 30-Year Gap</a:t>
            </a:r>
            <a:endParaRPr b="0" i="0" sz="2200" u="none" cap="none" strike="noStrike">
              <a:solidFill>
                <a:schemeClr val="dk1"/>
              </a:solidFill>
              <a:latin typeface="Calibri"/>
              <a:ea typeface="Calibri"/>
              <a:cs typeface="Calibri"/>
              <a:sym typeface="Calibri"/>
            </a:endParaRPr>
          </a:p>
        </p:txBody>
      </p:sp>
      <p:sp>
        <p:nvSpPr>
          <p:cNvPr id="1704" name="Google Shape;1704;p53"/>
          <p:cNvSpPr/>
          <p:nvPr/>
        </p:nvSpPr>
        <p:spPr>
          <a:xfrm>
            <a:off x="7772400" y="73152"/>
            <a:ext cx="1234500" cy="49380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53"/>
          <p:cNvSpPr/>
          <p:nvPr/>
        </p:nvSpPr>
        <p:spPr>
          <a:xfrm>
            <a:off x="7772400" y="73152"/>
            <a:ext cx="1234500" cy="493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VALHALLA</a:t>
            </a:r>
            <a:endParaRPr b="0" i="0" sz="1100" u="none" cap="none" strike="noStrike">
              <a:solidFill>
                <a:schemeClr val="dk1"/>
              </a:solidFill>
              <a:latin typeface="Calibri"/>
              <a:ea typeface="Calibri"/>
              <a:cs typeface="Calibri"/>
              <a:sym typeface="Calibri"/>
            </a:endParaRPr>
          </a:p>
        </p:txBody>
      </p:sp>
      <p:sp>
        <p:nvSpPr>
          <p:cNvPr id="1706" name="Google Shape;1706;p53"/>
          <p:cNvSpPr/>
          <p:nvPr/>
        </p:nvSpPr>
        <p:spPr>
          <a:xfrm>
            <a:off x="418650" y="640200"/>
            <a:ext cx="8306700" cy="232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1172"/>
              <a:buFont typeface="Calibri"/>
              <a:buNone/>
            </a:pPr>
            <a:r>
              <a:rPr b="1" i="0" lang="en-US" sz="1172" u="none" cap="none" strike="noStrike">
                <a:solidFill>
                  <a:srgbClr val="ECF0F1"/>
                </a:solidFill>
                <a:latin typeface="Calibri"/>
                <a:ea typeface="Calibri"/>
                <a:cs typeface="Calibri"/>
                <a:sym typeface="Calibri"/>
              </a:rPr>
              <a:t>Java has always had two incompatible worlds:</a:t>
            </a:r>
            <a:endParaRPr b="0" i="0" sz="1172" u="none" cap="none" strike="noStrike">
              <a:solidFill>
                <a:schemeClr val="dk1"/>
              </a:solidFill>
              <a:latin typeface="Calibri"/>
              <a:ea typeface="Calibri"/>
              <a:cs typeface="Calibri"/>
              <a:sym typeface="Calibri"/>
            </a:endParaRPr>
          </a:p>
        </p:txBody>
      </p:sp>
      <p:sp>
        <p:nvSpPr>
          <p:cNvPr id="1707" name="Google Shape;1707;p53"/>
          <p:cNvSpPr/>
          <p:nvPr/>
        </p:nvSpPr>
        <p:spPr>
          <a:xfrm>
            <a:off x="418650" y="926031"/>
            <a:ext cx="3840600" cy="2429700"/>
          </a:xfrm>
          <a:prstGeom prst="rect">
            <a:avLst/>
          </a:prstGeom>
          <a:solidFill>
            <a:srgbClr val="122040"/>
          </a:solidFill>
          <a:ln cap="flat" cmpd="sng" w="24800">
            <a:solidFill>
              <a:srgbClr val="27AE60"/>
            </a:solidFill>
            <a:prstDash val="solid"/>
            <a:round/>
            <a:headEnd len="sm" w="sm" type="none"/>
            <a:tailEnd len="sm" w="sm" type="none"/>
          </a:ln>
        </p:spPr>
        <p:txBody>
          <a:bodyPr anchorCtr="0" anchor="ctr" bIns="89300" lIns="89300" spcFirstLastPara="1" rIns="89300" wrap="square" tIns="89300">
            <a:noAutofit/>
          </a:bodyPr>
          <a:lstStyle/>
          <a:p>
            <a:pPr indent="0" lvl="0" marL="0" rtl="0" algn="l">
              <a:spcBef>
                <a:spcPts val="0"/>
              </a:spcBef>
              <a:spcAft>
                <a:spcPts val="0"/>
              </a:spcAft>
              <a:buNone/>
            </a:pPr>
            <a:r>
              <a:t/>
            </a:r>
            <a:endParaRPr/>
          </a:p>
        </p:txBody>
      </p:sp>
      <p:sp>
        <p:nvSpPr>
          <p:cNvPr id="1708" name="Google Shape;1708;p53"/>
          <p:cNvSpPr/>
          <p:nvPr/>
        </p:nvSpPr>
        <p:spPr>
          <a:xfrm>
            <a:off x="418650" y="926031"/>
            <a:ext cx="3840600" cy="357300"/>
          </a:xfrm>
          <a:prstGeom prst="rect">
            <a:avLst/>
          </a:prstGeom>
          <a:solidFill>
            <a:srgbClr val="27AE60"/>
          </a:solidFill>
          <a:ln>
            <a:noFill/>
          </a:ln>
        </p:spPr>
        <p:txBody>
          <a:bodyPr anchorCtr="0" anchor="ctr" bIns="89300" lIns="89300" spcFirstLastPara="1" rIns="89300" wrap="square" tIns="89300">
            <a:noAutofit/>
          </a:bodyPr>
          <a:lstStyle/>
          <a:p>
            <a:pPr indent="0" lvl="0" marL="0" rtl="0" algn="l">
              <a:spcBef>
                <a:spcPts val="0"/>
              </a:spcBef>
              <a:spcAft>
                <a:spcPts val="0"/>
              </a:spcAft>
              <a:buNone/>
            </a:pPr>
            <a:r>
              <a:t/>
            </a:r>
            <a:endParaRPr/>
          </a:p>
        </p:txBody>
      </p:sp>
      <p:sp>
        <p:nvSpPr>
          <p:cNvPr id="1709" name="Google Shape;1709;p53"/>
          <p:cNvSpPr/>
          <p:nvPr/>
        </p:nvSpPr>
        <p:spPr>
          <a:xfrm>
            <a:off x="418650" y="926031"/>
            <a:ext cx="3840600" cy="35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72"/>
              <a:buFont typeface="Calibri"/>
              <a:buNone/>
            </a:pPr>
            <a:r>
              <a:rPr b="1" i="0" lang="en-US" sz="1172" u="none" cap="none" strike="noStrike">
                <a:solidFill>
                  <a:srgbClr val="FFFFFF"/>
                </a:solidFill>
                <a:latin typeface="Calibri"/>
                <a:ea typeface="Calibri"/>
                <a:cs typeface="Calibri"/>
                <a:sym typeface="Calibri"/>
              </a:rPr>
              <a:t>Primitives  (int, long, double)</a:t>
            </a:r>
            <a:endParaRPr b="0" i="0" sz="1172" u="none" cap="none" strike="noStrike">
              <a:solidFill>
                <a:schemeClr val="dk1"/>
              </a:solidFill>
              <a:latin typeface="Calibri"/>
              <a:ea typeface="Calibri"/>
              <a:cs typeface="Calibri"/>
              <a:sym typeface="Calibri"/>
            </a:endParaRPr>
          </a:p>
        </p:txBody>
      </p:sp>
      <p:sp>
        <p:nvSpPr>
          <p:cNvPr id="1710" name="Google Shape;1710;p53"/>
          <p:cNvSpPr/>
          <p:nvPr/>
        </p:nvSpPr>
        <p:spPr>
          <a:xfrm>
            <a:off x="552633" y="1372643"/>
            <a:ext cx="982500" cy="32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28"/>
              <a:buFont typeface="Calibri"/>
              <a:buNone/>
            </a:pPr>
            <a:r>
              <a:rPr b="1" i="0" lang="en-US" sz="928" u="none" cap="none" strike="noStrike">
                <a:solidFill>
                  <a:srgbClr val="90A4AE"/>
                </a:solidFill>
                <a:latin typeface="Calibri"/>
                <a:ea typeface="Calibri"/>
                <a:cs typeface="Calibri"/>
                <a:sym typeface="Calibri"/>
              </a:rPr>
              <a:t>Stored</a:t>
            </a:r>
            <a:endParaRPr b="0" i="0" sz="928" u="none" cap="none" strike="noStrike">
              <a:solidFill>
                <a:schemeClr val="dk1"/>
              </a:solidFill>
              <a:latin typeface="Calibri"/>
              <a:ea typeface="Calibri"/>
              <a:cs typeface="Calibri"/>
              <a:sym typeface="Calibri"/>
            </a:endParaRPr>
          </a:p>
        </p:txBody>
      </p:sp>
      <p:sp>
        <p:nvSpPr>
          <p:cNvPr id="1711" name="Google Shape;1711;p53"/>
          <p:cNvSpPr/>
          <p:nvPr/>
        </p:nvSpPr>
        <p:spPr>
          <a:xfrm>
            <a:off x="1553039" y="1372643"/>
            <a:ext cx="2572500" cy="32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928"/>
              <a:buFont typeface="Calibri"/>
              <a:buNone/>
            </a:pPr>
            <a:r>
              <a:rPr b="0" i="0" lang="en-US" sz="928" u="none" cap="none" strike="noStrike">
                <a:solidFill>
                  <a:srgbClr val="27AE60"/>
                </a:solidFill>
                <a:latin typeface="Calibri"/>
                <a:ea typeface="Calibri"/>
                <a:cs typeface="Calibri"/>
                <a:sym typeface="Calibri"/>
              </a:rPr>
              <a:t>inline — no pointer, no header</a:t>
            </a:r>
            <a:endParaRPr b="0" i="0" sz="928" u="none" cap="none" strike="noStrike">
              <a:solidFill>
                <a:schemeClr val="dk1"/>
              </a:solidFill>
              <a:latin typeface="Calibri"/>
              <a:ea typeface="Calibri"/>
              <a:cs typeface="Calibri"/>
              <a:sym typeface="Calibri"/>
            </a:endParaRPr>
          </a:p>
        </p:txBody>
      </p:sp>
      <p:sp>
        <p:nvSpPr>
          <p:cNvPr id="1712" name="Google Shape;1712;p53"/>
          <p:cNvSpPr/>
          <p:nvPr/>
        </p:nvSpPr>
        <p:spPr>
          <a:xfrm>
            <a:off x="552633" y="1747797"/>
            <a:ext cx="982500" cy="32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28"/>
              <a:buFont typeface="Calibri"/>
              <a:buNone/>
            </a:pPr>
            <a:r>
              <a:rPr b="1" i="0" lang="en-US" sz="928" u="none" cap="none" strike="noStrike">
                <a:solidFill>
                  <a:srgbClr val="90A4AE"/>
                </a:solidFill>
                <a:latin typeface="Calibri"/>
                <a:ea typeface="Calibri"/>
                <a:cs typeface="Calibri"/>
                <a:sym typeface="Calibri"/>
              </a:rPr>
              <a:t>int[]</a:t>
            </a:r>
            <a:endParaRPr b="0" i="0" sz="928" u="none" cap="none" strike="noStrike">
              <a:solidFill>
                <a:schemeClr val="dk1"/>
              </a:solidFill>
              <a:latin typeface="Calibri"/>
              <a:ea typeface="Calibri"/>
              <a:cs typeface="Calibri"/>
              <a:sym typeface="Calibri"/>
            </a:endParaRPr>
          </a:p>
        </p:txBody>
      </p:sp>
      <p:sp>
        <p:nvSpPr>
          <p:cNvPr id="1713" name="Google Shape;1713;p53"/>
          <p:cNvSpPr/>
          <p:nvPr/>
        </p:nvSpPr>
        <p:spPr>
          <a:xfrm>
            <a:off x="1553039" y="1747797"/>
            <a:ext cx="2572500" cy="32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928"/>
              <a:buFont typeface="Calibri"/>
              <a:buNone/>
            </a:pPr>
            <a:r>
              <a:rPr b="0" i="0" lang="en-US" sz="928" u="none" cap="none" strike="noStrike">
                <a:solidFill>
                  <a:srgbClr val="27AE60"/>
                </a:solidFill>
                <a:latin typeface="Calibri"/>
                <a:ea typeface="Calibri"/>
                <a:cs typeface="Calibri"/>
                <a:sym typeface="Calibri"/>
              </a:rPr>
              <a:t>4 bytes × N, dense, cache-friendly</a:t>
            </a:r>
            <a:endParaRPr b="0" i="0" sz="928" u="none" cap="none" strike="noStrike">
              <a:solidFill>
                <a:schemeClr val="dk1"/>
              </a:solidFill>
              <a:latin typeface="Calibri"/>
              <a:ea typeface="Calibri"/>
              <a:cs typeface="Calibri"/>
              <a:sym typeface="Calibri"/>
            </a:endParaRPr>
          </a:p>
        </p:txBody>
      </p:sp>
      <p:sp>
        <p:nvSpPr>
          <p:cNvPr id="1714" name="Google Shape;1714;p53"/>
          <p:cNvSpPr/>
          <p:nvPr/>
        </p:nvSpPr>
        <p:spPr>
          <a:xfrm>
            <a:off x="552633" y="2122951"/>
            <a:ext cx="982500" cy="32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28"/>
              <a:buFont typeface="Calibri"/>
              <a:buNone/>
            </a:pPr>
            <a:r>
              <a:rPr b="1" i="0" lang="en-US" sz="928" u="none" cap="none" strike="noStrike">
                <a:solidFill>
                  <a:srgbClr val="90A4AE"/>
                </a:solidFill>
                <a:latin typeface="Calibri"/>
                <a:ea typeface="Calibri"/>
                <a:cs typeface="Calibri"/>
                <a:sym typeface="Calibri"/>
              </a:rPr>
              <a:t>GC cost</a:t>
            </a:r>
            <a:endParaRPr b="0" i="0" sz="928" u="none" cap="none" strike="noStrike">
              <a:solidFill>
                <a:schemeClr val="dk1"/>
              </a:solidFill>
              <a:latin typeface="Calibri"/>
              <a:ea typeface="Calibri"/>
              <a:cs typeface="Calibri"/>
              <a:sym typeface="Calibri"/>
            </a:endParaRPr>
          </a:p>
        </p:txBody>
      </p:sp>
      <p:sp>
        <p:nvSpPr>
          <p:cNvPr id="1715" name="Google Shape;1715;p53"/>
          <p:cNvSpPr/>
          <p:nvPr/>
        </p:nvSpPr>
        <p:spPr>
          <a:xfrm>
            <a:off x="1553039" y="2122951"/>
            <a:ext cx="2572500" cy="32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928"/>
              <a:buFont typeface="Calibri"/>
              <a:buNone/>
            </a:pPr>
            <a:r>
              <a:rPr b="0" i="0" lang="en-US" sz="928" u="none" cap="none" strike="noStrike">
                <a:solidFill>
                  <a:srgbClr val="27AE60"/>
                </a:solidFill>
                <a:latin typeface="Calibri"/>
                <a:ea typeface="Calibri"/>
                <a:cs typeface="Calibri"/>
                <a:sym typeface="Calibri"/>
              </a:rPr>
              <a:t>zero — not tracked by GC</a:t>
            </a:r>
            <a:endParaRPr b="0" i="0" sz="928" u="none" cap="none" strike="noStrike">
              <a:solidFill>
                <a:schemeClr val="dk1"/>
              </a:solidFill>
              <a:latin typeface="Calibri"/>
              <a:ea typeface="Calibri"/>
              <a:cs typeface="Calibri"/>
              <a:sym typeface="Calibri"/>
            </a:endParaRPr>
          </a:p>
        </p:txBody>
      </p:sp>
      <p:sp>
        <p:nvSpPr>
          <p:cNvPr id="1716" name="Google Shape;1716;p53"/>
          <p:cNvSpPr/>
          <p:nvPr/>
        </p:nvSpPr>
        <p:spPr>
          <a:xfrm>
            <a:off x="552633" y="2498104"/>
            <a:ext cx="982500" cy="32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28"/>
              <a:buFont typeface="Calibri"/>
              <a:buNone/>
            </a:pPr>
            <a:r>
              <a:rPr b="1" i="0" lang="en-US" sz="928" u="none" cap="none" strike="noStrike">
                <a:solidFill>
                  <a:srgbClr val="90A4AE"/>
                </a:solidFill>
                <a:latin typeface="Calibri"/>
                <a:ea typeface="Calibri"/>
                <a:cs typeface="Calibri"/>
                <a:sym typeface="Calibri"/>
              </a:rPr>
              <a:t>Generics</a:t>
            </a:r>
            <a:endParaRPr b="0" i="0" sz="928" u="none" cap="none" strike="noStrike">
              <a:solidFill>
                <a:schemeClr val="dk1"/>
              </a:solidFill>
              <a:latin typeface="Calibri"/>
              <a:ea typeface="Calibri"/>
              <a:cs typeface="Calibri"/>
              <a:sym typeface="Calibri"/>
            </a:endParaRPr>
          </a:p>
        </p:txBody>
      </p:sp>
      <p:sp>
        <p:nvSpPr>
          <p:cNvPr id="1717" name="Google Shape;1717;p53"/>
          <p:cNvSpPr/>
          <p:nvPr/>
        </p:nvSpPr>
        <p:spPr>
          <a:xfrm>
            <a:off x="1553039" y="2498104"/>
            <a:ext cx="2572500" cy="32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928"/>
              <a:buFont typeface="Calibri"/>
              <a:buNone/>
            </a:pPr>
            <a:r>
              <a:rPr b="0" i="0" lang="en-US" sz="928" u="none" cap="none" strike="noStrike">
                <a:solidFill>
                  <a:srgbClr val="27AE60"/>
                </a:solidFill>
                <a:latin typeface="Calibri"/>
                <a:ea typeface="Calibri"/>
                <a:cs typeface="Calibri"/>
                <a:sym typeface="Calibri"/>
              </a:rPr>
              <a:t>impossible — List&lt;int&gt; is illegal</a:t>
            </a:r>
            <a:endParaRPr b="0" i="0" sz="928" u="none" cap="none" strike="noStrike">
              <a:solidFill>
                <a:schemeClr val="dk1"/>
              </a:solidFill>
              <a:latin typeface="Calibri"/>
              <a:ea typeface="Calibri"/>
              <a:cs typeface="Calibri"/>
              <a:sym typeface="Calibri"/>
            </a:endParaRPr>
          </a:p>
        </p:txBody>
      </p:sp>
      <p:sp>
        <p:nvSpPr>
          <p:cNvPr id="1718" name="Google Shape;1718;p53"/>
          <p:cNvSpPr/>
          <p:nvPr/>
        </p:nvSpPr>
        <p:spPr>
          <a:xfrm>
            <a:off x="552633" y="2873258"/>
            <a:ext cx="982500" cy="32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28"/>
              <a:buFont typeface="Calibri"/>
              <a:buNone/>
            </a:pPr>
            <a:r>
              <a:rPr b="1" i="0" lang="en-US" sz="928" u="none" cap="none" strike="noStrike">
                <a:solidFill>
                  <a:srgbClr val="90A4AE"/>
                </a:solidFill>
                <a:latin typeface="Calibri"/>
                <a:ea typeface="Calibri"/>
                <a:cs typeface="Calibri"/>
                <a:sym typeface="Calibri"/>
              </a:rPr>
              <a:t>Custom types</a:t>
            </a:r>
            <a:endParaRPr b="0" i="0" sz="928" u="none" cap="none" strike="noStrike">
              <a:solidFill>
                <a:schemeClr val="dk1"/>
              </a:solidFill>
              <a:latin typeface="Calibri"/>
              <a:ea typeface="Calibri"/>
              <a:cs typeface="Calibri"/>
              <a:sym typeface="Calibri"/>
            </a:endParaRPr>
          </a:p>
        </p:txBody>
      </p:sp>
      <p:sp>
        <p:nvSpPr>
          <p:cNvPr id="1719" name="Google Shape;1719;p53"/>
          <p:cNvSpPr/>
          <p:nvPr/>
        </p:nvSpPr>
        <p:spPr>
          <a:xfrm>
            <a:off x="1553039" y="2873258"/>
            <a:ext cx="2572500" cy="32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928"/>
              <a:buFont typeface="Calibri"/>
              <a:buNone/>
            </a:pPr>
            <a:r>
              <a:rPr b="0" i="0" lang="en-US" sz="928" u="none" cap="none" strike="noStrike">
                <a:solidFill>
                  <a:srgbClr val="27AE60"/>
                </a:solidFill>
                <a:latin typeface="Calibri"/>
                <a:ea typeface="Calibri"/>
                <a:cs typeface="Calibri"/>
                <a:sym typeface="Calibri"/>
              </a:rPr>
              <a:t>impossible — hardcoded in JVM</a:t>
            </a:r>
            <a:endParaRPr b="0" i="0" sz="928" u="none" cap="none" strike="noStrike">
              <a:solidFill>
                <a:schemeClr val="dk1"/>
              </a:solidFill>
              <a:latin typeface="Calibri"/>
              <a:ea typeface="Calibri"/>
              <a:cs typeface="Calibri"/>
              <a:sym typeface="Calibri"/>
            </a:endParaRPr>
          </a:p>
        </p:txBody>
      </p:sp>
      <p:sp>
        <p:nvSpPr>
          <p:cNvPr id="1720" name="Google Shape;1720;p53"/>
          <p:cNvSpPr/>
          <p:nvPr/>
        </p:nvSpPr>
        <p:spPr>
          <a:xfrm>
            <a:off x="4304155" y="1962170"/>
            <a:ext cx="536100" cy="35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A623"/>
              </a:buClr>
              <a:buSzPts val="1758"/>
              <a:buFont typeface="Calibri"/>
              <a:buNone/>
            </a:pPr>
            <a:r>
              <a:rPr b="1" i="0" lang="en-US" sz="1758" u="none" cap="none" strike="noStrike">
                <a:solidFill>
                  <a:srgbClr val="F5A623"/>
                </a:solidFill>
                <a:latin typeface="Calibri"/>
                <a:ea typeface="Calibri"/>
                <a:cs typeface="Calibri"/>
                <a:sym typeface="Calibri"/>
              </a:rPr>
              <a:t>VS</a:t>
            </a:r>
            <a:endParaRPr b="0" i="0" sz="1758" u="none" cap="none" strike="noStrike">
              <a:solidFill>
                <a:schemeClr val="dk1"/>
              </a:solidFill>
              <a:latin typeface="Calibri"/>
              <a:ea typeface="Calibri"/>
              <a:cs typeface="Calibri"/>
              <a:sym typeface="Calibri"/>
            </a:endParaRPr>
          </a:p>
        </p:txBody>
      </p:sp>
      <p:sp>
        <p:nvSpPr>
          <p:cNvPr id="1721" name="Google Shape;1721;p53"/>
          <p:cNvSpPr/>
          <p:nvPr/>
        </p:nvSpPr>
        <p:spPr>
          <a:xfrm>
            <a:off x="4884748" y="926031"/>
            <a:ext cx="3840600" cy="2429700"/>
          </a:xfrm>
          <a:prstGeom prst="rect">
            <a:avLst/>
          </a:prstGeom>
          <a:solidFill>
            <a:srgbClr val="122040"/>
          </a:solidFill>
          <a:ln cap="flat" cmpd="sng" w="24800">
            <a:solidFill>
              <a:srgbClr val="E84855"/>
            </a:solidFill>
            <a:prstDash val="solid"/>
            <a:round/>
            <a:headEnd len="sm" w="sm" type="none"/>
            <a:tailEnd len="sm" w="sm" type="none"/>
          </a:ln>
        </p:spPr>
        <p:txBody>
          <a:bodyPr anchorCtr="0" anchor="ctr" bIns="89300" lIns="89300" spcFirstLastPara="1" rIns="89300" wrap="square" tIns="89300">
            <a:noAutofit/>
          </a:bodyPr>
          <a:lstStyle/>
          <a:p>
            <a:pPr indent="0" lvl="0" marL="0" rtl="0" algn="l">
              <a:spcBef>
                <a:spcPts val="0"/>
              </a:spcBef>
              <a:spcAft>
                <a:spcPts val="0"/>
              </a:spcAft>
              <a:buNone/>
            </a:pPr>
            <a:r>
              <a:t/>
            </a:r>
            <a:endParaRPr/>
          </a:p>
        </p:txBody>
      </p:sp>
      <p:sp>
        <p:nvSpPr>
          <p:cNvPr id="1722" name="Google Shape;1722;p53"/>
          <p:cNvSpPr/>
          <p:nvPr/>
        </p:nvSpPr>
        <p:spPr>
          <a:xfrm>
            <a:off x="4884748" y="926031"/>
            <a:ext cx="3840600" cy="357300"/>
          </a:xfrm>
          <a:prstGeom prst="rect">
            <a:avLst/>
          </a:prstGeom>
          <a:solidFill>
            <a:srgbClr val="E84855"/>
          </a:solidFill>
          <a:ln>
            <a:noFill/>
          </a:ln>
        </p:spPr>
        <p:txBody>
          <a:bodyPr anchorCtr="0" anchor="ctr" bIns="89300" lIns="89300" spcFirstLastPara="1" rIns="89300" wrap="square" tIns="89300">
            <a:noAutofit/>
          </a:bodyPr>
          <a:lstStyle/>
          <a:p>
            <a:pPr indent="0" lvl="0" marL="0" rtl="0" algn="l">
              <a:spcBef>
                <a:spcPts val="0"/>
              </a:spcBef>
              <a:spcAft>
                <a:spcPts val="0"/>
              </a:spcAft>
              <a:buNone/>
            </a:pPr>
            <a:r>
              <a:t/>
            </a:r>
            <a:endParaRPr/>
          </a:p>
        </p:txBody>
      </p:sp>
      <p:sp>
        <p:nvSpPr>
          <p:cNvPr id="1723" name="Google Shape;1723;p53"/>
          <p:cNvSpPr/>
          <p:nvPr/>
        </p:nvSpPr>
        <p:spPr>
          <a:xfrm>
            <a:off x="4884748" y="926031"/>
            <a:ext cx="3840600" cy="35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72"/>
              <a:buFont typeface="Calibri"/>
              <a:buNone/>
            </a:pPr>
            <a:r>
              <a:rPr b="1" i="0" lang="en-US" sz="1172" u="none" cap="none" strike="noStrike">
                <a:solidFill>
                  <a:srgbClr val="FFFFFF"/>
                </a:solidFill>
                <a:latin typeface="Calibri"/>
                <a:ea typeface="Calibri"/>
                <a:cs typeface="Calibri"/>
                <a:sym typeface="Calibri"/>
              </a:rPr>
              <a:t>Objects  (everything else)</a:t>
            </a:r>
            <a:endParaRPr b="0" i="0" sz="1172" u="none" cap="none" strike="noStrike">
              <a:solidFill>
                <a:schemeClr val="dk1"/>
              </a:solidFill>
              <a:latin typeface="Calibri"/>
              <a:ea typeface="Calibri"/>
              <a:cs typeface="Calibri"/>
              <a:sym typeface="Calibri"/>
            </a:endParaRPr>
          </a:p>
        </p:txBody>
      </p:sp>
      <p:sp>
        <p:nvSpPr>
          <p:cNvPr id="1724" name="Google Shape;1724;p53"/>
          <p:cNvSpPr/>
          <p:nvPr/>
        </p:nvSpPr>
        <p:spPr>
          <a:xfrm>
            <a:off x="5018731" y="1372643"/>
            <a:ext cx="982500" cy="32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28"/>
              <a:buFont typeface="Calibri"/>
              <a:buNone/>
            </a:pPr>
            <a:r>
              <a:rPr b="1" i="0" lang="en-US" sz="928" u="none" cap="none" strike="noStrike">
                <a:solidFill>
                  <a:srgbClr val="90A4AE"/>
                </a:solidFill>
                <a:latin typeface="Calibri"/>
                <a:ea typeface="Calibri"/>
                <a:cs typeface="Calibri"/>
                <a:sym typeface="Calibri"/>
              </a:rPr>
              <a:t>Stored</a:t>
            </a:r>
            <a:endParaRPr b="0" i="0" sz="928" u="none" cap="none" strike="noStrike">
              <a:solidFill>
                <a:schemeClr val="dk1"/>
              </a:solidFill>
              <a:latin typeface="Calibri"/>
              <a:ea typeface="Calibri"/>
              <a:cs typeface="Calibri"/>
              <a:sym typeface="Calibri"/>
            </a:endParaRPr>
          </a:p>
        </p:txBody>
      </p:sp>
      <p:sp>
        <p:nvSpPr>
          <p:cNvPr id="1725" name="Google Shape;1725;p53"/>
          <p:cNvSpPr/>
          <p:nvPr/>
        </p:nvSpPr>
        <p:spPr>
          <a:xfrm>
            <a:off x="6019137" y="1372643"/>
            <a:ext cx="2572500" cy="32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855"/>
              </a:buClr>
              <a:buSzPts val="928"/>
              <a:buFont typeface="Calibri"/>
              <a:buNone/>
            </a:pPr>
            <a:r>
              <a:rPr b="0" i="0" lang="en-US" sz="928" u="none" cap="none" strike="noStrike">
                <a:solidFill>
                  <a:srgbClr val="E84855"/>
                </a:solidFill>
                <a:latin typeface="Calibri"/>
                <a:ea typeface="Calibri"/>
                <a:cs typeface="Calibri"/>
                <a:sym typeface="Calibri"/>
              </a:rPr>
              <a:t>as heap pointer — indirection per access</a:t>
            </a:r>
            <a:endParaRPr b="0" i="0" sz="928" u="none" cap="none" strike="noStrike">
              <a:solidFill>
                <a:schemeClr val="dk1"/>
              </a:solidFill>
              <a:latin typeface="Calibri"/>
              <a:ea typeface="Calibri"/>
              <a:cs typeface="Calibri"/>
              <a:sym typeface="Calibri"/>
            </a:endParaRPr>
          </a:p>
        </p:txBody>
      </p:sp>
      <p:sp>
        <p:nvSpPr>
          <p:cNvPr id="1726" name="Google Shape;1726;p53"/>
          <p:cNvSpPr/>
          <p:nvPr/>
        </p:nvSpPr>
        <p:spPr>
          <a:xfrm>
            <a:off x="5018731" y="1747797"/>
            <a:ext cx="982500" cy="32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28"/>
              <a:buFont typeface="Calibri"/>
              <a:buNone/>
            </a:pPr>
            <a:r>
              <a:rPr b="1" i="0" lang="en-US" sz="928" u="none" cap="none" strike="noStrike">
                <a:solidFill>
                  <a:srgbClr val="90A4AE"/>
                </a:solidFill>
                <a:latin typeface="Calibri"/>
                <a:ea typeface="Calibri"/>
                <a:cs typeface="Calibri"/>
                <a:sym typeface="Calibri"/>
              </a:rPr>
              <a:t>Integer[]</a:t>
            </a:r>
            <a:endParaRPr b="0" i="0" sz="928" u="none" cap="none" strike="noStrike">
              <a:solidFill>
                <a:schemeClr val="dk1"/>
              </a:solidFill>
              <a:latin typeface="Calibri"/>
              <a:ea typeface="Calibri"/>
              <a:cs typeface="Calibri"/>
              <a:sym typeface="Calibri"/>
            </a:endParaRPr>
          </a:p>
        </p:txBody>
      </p:sp>
      <p:sp>
        <p:nvSpPr>
          <p:cNvPr id="1727" name="Google Shape;1727;p53"/>
          <p:cNvSpPr/>
          <p:nvPr/>
        </p:nvSpPr>
        <p:spPr>
          <a:xfrm>
            <a:off x="6019137" y="1747797"/>
            <a:ext cx="2572500" cy="32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855"/>
              </a:buClr>
              <a:buSzPts val="928"/>
              <a:buFont typeface="Calibri"/>
              <a:buNone/>
            </a:pPr>
            <a:r>
              <a:rPr b="0" i="0" lang="en-US" sz="928" u="none" cap="none" strike="noStrike">
                <a:solidFill>
                  <a:srgbClr val="E84855"/>
                </a:solidFill>
                <a:latin typeface="Calibri"/>
                <a:ea typeface="Calibri"/>
                <a:cs typeface="Calibri"/>
                <a:sym typeface="Calibri"/>
              </a:rPr>
              <a:t>pointer × N → [header+int] scattered in heap</a:t>
            </a:r>
            <a:endParaRPr b="0" i="0" sz="928" u="none" cap="none" strike="noStrike">
              <a:solidFill>
                <a:schemeClr val="dk1"/>
              </a:solidFill>
              <a:latin typeface="Calibri"/>
              <a:ea typeface="Calibri"/>
              <a:cs typeface="Calibri"/>
              <a:sym typeface="Calibri"/>
            </a:endParaRPr>
          </a:p>
        </p:txBody>
      </p:sp>
      <p:sp>
        <p:nvSpPr>
          <p:cNvPr id="1728" name="Google Shape;1728;p53"/>
          <p:cNvSpPr/>
          <p:nvPr/>
        </p:nvSpPr>
        <p:spPr>
          <a:xfrm>
            <a:off x="5018731" y="2122951"/>
            <a:ext cx="982500" cy="32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28"/>
              <a:buFont typeface="Calibri"/>
              <a:buNone/>
            </a:pPr>
            <a:r>
              <a:rPr b="1" i="0" lang="en-US" sz="928" u="none" cap="none" strike="noStrike">
                <a:solidFill>
                  <a:srgbClr val="90A4AE"/>
                </a:solidFill>
                <a:latin typeface="Calibri"/>
                <a:ea typeface="Calibri"/>
                <a:cs typeface="Calibri"/>
                <a:sym typeface="Calibri"/>
              </a:rPr>
              <a:t>GC cost</a:t>
            </a:r>
            <a:endParaRPr b="0" i="0" sz="928" u="none" cap="none" strike="noStrike">
              <a:solidFill>
                <a:schemeClr val="dk1"/>
              </a:solidFill>
              <a:latin typeface="Calibri"/>
              <a:ea typeface="Calibri"/>
              <a:cs typeface="Calibri"/>
              <a:sym typeface="Calibri"/>
            </a:endParaRPr>
          </a:p>
        </p:txBody>
      </p:sp>
      <p:sp>
        <p:nvSpPr>
          <p:cNvPr id="1729" name="Google Shape;1729;p53"/>
          <p:cNvSpPr/>
          <p:nvPr/>
        </p:nvSpPr>
        <p:spPr>
          <a:xfrm>
            <a:off x="6019137" y="2122951"/>
            <a:ext cx="2572500" cy="32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855"/>
              </a:buClr>
              <a:buSzPts val="928"/>
              <a:buFont typeface="Calibri"/>
              <a:buNone/>
            </a:pPr>
            <a:r>
              <a:rPr b="0" i="0" lang="en-US" sz="928" u="none" cap="none" strike="noStrike">
                <a:solidFill>
                  <a:srgbClr val="E84855"/>
                </a:solidFill>
                <a:latin typeface="Calibri"/>
                <a:ea typeface="Calibri"/>
                <a:cs typeface="Calibri"/>
                <a:sym typeface="Calibri"/>
              </a:rPr>
              <a:t>every boxed value tracked, marked, moved</a:t>
            </a:r>
            <a:endParaRPr b="0" i="0" sz="928" u="none" cap="none" strike="noStrike">
              <a:solidFill>
                <a:schemeClr val="dk1"/>
              </a:solidFill>
              <a:latin typeface="Calibri"/>
              <a:ea typeface="Calibri"/>
              <a:cs typeface="Calibri"/>
              <a:sym typeface="Calibri"/>
            </a:endParaRPr>
          </a:p>
        </p:txBody>
      </p:sp>
      <p:sp>
        <p:nvSpPr>
          <p:cNvPr id="1730" name="Google Shape;1730;p53"/>
          <p:cNvSpPr/>
          <p:nvPr/>
        </p:nvSpPr>
        <p:spPr>
          <a:xfrm>
            <a:off x="5018731" y="2498104"/>
            <a:ext cx="982500" cy="32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28"/>
              <a:buFont typeface="Calibri"/>
              <a:buNone/>
            </a:pPr>
            <a:r>
              <a:rPr b="1" i="0" lang="en-US" sz="928" u="none" cap="none" strike="noStrike">
                <a:solidFill>
                  <a:srgbClr val="90A4AE"/>
                </a:solidFill>
                <a:latin typeface="Calibri"/>
                <a:ea typeface="Calibri"/>
                <a:cs typeface="Calibri"/>
                <a:sym typeface="Calibri"/>
              </a:rPr>
              <a:t>Generics</a:t>
            </a:r>
            <a:endParaRPr b="0" i="0" sz="928" u="none" cap="none" strike="noStrike">
              <a:solidFill>
                <a:schemeClr val="dk1"/>
              </a:solidFill>
              <a:latin typeface="Calibri"/>
              <a:ea typeface="Calibri"/>
              <a:cs typeface="Calibri"/>
              <a:sym typeface="Calibri"/>
            </a:endParaRPr>
          </a:p>
        </p:txBody>
      </p:sp>
      <p:sp>
        <p:nvSpPr>
          <p:cNvPr id="1731" name="Google Shape;1731;p53"/>
          <p:cNvSpPr/>
          <p:nvPr/>
        </p:nvSpPr>
        <p:spPr>
          <a:xfrm>
            <a:off x="6019137" y="2498104"/>
            <a:ext cx="2572500" cy="32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855"/>
              </a:buClr>
              <a:buSzPts val="928"/>
              <a:buFont typeface="Calibri"/>
              <a:buNone/>
            </a:pPr>
            <a:r>
              <a:rPr b="0" i="0" lang="en-US" sz="928" u="none" cap="none" strike="noStrike">
                <a:solidFill>
                  <a:srgbClr val="E84855"/>
                </a:solidFill>
                <a:latin typeface="Calibri"/>
                <a:ea typeface="Calibri"/>
                <a:cs typeface="Calibri"/>
                <a:sym typeface="Calibri"/>
              </a:rPr>
              <a:t>work, but box primitives: List&lt;Integer&gt;</a:t>
            </a:r>
            <a:endParaRPr b="0" i="0" sz="928" u="none" cap="none" strike="noStrike">
              <a:solidFill>
                <a:schemeClr val="dk1"/>
              </a:solidFill>
              <a:latin typeface="Calibri"/>
              <a:ea typeface="Calibri"/>
              <a:cs typeface="Calibri"/>
              <a:sym typeface="Calibri"/>
            </a:endParaRPr>
          </a:p>
        </p:txBody>
      </p:sp>
      <p:sp>
        <p:nvSpPr>
          <p:cNvPr id="1732" name="Google Shape;1732;p53"/>
          <p:cNvSpPr/>
          <p:nvPr/>
        </p:nvSpPr>
        <p:spPr>
          <a:xfrm>
            <a:off x="5018731" y="2873258"/>
            <a:ext cx="982500" cy="32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28"/>
              <a:buFont typeface="Calibri"/>
              <a:buNone/>
            </a:pPr>
            <a:r>
              <a:rPr b="1" i="0" lang="en-US" sz="928" u="none" cap="none" strike="noStrike">
                <a:solidFill>
                  <a:srgbClr val="90A4AE"/>
                </a:solidFill>
                <a:latin typeface="Calibri"/>
                <a:ea typeface="Calibri"/>
                <a:cs typeface="Calibri"/>
                <a:sym typeface="Calibri"/>
              </a:rPr>
              <a:t>Custom types</a:t>
            </a:r>
            <a:endParaRPr b="0" i="0" sz="928" u="none" cap="none" strike="noStrike">
              <a:solidFill>
                <a:schemeClr val="dk1"/>
              </a:solidFill>
              <a:latin typeface="Calibri"/>
              <a:ea typeface="Calibri"/>
              <a:cs typeface="Calibri"/>
              <a:sym typeface="Calibri"/>
            </a:endParaRPr>
          </a:p>
        </p:txBody>
      </p:sp>
      <p:sp>
        <p:nvSpPr>
          <p:cNvPr id="1733" name="Google Shape;1733;p53"/>
          <p:cNvSpPr/>
          <p:nvPr/>
        </p:nvSpPr>
        <p:spPr>
          <a:xfrm>
            <a:off x="6019137" y="2873258"/>
            <a:ext cx="2572500" cy="32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855"/>
              </a:buClr>
              <a:buSzPts val="928"/>
              <a:buFont typeface="Calibri"/>
              <a:buNone/>
            </a:pPr>
            <a:r>
              <a:rPr b="0" i="0" lang="en-US" sz="928" u="none" cap="none" strike="noStrike">
                <a:solidFill>
                  <a:srgbClr val="E84855"/>
                </a:solidFill>
                <a:latin typeface="Calibri"/>
                <a:ea typeface="Calibri"/>
                <a:cs typeface="Calibri"/>
                <a:sym typeface="Calibri"/>
              </a:rPr>
              <a:t>full class system, but always a pointer</a:t>
            </a:r>
            <a:endParaRPr b="0" i="0" sz="928" u="none" cap="none" strike="noStrike">
              <a:solidFill>
                <a:schemeClr val="dk1"/>
              </a:solidFill>
              <a:latin typeface="Calibri"/>
              <a:ea typeface="Calibri"/>
              <a:cs typeface="Calibri"/>
              <a:sym typeface="Calibri"/>
            </a:endParaRPr>
          </a:p>
        </p:txBody>
      </p:sp>
      <p:sp>
        <p:nvSpPr>
          <p:cNvPr id="1734" name="Google Shape;1734;p53"/>
          <p:cNvSpPr/>
          <p:nvPr/>
        </p:nvSpPr>
        <p:spPr>
          <a:xfrm>
            <a:off x="418650" y="3427057"/>
            <a:ext cx="8306700" cy="464400"/>
          </a:xfrm>
          <a:prstGeom prst="rect">
            <a:avLst/>
          </a:prstGeom>
          <a:solidFill>
            <a:srgbClr val="08111F"/>
          </a:solidFill>
          <a:ln cap="flat" cmpd="sng" w="18600">
            <a:solidFill>
              <a:srgbClr val="F5A623"/>
            </a:solidFill>
            <a:prstDash val="solid"/>
            <a:round/>
            <a:headEnd len="sm" w="sm" type="none"/>
            <a:tailEnd len="sm" w="sm" type="none"/>
          </a:ln>
        </p:spPr>
        <p:txBody>
          <a:bodyPr anchorCtr="0" anchor="ctr" bIns="89300" lIns="89300" spcFirstLastPara="1" rIns="89300" wrap="square" tIns="89300">
            <a:noAutofit/>
          </a:bodyPr>
          <a:lstStyle/>
          <a:p>
            <a:pPr indent="0" lvl="0" marL="0" rtl="0" algn="l">
              <a:spcBef>
                <a:spcPts val="0"/>
              </a:spcBef>
              <a:spcAft>
                <a:spcPts val="0"/>
              </a:spcAft>
              <a:buNone/>
            </a:pPr>
            <a:r>
              <a:t/>
            </a:r>
            <a:endParaRPr/>
          </a:p>
        </p:txBody>
      </p:sp>
      <p:sp>
        <p:nvSpPr>
          <p:cNvPr id="1735" name="Google Shape;1735;p53"/>
          <p:cNvSpPr/>
          <p:nvPr/>
        </p:nvSpPr>
        <p:spPr>
          <a:xfrm>
            <a:off x="552633" y="3462786"/>
            <a:ext cx="8039100" cy="39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A623"/>
              </a:buClr>
              <a:buSzPts val="928"/>
              <a:buFont typeface="Calibri"/>
              <a:buNone/>
            </a:pPr>
            <a:r>
              <a:rPr b="0" i="0" lang="en-US" sz="928" u="none" cap="none" strike="noStrike">
                <a:solidFill>
                  <a:srgbClr val="F5A623"/>
                </a:solidFill>
                <a:latin typeface="Calibri"/>
                <a:ea typeface="Calibri"/>
                <a:cs typeface="Calibri"/>
                <a:sym typeface="Calibri"/>
              </a:rPr>
              <a:t>The cost today: List&lt;Double&gt; uses 3× memory of double[], generates heap objects the GC must track,</a:t>
            </a:r>
            <a:endParaRPr b="0" i="0" sz="928"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5A623"/>
              </a:buClr>
              <a:buSzPts val="928"/>
              <a:buFont typeface="Calibri"/>
              <a:buNone/>
            </a:pPr>
            <a:r>
              <a:rPr b="0" i="0" lang="en-US" sz="928" u="none" cap="none" strike="noStrike">
                <a:solidFill>
                  <a:srgbClr val="F5A623"/>
                </a:solidFill>
                <a:latin typeface="Calibri"/>
                <a:ea typeface="Calibri"/>
                <a:cs typeface="Calibri"/>
                <a:sym typeface="Calibri"/>
              </a:rPr>
              <a:t>and destroys cache locality. IntStream exists only because Stream&lt;int&gt; is illegal.</a:t>
            </a:r>
            <a:endParaRPr b="0" i="0" sz="928" u="none" cap="none" strike="noStrike">
              <a:solidFill>
                <a:schemeClr val="dk1"/>
              </a:solidFill>
              <a:latin typeface="Calibri"/>
              <a:ea typeface="Calibri"/>
              <a:cs typeface="Calibri"/>
              <a:sym typeface="Calibri"/>
            </a:endParaRPr>
          </a:p>
        </p:txBody>
      </p:sp>
      <p:sp>
        <p:nvSpPr>
          <p:cNvPr id="1736" name="Google Shape;1736;p53"/>
          <p:cNvSpPr/>
          <p:nvPr/>
        </p:nvSpPr>
        <p:spPr>
          <a:xfrm>
            <a:off x="418650" y="3962991"/>
            <a:ext cx="8306700" cy="21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075"/>
              <a:buFont typeface="Calibri"/>
              <a:buNone/>
            </a:pPr>
            <a:r>
              <a:rPr b="1" i="0" lang="en-US" sz="1075" u="none" cap="none" strike="noStrike">
                <a:solidFill>
                  <a:srgbClr val="00BCD4"/>
                </a:solidFill>
                <a:latin typeface="Calibri"/>
                <a:ea typeface="Calibri"/>
                <a:cs typeface="Calibri"/>
                <a:sym typeface="Calibri"/>
              </a:rPr>
              <a:t>Valhalla (value classes, early preview) bridges both worlds:</a:t>
            </a:r>
            <a:endParaRPr b="0" i="0" sz="1075" u="none" cap="none" strike="noStrike">
              <a:solidFill>
                <a:schemeClr val="dk1"/>
              </a:solidFill>
              <a:latin typeface="Calibri"/>
              <a:ea typeface="Calibri"/>
              <a:cs typeface="Calibri"/>
              <a:sym typeface="Calibri"/>
            </a:endParaRPr>
          </a:p>
        </p:txBody>
      </p:sp>
      <p:sp>
        <p:nvSpPr>
          <p:cNvPr id="1737" name="Google Shape;1737;p53"/>
          <p:cNvSpPr/>
          <p:nvPr/>
        </p:nvSpPr>
        <p:spPr>
          <a:xfrm>
            <a:off x="552633" y="4230958"/>
            <a:ext cx="8128500" cy="267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977"/>
              <a:buFont typeface="Calibri"/>
              <a:buNone/>
            </a:pPr>
            <a:r>
              <a:rPr b="0" i="0" lang="en-US" sz="977" u="none" cap="none" strike="noStrike">
                <a:solidFill>
                  <a:srgbClr val="00BCD4"/>
                </a:solidFill>
                <a:latin typeface="Calibri"/>
                <a:ea typeface="Calibri"/>
                <a:cs typeface="Calibri"/>
                <a:sym typeface="Calibri"/>
              </a:rPr>
              <a:t>▸  value class Point { double x; double y; }  →  stored inline, no header, no GC tracking</a:t>
            </a:r>
            <a:endParaRPr b="0" i="0" sz="977" u="none" cap="none" strike="noStrike">
              <a:solidFill>
                <a:schemeClr val="dk1"/>
              </a:solidFill>
              <a:latin typeface="Calibri"/>
              <a:ea typeface="Calibri"/>
              <a:cs typeface="Calibri"/>
              <a:sym typeface="Calibri"/>
            </a:endParaRPr>
          </a:p>
        </p:txBody>
      </p:sp>
      <p:sp>
        <p:nvSpPr>
          <p:cNvPr id="1738" name="Google Shape;1738;p53"/>
          <p:cNvSpPr/>
          <p:nvPr/>
        </p:nvSpPr>
        <p:spPr>
          <a:xfrm>
            <a:off x="552633" y="4534654"/>
            <a:ext cx="8128500" cy="267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977"/>
              <a:buFont typeface="Calibri"/>
              <a:buNone/>
            </a:pPr>
            <a:r>
              <a:rPr b="0" i="0" lang="en-US" sz="977" u="none" cap="none" strike="noStrike">
                <a:solidFill>
                  <a:srgbClr val="00BCD4"/>
                </a:solidFill>
                <a:latin typeface="Calibri"/>
                <a:ea typeface="Calibri"/>
                <a:cs typeface="Calibri"/>
                <a:sym typeface="Calibri"/>
              </a:rPr>
              <a:t>▸  List&lt;int&gt;, Map&lt;long,double&gt;, Optional&lt;int&gt;  →  no boxing, primitives as generic type args</a:t>
            </a:r>
            <a:endParaRPr b="0" i="0" sz="977" u="none" cap="none" strike="noStrike">
              <a:solidFill>
                <a:schemeClr val="dk1"/>
              </a:solidFill>
              <a:latin typeface="Calibri"/>
              <a:ea typeface="Calibri"/>
              <a:cs typeface="Calibri"/>
              <a:sym typeface="Calibri"/>
            </a:endParaRPr>
          </a:p>
        </p:txBody>
      </p:sp>
      <p:sp>
        <p:nvSpPr>
          <p:cNvPr id="1739" name="Google Shape;1739;p53"/>
          <p:cNvSpPr/>
          <p:nvPr/>
        </p:nvSpPr>
        <p:spPr>
          <a:xfrm>
            <a:off x="552633" y="4838350"/>
            <a:ext cx="8128500" cy="267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977"/>
              <a:buFont typeface="Calibri"/>
              <a:buNone/>
            </a:pPr>
            <a:r>
              <a:rPr b="0" i="0" lang="en-US" sz="977" u="none" cap="none" strike="noStrike">
                <a:solidFill>
                  <a:srgbClr val="27AE60"/>
                </a:solidFill>
                <a:latin typeface="Calibri"/>
                <a:ea typeface="Calibri"/>
                <a:cs typeface="Calibri"/>
                <a:sym typeface="Calibri"/>
              </a:rPr>
              <a:t>▸  Point[]  →  x0,y0,x1,y1 densely packed  vs  ptr,ptr,ptr → scattered heap objects today</a:t>
            </a:r>
            <a:endParaRPr b="0" i="0" sz="977" u="none" cap="none" strike="noStrike">
              <a:solidFill>
                <a:schemeClr val="dk1"/>
              </a:solidFill>
              <a:latin typeface="Calibri"/>
              <a:ea typeface="Calibri"/>
              <a:cs typeface="Calibri"/>
              <a:sym typeface="Calibri"/>
            </a:endParaRPr>
          </a:p>
        </p:txBody>
      </p:sp>
      <p:sp>
        <p:nvSpPr>
          <p:cNvPr id="1740" name="Google Shape;1740;p53"/>
          <p:cNvSpPr/>
          <p:nvPr/>
        </p:nvSpPr>
        <p:spPr>
          <a:xfrm>
            <a:off x="0" y="5394960"/>
            <a:ext cx="9144000" cy="201300"/>
          </a:xfrm>
          <a:prstGeom prst="rect">
            <a:avLst/>
          </a:prstGeom>
          <a:solidFill>
            <a:srgbClr val="0610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53"/>
          <p:cNvSpPr/>
          <p:nvPr/>
        </p:nvSpPr>
        <p:spPr>
          <a:xfrm>
            <a:off x="320040" y="5422392"/>
            <a:ext cx="8503800" cy="14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900"/>
              <a:buFont typeface="Calibri"/>
              <a:buNone/>
            </a:pPr>
            <a:r>
              <a:rPr b="0" i="0" lang="en-US" sz="900" u="none" cap="none" strike="noStrike">
                <a:solidFill>
                  <a:srgbClr val="00BCD4"/>
                </a:solidFill>
                <a:latin typeface="Calibri"/>
                <a:ea typeface="Calibri"/>
                <a:cs typeface="Calibri"/>
                <a:sym typeface="Calibri"/>
              </a:rPr>
              <a:t>JEP 401 (value classes) — first preview in an upcoming JDK  ·  Universal generics build on value classes  ·  Stable: several releases later</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746" name="Shape 1746"/>
        <p:cNvGrpSpPr/>
        <p:nvPr/>
      </p:nvGrpSpPr>
      <p:grpSpPr>
        <a:xfrm>
          <a:off x="0" y="0"/>
          <a:ext cx="0" cy="0"/>
          <a:chOff x="0" y="0"/>
          <a:chExt cx="0" cy="0"/>
        </a:xfrm>
      </p:grpSpPr>
      <p:sp>
        <p:nvSpPr>
          <p:cNvPr id="1747" name="Google Shape;1747;p54"/>
          <p:cNvSpPr/>
          <p:nvPr/>
        </p:nvSpPr>
        <p:spPr>
          <a:xfrm>
            <a:off x="0" y="0"/>
            <a:ext cx="9144000" cy="64020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54"/>
          <p:cNvSpPr/>
          <p:nvPr/>
        </p:nvSpPr>
        <p:spPr>
          <a:xfrm>
            <a:off x="320040" y="9144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200"/>
              <a:buFont typeface="Calibri"/>
              <a:buNone/>
            </a:pPr>
            <a:r>
              <a:rPr b="1" i="0" lang="en-US" sz="2200" u="none" cap="none" strike="noStrike">
                <a:solidFill>
                  <a:srgbClr val="00BCD4"/>
                </a:solidFill>
                <a:latin typeface="Calibri"/>
                <a:ea typeface="Calibri"/>
                <a:cs typeface="Calibri"/>
                <a:sym typeface="Calibri"/>
              </a:rPr>
              <a:t>Valhalla — Why It Matters for Your Kubernetes Workloads</a:t>
            </a:r>
            <a:endParaRPr b="0" i="0" sz="2200" u="none" cap="none" strike="noStrike">
              <a:solidFill>
                <a:schemeClr val="dk1"/>
              </a:solidFill>
              <a:latin typeface="Calibri"/>
              <a:ea typeface="Calibri"/>
              <a:cs typeface="Calibri"/>
              <a:sym typeface="Calibri"/>
            </a:endParaRPr>
          </a:p>
        </p:txBody>
      </p:sp>
      <p:sp>
        <p:nvSpPr>
          <p:cNvPr id="1749" name="Google Shape;1749;p54"/>
          <p:cNvSpPr/>
          <p:nvPr/>
        </p:nvSpPr>
        <p:spPr>
          <a:xfrm>
            <a:off x="7772400" y="73152"/>
            <a:ext cx="1234500" cy="49380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54"/>
          <p:cNvSpPr/>
          <p:nvPr/>
        </p:nvSpPr>
        <p:spPr>
          <a:xfrm>
            <a:off x="7772400" y="73152"/>
            <a:ext cx="1234500" cy="493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VALHALLA</a:t>
            </a:r>
            <a:endParaRPr b="0" i="0" sz="1100" u="none" cap="none" strike="noStrike">
              <a:solidFill>
                <a:schemeClr val="dk1"/>
              </a:solidFill>
              <a:latin typeface="Calibri"/>
              <a:ea typeface="Calibri"/>
              <a:cs typeface="Calibri"/>
              <a:sym typeface="Calibri"/>
            </a:endParaRPr>
          </a:p>
        </p:txBody>
      </p:sp>
      <p:sp>
        <p:nvSpPr>
          <p:cNvPr id="1751" name="Google Shape;1751;p54"/>
          <p:cNvSpPr/>
          <p:nvPr/>
        </p:nvSpPr>
        <p:spPr>
          <a:xfrm>
            <a:off x="482125" y="724399"/>
            <a:ext cx="2668800" cy="4089900"/>
          </a:xfrm>
          <a:prstGeom prst="rect">
            <a:avLst/>
          </a:prstGeom>
          <a:solidFill>
            <a:srgbClr val="122040"/>
          </a:solidFill>
          <a:ln cap="flat" cmpd="sng" w="18050">
            <a:solidFill>
              <a:srgbClr val="27AE60"/>
            </a:solidFill>
            <a:prstDash val="solid"/>
            <a:round/>
            <a:headEnd len="sm" w="sm" type="none"/>
            <a:tailEnd len="sm" w="sm" type="none"/>
          </a:ln>
        </p:spPr>
        <p:txBody>
          <a:bodyPr anchorCtr="0" anchor="ctr" bIns="86625" lIns="86625" spcFirstLastPara="1" rIns="86625" wrap="square" tIns="86625">
            <a:noAutofit/>
          </a:bodyPr>
          <a:lstStyle/>
          <a:p>
            <a:pPr indent="0" lvl="0" marL="0" rtl="0" algn="l">
              <a:spcBef>
                <a:spcPts val="0"/>
              </a:spcBef>
              <a:spcAft>
                <a:spcPts val="0"/>
              </a:spcAft>
              <a:buNone/>
            </a:pPr>
            <a:r>
              <a:t/>
            </a:r>
            <a:endParaRPr/>
          </a:p>
        </p:txBody>
      </p:sp>
      <p:sp>
        <p:nvSpPr>
          <p:cNvPr id="1752" name="Google Shape;1752;p54"/>
          <p:cNvSpPr/>
          <p:nvPr/>
        </p:nvSpPr>
        <p:spPr>
          <a:xfrm>
            <a:off x="482125" y="724399"/>
            <a:ext cx="2668800" cy="381300"/>
          </a:xfrm>
          <a:prstGeom prst="rect">
            <a:avLst/>
          </a:prstGeom>
          <a:solidFill>
            <a:srgbClr val="27AE60"/>
          </a:solidFill>
          <a:ln>
            <a:noFill/>
          </a:ln>
        </p:spPr>
        <p:txBody>
          <a:bodyPr anchorCtr="0" anchor="ctr" bIns="86625" lIns="86625" spcFirstLastPara="1" rIns="86625" wrap="square" tIns="86625">
            <a:noAutofit/>
          </a:bodyPr>
          <a:lstStyle/>
          <a:p>
            <a:pPr indent="0" lvl="0" marL="0" rtl="0" algn="l">
              <a:spcBef>
                <a:spcPts val="0"/>
              </a:spcBef>
              <a:spcAft>
                <a:spcPts val="0"/>
              </a:spcAft>
              <a:buNone/>
            </a:pPr>
            <a:r>
              <a:t/>
            </a:r>
            <a:endParaRPr/>
          </a:p>
        </p:txBody>
      </p:sp>
      <p:sp>
        <p:nvSpPr>
          <p:cNvPr id="1753" name="Google Shape;1753;p54"/>
          <p:cNvSpPr/>
          <p:nvPr/>
        </p:nvSpPr>
        <p:spPr>
          <a:xfrm>
            <a:off x="482125" y="724399"/>
            <a:ext cx="2668800" cy="38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37"/>
              <a:buFont typeface="Calibri"/>
              <a:buNone/>
            </a:pPr>
            <a:r>
              <a:rPr b="1" i="0" lang="en-US" sz="1137" u="none" cap="none" strike="noStrike">
                <a:solidFill>
                  <a:srgbClr val="FFFFFF"/>
                </a:solidFill>
                <a:latin typeface="Calibri"/>
                <a:ea typeface="Calibri"/>
                <a:cs typeface="Calibri"/>
                <a:sym typeface="Calibri"/>
              </a:rPr>
              <a:t>📉  Memory Footprint</a:t>
            </a:r>
            <a:endParaRPr b="0" i="0" sz="1137" u="none" cap="none" strike="noStrike">
              <a:solidFill>
                <a:schemeClr val="dk1"/>
              </a:solidFill>
              <a:latin typeface="Calibri"/>
              <a:ea typeface="Calibri"/>
              <a:cs typeface="Calibri"/>
              <a:sym typeface="Calibri"/>
            </a:endParaRPr>
          </a:p>
        </p:txBody>
      </p:sp>
      <p:sp>
        <p:nvSpPr>
          <p:cNvPr id="1754" name="Google Shape;1754;p54"/>
          <p:cNvSpPr/>
          <p:nvPr/>
        </p:nvSpPr>
        <p:spPr>
          <a:xfrm>
            <a:off x="568775" y="1157652"/>
            <a:ext cx="2495400" cy="19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855"/>
              </a:buClr>
              <a:buSzPts val="805"/>
              <a:buFont typeface="Calibri"/>
              <a:buNone/>
            </a:pPr>
            <a:r>
              <a:rPr b="1" i="0" lang="en-US" sz="805" u="none" cap="none" strike="noStrike">
                <a:solidFill>
                  <a:srgbClr val="E84855"/>
                </a:solidFill>
                <a:latin typeface="Calibri"/>
                <a:ea typeface="Calibri"/>
                <a:cs typeface="Calibri"/>
                <a:sym typeface="Calibri"/>
              </a:rPr>
              <a:t>TODAY</a:t>
            </a:r>
            <a:endParaRPr b="0" i="0" sz="805" u="none" cap="none" strike="noStrike">
              <a:solidFill>
                <a:schemeClr val="dk1"/>
              </a:solidFill>
              <a:latin typeface="Calibri"/>
              <a:ea typeface="Calibri"/>
              <a:cs typeface="Calibri"/>
              <a:sym typeface="Calibri"/>
            </a:endParaRPr>
          </a:p>
        </p:txBody>
      </p:sp>
      <p:sp>
        <p:nvSpPr>
          <p:cNvPr id="1755" name="Google Shape;1755;p54"/>
          <p:cNvSpPr/>
          <p:nvPr/>
        </p:nvSpPr>
        <p:spPr>
          <a:xfrm>
            <a:off x="568775" y="1365613"/>
            <a:ext cx="2495400" cy="779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53"/>
              <a:buFont typeface="Calibri"/>
              <a:buNone/>
            </a:pPr>
            <a:r>
              <a:rPr b="0" i="0" lang="en-US" sz="853" u="none" cap="none" strike="noStrike">
                <a:solidFill>
                  <a:srgbClr val="90A4AE"/>
                </a:solidFill>
                <a:latin typeface="Calibri"/>
                <a:ea typeface="Calibri"/>
                <a:cs typeface="Calibri"/>
                <a:sym typeface="Calibri"/>
              </a:rPr>
              <a:t>List&lt;Double&gt;: 3× memory</a:t>
            </a:r>
            <a:endParaRPr b="0" i="0" sz="853"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0A4AE"/>
              </a:buClr>
              <a:buSzPts val="853"/>
              <a:buFont typeface="Calibri"/>
              <a:buNone/>
            </a:pPr>
            <a:r>
              <a:rPr b="0" i="0" lang="en-US" sz="853" u="none" cap="none" strike="noStrike">
                <a:solidFill>
                  <a:srgbClr val="90A4AE"/>
                </a:solidFill>
                <a:latin typeface="Calibri"/>
                <a:ea typeface="Calibri"/>
                <a:cs typeface="Calibri"/>
                <a:sym typeface="Calibri"/>
              </a:rPr>
              <a:t>Integer[]: pointer array</a:t>
            </a:r>
            <a:endParaRPr b="0" i="0" sz="853"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0A4AE"/>
              </a:buClr>
              <a:buSzPts val="853"/>
              <a:buFont typeface="Calibri"/>
              <a:buNone/>
            </a:pPr>
            <a:r>
              <a:rPr b="0" i="0" lang="en-US" sz="853" u="none" cap="none" strike="noStrike">
                <a:solidFill>
                  <a:srgbClr val="90A4AE"/>
                </a:solidFill>
                <a:latin typeface="Calibri"/>
                <a:ea typeface="Calibri"/>
                <a:cs typeface="Calibri"/>
                <a:sym typeface="Calibri"/>
              </a:rPr>
              <a:t>+ scattered heap objects</a:t>
            </a:r>
            <a:endParaRPr b="0" i="0" sz="853"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0A4AE"/>
              </a:buClr>
              <a:buSzPts val="853"/>
              <a:buFont typeface="Calibri"/>
              <a:buNone/>
            </a:pPr>
            <a:r>
              <a:rPr b="0" i="0" lang="en-US" sz="853" u="none" cap="none" strike="noStrike">
                <a:solidFill>
                  <a:srgbClr val="90A4AE"/>
                </a:solidFill>
                <a:latin typeface="Calibri"/>
                <a:ea typeface="Calibri"/>
                <a:cs typeface="Calibri"/>
                <a:sym typeface="Calibri"/>
              </a:rPr>
              <a:t>+ 8-byte header per value</a:t>
            </a:r>
            <a:endParaRPr b="0" i="0" sz="853" u="none" cap="none" strike="noStrike">
              <a:solidFill>
                <a:schemeClr val="dk1"/>
              </a:solidFill>
              <a:latin typeface="Calibri"/>
              <a:ea typeface="Calibri"/>
              <a:cs typeface="Calibri"/>
              <a:sym typeface="Calibri"/>
            </a:endParaRPr>
          </a:p>
        </p:txBody>
      </p:sp>
      <p:sp>
        <p:nvSpPr>
          <p:cNvPr id="1756" name="Google Shape;1756;p54"/>
          <p:cNvSpPr/>
          <p:nvPr/>
        </p:nvSpPr>
        <p:spPr>
          <a:xfrm>
            <a:off x="568775" y="2197459"/>
            <a:ext cx="2495400" cy="17400"/>
          </a:xfrm>
          <a:prstGeom prst="rect">
            <a:avLst/>
          </a:prstGeom>
          <a:solidFill>
            <a:srgbClr val="27AE60"/>
          </a:solidFill>
          <a:ln>
            <a:noFill/>
          </a:ln>
        </p:spPr>
        <p:txBody>
          <a:bodyPr anchorCtr="0" anchor="ctr" bIns="86625" lIns="86625" spcFirstLastPara="1" rIns="86625" wrap="square" tIns="86625">
            <a:noAutofit/>
          </a:bodyPr>
          <a:lstStyle/>
          <a:p>
            <a:pPr indent="0" lvl="0" marL="0" rtl="0" algn="l">
              <a:spcBef>
                <a:spcPts val="0"/>
              </a:spcBef>
              <a:spcAft>
                <a:spcPts val="0"/>
              </a:spcAft>
              <a:buNone/>
            </a:pPr>
            <a:r>
              <a:t/>
            </a:r>
            <a:endParaRPr/>
          </a:p>
        </p:txBody>
      </p:sp>
      <p:sp>
        <p:nvSpPr>
          <p:cNvPr id="1757" name="Google Shape;1757;p54"/>
          <p:cNvSpPr/>
          <p:nvPr/>
        </p:nvSpPr>
        <p:spPr>
          <a:xfrm>
            <a:off x="568775" y="2232119"/>
            <a:ext cx="2495400" cy="19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805"/>
              <a:buFont typeface="Calibri"/>
              <a:buNone/>
            </a:pPr>
            <a:r>
              <a:rPr b="1" i="0" lang="en-US" sz="805" u="none" cap="none" strike="noStrike">
                <a:solidFill>
                  <a:srgbClr val="27AE60"/>
                </a:solidFill>
                <a:latin typeface="Calibri"/>
                <a:ea typeface="Calibri"/>
                <a:cs typeface="Calibri"/>
                <a:sym typeface="Calibri"/>
              </a:rPr>
              <a:t>▼  VALHALLA</a:t>
            </a:r>
            <a:endParaRPr b="0" i="0" sz="805" u="none" cap="none" strike="noStrike">
              <a:solidFill>
                <a:schemeClr val="dk1"/>
              </a:solidFill>
              <a:latin typeface="Calibri"/>
              <a:ea typeface="Calibri"/>
              <a:cs typeface="Calibri"/>
              <a:sym typeface="Calibri"/>
            </a:endParaRPr>
          </a:p>
        </p:txBody>
      </p:sp>
      <p:sp>
        <p:nvSpPr>
          <p:cNvPr id="1758" name="Google Shape;1758;p54"/>
          <p:cNvSpPr/>
          <p:nvPr/>
        </p:nvSpPr>
        <p:spPr>
          <a:xfrm>
            <a:off x="568775" y="2440080"/>
            <a:ext cx="2495400" cy="779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853"/>
              <a:buFont typeface="Calibri"/>
              <a:buNone/>
            </a:pPr>
            <a:r>
              <a:rPr b="0" i="0" lang="en-US" sz="853" u="none" cap="none" strike="noStrike">
                <a:solidFill>
                  <a:srgbClr val="ECF0F1"/>
                </a:solidFill>
                <a:latin typeface="Calibri"/>
                <a:ea typeface="Calibri"/>
                <a:cs typeface="Calibri"/>
                <a:sym typeface="Calibri"/>
              </a:rPr>
              <a:t>List&lt;double&gt;: 1× memory</a:t>
            </a:r>
            <a:endParaRPr b="0" i="0" sz="853"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3"/>
              <a:buFont typeface="Calibri"/>
              <a:buNone/>
            </a:pPr>
            <a:r>
              <a:rPr b="0" i="0" lang="en-US" sz="853" u="none" cap="none" strike="noStrike">
                <a:solidFill>
                  <a:srgbClr val="ECF0F1"/>
                </a:solidFill>
                <a:latin typeface="Calibri"/>
                <a:ea typeface="Calibri"/>
                <a:cs typeface="Calibri"/>
                <a:sym typeface="Calibri"/>
              </a:rPr>
              <a:t>double[]: densely packed</a:t>
            </a:r>
            <a:endParaRPr b="0" i="0" sz="853"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3"/>
              <a:buFont typeface="Calibri"/>
              <a:buNone/>
            </a:pPr>
            <a:r>
              <a:rPr b="0" i="0" lang="en-US" sz="853" u="none" cap="none" strike="noStrike">
                <a:solidFill>
                  <a:srgbClr val="ECF0F1"/>
                </a:solidFill>
                <a:latin typeface="Calibri"/>
                <a:ea typeface="Calibri"/>
                <a:cs typeface="Calibri"/>
                <a:sym typeface="Calibri"/>
              </a:rPr>
              <a:t>no heap objects created</a:t>
            </a:r>
            <a:endParaRPr b="0" i="0" sz="853"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3"/>
              <a:buFont typeface="Calibri"/>
              <a:buNone/>
            </a:pPr>
            <a:r>
              <a:rPr b="0" i="0" lang="en-US" sz="853" u="none" cap="none" strike="noStrike">
                <a:solidFill>
                  <a:srgbClr val="ECF0F1"/>
                </a:solidFill>
                <a:latin typeface="Calibri"/>
                <a:ea typeface="Calibri"/>
                <a:cs typeface="Calibri"/>
                <a:sym typeface="Calibri"/>
              </a:rPr>
              <a:t>no header overhead</a:t>
            </a:r>
            <a:endParaRPr b="0" i="0" sz="853" u="none" cap="none" strike="noStrike">
              <a:solidFill>
                <a:schemeClr val="dk1"/>
              </a:solidFill>
              <a:latin typeface="Calibri"/>
              <a:ea typeface="Calibri"/>
              <a:cs typeface="Calibri"/>
              <a:sym typeface="Calibri"/>
            </a:endParaRPr>
          </a:p>
        </p:txBody>
      </p:sp>
      <p:sp>
        <p:nvSpPr>
          <p:cNvPr id="1759" name="Google Shape;1759;p54"/>
          <p:cNvSpPr/>
          <p:nvPr/>
        </p:nvSpPr>
        <p:spPr>
          <a:xfrm>
            <a:off x="568775" y="3289255"/>
            <a:ext cx="2495400" cy="1317000"/>
          </a:xfrm>
          <a:prstGeom prst="rect">
            <a:avLst/>
          </a:prstGeom>
          <a:solidFill>
            <a:srgbClr val="08111F"/>
          </a:solidFill>
          <a:ln cap="flat" cmpd="sng" w="12025">
            <a:solidFill>
              <a:srgbClr val="27AE60"/>
            </a:solidFill>
            <a:prstDash val="solid"/>
            <a:round/>
            <a:headEnd len="sm" w="sm" type="none"/>
            <a:tailEnd len="sm" w="sm" type="none"/>
          </a:ln>
        </p:spPr>
        <p:txBody>
          <a:bodyPr anchorCtr="0" anchor="ctr" bIns="86625" lIns="86625" spcFirstLastPara="1" rIns="86625" wrap="square" tIns="86625">
            <a:noAutofit/>
          </a:bodyPr>
          <a:lstStyle/>
          <a:p>
            <a:pPr indent="0" lvl="0" marL="0" rtl="0" algn="l">
              <a:spcBef>
                <a:spcPts val="0"/>
              </a:spcBef>
              <a:spcAft>
                <a:spcPts val="0"/>
              </a:spcAft>
              <a:buNone/>
            </a:pPr>
            <a:r>
              <a:t/>
            </a:r>
            <a:endParaRPr/>
          </a:p>
        </p:txBody>
      </p:sp>
      <p:sp>
        <p:nvSpPr>
          <p:cNvPr id="1760" name="Google Shape;1760;p54"/>
          <p:cNvSpPr/>
          <p:nvPr/>
        </p:nvSpPr>
        <p:spPr>
          <a:xfrm>
            <a:off x="638095" y="3341246"/>
            <a:ext cx="2357100" cy="19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758"/>
              <a:buFont typeface="Calibri"/>
              <a:buNone/>
            </a:pPr>
            <a:r>
              <a:rPr b="1" i="0" lang="en-US" sz="758" u="none" cap="none" strike="noStrike">
                <a:solidFill>
                  <a:srgbClr val="27AE60"/>
                </a:solidFill>
                <a:latin typeface="Calibri"/>
                <a:ea typeface="Calibri"/>
                <a:cs typeface="Calibri"/>
                <a:sym typeface="Calibri"/>
              </a:rPr>
              <a:t>NET EFFECT</a:t>
            </a:r>
            <a:endParaRPr b="0" i="0" sz="758" u="none" cap="none" strike="noStrike">
              <a:solidFill>
                <a:schemeClr val="dk1"/>
              </a:solidFill>
              <a:latin typeface="Calibri"/>
              <a:ea typeface="Calibri"/>
              <a:cs typeface="Calibri"/>
              <a:sym typeface="Calibri"/>
            </a:endParaRPr>
          </a:p>
        </p:txBody>
      </p:sp>
      <p:sp>
        <p:nvSpPr>
          <p:cNvPr id="1761" name="Google Shape;1761;p54"/>
          <p:cNvSpPr/>
          <p:nvPr/>
        </p:nvSpPr>
        <p:spPr>
          <a:xfrm>
            <a:off x="638095" y="3549207"/>
            <a:ext cx="2357100" cy="987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900"/>
              <a:buFont typeface="Calibri"/>
              <a:buNone/>
            </a:pPr>
            <a:r>
              <a:rPr b="0" i="0" lang="en-US" sz="900" u="none" cap="none" strike="noStrike">
                <a:solidFill>
                  <a:srgbClr val="27AE60"/>
                </a:solidFill>
                <a:latin typeface="Calibri"/>
                <a:ea typeface="Calibri"/>
                <a:cs typeface="Calibri"/>
                <a:sym typeface="Calibri"/>
              </a:rPr>
              <a:t>Pod memory requests</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7AE60"/>
              </a:buClr>
              <a:buSzPts val="900"/>
              <a:buFont typeface="Calibri"/>
              <a:buNone/>
            </a:pPr>
            <a:r>
              <a:rPr b="0" i="0" lang="en-US" sz="900" u="none" cap="none" strike="noStrike">
                <a:solidFill>
                  <a:srgbClr val="27AE60"/>
                </a:solidFill>
                <a:latin typeface="Calibri"/>
                <a:ea typeface="Calibri"/>
                <a:cs typeface="Calibri"/>
                <a:sym typeface="Calibri"/>
              </a:rPr>
              <a:t>cut by up to 50%</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7AE60"/>
              </a:buClr>
              <a:buSzPts val="900"/>
              <a:buFont typeface="Calibri"/>
              <a:buNone/>
            </a:pPr>
            <a:r>
              <a:rPr b="0" i="0" lang="en-US" sz="900" u="none" cap="none" strike="noStrike">
                <a:solidFill>
                  <a:srgbClr val="27AE60"/>
                </a:solidFill>
                <a:latin typeface="Calibri"/>
                <a:ea typeface="Calibri"/>
                <a:cs typeface="Calibri"/>
                <a:sym typeface="Calibri"/>
              </a:rPr>
              <a:t>on collection-heavy</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7AE60"/>
              </a:buClr>
              <a:buSzPts val="900"/>
              <a:buFont typeface="Calibri"/>
              <a:buNone/>
            </a:pPr>
            <a:r>
              <a:rPr b="0" i="0" lang="en-US" sz="900" u="none" cap="none" strike="noStrike">
                <a:solidFill>
                  <a:srgbClr val="27AE60"/>
                </a:solidFill>
                <a:latin typeface="Calibri"/>
                <a:ea typeface="Calibri"/>
                <a:cs typeface="Calibri"/>
                <a:sym typeface="Calibri"/>
              </a:rPr>
              <a:t>workloads</a:t>
            </a:r>
            <a:endParaRPr b="0" i="0" sz="900" u="none" cap="none" strike="noStrike">
              <a:solidFill>
                <a:schemeClr val="dk1"/>
              </a:solidFill>
              <a:latin typeface="Calibri"/>
              <a:ea typeface="Calibri"/>
              <a:cs typeface="Calibri"/>
              <a:sym typeface="Calibri"/>
            </a:endParaRPr>
          </a:p>
        </p:txBody>
      </p:sp>
      <p:sp>
        <p:nvSpPr>
          <p:cNvPr id="1762" name="Google Shape;1762;p54"/>
          <p:cNvSpPr/>
          <p:nvPr/>
        </p:nvSpPr>
        <p:spPr>
          <a:xfrm>
            <a:off x="3237601" y="724399"/>
            <a:ext cx="2668800" cy="4089900"/>
          </a:xfrm>
          <a:prstGeom prst="rect">
            <a:avLst/>
          </a:prstGeom>
          <a:solidFill>
            <a:srgbClr val="122040"/>
          </a:solidFill>
          <a:ln cap="flat" cmpd="sng" w="18050">
            <a:solidFill>
              <a:srgbClr val="00BCD4"/>
            </a:solidFill>
            <a:prstDash val="solid"/>
            <a:round/>
            <a:headEnd len="sm" w="sm" type="none"/>
            <a:tailEnd len="sm" w="sm" type="none"/>
          </a:ln>
        </p:spPr>
        <p:txBody>
          <a:bodyPr anchorCtr="0" anchor="ctr" bIns="86625" lIns="86625" spcFirstLastPara="1" rIns="86625" wrap="square" tIns="86625">
            <a:noAutofit/>
          </a:bodyPr>
          <a:lstStyle/>
          <a:p>
            <a:pPr indent="0" lvl="0" marL="0" rtl="0" algn="l">
              <a:spcBef>
                <a:spcPts val="0"/>
              </a:spcBef>
              <a:spcAft>
                <a:spcPts val="0"/>
              </a:spcAft>
              <a:buNone/>
            </a:pPr>
            <a:r>
              <a:t/>
            </a:r>
            <a:endParaRPr/>
          </a:p>
        </p:txBody>
      </p:sp>
      <p:sp>
        <p:nvSpPr>
          <p:cNvPr id="1763" name="Google Shape;1763;p54"/>
          <p:cNvSpPr/>
          <p:nvPr/>
        </p:nvSpPr>
        <p:spPr>
          <a:xfrm>
            <a:off x="3237601" y="724399"/>
            <a:ext cx="2668800" cy="381300"/>
          </a:xfrm>
          <a:prstGeom prst="rect">
            <a:avLst/>
          </a:prstGeom>
          <a:solidFill>
            <a:srgbClr val="00BCD4"/>
          </a:solidFill>
          <a:ln>
            <a:noFill/>
          </a:ln>
        </p:spPr>
        <p:txBody>
          <a:bodyPr anchorCtr="0" anchor="ctr" bIns="86625" lIns="86625" spcFirstLastPara="1" rIns="86625" wrap="square" tIns="86625">
            <a:noAutofit/>
          </a:bodyPr>
          <a:lstStyle/>
          <a:p>
            <a:pPr indent="0" lvl="0" marL="0" rtl="0" algn="l">
              <a:spcBef>
                <a:spcPts val="0"/>
              </a:spcBef>
              <a:spcAft>
                <a:spcPts val="0"/>
              </a:spcAft>
              <a:buNone/>
            </a:pPr>
            <a:r>
              <a:t/>
            </a:r>
            <a:endParaRPr/>
          </a:p>
        </p:txBody>
      </p:sp>
      <p:sp>
        <p:nvSpPr>
          <p:cNvPr id="1764" name="Google Shape;1764;p54"/>
          <p:cNvSpPr/>
          <p:nvPr/>
        </p:nvSpPr>
        <p:spPr>
          <a:xfrm>
            <a:off x="3237601" y="724399"/>
            <a:ext cx="2668800" cy="38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37"/>
              <a:buFont typeface="Calibri"/>
              <a:buNone/>
            </a:pPr>
            <a:r>
              <a:rPr b="1" i="0" lang="en-US" sz="1137" u="none" cap="none" strike="noStrike">
                <a:solidFill>
                  <a:srgbClr val="FFFFFF"/>
                </a:solidFill>
                <a:latin typeface="Calibri"/>
                <a:ea typeface="Calibri"/>
                <a:cs typeface="Calibri"/>
                <a:sym typeface="Calibri"/>
              </a:rPr>
              <a:t>♻️  GC Pressure</a:t>
            </a:r>
            <a:endParaRPr b="0" i="0" sz="1137" u="none" cap="none" strike="noStrike">
              <a:solidFill>
                <a:schemeClr val="dk1"/>
              </a:solidFill>
              <a:latin typeface="Calibri"/>
              <a:ea typeface="Calibri"/>
              <a:cs typeface="Calibri"/>
              <a:sym typeface="Calibri"/>
            </a:endParaRPr>
          </a:p>
        </p:txBody>
      </p:sp>
      <p:sp>
        <p:nvSpPr>
          <p:cNvPr id="1765" name="Google Shape;1765;p54"/>
          <p:cNvSpPr/>
          <p:nvPr/>
        </p:nvSpPr>
        <p:spPr>
          <a:xfrm>
            <a:off x="3324252" y="1157652"/>
            <a:ext cx="2495400" cy="19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855"/>
              </a:buClr>
              <a:buSzPts val="805"/>
              <a:buFont typeface="Calibri"/>
              <a:buNone/>
            </a:pPr>
            <a:r>
              <a:rPr b="1" i="0" lang="en-US" sz="805" u="none" cap="none" strike="noStrike">
                <a:solidFill>
                  <a:srgbClr val="E84855"/>
                </a:solidFill>
                <a:latin typeface="Calibri"/>
                <a:ea typeface="Calibri"/>
                <a:cs typeface="Calibri"/>
                <a:sym typeface="Calibri"/>
              </a:rPr>
              <a:t>TODAY</a:t>
            </a:r>
            <a:endParaRPr b="0" i="0" sz="805" u="none" cap="none" strike="noStrike">
              <a:solidFill>
                <a:schemeClr val="dk1"/>
              </a:solidFill>
              <a:latin typeface="Calibri"/>
              <a:ea typeface="Calibri"/>
              <a:cs typeface="Calibri"/>
              <a:sym typeface="Calibri"/>
            </a:endParaRPr>
          </a:p>
        </p:txBody>
      </p:sp>
      <p:sp>
        <p:nvSpPr>
          <p:cNvPr id="1766" name="Google Shape;1766;p54"/>
          <p:cNvSpPr/>
          <p:nvPr/>
        </p:nvSpPr>
        <p:spPr>
          <a:xfrm>
            <a:off x="3324252" y="1365613"/>
            <a:ext cx="2495400" cy="779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53"/>
              <a:buFont typeface="Calibri"/>
              <a:buNone/>
            </a:pPr>
            <a:r>
              <a:rPr b="0" i="0" lang="en-US" sz="853" u="none" cap="none" strike="noStrike">
                <a:solidFill>
                  <a:srgbClr val="90A4AE"/>
                </a:solidFill>
                <a:latin typeface="Calibri"/>
                <a:ea typeface="Calibri"/>
                <a:cs typeface="Calibri"/>
                <a:sym typeface="Calibri"/>
              </a:rPr>
              <a:t>Every boxed Long/Double</a:t>
            </a:r>
            <a:endParaRPr b="0" i="0" sz="853"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0A4AE"/>
              </a:buClr>
              <a:buSzPts val="853"/>
              <a:buFont typeface="Calibri"/>
              <a:buNone/>
            </a:pPr>
            <a:r>
              <a:rPr b="0" i="0" lang="en-US" sz="853" u="none" cap="none" strike="noStrike">
                <a:solidFill>
                  <a:srgbClr val="90A4AE"/>
                </a:solidFill>
                <a:latin typeface="Calibri"/>
                <a:ea typeface="Calibri"/>
                <a:cs typeface="Calibri"/>
                <a:sym typeface="Calibri"/>
              </a:rPr>
              <a:t>is a GC-tracked object</a:t>
            </a:r>
            <a:endParaRPr b="0" i="0" sz="853"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0A4AE"/>
              </a:buClr>
              <a:buSzPts val="853"/>
              <a:buFont typeface="Calibri"/>
              <a:buNone/>
            </a:pPr>
            <a:r>
              <a:rPr b="0" i="0" lang="en-US" sz="853" u="none" cap="none" strike="noStrike">
                <a:solidFill>
                  <a:srgbClr val="90A4AE"/>
                </a:solidFill>
                <a:latin typeface="Calibri"/>
                <a:ea typeface="Calibri"/>
                <a:cs typeface="Calibri"/>
                <a:sym typeface="Calibri"/>
              </a:rPr>
              <a:t>Millions of short-lived</a:t>
            </a:r>
            <a:endParaRPr b="0" i="0" sz="853"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0A4AE"/>
              </a:buClr>
              <a:buSzPts val="853"/>
              <a:buFont typeface="Calibri"/>
              <a:buNone/>
            </a:pPr>
            <a:r>
              <a:rPr b="0" i="0" lang="en-US" sz="853" u="none" cap="none" strike="noStrike">
                <a:solidFill>
                  <a:srgbClr val="90A4AE"/>
                </a:solidFill>
                <a:latin typeface="Calibri"/>
                <a:ea typeface="Calibri"/>
                <a:cs typeface="Calibri"/>
                <a:sym typeface="Calibri"/>
              </a:rPr>
              <a:t>boxed values per second</a:t>
            </a:r>
            <a:endParaRPr b="0" i="0" sz="853" u="none" cap="none" strike="noStrike">
              <a:solidFill>
                <a:schemeClr val="dk1"/>
              </a:solidFill>
              <a:latin typeface="Calibri"/>
              <a:ea typeface="Calibri"/>
              <a:cs typeface="Calibri"/>
              <a:sym typeface="Calibri"/>
            </a:endParaRPr>
          </a:p>
        </p:txBody>
      </p:sp>
      <p:sp>
        <p:nvSpPr>
          <p:cNvPr id="1767" name="Google Shape;1767;p54"/>
          <p:cNvSpPr/>
          <p:nvPr/>
        </p:nvSpPr>
        <p:spPr>
          <a:xfrm>
            <a:off x="3324252" y="2197459"/>
            <a:ext cx="2495400" cy="17400"/>
          </a:xfrm>
          <a:prstGeom prst="rect">
            <a:avLst/>
          </a:prstGeom>
          <a:solidFill>
            <a:srgbClr val="00BCD4"/>
          </a:solidFill>
          <a:ln>
            <a:noFill/>
          </a:ln>
        </p:spPr>
        <p:txBody>
          <a:bodyPr anchorCtr="0" anchor="ctr" bIns="86625" lIns="86625" spcFirstLastPara="1" rIns="86625" wrap="square" tIns="86625">
            <a:noAutofit/>
          </a:bodyPr>
          <a:lstStyle/>
          <a:p>
            <a:pPr indent="0" lvl="0" marL="0" rtl="0" algn="l">
              <a:spcBef>
                <a:spcPts val="0"/>
              </a:spcBef>
              <a:spcAft>
                <a:spcPts val="0"/>
              </a:spcAft>
              <a:buNone/>
            </a:pPr>
            <a:r>
              <a:t/>
            </a:r>
            <a:endParaRPr/>
          </a:p>
        </p:txBody>
      </p:sp>
      <p:sp>
        <p:nvSpPr>
          <p:cNvPr id="1768" name="Google Shape;1768;p54"/>
          <p:cNvSpPr/>
          <p:nvPr/>
        </p:nvSpPr>
        <p:spPr>
          <a:xfrm>
            <a:off x="3324252" y="2232119"/>
            <a:ext cx="2495400" cy="19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805"/>
              <a:buFont typeface="Calibri"/>
              <a:buNone/>
            </a:pPr>
            <a:r>
              <a:rPr b="1" i="0" lang="en-US" sz="805" u="none" cap="none" strike="noStrike">
                <a:solidFill>
                  <a:srgbClr val="00BCD4"/>
                </a:solidFill>
                <a:latin typeface="Calibri"/>
                <a:ea typeface="Calibri"/>
                <a:cs typeface="Calibri"/>
                <a:sym typeface="Calibri"/>
              </a:rPr>
              <a:t>▼  VALHALLA</a:t>
            </a:r>
            <a:endParaRPr b="0" i="0" sz="805" u="none" cap="none" strike="noStrike">
              <a:solidFill>
                <a:schemeClr val="dk1"/>
              </a:solidFill>
              <a:latin typeface="Calibri"/>
              <a:ea typeface="Calibri"/>
              <a:cs typeface="Calibri"/>
              <a:sym typeface="Calibri"/>
            </a:endParaRPr>
          </a:p>
        </p:txBody>
      </p:sp>
      <p:sp>
        <p:nvSpPr>
          <p:cNvPr id="1769" name="Google Shape;1769;p54"/>
          <p:cNvSpPr/>
          <p:nvPr/>
        </p:nvSpPr>
        <p:spPr>
          <a:xfrm>
            <a:off x="3324252" y="2440080"/>
            <a:ext cx="2495400" cy="779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853"/>
              <a:buFont typeface="Calibri"/>
              <a:buNone/>
            </a:pPr>
            <a:r>
              <a:rPr b="0" i="0" lang="en-US" sz="853" u="none" cap="none" strike="noStrike">
                <a:solidFill>
                  <a:srgbClr val="ECF0F1"/>
                </a:solidFill>
                <a:latin typeface="Calibri"/>
                <a:ea typeface="Calibri"/>
                <a:cs typeface="Calibri"/>
                <a:sym typeface="Calibri"/>
              </a:rPr>
              <a:t>Value types: zero heap</a:t>
            </a:r>
            <a:endParaRPr b="0" i="0" sz="853"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3"/>
              <a:buFont typeface="Calibri"/>
              <a:buNone/>
            </a:pPr>
            <a:r>
              <a:rPr b="0" i="0" lang="en-US" sz="853" u="none" cap="none" strike="noStrike">
                <a:solidFill>
                  <a:srgbClr val="ECF0F1"/>
                </a:solidFill>
                <a:latin typeface="Calibri"/>
                <a:ea typeface="Calibri"/>
                <a:cs typeface="Calibri"/>
                <a:sym typeface="Calibri"/>
              </a:rPr>
              <a:t>allocation, zero GC</a:t>
            </a:r>
            <a:endParaRPr b="0" i="0" sz="853"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3"/>
              <a:buFont typeface="Calibri"/>
              <a:buNone/>
            </a:pPr>
            <a:r>
              <a:rPr b="0" i="0" lang="en-US" sz="853" u="none" cap="none" strike="noStrike">
                <a:solidFill>
                  <a:srgbClr val="ECF0F1"/>
                </a:solidFill>
                <a:latin typeface="Calibri"/>
                <a:ea typeface="Calibri"/>
                <a:cs typeface="Calibri"/>
                <a:sym typeface="Calibri"/>
              </a:rPr>
              <a:t>tracking, zero marking</a:t>
            </a:r>
            <a:endParaRPr b="0" i="0" sz="853"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3"/>
              <a:buFont typeface="Calibri"/>
              <a:buNone/>
            </a:pPr>
            <a:r>
              <a:rPr b="0" i="0" lang="en-US" sz="853" u="none" cap="none" strike="noStrike">
                <a:solidFill>
                  <a:srgbClr val="ECF0F1"/>
                </a:solidFill>
                <a:latin typeface="Calibri"/>
                <a:ea typeface="Calibri"/>
                <a:cs typeface="Calibri"/>
                <a:sym typeface="Calibri"/>
              </a:rPr>
              <a:t>GC only sees real objects</a:t>
            </a:r>
            <a:endParaRPr b="0" i="0" sz="853" u="none" cap="none" strike="noStrike">
              <a:solidFill>
                <a:schemeClr val="dk1"/>
              </a:solidFill>
              <a:latin typeface="Calibri"/>
              <a:ea typeface="Calibri"/>
              <a:cs typeface="Calibri"/>
              <a:sym typeface="Calibri"/>
            </a:endParaRPr>
          </a:p>
        </p:txBody>
      </p:sp>
      <p:sp>
        <p:nvSpPr>
          <p:cNvPr id="1770" name="Google Shape;1770;p54"/>
          <p:cNvSpPr/>
          <p:nvPr/>
        </p:nvSpPr>
        <p:spPr>
          <a:xfrm>
            <a:off x="3324252" y="3289255"/>
            <a:ext cx="2495400" cy="1317000"/>
          </a:xfrm>
          <a:prstGeom prst="rect">
            <a:avLst/>
          </a:prstGeom>
          <a:solidFill>
            <a:srgbClr val="08111F"/>
          </a:solidFill>
          <a:ln cap="flat" cmpd="sng" w="12025">
            <a:solidFill>
              <a:srgbClr val="00BCD4"/>
            </a:solidFill>
            <a:prstDash val="solid"/>
            <a:round/>
            <a:headEnd len="sm" w="sm" type="none"/>
            <a:tailEnd len="sm" w="sm" type="none"/>
          </a:ln>
        </p:spPr>
        <p:txBody>
          <a:bodyPr anchorCtr="0" anchor="ctr" bIns="86625" lIns="86625" spcFirstLastPara="1" rIns="86625" wrap="square" tIns="86625">
            <a:noAutofit/>
          </a:bodyPr>
          <a:lstStyle/>
          <a:p>
            <a:pPr indent="0" lvl="0" marL="0" rtl="0" algn="l">
              <a:spcBef>
                <a:spcPts val="0"/>
              </a:spcBef>
              <a:spcAft>
                <a:spcPts val="0"/>
              </a:spcAft>
              <a:buNone/>
            </a:pPr>
            <a:r>
              <a:t/>
            </a:r>
            <a:endParaRPr/>
          </a:p>
        </p:txBody>
      </p:sp>
      <p:sp>
        <p:nvSpPr>
          <p:cNvPr id="1771" name="Google Shape;1771;p54"/>
          <p:cNvSpPr/>
          <p:nvPr/>
        </p:nvSpPr>
        <p:spPr>
          <a:xfrm>
            <a:off x="3393572" y="3341246"/>
            <a:ext cx="2357100" cy="19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758"/>
              <a:buFont typeface="Calibri"/>
              <a:buNone/>
            </a:pPr>
            <a:r>
              <a:rPr b="1" i="0" lang="en-US" sz="758" u="none" cap="none" strike="noStrike">
                <a:solidFill>
                  <a:srgbClr val="00BCD4"/>
                </a:solidFill>
                <a:latin typeface="Calibri"/>
                <a:ea typeface="Calibri"/>
                <a:cs typeface="Calibri"/>
                <a:sym typeface="Calibri"/>
              </a:rPr>
              <a:t>NET EFFECT</a:t>
            </a:r>
            <a:endParaRPr b="0" i="0" sz="758" u="none" cap="none" strike="noStrike">
              <a:solidFill>
                <a:schemeClr val="dk1"/>
              </a:solidFill>
              <a:latin typeface="Calibri"/>
              <a:ea typeface="Calibri"/>
              <a:cs typeface="Calibri"/>
              <a:sym typeface="Calibri"/>
            </a:endParaRPr>
          </a:p>
        </p:txBody>
      </p:sp>
      <p:sp>
        <p:nvSpPr>
          <p:cNvPr id="1772" name="Google Shape;1772;p54"/>
          <p:cNvSpPr/>
          <p:nvPr/>
        </p:nvSpPr>
        <p:spPr>
          <a:xfrm>
            <a:off x="3393572" y="3549207"/>
            <a:ext cx="2357100" cy="987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900"/>
              <a:buFont typeface="Calibri"/>
              <a:buNone/>
            </a:pPr>
            <a:r>
              <a:rPr b="0" i="0" lang="en-US" sz="900" u="none" cap="none" strike="noStrike">
                <a:solidFill>
                  <a:srgbClr val="00BCD4"/>
                </a:solidFill>
                <a:latin typeface="Calibri"/>
                <a:ea typeface="Calibri"/>
                <a:cs typeface="Calibri"/>
                <a:sym typeface="Calibri"/>
              </a:rPr>
              <a:t>Fewer GC pauses</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BCD4"/>
              </a:buClr>
              <a:buSzPts val="900"/>
              <a:buFont typeface="Calibri"/>
              <a:buNone/>
            </a:pPr>
            <a:r>
              <a:rPr b="0" i="0" lang="en-US" sz="900" u="none" cap="none" strike="noStrike">
                <a:solidFill>
                  <a:srgbClr val="00BCD4"/>
                </a:solidFill>
                <a:latin typeface="Calibri"/>
                <a:ea typeface="Calibri"/>
                <a:cs typeface="Calibri"/>
                <a:sym typeface="Calibri"/>
              </a:rPr>
              <a:t>Smaller pause duration</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BCD4"/>
              </a:buClr>
              <a:buSzPts val="900"/>
              <a:buFont typeface="Calibri"/>
              <a:buNone/>
            </a:pPr>
            <a:r>
              <a:rPr b="0" i="0" lang="en-US" sz="900" u="none" cap="none" strike="noStrike">
                <a:solidFill>
                  <a:srgbClr val="00BCD4"/>
                </a:solidFill>
                <a:latin typeface="Calibri"/>
                <a:ea typeface="Calibri"/>
                <a:cs typeface="Calibri"/>
                <a:sym typeface="Calibri"/>
              </a:rPr>
              <a:t>Smoother CPU profile</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BCD4"/>
              </a:buClr>
              <a:buSzPts val="900"/>
              <a:buFont typeface="Calibri"/>
              <a:buNone/>
            </a:pPr>
            <a:r>
              <a:rPr b="0" i="0" lang="en-US" sz="900" u="none" cap="none" strike="noStrike">
                <a:solidFill>
                  <a:srgbClr val="00BCD4"/>
                </a:solidFill>
                <a:latin typeface="Calibri"/>
                <a:ea typeface="Calibri"/>
                <a:cs typeface="Calibri"/>
                <a:sym typeface="Calibri"/>
              </a:rPr>
              <a:t>HPA stays quiet</a:t>
            </a:r>
            <a:endParaRPr b="0" i="0" sz="900" u="none" cap="none" strike="noStrike">
              <a:solidFill>
                <a:schemeClr val="dk1"/>
              </a:solidFill>
              <a:latin typeface="Calibri"/>
              <a:ea typeface="Calibri"/>
              <a:cs typeface="Calibri"/>
              <a:sym typeface="Calibri"/>
            </a:endParaRPr>
          </a:p>
        </p:txBody>
      </p:sp>
      <p:sp>
        <p:nvSpPr>
          <p:cNvPr id="1773" name="Google Shape;1773;p54"/>
          <p:cNvSpPr/>
          <p:nvPr/>
        </p:nvSpPr>
        <p:spPr>
          <a:xfrm>
            <a:off x="5993078" y="724399"/>
            <a:ext cx="2668800" cy="4089900"/>
          </a:xfrm>
          <a:prstGeom prst="rect">
            <a:avLst/>
          </a:prstGeom>
          <a:solidFill>
            <a:srgbClr val="122040"/>
          </a:solidFill>
          <a:ln cap="flat" cmpd="sng" w="18050">
            <a:solidFill>
              <a:srgbClr val="F5A623"/>
            </a:solidFill>
            <a:prstDash val="solid"/>
            <a:round/>
            <a:headEnd len="sm" w="sm" type="none"/>
            <a:tailEnd len="sm" w="sm" type="none"/>
          </a:ln>
        </p:spPr>
        <p:txBody>
          <a:bodyPr anchorCtr="0" anchor="ctr" bIns="86625" lIns="86625" spcFirstLastPara="1" rIns="86625" wrap="square" tIns="86625">
            <a:noAutofit/>
          </a:bodyPr>
          <a:lstStyle/>
          <a:p>
            <a:pPr indent="0" lvl="0" marL="0" rtl="0" algn="l">
              <a:spcBef>
                <a:spcPts val="0"/>
              </a:spcBef>
              <a:spcAft>
                <a:spcPts val="0"/>
              </a:spcAft>
              <a:buNone/>
            </a:pPr>
            <a:r>
              <a:t/>
            </a:r>
            <a:endParaRPr/>
          </a:p>
        </p:txBody>
      </p:sp>
      <p:sp>
        <p:nvSpPr>
          <p:cNvPr id="1774" name="Google Shape;1774;p54"/>
          <p:cNvSpPr/>
          <p:nvPr/>
        </p:nvSpPr>
        <p:spPr>
          <a:xfrm>
            <a:off x="5993078" y="724399"/>
            <a:ext cx="2668800" cy="381300"/>
          </a:xfrm>
          <a:prstGeom prst="rect">
            <a:avLst/>
          </a:prstGeom>
          <a:solidFill>
            <a:srgbClr val="F5A623"/>
          </a:solidFill>
          <a:ln>
            <a:noFill/>
          </a:ln>
        </p:spPr>
        <p:txBody>
          <a:bodyPr anchorCtr="0" anchor="ctr" bIns="86625" lIns="86625" spcFirstLastPara="1" rIns="86625" wrap="square" tIns="86625">
            <a:noAutofit/>
          </a:bodyPr>
          <a:lstStyle/>
          <a:p>
            <a:pPr indent="0" lvl="0" marL="0" rtl="0" algn="l">
              <a:spcBef>
                <a:spcPts val="0"/>
              </a:spcBef>
              <a:spcAft>
                <a:spcPts val="0"/>
              </a:spcAft>
              <a:buNone/>
            </a:pPr>
            <a:r>
              <a:t/>
            </a:r>
            <a:endParaRPr/>
          </a:p>
        </p:txBody>
      </p:sp>
      <p:sp>
        <p:nvSpPr>
          <p:cNvPr id="1775" name="Google Shape;1775;p54"/>
          <p:cNvSpPr/>
          <p:nvPr/>
        </p:nvSpPr>
        <p:spPr>
          <a:xfrm>
            <a:off x="5993078" y="724399"/>
            <a:ext cx="2668800" cy="38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37"/>
              <a:buFont typeface="Calibri"/>
              <a:buNone/>
            </a:pPr>
            <a:r>
              <a:rPr b="1" i="0" lang="en-US" sz="1137" u="none" cap="none" strike="noStrike">
                <a:solidFill>
                  <a:srgbClr val="FFFFFF"/>
                </a:solidFill>
                <a:latin typeface="Calibri"/>
                <a:ea typeface="Calibri"/>
                <a:cs typeface="Calibri"/>
                <a:sym typeface="Calibri"/>
              </a:rPr>
              <a:t>⚡  Cache Performance</a:t>
            </a:r>
            <a:endParaRPr b="0" i="0" sz="1137" u="none" cap="none" strike="noStrike">
              <a:solidFill>
                <a:schemeClr val="dk1"/>
              </a:solidFill>
              <a:latin typeface="Calibri"/>
              <a:ea typeface="Calibri"/>
              <a:cs typeface="Calibri"/>
              <a:sym typeface="Calibri"/>
            </a:endParaRPr>
          </a:p>
        </p:txBody>
      </p:sp>
      <p:sp>
        <p:nvSpPr>
          <p:cNvPr id="1776" name="Google Shape;1776;p54"/>
          <p:cNvSpPr/>
          <p:nvPr/>
        </p:nvSpPr>
        <p:spPr>
          <a:xfrm>
            <a:off x="6079728" y="1157652"/>
            <a:ext cx="2495400" cy="19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855"/>
              </a:buClr>
              <a:buSzPts val="805"/>
              <a:buFont typeface="Calibri"/>
              <a:buNone/>
            </a:pPr>
            <a:r>
              <a:rPr b="1" i="0" lang="en-US" sz="805" u="none" cap="none" strike="noStrike">
                <a:solidFill>
                  <a:srgbClr val="E84855"/>
                </a:solidFill>
                <a:latin typeface="Calibri"/>
                <a:ea typeface="Calibri"/>
                <a:cs typeface="Calibri"/>
                <a:sym typeface="Calibri"/>
              </a:rPr>
              <a:t>TODAY</a:t>
            </a:r>
            <a:endParaRPr b="0" i="0" sz="805" u="none" cap="none" strike="noStrike">
              <a:solidFill>
                <a:schemeClr val="dk1"/>
              </a:solidFill>
              <a:latin typeface="Calibri"/>
              <a:ea typeface="Calibri"/>
              <a:cs typeface="Calibri"/>
              <a:sym typeface="Calibri"/>
            </a:endParaRPr>
          </a:p>
        </p:txBody>
      </p:sp>
      <p:sp>
        <p:nvSpPr>
          <p:cNvPr id="1777" name="Google Shape;1777;p54"/>
          <p:cNvSpPr/>
          <p:nvPr/>
        </p:nvSpPr>
        <p:spPr>
          <a:xfrm>
            <a:off x="6079728" y="1365613"/>
            <a:ext cx="2495400" cy="779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853"/>
              <a:buFont typeface="Calibri"/>
              <a:buNone/>
            </a:pPr>
            <a:r>
              <a:rPr b="0" i="0" lang="en-US" sz="853" u="none" cap="none" strike="noStrike">
                <a:solidFill>
                  <a:srgbClr val="90A4AE"/>
                </a:solidFill>
                <a:latin typeface="Calibri"/>
                <a:ea typeface="Calibri"/>
                <a:cs typeface="Calibri"/>
                <a:sym typeface="Calibri"/>
              </a:rPr>
              <a:t>Object[] = pointer array</a:t>
            </a:r>
            <a:endParaRPr b="0" i="0" sz="853"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0A4AE"/>
              </a:buClr>
              <a:buSzPts val="853"/>
              <a:buFont typeface="Calibri"/>
              <a:buNone/>
            </a:pPr>
            <a:r>
              <a:rPr b="0" i="0" lang="en-US" sz="853" u="none" cap="none" strike="noStrike">
                <a:solidFill>
                  <a:srgbClr val="90A4AE"/>
                </a:solidFill>
                <a:latin typeface="Calibri"/>
                <a:ea typeface="Calibri"/>
                <a:cs typeface="Calibri"/>
                <a:sym typeface="Calibri"/>
              </a:rPr>
              <a:t>Each access = cache miss</a:t>
            </a:r>
            <a:endParaRPr b="0" i="0" sz="853"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0A4AE"/>
              </a:buClr>
              <a:buSzPts val="853"/>
              <a:buFont typeface="Calibri"/>
              <a:buNone/>
            </a:pPr>
            <a:r>
              <a:rPr b="0" i="0" lang="en-US" sz="853" u="none" cap="none" strike="noStrike">
                <a:solidFill>
                  <a:srgbClr val="90A4AE"/>
                </a:solidFill>
                <a:latin typeface="Calibri"/>
                <a:ea typeface="Calibri"/>
                <a:cs typeface="Calibri"/>
                <a:sym typeface="Calibri"/>
              </a:rPr>
              <a:t>→ pointer → fetch object</a:t>
            </a:r>
            <a:endParaRPr b="0" i="0" sz="853"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0A4AE"/>
              </a:buClr>
              <a:buSzPts val="853"/>
              <a:buFont typeface="Calibri"/>
              <a:buNone/>
            </a:pPr>
            <a:r>
              <a:rPr b="0" i="0" lang="en-US" sz="853" u="none" cap="none" strike="noStrike">
                <a:solidFill>
                  <a:srgbClr val="90A4AE"/>
                </a:solidFill>
                <a:latin typeface="Calibri"/>
                <a:ea typeface="Calibri"/>
                <a:cs typeface="Calibri"/>
                <a:sym typeface="Calibri"/>
              </a:rPr>
              <a:t>Scattered across heap</a:t>
            </a:r>
            <a:endParaRPr b="0" i="0" sz="853" u="none" cap="none" strike="noStrike">
              <a:solidFill>
                <a:schemeClr val="dk1"/>
              </a:solidFill>
              <a:latin typeface="Calibri"/>
              <a:ea typeface="Calibri"/>
              <a:cs typeface="Calibri"/>
              <a:sym typeface="Calibri"/>
            </a:endParaRPr>
          </a:p>
        </p:txBody>
      </p:sp>
      <p:sp>
        <p:nvSpPr>
          <p:cNvPr id="1778" name="Google Shape;1778;p54"/>
          <p:cNvSpPr/>
          <p:nvPr/>
        </p:nvSpPr>
        <p:spPr>
          <a:xfrm>
            <a:off x="6079728" y="2197459"/>
            <a:ext cx="2495400" cy="17400"/>
          </a:xfrm>
          <a:prstGeom prst="rect">
            <a:avLst/>
          </a:prstGeom>
          <a:solidFill>
            <a:srgbClr val="F5A623"/>
          </a:solidFill>
          <a:ln>
            <a:noFill/>
          </a:ln>
        </p:spPr>
        <p:txBody>
          <a:bodyPr anchorCtr="0" anchor="ctr" bIns="86625" lIns="86625" spcFirstLastPara="1" rIns="86625" wrap="square" tIns="86625">
            <a:noAutofit/>
          </a:bodyPr>
          <a:lstStyle/>
          <a:p>
            <a:pPr indent="0" lvl="0" marL="0" rtl="0" algn="l">
              <a:spcBef>
                <a:spcPts val="0"/>
              </a:spcBef>
              <a:spcAft>
                <a:spcPts val="0"/>
              </a:spcAft>
              <a:buNone/>
            </a:pPr>
            <a:r>
              <a:t/>
            </a:r>
            <a:endParaRPr/>
          </a:p>
        </p:txBody>
      </p:sp>
      <p:sp>
        <p:nvSpPr>
          <p:cNvPr id="1779" name="Google Shape;1779;p54"/>
          <p:cNvSpPr/>
          <p:nvPr/>
        </p:nvSpPr>
        <p:spPr>
          <a:xfrm>
            <a:off x="6079728" y="2232119"/>
            <a:ext cx="2495400" cy="19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A623"/>
              </a:buClr>
              <a:buSzPts val="805"/>
              <a:buFont typeface="Calibri"/>
              <a:buNone/>
            </a:pPr>
            <a:r>
              <a:rPr b="1" i="0" lang="en-US" sz="805" u="none" cap="none" strike="noStrike">
                <a:solidFill>
                  <a:srgbClr val="F5A623"/>
                </a:solidFill>
                <a:latin typeface="Calibri"/>
                <a:ea typeface="Calibri"/>
                <a:cs typeface="Calibri"/>
                <a:sym typeface="Calibri"/>
              </a:rPr>
              <a:t>▼  VALHALLA</a:t>
            </a:r>
            <a:endParaRPr b="0" i="0" sz="805" u="none" cap="none" strike="noStrike">
              <a:solidFill>
                <a:schemeClr val="dk1"/>
              </a:solidFill>
              <a:latin typeface="Calibri"/>
              <a:ea typeface="Calibri"/>
              <a:cs typeface="Calibri"/>
              <a:sym typeface="Calibri"/>
            </a:endParaRPr>
          </a:p>
        </p:txBody>
      </p:sp>
      <p:sp>
        <p:nvSpPr>
          <p:cNvPr id="1780" name="Google Shape;1780;p54"/>
          <p:cNvSpPr/>
          <p:nvPr/>
        </p:nvSpPr>
        <p:spPr>
          <a:xfrm>
            <a:off x="6079728" y="2440080"/>
            <a:ext cx="2495400" cy="779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853"/>
              <a:buFont typeface="Calibri"/>
              <a:buNone/>
            </a:pPr>
            <a:r>
              <a:rPr b="0" i="0" lang="en-US" sz="853" u="none" cap="none" strike="noStrike">
                <a:solidFill>
                  <a:srgbClr val="ECF0F1"/>
                </a:solidFill>
                <a:latin typeface="Calibri"/>
                <a:ea typeface="Calibri"/>
                <a:cs typeface="Calibri"/>
                <a:sym typeface="Calibri"/>
              </a:rPr>
              <a:t>value[] = inline data</a:t>
            </a:r>
            <a:endParaRPr b="0" i="0" sz="853"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3"/>
              <a:buFont typeface="Calibri"/>
              <a:buNone/>
            </a:pPr>
            <a:r>
              <a:rPr b="0" i="0" lang="en-US" sz="853" u="none" cap="none" strike="noStrike">
                <a:solidFill>
                  <a:srgbClr val="ECF0F1"/>
                </a:solidFill>
                <a:latin typeface="Calibri"/>
                <a:ea typeface="Calibri"/>
                <a:cs typeface="Calibri"/>
                <a:sym typeface="Calibri"/>
              </a:rPr>
              <a:t>Sequential memory access</a:t>
            </a:r>
            <a:endParaRPr b="0" i="0" sz="853"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3"/>
              <a:buFont typeface="Calibri"/>
              <a:buNone/>
            </a:pPr>
            <a:r>
              <a:rPr b="0" i="0" lang="en-US" sz="853" u="none" cap="none" strike="noStrike">
                <a:solidFill>
                  <a:srgbClr val="ECF0F1"/>
                </a:solidFill>
                <a:latin typeface="Calibri"/>
                <a:ea typeface="Calibri"/>
                <a:cs typeface="Calibri"/>
                <a:sym typeface="Calibri"/>
              </a:rPr>
              <a:t>L1/L2 cache-friendly</a:t>
            </a:r>
            <a:endParaRPr b="0" i="0" sz="853"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CF0F1"/>
              </a:buClr>
              <a:buSzPts val="853"/>
              <a:buFont typeface="Calibri"/>
              <a:buNone/>
            </a:pPr>
            <a:r>
              <a:rPr b="0" i="0" lang="en-US" sz="853" u="none" cap="none" strike="noStrike">
                <a:solidFill>
                  <a:srgbClr val="ECF0F1"/>
                </a:solidFill>
                <a:latin typeface="Calibri"/>
                <a:ea typeface="Calibri"/>
                <a:cs typeface="Calibri"/>
                <a:sym typeface="Calibri"/>
              </a:rPr>
              <a:t>SIMD-friendly layout</a:t>
            </a:r>
            <a:endParaRPr b="0" i="0" sz="853" u="none" cap="none" strike="noStrike">
              <a:solidFill>
                <a:schemeClr val="dk1"/>
              </a:solidFill>
              <a:latin typeface="Calibri"/>
              <a:ea typeface="Calibri"/>
              <a:cs typeface="Calibri"/>
              <a:sym typeface="Calibri"/>
            </a:endParaRPr>
          </a:p>
        </p:txBody>
      </p:sp>
      <p:sp>
        <p:nvSpPr>
          <p:cNvPr id="1781" name="Google Shape;1781;p54"/>
          <p:cNvSpPr/>
          <p:nvPr/>
        </p:nvSpPr>
        <p:spPr>
          <a:xfrm>
            <a:off x="6079728" y="3289255"/>
            <a:ext cx="2495400" cy="1317000"/>
          </a:xfrm>
          <a:prstGeom prst="rect">
            <a:avLst/>
          </a:prstGeom>
          <a:solidFill>
            <a:srgbClr val="08111F"/>
          </a:solidFill>
          <a:ln cap="flat" cmpd="sng" w="12025">
            <a:solidFill>
              <a:srgbClr val="F5A623"/>
            </a:solidFill>
            <a:prstDash val="solid"/>
            <a:round/>
            <a:headEnd len="sm" w="sm" type="none"/>
            <a:tailEnd len="sm" w="sm" type="none"/>
          </a:ln>
        </p:spPr>
        <p:txBody>
          <a:bodyPr anchorCtr="0" anchor="ctr" bIns="86625" lIns="86625" spcFirstLastPara="1" rIns="86625" wrap="square" tIns="86625">
            <a:noAutofit/>
          </a:bodyPr>
          <a:lstStyle/>
          <a:p>
            <a:pPr indent="0" lvl="0" marL="0" rtl="0" algn="l">
              <a:spcBef>
                <a:spcPts val="0"/>
              </a:spcBef>
              <a:spcAft>
                <a:spcPts val="0"/>
              </a:spcAft>
              <a:buNone/>
            </a:pPr>
            <a:r>
              <a:t/>
            </a:r>
            <a:endParaRPr/>
          </a:p>
        </p:txBody>
      </p:sp>
      <p:sp>
        <p:nvSpPr>
          <p:cNvPr id="1782" name="Google Shape;1782;p54"/>
          <p:cNvSpPr/>
          <p:nvPr/>
        </p:nvSpPr>
        <p:spPr>
          <a:xfrm>
            <a:off x="6149048" y="3341246"/>
            <a:ext cx="2357100" cy="19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A623"/>
              </a:buClr>
              <a:buSzPts val="758"/>
              <a:buFont typeface="Calibri"/>
              <a:buNone/>
            </a:pPr>
            <a:r>
              <a:rPr b="1" i="0" lang="en-US" sz="758" u="none" cap="none" strike="noStrike">
                <a:solidFill>
                  <a:srgbClr val="F5A623"/>
                </a:solidFill>
                <a:latin typeface="Calibri"/>
                <a:ea typeface="Calibri"/>
                <a:cs typeface="Calibri"/>
                <a:sym typeface="Calibri"/>
              </a:rPr>
              <a:t>NET EFFECT</a:t>
            </a:r>
            <a:endParaRPr b="0" i="0" sz="758" u="none" cap="none" strike="noStrike">
              <a:solidFill>
                <a:schemeClr val="dk1"/>
              </a:solidFill>
              <a:latin typeface="Calibri"/>
              <a:ea typeface="Calibri"/>
              <a:cs typeface="Calibri"/>
              <a:sym typeface="Calibri"/>
            </a:endParaRPr>
          </a:p>
        </p:txBody>
      </p:sp>
      <p:sp>
        <p:nvSpPr>
          <p:cNvPr id="1783" name="Google Shape;1783;p54"/>
          <p:cNvSpPr/>
          <p:nvPr/>
        </p:nvSpPr>
        <p:spPr>
          <a:xfrm>
            <a:off x="6149048" y="3549207"/>
            <a:ext cx="2357100" cy="987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A623"/>
              </a:buClr>
              <a:buSzPts val="900"/>
              <a:buFont typeface="Calibri"/>
              <a:buNone/>
            </a:pPr>
            <a:r>
              <a:rPr b="0" i="0" lang="en-US" sz="900" u="none" cap="none" strike="noStrike">
                <a:solidFill>
                  <a:srgbClr val="F5A623"/>
                </a:solidFill>
                <a:latin typeface="Calibri"/>
                <a:ea typeface="Calibri"/>
                <a:cs typeface="Calibri"/>
                <a:sym typeface="Calibri"/>
              </a:rPr>
              <a:t>2-10× throughput on</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5A623"/>
              </a:buClr>
              <a:buSzPts val="900"/>
              <a:buFont typeface="Calibri"/>
              <a:buNone/>
            </a:pPr>
            <a:r>
              <a:rPr b="0" i="0" lang="en-US" sz="900" u="none" cap="none" strike="noStrike">
                <a:solidFill>
                  <a:srgbClr val="F5A623"/>
                </a:solidFill>
                <a:latin typeface="Calibri"/>
                <a:ea typeface="Calibri"/>
                <a:cs typeface="Calibri"/>
                <a:sym typeface="Calibri"/>
              </a:rPr>
              <a:t>data-intensive loops</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5A623"/>
              </a:buClr>
              <a:buSzPts val="900"/>
              <a:buFont typeface="Calibri"/>
              <a:buNone/>
            </a:pPr>
            <a:r>
              <a:rPr b="0" i="0" lang="en-US" sz="900" u="none" cap="none" strike="noStrike">
                <a:solidFill>
                  <a:srgbClr val="F5A623"/>
                </a:solidFill>
                <a:latin typeface="Calibri"/>
                <a:ea typeface="Calibri"/>
                <a:cs typeface="Calibri"/>
                <a:sym typeface="Calibri"/>
              </a:rPr>
              <a:t>Vector API + Valhalla</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5A623"/>
              </a:buClr>
              <a:buSzPts val="900"/>
              <a:buFont typeface="Calibri"/>
              <a:buNone/>
            </a:pPr>
            <a:r>
              <a:rPr b="0" i="0" lang="en-US" sz="900" u="none" cap="none" strike="noStrike">
                <a:solidFill>
                  <a:srgbClr val="F5A623"/>
                </a:solidFill>
                <a:latin typeface="Calibri"/>
                <a:ea typeface="Calibri"/>
                <a:cs typeface="Calibri"/>
                <a:sym typeface="Calibri"/>
              </a:rPr>
              <a:t>work together</a:t>
            </a:r>
            <a:endParaRPr b="0" i="0" sz="900" u="none" cap="none" strike="noStrike">
              <a:solidFill>
                <a:schemeClr val="dk1"/>
              </a:solidFill>
              <a:latin typeface="Calibri"/>
              <a:ea typeface="Calibri"/>
              <a:cs typeface="Calibri"/>
              <a:sym typeface="Calibri"/>
            </a:endParaRPr>
          </a:p>
        </p:txBody>
      </p:sp>
      <p:sp>
        <p:nvSpPr>
          <p:cNvPr id="1784" name="Google Shape;1784;p54"/>
          <p:cNvSpPr/>
          <p:nvPr/>
        </p:nvSpPr>
        <p:spPr>
          <a:xfrm>
            <a:off x="482125" y="4866295"/>
            <a:ext cx="8145000" cy="277200"/>
          </a:xfrm>
          <a:prstGeom prst="rect">
            <a:avLst/>
          </a:prstGeom>
          <a:solidFill>
            <a:srgbClr val="0D2137"/>
          </a:solidFill>
          <a:ln>
            <a:noFill/>
          </a:ln>
        </p:spPr>
        <p:txBody>
          <a:bodyPr anchorCtr="0" anchor="ctr" bIns="86625" lIns="86625" spcFirstLastPara="1" rIns="86625" wrap="square" tIns="86625">
            <a:noAutofit/>
          </a:bodyPr>
          <a:lstStyle/>
          <a:p>
            <a:pPr indent="0" lvl="0" marL="0" rtl="0" algn="l">
              <a:spcBef>
                <a:spcPts val="0"/>
              </a:spcBef>
              <a:spcAft>
                <a:spcPts val="0"/>
              </a:spcAft>
              <a:buNone/>
            </a:pPr>
            <a:r>
              <a:t/>
            </a:r>
            <a:endParaRPr/>
          </a:p>
        </p:txBody>
      </p:sp>
      <p:sp>
        <p:nvSpPr>
          <p:cNvPr id="1785" name="Google Shape;1785;p54"/>
          <p:cNvSpPr/>
          <p:nvPr/>
        </p:nvSpPr>
        <p:spPr>
          <a:xfrm>
            <a:off x="586105" y="4883625"/>
            <a:ext cx="7937100" cy="242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805"/>
              <a:buFont typeface="Consolas"/>
              <a:buNone/>
            </a:pPr>
            <a:r>
              <a:rPr b="0" i="0" lang="en-US" sz="805" u="none" cap="none" strike="noStrike">
                <a:solidFill>
                  <a:srgbClr val="00BCD4"/>
                </a:solidFill>
                <a:latin typeface="Consolas"/>
                <a:ea typeface="Consolas"/>
                <a:cs typeface="Consolas"/>
                <a:sym typeface="Consolas"/>
              </a:rPr>
              <a:t>Today: record Point(double x, double y) {}  →  heap object, pointer in array, GC-tracked      Valhalla: value class Point { double x; double y; }  →  inline, dense, GC-free</a:t>
            </a:r>
            <a:endParaRPr b="0" i="0" sz="805" u="none" cap="none" strike="noStrike">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790" name="Shape 1790"/>
        <p:cNvGrpSpPr/>
        <p:nvPr/>
      </p:nvGrpSpPr>
      <p:grpSpPr>
        <a:xfrm>
          <a:off x="0" y="0"/>
          <a:ext cx="0" cy="0"/>
          <a:chOff x="0" y="0"/>
          <a:chExt cx="0" cy="0"/>
        </a:xfrm>
      </p:grpSpPr>
      <p:sp>
        <p:nvSpPr>
          <p:cNvPr id="1791" name="Google Shape;1791;p55"/>
          <p:cNvSpPr/>
          <p:nvPr/>
        </p:nvSpPr>
        <p:spPr>
          <a:xfrm>
            <a:off x="0" y="0"/>
            <a:ext cx="9144000" cy="64020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55"/>
          <p:cNvSpPr/>
          <p:nvPr/>
        </p:nvSpPr>
        <p:spPr>
          <a:xfrm>
            <a:off x="365760" y="0"/>
            <a:ext cx="68580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000"/>
              <a:buFont typeface="Calibri"/>
              <a:buNone/>
            </a:pPr>
            <a:r>
              <a:rPr b="1" i="0" lang="en-US" sz="2000" u="none" cap="none" strike="noStrike">
                <a:solidFill>
                  <a:srgbClr val="00BCD4"/>
                </a:solidFill>
                <a:latin typeface="Calibri"/>
                <a:ea typeface="Calibri"/>
                <a:cs typeface="Calibri"/>
                <a:sym typeface="Calibri"/>
              </a:rPr>
              <a:t>Common JVM Anti-Patterns on Kubernetes</a:t>
            </a:r>
            <a:endParaRPr b="0" i="0" sz="2000" u="none" cap="none" strike="noStrike">
              <a:solidFill>
                <a:schemeClr val="dk1"/>
              </a:solidFill>
              <a:latin typeface="Calibri"/>
              <a:ea typeface="Calibri"/>
              <a:cs typeface="Calibri"/>
              <a:sym typeface="Calibri"/>
            </a:endParaRPr>
          </a:p>
        </p:txBody>
      </p:sp>
      <p:sp>
        <p:nvSpPr>
          <p:cNvPr id="1793" name="Google Shape;1793;p55"/>
          <p:cNvSpPr/>
          <p:nvPr/>
        </p:nvSpPr>
        <p:spPr>
          <a:xfrm>
            <a:off x="7315200" y="73152"/>
            <a:ext cx="1645800" cy="502800"/>
          </a:xfrm>
          <a:prstGeom prst="rect">
            <a:avLst/>
          </a:prstGeom>
          <a:solidFill>
            <a:srgbClr val="1E6FC8"/>
          </a:solidFill>
          <a:ln>
            <a:noFill/>
          </a:ln>
        </p:spPr>
        <p:txBody>
          <a:bodyPr anchorCtr="0" anchor="ctr" bIns="0" lIns="0" spcFirstLastPara="1" rIns="76200" wrap="square" tIns="76200">
            <a:noAutofit/>
          </a:bodyPr>
          <a:lstStyle/>
          <a:p>
            <a:pPr indent="0" lvl="0" marL="0" marR="0" rtl="0" algn="r">
              <a:spcBef>
                <a:spcPts val="0"/>
              </a:spcBef>
              <a:spcAft>
                <a:spcPts val="0"/>
              </a:spcAft>
              <a:buClr>
                <a:srgbClr val="ECF0F1"/>
              </a:buClr>
              <a:buSzPts val="1000"/>
              <a:buFont typeface="Calibri"/>
              <a:buNone/>
            </a:pPr>
            <a:r>
              <a:rPr lang="en-US" sz="1000">
                <a:solidFill>
                  <a:srgbClr val="ECF0F1"/>
                </a:solidFill>
                <a:latin typeface="Calibri"/>
                <a:ea typeface="Calibri"/>
                <a:cs typeface="Calibri"/>
                <a:sym typeface="Calibri"/>
              </a:rPr>
              <a:t>ANTI-PATTERNS</a:t>
            </a:r>
            <a:endParaRPr b="0" i="0" sz="1000" u="none" cap="none" strike="noStrike">
              <a:solidFill>
                <a:schemeClr val="dk1"/>
              </a:solidFill>
              <a:latin typeface="Calibri"/>
              <a:ea typeface="Calibri"/>
              <a:cs typeface="Calibri"/>
              <a:sym typeface="Calibri"/>
            </a:endParaRPr>
          </a:p>
        </p:txBody>
      </p:sp>
      <p:sp>
        <p:nvSpPr>
          <p:cNvPr id="1794" name="Google Shape;1794;p55"/>
          <p:cNvSpPr/>
          <p:nvPr/>
        </p:nvSpPr>
        <p:spPr>
          <a:xfrm>
            <a:off x="0" y="4960620"/>
            <a:ext cx="9144000" cy="18300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795" name="Google Shape;1795;p55"/>
          <p:cNvSpPr/>
          <p:nvPr/>
        </p:nvSpPr>
        <p:spPr>
          <a:xfrm>
            <a:off x="365760" y="4956048"/>
            <a:ext cx="84126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00"/>
              <a:buFont typeface="Calibri"/>
              <a:buNone/>
            </a:pPr>
            <a:r>
              <a:rPr b="0" i="0" lang="en-US" sz="900" u="none" cap="none" strike="noStrike">
                <a:solidFill>
                  <a:schemeClr val="dk1"/>
                </a:solidFill>
                <a:latin typeface="Calibri"/>
                <a:ea typeface="Calibri"/>
                <a:cs typeface="Calibri"/>
                <a:sym typeface="Calibri"/>
              </a:rPr>
              <a:t>Taming the JVM: Java Optimization on OpenShift</a:t>
            </a:r>
            <a:endParaRPr b="0" i="0" sz="900" u="none" cap="none" strike="noStrike">
              <a:solidFill>
                <a:schemeClr val="dk1"/>
              </a:solidFill>
              <a:latin typeface="Calibri"/>
              <a:ea typeface="Calibri"/>
              <a:cs typeface="Calibri"/>
              <a:sym typeface="Calibri"/>
            </a:endParaRPr>
          </a:p>
        </p:txBody>
      </p:sp>
      <p:sp>
        <p:nvSpPr>
          <p:cNvPr id="1796" name="Google Shape;1796;p55"/>
          <p:cNvSpPr/>
          <p:nvPr/>
        </p:nvSpPr>
        <p:spPr>
          <a:xfrm>
            <a:off x="365760" y="749808"/>
            <a:ext cx="8412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200"/>
              <a:buFont typeface="Calibri"/>
              <a:buNone/>
            </a:pPr>
            <a:r>
              <a:rPr b="0" i="1" lang="en-US" sz="1200" u="none" cap="none" strike="noStrike">
                <a:solidFill>
                  <a:srgbClr val="90A4AE"/>
                </a:solidFill>
                <a:latin typeface="Calibri"/>
                <a:ea typeface="Calibri"/>
                <a:cs typeface="Calibri"/>
                <a:sym typeface="Calibri"/>
              </a:rPr>
              <a:t>Real failures from production — patterns that look harmless until they aren't</a:t>
            </a:r>
            <a:endParaRPr b="0" i="0" sz="1200" u="none" cap="none" strike="noStrike">
              <a:solidFill>
                <a:schemeClr val="dk1"/>
              </a:solidFill>
              <a:latin typeface="Calibri"/>
              <a:ea typeface="Calibri"/>
              <a:cs typeface="Calibri"/>
              <a:sym typeface="Calibri"/>
            </a:endParaRPr>
          </a:p>
        </p:txBody>
      </p:sp>
      <p:sp>
        <p:nvSpPr>
          <p:cNvPr id="1797" name="Google Shape;1797;p55"/>
          <p:cNvSpPr/>
          <p:nvPr/>
        </p:nvSpPr>
        <p:spPr>
          <a:xfrm>
            <a:off x="320040" y="1115568"/>
            <a:ext cx="4188000" cy="192030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798" name="Google Shape;1798;p55"/>
          <p:cNvSpPr/>
          <p:nvPr/>
        </p:nvSpPr>
        <p:spPr>
          <a:xfrm>
            <a:off x="320040" y="1115568"/>
            <a:ext cx="4188000" cy="292500"/>
          </a:xfrm>
          <a:prstGeom prst="rect">
            <a:avLst/>
          </a:prstGeom>
          <a:solidFill>
            <a:srgbClr val="E84855"/>
          </a:solidFill>
          <a:ln cap="flat" cmpd="sng" w="12700">
            <a:solidFill>
              <a:srgbClr val="E848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799" name="Google Shape;1799;p55"/>
          <p:cNvSpPr/>
          <p:nvPr/>
        </p:nvSpPr>
        <p:spPr>
          <a:xfrm>
            <a:off x="411480" y="1115568"/>
            <a:ext cx="40050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chemeClr val="dk1"/>
                </a:solidFill>
                <a:latin typeface="Calibri"/>
                <a:ea typeface="Calibri"/>
                <a:cs typeface="Calibri"/>
                <a:sym typeface="Calibri"/>
              </a:rPr>
              <a:t>🧠  Memory Anti-Patterns</a:t>
            </a:r>
            <a:endParaRPr b="0" i="0" sz="1100" u="none" cap="none" strike="noStrike">
              <a:solidFill>
                <a:schemeClr val="dk1"/>
              </a:solidFill>
              <a:latin typeface="Calibri"/>
              <a:ea typeface="Calibri"/>
              <a:cs typeface="Calibri"/>
              <a:sym typeface="Calibri"/>
            </a:endParaRPr>
          </a:p>
        </p:txBody>
      </p:sp>
      <p:sp>
        <p:nvSpPr>
          <p:cNvPr id="1800" name="Google Shape;1800;p55"/>
          <p:cNvSpPr/>
          <p:nvPr/>
        </p:nvSpPr>
        <p:spPr>
          <a:xfrm>
            <a:off x="393192" y="1444752"/>
            <a:ext cx="183000" cy="183000"/>
          </a:xfrm>
          <a:prstGeom prst="rect">
            <a:avLst/>
          </a:prstGeom>
          <a:solidFill>
            <a:srgbClr val="E84855"/>
          </a:solidFill>
          <a:ln cap="flat" cmpd="sng" w="12700">
            <a:solidFill>
              <a:srgbClr val="E848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801" name="Google Shape;1801;p55"/>
          <p:cNvSpPr/>
          <p:nvPr/>
        </p:nvSpPr>
        <p:spPr>
          <a:xfrm>
            <a:off x="429768" y="1444752"/>
            <a:ext cx="39318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950"/>
              <a:buFont typeface="Calibri"/>
              <a:buNone/>
            </a:pPr>
            <a:r>
              <a:rPr b="1" i="0" lang="en-US" sz="950" u="none" cap="none" strike="noStrike">
                <a:solidFill>
                  <a:schemeClr val="dk1"/>
                </a:solidFill>
                <a:latin typeface="Calibri"/>
                <a:ea typeface="Calibri"/>
                <a:cs typeface="Calibri"/>
                <a:sym typeface="Calibri"/>
              </a:rPr>
              <a:t>❌  Hardcoded -Xmx/-Xms</a:t>
            </a:r>
            <a:endParaRPr b="0" i="0" sz="950" u="none" cap="none" strike="noStrike">
              <a:solidFill>
                <a:schemeClr val="dk1"/>
              </a:solidFill>
              <a:latin typeface="Calibri"/>
              <a:ea typeface="Calibri"/>
              <a:cs typeface="Calibri"/>
              <a:sym typeface="Calibri"/>
            </a:endParaRPr>
          </a:p>
        </p:txBody>
      </p:sp>
      <p:sp>
        <p:nvSpPr>
          <p:cNvPr id="1802" name="Google Shape;1802;p55"/>
          <p:cNvSpPr/>
          <p:nvPr/>
        </p:nvSpPr>
        <p:spPr>
          <a:xfrm>
            <a:off x="429768" y="1627632"/>
            <a:ext cx="39318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00"/>
              <a:buFont typeface="Calibri"/>
              <a:buNone/>
            </a:pPr>
            <a:r>
              <a:rPr b="0" i="0" lang="en-US" sz="900" u="none" cap="none" strike="noStrike">
                <a:solidFill>
                  <a:schemeClr val="dk1"/>
                </a:solidFill>
                <a:latin typeface="Calibri"/>
                <a:ea typeface="Calibri"/>
                <a:cs typeface="Calibri"/>
                <a:sym typeface="Calibri"/>
              </a:rPr>
              <a:t>     Breaks silently when VPA or cluster admin changes container limits</a:t>
            </a:r>
            <a:endParaRPr b="0" i="0" sz="900" u="none" cap="none" strike="noStrike">
              <a:solidFill>
                <a:schemeClr val="dk1"/>
              </a:solidFill>
              <a:latin typeface="Calibri"/>
              <a:ea typeface="Calibri"/>
              <a:cs typeface="Calibri"/>
              <a:sym typeface="Calibri"/>
            </a:endParaRPr>
          </a:p>
        </p:txBody>
      </p:sp>
      <p:sp>
        <p:nvSpPr>
          <p:cNvPr id="1803" name="Google Shape;1803;p55"/>
          <p:cNvSpPr/>
          <p:nvPr/>
        </p:nvSpPr>
        <p:spPr>
          <a:xfrm>
            <a:off x="393192" y="1837944"/>
            <a:ext cx="183000" cy="183000"/>
          </a:xfrm>
          <a:prstGeom prst="rect">
            <a:avLst/>
          </a:prstGeom>
          <a:solidFill>
            <a:srgbClr val="E84855"/>
          </a:solidFill>
          <a:ln cap="flat" cmpd="sng" w="12700">
            <a:solidFill>
              <a:srgbClr val="E848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804" name="Google Shape;1804;p55"/>
          <p:cNvSpPr/>
          <p:nvPr/>
        </p:nvSpPr>
        <p:spPr>
          <a:xfrm>
            <a:off x="429768" y="1837944"/>
            <a:ext cx="39318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950"/>
              <a:buFont typeface="Calibri"/>
              <a:buNone/>
            </a:pPr>
            <a:r>
              <a:rPr b="1" i="0" lang="en-US" sz="950" u="none" cap="none" strike="noStrike">
                <a:solidFill>
                  <a:schemeClr val="dk1"/>
                </a:solidFill>
                <a:latin typeface="Calibri"/>
                <a:ea typeface="Calibri"/>
                <a:cs typeface="Calibri"/>
                <a:sym typeface="Calibri"/>
              </a:rPr>
              <a:t>❌  MaxRAMPercentage=90</a:t>
            </a:r>
            <a:endParaRPr b="0" i="0" sz="950" u="none" cap="none" strike="noStrike">
              <a:solidFill>
                <a:schemeClr val="dk1"/>
              </a:solidFill>
              <a:latin typeface="Calibri"/>
              <a:ea typeface="Calibri"/>
              <a:cs typeface="Calibri"/>
              <a:sym typeface="Calibri"/>
            </a:endParaRPr>
          </a:p>
        </p:txBody>
      </p:sp>
      <p:sp>
        <p:nvSpPr>
          <p:cNvPr id="1805" name="Google Shape;1805;p55"/>
          <p:cNvSpPr/>
          <p:nvPr/>
        </p:nvSpPr>
        <p:spPr>
          <a:xfrm>
            <a:off x="429768" y="2020824"/>
            <a:ext cx="39318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00"/>
              <a:buFont typeface="Calibri"/>
              <a:buNone/>
            </a:pPr>
            <a:r>
              <a:rPr b="0" i="0" lang="en-US" sz="900" u="none" cap="none" strike="noStrike">
                <a:solidFill>
                  <a:schemeClr val="dk1"/>
                </a:solidFill>
                <a:latin typeface="Calibri"/>
                <a:ea typeface="Calibri"/>
                <a:cs typeface="Calibri"/>
                <a:sym typeface="Calibri"/>
              </a:rPr>
              <a:t>     Starves Metaspace, thread stacks, and Netty direct buffers → OOMKill</a:t>
            </a:r>
            <a:endParaRPr b="0" i="0" sz="900" u="none" cap="none" strike="noStrike">
              <a:solidFill>
                <a:schemeClr val="dk1"/>
              </a:solidFill>
              <a:latin typeface="Calibri"/>
              <a:ea typeface="Calibri"/>
              <a:cs typeface="Calibri"/>
              <a:sym typeface="Calibri"/>
            </a:endParaRPr>
          </a:p>
        </p:txBody>
      </p:sp>
      <p:sp>
        <p:nvSpPr>
          <p:cNvPr id="1806" name="Google Shape;1806;p55"/>
          <p:cNvSpPr/>
          <p:nvPr/>
        </p:nvSpPr>
        <p:spPr>
          <a:xfrm>
            <a:off x="393192" y="2231136"/>
            <a:ext cx="183000" cy="183000"/>
          </a:xfrm>
          <a:prstGeom prst="rect">
            <a:avLst/>
          </a:prstGeom>
          <a:solidFill>
            <a:srgbClr val="E84855"/>
          </a:solidFill>
          <a:ln cap="flat" cmpd="sng" w="12700">
            <a:solidFill>
              <a:srgbClr val="E848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807" name="Google Shape;1807;p55"/>
          <p:cNvSpPr/>
          <p:nvPr/>
        </p:nvSpPr>
        <p:spPr>
          <a:xfrm>
            <a:off x="429768" y="2231136"/>
            <a:ext cx="39318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950"/>
              <a:buFont typeface="Calibri"/>
              <a:buNone/>
            </a:pPr>
            <a:r>
              <a:rPr b="1" i="0" lang="en-US" sz="950" u="none" cap="none" strike="noStrike">
                <a:solidFill>
                  <a:schemeClr val="dk1"/>
                </a:solidFill>
                <a:latin typeface="Calibri"/>
                <a:ea typeface="Calibri"/>
                <a:cs typeface="Calibri"/>
                <a:sym typeface="Calibri"/>
              </a:rPr>
              <a:t>❌  No -XX:MaxMetaspaceSize</a:t>
            </a:r>
            <a:endParaRPr b="0" i="0" sz="950" u="none" cap="none" strike="noStrike">
              <a:solidFill>
                <a:schemeClr val="dk1"/>
              </a:solidFill>
              <a:latin typeface="Calibri"/>
              <a:ea typeface="Calibri"/>
              <a:cs typeface="Calibri"/>
              <a:sym typeface="Calibri"/>
            </a:endParaRPr>
          </a:p>
        </p:txBody>
      </p:sp>
      <p:sp>
        <p:nvSpPr>
          <p:cNvPr id="1808" name="Google Shape;1808;p55"/>
          <p:cNvSpPr/>
          <p:nvPr/>
        </p:nvSpPr>
        <p:spPr>
          <a:xfrm>
            <a:off x="429768" y="2414016"/>
            <a:ext cx="39318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00"/>
              <a:buFont typeface="Calibri"/>
              <a:buNone/>
            </a:pPr>
            <a:r>
              <a:rPr b="0" i="0" lang="en-US" sz="900" u="none" cap="none" strike="noStrike">
                <a:solidFill>
                  <a:schemeClr val="dk1"/>
                </a:solidFill>
                <a:latin typeface="Calibri"/>
                <a:ea typeface="Calibri"/>
                <a:cs typeface="Calibri"/>
                <a:sym typeface="Calibri"/>
              </a:rPr>
              <a:t>     Framework-heavy apps (Spring/Quarkus) can leak to 800 MB+ Metaspace</a:t>
            </a:r>
            <a:endParaRPr b="0" i="0" sz="900" u="none" cap="none" strike="noStrike">
              <a:solidFill>
                <a:schemeClr val="dk1"/>
              </a:solidFill>
              <a:latin typeface="Calibri"/>
              <a:ea typeface="Calibri"/>
              <a:cs typeface="Calibri"/>
              <a:sym typeface="Calibri"/>
            </a:endParaRPr>
          </a:p>
        </p:txBody>
      </p:sp>
      <p:sp>
        <p:nvSpPr>
          <p:cNvPr id="1809" name="Google Shape;1809;p55"/>
          <p:cNvSpPr/>
          <p:nvPr/>
        </p:nvSpPr>
        <p:spPr>
          <a:xfrm>
            <a:off x="393192" y="2624328"/>
            <a:ext cx="183000" cy="183000"/>
          </a:xfrm>
          <a:prstGeom prst="rect">
            <a:avLst/>
          </a:prstGeom>
          <a:solidFill>
            <a:srgbClr val="E84855"/>
          </a:solidFill>
          <a:ln cap="flat" cmpd="sng" w="12700">
            <a:solidFill>
              <a:srgbClr val="E848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810" name="Google Shape;1810;p55"/>
          <p:cNvSpPr/>
          <p:nvPr/>
        </p:nvSpPr>
        <p:spPr>
          <a:xfrm>
            <a:off x="429768" y="2624328"/>
            <a:ext cx="39318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950"/>
              <a:buFont typeface="Calibri"/>
              <a:buNone/>
            </a:pPr>
            <a:r>
              <a:rPr b="1" i="0" lang="en-US" sz="950" u="none" cap="none" strike="noStrike">
                <a:solidFill>
                  <a:schemeClr val="dk1"/>
                </a:solidFill>
                <a:latin typeface="Calibri"/>
                <a:ea typeface="Calibri"/>
                <a:cs typeface="Calibri"/>
                <a:sym typeface="Calibri"/>
              </a:rPr>
              <a:t>❌  requests == limits for memory</a:t>
            </a:r>
            <a:endParaRPr b="0" i="0" sz="950" u="none" cap="none" strike="noStrike">
              <a:solidFill>
                <a:schemeClr val="dk1"/>
              </a:solidFill>
              <a:latin typeface="Calibri"/>
              <a:ea typeface="Calibri"/>
              <a:cs typeface="Calibri"/>
              <a:sym typeface="Calibri"/>
            </a:endParaRPr>
          </a:p>
        </p:txBody>
      </p:sp>
      <p:sp>
        <p:nvSpPr>
          <p:cNvPr id="1811" name="Google Shape;1811;p55"/>
          <p:cNvSpPr/>
          <p:nvPr/>
        </p:nvSpPr>
        <p:spPr>
          <a:xfrm>
            <a:off x="429768" y="2807208"/>
            <a:ext cx="39318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00"/>
              <a:buFont typeface="Calibri"/>
              <a:buNone/>
            </a:pPr>
            <a:r>
              <a:rPr b="0" i="0" lang="en-US" sz="900" u="none" cap="none" strike="noStrike">
                <a:solidFill>
                  <a:schemeClr val="dk1"/>
                </a:solidFill>
                <a:latin typeface="Calibri"/>
                <a:ea typeface="Calibri"/>
                <a:cs typeface="Calibri"/>
                <a:sym typeface="Calibri"/>
              </a:rPr>
              <a:t>     No headroom for GC surge → OOMKill at P99 load peak</a:t>
            </a:r>
            <a:endParaRPr b="0" i="0" sz="900" u="none" cap="none" strike="noStrike">
              <a:solidFill>
                <a:schemeClr val="dk1"/>
              </a:solidFill>
              <a:latin typeface="Calibri"/>
              <a:ea typeface="Calibri"/>
              <a:cs typeface="Calibri"/>
              <a:sym typeface="Calibri"/>
            </a:endParaRPr>
          </a:p>
        </p:txBody>
      </p:sp>
      <p:sp>
        <p:nvSpPr>
          <p:cNvPr id="1812" name="Google Shape;1812;p55"/>
          <p:cNvSpPr/>
          <p:nvPr/>
        </p:nvSpPr>
        <p:spPr>
          <a:xfrm>
            <a:off x="4690872" y="1115568"/>
            <a:ext cx="4188000" cy="192030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813" name="Google Shape;1813;p55"/>
          <p:cNvSpPr/>
          <p:nvPr/>
        </p:nvSpPr>
        <p:spPr>
          <a:xfrm>
            <a:off x="4690872" y="1115568"/>
            <a:ext cx="4188000" cy="292500"/>
          </a:xfrm>
          <a:prstGeom prst="rect">
            <a:avLst/>
          </a:prstGeom>
          <a:solidFill>
            <a:srgbClr val="E84855"/>
          </a:solidFill>
          <a:ln cap="flat" cmpd="sng" w="12700">
            <a:solidFill>
              <a:srgbClr val="E848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814" name="Google Shape;1814;p55"/>
          <p:cNvSpPr/>
          <p:nvPr/>
        </p:nvSpPr>
        <p:spPr>
          <a:xfrm>
            <a:off x="4782312" y="1115568"/>
            <a:ext cx="40050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chemeClr val="dk1"/>
                </a:solidFill>
                <a:latin typeface="Calibri"/>
                <a:ea typeface="Calibri"/>
                <a:cs typeface="Calibri"/>
                <a:sym typeface="Calibri"/>
              </a:rPr>
              <a:t>⚙️  GC &amp; CPU Anti-Patterns</a:t>
            </a:r>
            <a:endParaRPr b="0" i="0" sz="1100" u="none" cap="none" strike="noStrike">
              <a:solidFill>
                <a:schemeClr val="dk1"/>
              </a:solidFill>
              <a:latin typeface="Calibri"/>
              <a:ea typeface="Calibri"/>
              <a:cs typeface="Calibri"/>
              <a:sym typeface="Calibri"/>
            </a:endParaRPr>
          </a:p>
        </p:txBody>
      </p:sp>
      <p:sp>
        <p:nvSpPr>
          <p:cNvPr id="1815" name="Google Shape;1815;p55"/>
          <p:cNvSpPr/>
          <p:nvPr/>
        </p:nvSpPr>
        <p:spPr>
          <a:xfrm>
            <a:off x="4764024" y="1444752"/>
            <a:ext cx="183000" cy="183000"/>
          </a:xfrm>
          <a:prstGeom prst="rect">
            <a:avLst/>
          </a:prstGeom>
          <a:solidFill>
            <a:srgbClr val="E84855"/>
          </a:solidFill>
          <a:ln cap="flat" cmpd="sng" w="12700">
            <a:solidFill>
              <a:srgbClr val="E848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816" name="Google Shape;1816;p55"/>
          <p:cNvSpPr/>
          <p:nvPr/>
        </p:nvSpPr>
        <p:spPr>
          <a:xfrm>
            <a:off x="4800600" y="1444752"/>
            <a:ext cx="39318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950"/>
              <a:buFont typeface="Calibri"/>
              <a:buNone/>
            </a:pPr>
            <a:r>
              <a:rPr b="1" i="0" lang="en-US" sz="950" u="none" cap="none" strike="noStrike">
                <a:solidFill>
                  <a:schemeClr val="dk1"/>
                </a:solidFill>
                <a:latin typeface="Calibri"/>
                <a:ea typeface="Calibri"/>
                <a:cs typeface="Calibri"/>
                <a:sym typeface="Calibri"/>
              </a:rPr>
              <a:t>❌  Default ParallelGCThreads on large node</a:t>
            </a:r>
            <a:endParaRPr b="0" i="0" sz="950" u="none" cap="none" strike="noStrike">
              <a:solidFill>
                <a:schemeClr val="dk1"/>
              </a:solidFill>
              <a:latin typeface="Calibri"/>
              <a:ea typeface="Calibri"/>
              <a:cs typeface="Calibri"/>
              <a:sym typeface="Calibri"/>
            </a:endParaRPr>
          </a:p>
        </p:txBody>
      </p:sp>
      <p:sp>
        <p:nvSpPr>
          <p:cNvPr id="1817" name="Google Shape;1817;p55"/>
          <p:cNvSpPr/>
          <p:nvPr/>
        </p:nvSpPr>
        <p:spPr>
          <a:xfrm>
            <a:off x="4800600" y="1627632"/>
            <a:ext cx="39318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00"/>
              <a:buFont typeface="Calibri"/>
              <a:buNone/>
            </a:pPr>
            <a:r>
              <a:rPr b="0" i="0" lang="en-US" sz="900" u="none" cap="none" strike="noStrike">
                <a:solidFill>
                  <a:schemeClr val="dk1"/>
                </a:solidFill>
                <a:latin typeface="Calibri"/>
                <a:ea typeface="Calibri"/>
                <a:cs typeface="Calibri"/>
                <a:sym typeface="Calibri"/>
              </a:rPr>
              <a:t>     64-core node, no CPU limit = GC threads sized to the node (43+), not your request</a:t>
            </a:r>
            <a:endParaRPr b="0" i="0" sz="900" u="none" cap="none" strike="noStrike">
              <a:solidFill>
                <a:schemeClr val="dk1"/>
              </a:solidFill>
              <a:latin typeface="Calibri"/>
              <a:ea typeface="Calibri"/>
              <a:cs typeface="Calibri"/>
              <a:sym typeface="Calibri"/>
            </a:endParaRPr>
          </a:p>
        </p:txBody>
      </p:sp>
      <p:sp>
        <p:nvSpPr>
          <p:cNvPr id="1818" name="Google Shape;1818;p55"/>
          <p:cNvSpPr/>
          <p:nvPr/>
        </p:nvSpPr>
        <p:spPr>
          <a:xfrm>
            <a:off x="4764024" y="1837944"/>
            <a:ext cx="183000" cy="183000"/>
          </a:xfrm>
          <a:prstGeom prst="rect">
            <a:avLst/>
          </a:prstGeom>
          <a:solidFill>
            <a:srgbClr val="E84855"/>
          </a:solidFill>
          <a:ln cap="flat" cmpd="sng" w="12700">
            <a:solidFill>
              <a:srgbClr val="E848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819" name="Google Shape;1819;p55"/>
          <p:cNvSpPr/>
          <p:nvPr/>
        </p:nvSpPr>
        <p:spPr>
          <a:xfrm>
            <a:off x="4800600" y="1837944"/>
            <a:ext cx="39318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950"/>
              <a:buFont typeface="Calibri"/>
              <a:buNone/>
            </a:pPr>
            <a:r>
              <a:rPr b="1" i="0" lang="en-US" sz="950" u="none" cap="none" strike="noStrike">
                <a:solidFill>
                  <a:schemeClr val="dk1"/>
                </a:solidFill>
                <a:latin typeface="Calibri"/>
                <a:ea typeface="Calibri"/>
                <a:cs typeface="Calibri"/>
                <a:sym typeface="Calibri"/>
              </a:rPr>
              <a:t>❌  CPU-based HPA with Java workloads</a:t>
            </a:r>
            <a:endParaRPr b="0" i="0" sz="950" u="none" cap="none" strike="noStrike">
              <a:solidFill>
                <a:schemeClr val="dk1"/>
              </a:solidFill>
              <a:latin typeface="Calibri"/>
              <a:ea typeface="Calibri"/>
              <a:cs typeface="Calibri"/>
              <a:sym typeface="Calibri"/>
            </a:endParaRPr>
          </a:p>
        </p:txBody>
      </p:sp>
      <p:sp>
        <p:nvSpPr>
          <p:cNvPr id="1820" name="Google Shape;1820;p55"/>
          <p:cNvSpPr/>
          <p:nvPr/>
        </p:nvSpPr>
        <p:spPr>
          <a:xfrm>
            <a:off x="4800600" y="2020824"/>
            <a:ext cx="39318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00"/>
              <a:buFont typeface="Calibri"/>
              <a:buNone/>
            </a:pPr>
            <a:r>
              <a:rPr b="0" i="0" lang="en-US" sz="900" u="none" cap="none" strike="noStrike">
                <a:solidFill>
                  <a:schemeClr val="dk1"/>
                </a:solidFill>
                <a:latin typeface="Calibri"/>
                <a:ea typeface="Calibri"/>
                <a:cs typeface="Calibri"/>
                <a:sym typeface="Calibri"/>
              </a:rPr>
              <a:t>     GC pauses spike CPU → HPA scales out for the wrong reason</a:t>
            </a:r>
            <a:endParaRPr b="0" i="0" sz="900" u="none" cap="none" strike="noStrike">
              <a:solidFill>
                <a:schemeClr val="dk1"/>
              </a:solidFill>
              <a:latin typeface="Calibri"/>
              <a:ea typeface="Calibri"/>
              <a:cs typeface="Calibri"/>
              <a:sym typeface="Calibri"/>
            </a:endParaRPr>
          </a:p>
        </p:txBody>
      </p:sp>
      <p:sp>
        <p:nvSpPr>
          <p:cNvPr id="1821" name="Google Shape;1821;p55"/>
          <p:cNvSpPr/>
          <p:nvPr/>
        </p:nvSpPr>
        <p:spPr>
          <a:xfrm>
            <a:off x="4764024" y="2231136"/>
            <a:ext cx="183000" cy="183000"/>
          </a:xfrm>
          <a:prstGeom prst="rect">
            <a:avLst/>
          </a:prstGeom>
          <a:solidFill>
            <a:srgbClr val="E84855"/>
          </a:solidFill>
          <a:ln cap="flat" cmpd="sng" w="12700">
            <a:solidFill>
              <a:srgbClr val="E848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822" name="Google Shape;1822;p55"/>
          <p:cNvSpPr/>
          <p:nvPr/>
        </p:nvSpPr>
        <p:spPr>
          <a:xfrm>
            <a:off x="4800600" y="2231136"/>
            <a:ext cx="39318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950"/>
              <a:buFont typeface="Calibri"/>
              <a:buNone/>
            </a:pPr>
            <a:r>
              <a:rPr b="1" i="0" lang="en-US" sz="950" u="none" cap="none" strike="noStrike">
                <a:solidFill>
                  <a:schemeClr val="dk1"/>
                </a:solidFill>
                <a:latin typeface="Calibri"/>
                <a:ea typeface="Calibri"/>
                <a:cs typeface="Calibri"/>
                <a:sym typeface="Calibri"/>
              </a:rPr>
              <a:t>❌  minReplicas: 1 in HPA</a:t>
            </a:r>
            <a:endParaRPr b="0" i="0" sz="950" u="none" cap="none" strike="noStrike">
              <a:solidFill>
                <a:schemeClr val="dk1"/>
              </a:solidFill>
              <a:latin typeface="Calibri"/>
              <a:ea typeface="Calibri"/>
              <a:cs typeface="Calibri"/>
              <a:sym typeface="Calibri"/>
            </a:endParaRPr>
          </a:p>
        </p:txBody>
      </p:sp>
      <p:sp>
        <p:nvSpPr>
          <p:cNvPr id="1823" name="Google Shape;1823;p55"/>
          <p:cNvSpPr/>
          <p:nvPr/>
        </p:nvSpPr>
        <p:spPr>
          <a:xfrm>
            <a:off x="4800600" y="2414016"/>
            <a:ext cx="39318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00"/>
              <a:buFont typeface="Calibri"/>
              <a:buNone/>
            </a:pPr>
            <a:r>
              <a:rPr b="0" i="0" lang="en-US" sz="900" u="none" cap="none" strike="noStrike">
                <a:solidFill>
                  <a:schemeClr val="dk1"/>
                </a:solidFill>
                <a:latin typeface="Calibri"/>
                <a:ea typeface="Calibri"/>
                <a:cs typeface="Calibri"/>
                <a:sym typeface="Calibri"/>
              </a:rPr>
              <a:t>     Single pod + GC stop-the-world = 100% error rate during pause</a:t>
            </a:r>
            <a:endParaRPr b="0" i="0" sz="900" u="none" cap="none" strike="noStrike">
              <a:solidFill>
                <a:schemeClr val="dk1"/>
              </a:solidFill>
              <a:latin typeface="Calibri"/>
              <a:ea typeface="Calibri"/>
              <a:cs typeface="Calibri"/>
              <a:sym typeface="Calibri"/>
            </a:endParaRPr>
          </a:p>
        </p:txBody>
      </p:sp>
      <p:sp>
        <p:nvSpPr>
          <p:cNvPr id="1824" name="Google Shape;1824;p55"/>
          <p:cNvSpPr/>
          <p:nvPr/>
        </p:nvSpPr>
        <p:spPr>
          <a:xfrm>
            <a:off x="4764024" y="2624328"/>
            <a:ext cx="183000" cy="183000"/>
          </a:xfrm>
          <a:prstGeom prst="rect">
            <a:avLst/>
          </a:prstGeom>
          <a:solidFill>
            <a:srgbClr val="E84855"/>
          </a:solidFill>
          <a:ln cap="flat" cmpd="sng" w="12700">
            <a:solidFill>
              <a:srgbClr val="E848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825" name="Google Shape;1825;p55"/>
          <p:cNvSpPr/>
          <p:nvPr/>
        </p:nvSpPr>
        <p:spPr>
          <a:xfrm>
            <a:off x="4800600" y="2624328"/>
            <a:ext cx="39318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950"/>
              <a:buFont typeface="Calibri"/>
              <a:buNone/>
            </a:pPr>
            <a:r>
              <a:rPr b="1" i="0" lang="en-US" sz="950" u="none" cap="none" strike="noStrike">
                <a:solidFill>
                  <a:schemeClr val="dk1"/>
                </a:solidFill>
                <a:latin typeface="Calibri"/>
                <a:ea typeface="Calibri"/>
                <a:cs typeface="Calibri"/>
                <a:sym typeface="Calibri"/>
              </a:rPr>
              <a:t>❌  No HPA stabilizationWindowSeconds</a:t>
            </a:r>
            <a:endParaRPr b="0" i="0" sz="950" u="none" cap="none" strike="noStrike">
              <a:solidFill>
                <a:schemeClr val="dk1"/>
              </a:solidFill>
              <a:latin typeface="Calibri"/>
              <a:ea typeface="Calibri"/>
              <a:cs typeface="Calibri"/>
              <a:sym typeface="Calibri"/>
            </a:endParaRPr>
          </a:p>
        </p:txBody>
      </p:sp>
      <p:sp>
        <p:nvSpPr>
          <p:cNvPr id="1826" name="Google Shape;1826;p55"/>
          <p:cNvSpPr/>
          <p:nvPr/>
        </p:nvSpPr>
        <p:spPr>
          <a:xfrm>
            <a:off x="4800600" y="2807208"/>
            <a:ext cx="39318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00"/>
              <a:buFont typeface="Calibri"/>
              <a:buNone/>
            </a:pPr>
            <a:r>
              <a:rPr b="0" i="0" lang="en-US" sz="900" u="none" cap="none" strike="noStrike">
                <a:solidFill>
                  <a:schemeClr val="dk1"/>
                </a:solidFill>
                <a:latin typeface="Calibri"/>
                <a:ea typeface="Calibri"/>
                <a:cs typeface="Calibri"/>
                <a:sym typeface="Calibri"/>
              </a:rPr>
              <a:t>     GC CPU spikes trigger scale-out/in thrash every few minutes</a:t>
            </a:r>
            <a:endParaRPr b="0" i="0" sz="900" u="none" cap="none" strike="noStrike">
              <a:solidFill>
                <a:schemeClr val="dk1"/>
              </a:solidFill>
              <a:latin typeface="Calibri"/>
              <a:ea typeface="Calibri"/>
              <a:cs typeface="Calibri"/>
              <a:sym typeface="Calibri"/>
            </a:endParaRPr>
          </a:p>
        </p:txBody>
      </p:sp>
      <p:sp>
        <p:nvSpPr>
          <p:cNvPr id="1827" name="Google Shape;1827;p55"/>
          <p:cNvSpPr/>
          <p:nvPr/>
        </p:nvSpPr>
        <p:spPr>
          <a:xfrm>
            <a:off x="320040" y="3127248"/>
            <a:ext cx="4188000" cy="192030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828" name="Google Shape;1828;p55"/>
          <p:cNvSpPr/>
          <p:nvPr/>
        </p:nvSpPr>
        <p:spPr>
          <a:xfrm>
            <a:off x="320040" y="3127248"/>
            <a:ext cx="4188000" cy="292500"/>
          </a:xfrm>
          <a:prstGeom prst="rect">
            <a:avLst/>
          </a:prstGeom>
          <a:solidFill>
            <a:srgbClr val="E84855"/>
          </a:solidFill>
          <a:ln cap="flat" cmpd="sng" w="12700">
            <a:solidFill>
              <a:srgbClr val="E848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829" name="Google Shape;1829;p55"/>
          <p:cNvSpPr/>
          <p:nvPr/>
        </p:nvSpPr>
        <p:spPr>
          <a:xfrm>
            <a:off x="411480" y="3127248"/>
            <a:ext cx="40050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chemeClr val="dk1"/>
                </a:solidFill>
                <a:latin typeface="Calibri"/>
                <a:ea typeface="Calibri"/>
                <a:cs typeface="Calibri"/>
                <a:sym typeface="Calibri"/>
              </a:rPr>
              <a:t>🚀  AOT / Startup Anti-Patterns</a:t>
            </a:r>
            <a:endParaRPr b="0" i="0" sz="1100" u="none" cap="none" strike="noStrike">
              <a:solidFill>
                <a:schemeClr val="dk1"/>
              </a:solidFill>
              <a:latin typeface="Calibri"/>
              <a:ea typeface="Calibri"/>
              <a:cs typeface="Calibri"/>
              <a:sym typeface="Calibri"/>
            </a:endParaRPr>
          </a:p>
        </p:txBody>
      </p:sp>
      <p:sp>
        <p:nvSpPr>
          <p:cNvPr id="1830" name="Google Shape;1830;p55"/>
          <p:cNvSpPr/>
          <p:nvPr/>
        </p:nvSpPr>
        <p:spPr>
          <a:xfrm>
            <a:off x="393192" y="3456432"/>
            <a:ext cx="183000" cy="183000"/>
          </a:xfrm>
          <a:prstGeom prst="rect">
            <a:avLst/>
          </a:prstGeom>
          <a:solidFill>
            <a:srgbClr val="E84855"/>
          </a:solidFill>
          <a:ln cap="flat" cmpd="sng" w="12700">
            <a:solidFill>
              <a:srgbClr val="E848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831" name="Google Shape;1831;p55"/>
          <p:cNvSpPr/>
          <p:nvPr/>
        </p:nvSpPr>
        <p:spPr>
          <a:xfrm>
            <a:off x="429768" y="3456432"/>
            <a:ext cx="39318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950"/>
              <a:buFont typeface="Calibri"/>
              <a:buNone/>
            </a:pPr>
            <a:r>
              <a:rPr b="1" i="0" lang="en-US" sz="950" u="none" cap="none" strike="noStrike">
                <a:solidFill>
                  <a:schemeClr val="dk1"/>
                </a:solidFill>
                <a:latin typeface="Calibri"/>
                <a:ea typeface="Calibri"/>
                <a:cs typeface="Calibri"/>
                <a:sym typeface="Calibri"/>
              </a:rPr>
              <a:t>❌  Using @QuarkusTest for AOT training</a:t>
            </a:r>
            <a:endParaRPr b="0" i="0" sz="950" u="none" cap="none" strike="noStrike">
              <a:solidFill>
                <a:schemeClr val="dk1"/>
              </a:solidFill>
              <a:latin typeface="Calibri"/>
              <a:ea typeface="Calibri"/>
              <a:cs typeface="Calibri"/>
              <a:sym typeface="Calibri"/>
            </a:endParaRPr>
          </a:p>
        </p:txBody>
      </p:sp>
      <p:sp>
        <p:nvSpPr>
          <p:cNvPr id="1832" name="Google Shape;1832;p55"/>
          <p:cNvSpPr/>
          <p:nvPr/>
        </p:nvSpPr>
        <p:spPr>
          <a:xfrm>
            <a:off x="429768" y="3639312"/>
            <a:ext cx="39318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00"/>
              <a:buFont typeface="Calibri"/>
              <a:buNone/>
            </a:pPr>
            <a:r>
              <a:rPr b="0" i="0" lang="en-US" sz="900" u="none" cap="none" strike="noStrike">
                <a:solidFill>
                  <a:schemeClr val="dk1"/>
                </a:solidFill>
                <a:latin typeface="Calibri"/>
                <a:ea typeface="Calibri"/>
                <a:cs typeface="Calibri"/>
                <a:sym typeface="Calibri"/>
              </a:rPr>
              <a:t>     Runs in dev JVM — doesn't contribute to app.aot cache at all</a:t>
            </a:r>
            <a:endParaRPr b="0" i="0" sz="900" u="none" cap="none" strike="noStrike">
              <a:solidFill>
                <a:schemeClr val="dk1"/>
              </a:solidFill>
              <a:latin typeface="Calibri"/>
              <a:ea typeface="Calibri"/>
              <a:cs typeface="Calibri"/>
              <a:sym typeface="Calibri"/>
            </a:endParaRPr>
          </a:p>
        </p:txBody>
      </p:sp>
      <p:sp>
        <p:nvSpPr>
          <p:cNvPr id="1833" name="Google Shape;1833;p55"/>
          <p:cNvSpPr/>
          <p:nvPr/>
        </p:nvSpPr>
        <p:spPr>
          <a:xfrm>
            <a:off x="393192" y="3849624"/>
            <a:ext cx="183000" cy="183000"/>
          </a:xfrm>
          <a:prstGeom prst="rect">
            <a:avLst/>
          </a:prstGeom>
          <a:solidFill>
            <a:srgbClr val="E84855"/>
          </a:solidFill>
          <a:ln cap="flat" cmpd="sng" w="12700">
            <a:solidFill>
              <a:srgbClr val="E848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834" name="Google Shape;1834;p55"/>
          <p:cNvSpPr/>
          <p:nvPr/>
        </p:nvSpPr>
        <p:spPr>
          <a:xfrm>
            <a:off x="429768" y="3849624"/>
            <a:ext cx="39318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950"/>
              <a:buFont typeface="Calibri"/>
              <a:buNone/>
            </a:pPr>
            <a:r>
              <a:rPr b="1" i="0" lang="en-US" sz="950" u="none" cap="none" strike="noStrike">
                <a:solidFill>
                  <a:schemeClr val="dk1"/>
                </a:solidFill>
                <a:latin typeface="Calibri"/>
                <a:ea typeface="Calibri"/>
                <a:cs typeface="Calibri"/>
                <a:sym typeface="Calibri"/>
              </a:rPr>
              <a:t>❌  Manual -XX:SharedArchiveFile in Dockerfile</a:t>
            </a:r>
            <a:endParaRPr b="0" i="0" sz="950" u="none" cap="none" strike="noStrike">
              <a:solidFill>
                <a:schemeClr val="dk1"/>
              </a:solidFill>
              <a:latin typeface="Calibri"/>
              <a:ea typeface="Calibri"/>
              <a:cs typeface="Calibri"/>
              <a:sym typeface="Calibri"/>
            </a:endParaRPr>
          </a:p>
        </p:txBody>
      </p:sp>
      <p:sp>
        <p:nvSpPr>
          <p:cNvPr id="1835" name="Google Shape;1835;p55"/>
          <p:cNvSpPr/>
          <p:nvPr/>
        </p:nvSpPr>
        <p:spPr>
          <a:xfrm>
            <a:off x="429768" y="4032504"/>
            <a:ext cx="39318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00"/>
              <a:buFont typeface="Calibri"/>
              <a:buNone/>
            </a:pPr>
            <a:r>
              <a:rPr b="0" i="0" lang="en-US" sz="900" u="none" cap="none" strike="noStrike">
                <a:solidFill>
                  <a:schemeClr val="dk1"/>
                </a:solidFill>
                <a:latin typeface="Calibri"/>
                <a:ea typeface="Calibri"/>
                <a:cs typeface="Calibri"/>
                <a:sym typeface="Calibri"/>
              </a:rPr>
              <a:t>     Quarkus sets this automatically — duplicate flag causes startup failure</a:t>
            </a:r>
            <a:endParaRPr b="0" i="0" sz="900" u="none" cap="none" strike="noStrike">
              <a:solidFill>
                <a:schemeClr val="dk1"/>
              </a:solidFill>
              <a:latin typeface="Calibri"/>
              <a:ea typeface="Calibri"/>
              <a:cs typeface="Calibri"/>
              <a:sym typeface="Calibri"/>
            </a:endParaRPr>
          </a:p>
        </p:txBody>
      </p:sp>
      <p:sp>
        <p:nvSpPr>
          <p:cNvPr id="1836" name="Google Shape;1836;p55"/>
          <p:cNvSpPr/>
          <p:nvPr/>
        </p:nvSpPr>
        <p:spPr>
          <a:xfrm>
            <a:off x="393192" y="4242816"/>
            <a:ext cx="183000" cy="183000"/>
          </a:xfrm>
          <a:prstGeom prst="rect">
            <a:avLst/>
          </a:prstGeom>
          <a:solidFill>
            <a:srgbClr val="E84855"/>
          </a:solidFill>
          <a:ln cap="flat" cmpd="sng" w="12700">
            <a:solidFill>
              <a:srgbClr val="E848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837" name="Google Shape;1837;p55"/>
          <p:cNvSpPr/>
          <p:nvPr/>
        </p:nvSpPr>
        <p:spPr>
          <a:xfrm>
            <a:off x="429768" y="4242816"/>
            <a:ext cx="39318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950"/>
              <a:buFont typeface="Calibri"/>
              <a:buNone/>
            </a:pPr>
            <a:r>
              <a:rPr b="1" i="0" lang="en-US" sz="950" u="none" cap="none" strike="noStrike">
                <a:solidFill>
                  <a:schemeClr val="dk1"/>
                </a:solidFill>
                <a:latin typeface="Calibri"/>
                <a:ea typeface="Calibri"/>
                <a:cs typeface="Calibri"/>
                <a:sym typeface="Calibri"/>
              </a:rPr>
              <a:t>❌  mvn package instead of mvn verify for AOT</a:t>
            </a:r>
            <a:endParaRPr b="0" i="0" sz="950" u="none" cap="none" strike="noStrike">
              <a:solidFill>
                <a:schemeClr val="dk1"/>
              </a:solidFill>
              <a:latin typeface="Calibri"/>
              <a:ea typeface="Calibri"/>
              <a:cs typeface="Calibri"/>
              <a:sym typeface="Calibri"/>
            </a:endParaRPr>
          </a:p>
        </p:txBody>
      </p:sp>
      <p:sp>
        <p:nvSpPr>
          <p:cNvPr id="1838" name="Google Shape;1838;p55"/>
          <p:cNvSpPr/>
          <p:nvPr/>
        </p:nvSpPr>
        <p:spPr>
          <a:xfrm>
            <a:off x="429768" y="4425696"/>
            <a:ext cx="39318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00"/>
              <a:buFont typeface="Calibri"/>
              <a:buNone/>
            </a:pPr>
            <a:r>
              <a:rPr b="0" i="0" lang="en-US" sz="900" u="none" cap="none" strike="noStrike">
                <a:solidFill>
                  <a:schemeClr val="dk1"/>
                </a:solidFill>
                <a:latin typeface="Calibri"/>
                <a:ea typeface="Calibri"/>
                <a:cs typeface="Calibri"/>
                <a:sym typeface="Calibri"/>
              </a:rPr>
              <a:t>     Package skips integration tests — cache is empty or minimal</a:t>
            </a:r>
            <a:endParaRPr b="0" i="0" sz="900" u="none" cap="none" strike="noStrike">
              <a:solidFill>
                <a:schemeClr val="dk1"/>
              </a:solidFill>
              <a:latin typeface="Calibri"/>
              <a:ea typeface="Calibri"/>
              <a:cs typeface="Calibri"/>
              <a:sym typeface="Calibri"/>
            </a:endParaRPr>
          </a:p>
        </p:txBody>
      </p:sp>
      <p:sp>
        <p:nvSpPr>
          <p:cNvPr id="1839" name="Google Shape;1839;p55"/>
          <p:cNvSpPr/>
          <p:nvPr/>
        </p:nvSpPr>
        <p:spPr>
          <a:xfrm>
            <a:off x="393192" y="4636008"/>
            <a:ext cx="183000" cy="183000"/>
          </a:xfrm>
          <a:prstGeom prst="rect">
            <a:avLst/>
          </a:prstGeom>
          <a:solidFill>
            <a:srgbClr val="E84855"/>
          </a:solidFill>
          <a:ln cap="flat" cmpd="sng" w="12700">
            <a:solidFill>
              <a:srgbClr val="E848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840" name="Google Shape;1840;p55"/>
          <p:cNvSpPr/>
          <p:nvPr/>
        </p:nvSpPr>
        <p:spPr>
          <a:xfrm>
            <a:off x="429768" y="4636008"/>
            <a:ext cx="39318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950"/>
              <a:buFont typeface="Calibri"/>
              <a:buNone/>
            </a:pPr>
            <a:r>
              <a:rPr b="1" i="0" lang="en-US" sz="950" u="none" cap="none" strike="noStrike">
                <a:solidFill>
                  <a:schemeClr val="dk1"/>
                </a:solidFill>
                <a:latin typeface="Calibri"/>
                <a:ea typeface="Calibri"/>
                <a:cs typeface="Calibri"/>
                <a:sym typeface="Calibri"/>
              </a:rPr>
              <a:t>❌  Ignoring JDK version on cache rebuild</a:t>
            </a:r>
            <a:endParaRPr b="0" i="0" sz="950" u="none" cap="none" strike="noStrike">
              <a:solidFill>
                <a:schemeClr val="dk1"/>
              </a:solidFill>
              <a:latin typeface="Calibri"/>
              <a:ea typeface="Calibri"/>
              <a:cs typeface="Calibri"/>
              <a:sym typeface="Calibri"/>
            </a:endParaRPr>
          </a:p>
        </p:txBody>
      </p:sp>
      <p:sp>
        <p:nvSpPr>
          <p:cNvPr id="1841" name="Google Shape;1841;p55"/>
          <p:cNvSpPr/>
          <p:nvPr/>
        </p:nvSpPr>
        <p:spPr>
          <a:xfrm>
            <a:off x="429768" y="4818888"/>
            <a:ext cx="39318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00"/>
              <a:buFont typeface="Calibri"/>
              <a:buNone/>
            </a:pPr>
            <a:r>
              <a:rPr b="0" i="0" lang="en-US" sz="900" u="none" cap="none" strike="noStrike">
                <a:solidFill>
                  <a:schemeClr val="dk1"/>
                </a:solidFill>
                <a:latin typeface="Calibri"/>
                <a:ea typeface="Calibri"/>
                <a:cs typeface="Calibri"/>
                <a:sym typeface="Calibri"/>
              </a:rPr>
              <a:t>     app.aot from JDK 21 used on JDK 25 pod — JVM silently rebuilds, no gain</a:t>
            </a:r>
            <a:endParaRPr b="0" i="0" sz="900" u="none" cap="none" strike="noStrike">
              <a:solidFill>
                <a:schemeClr val="dk1"/>
              </a:solidFill>
              <a:latin typeface="Calibri"/>
              <a:ea typeface="Calibri"/>
              <a:cs typeface="Calibri"/>
              <a:sym typeface="Calibri"/>
            </a:endParaRPr>
          </a:p>
        </p:txBody>
      </p:sp>
      <p:sp>
        <p:nvSpPr>
          <p:cNvPr id="1842" name="Google Shape;1842;p55"/>
          <p:cNvSpPr/>
          <p:nvPr/>
        </p:nvSpPr>
        <p:spPr>
          <a:xfrm>
            <a:off x="4690872" y="3127248"/>
            <a:ext cx="4188000" cy="192030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843" name="Google Shape;1843;p55"/>
          <p:cNvSpPr/>
          <p:nvPr/>
        </p:nvSpPr>
        <p:spPr>
          <a:xfrm>
            <a:off x="4690872" y="3127248"/>
            <a:ext cx="4188000" cy="292500"/>
          </a:xfrm>
          <a:prstGeom prst="rect">
            <a:avLst/>
          </a:prstGeom>
          <a:solidFill>
            <a:srgbClr val="E84855"/>
          </a:solidFill>
          <a:ln cap="flat" cmpd="sng" w="12700">
            <a:solidFill>
              <a:srgbClr val="E848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844" name="Google Shape;1844;p55"/>
          <p:cNvSpPr/>
          <p:nvPr/>
        </p:nvSpPr>
        <p:spPr>
          <a:xfrm>
            <a:off x="4782312" y="3127248"/>
            <a:ext cx="40050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chemeClr val="dk1"/>
                </a:solidFill>
                <a:latin typeface="Calibri"/>
                <a:ea typeface="Calibri"/>
                <a:cs typeface="Calibri"/>
                <a:sym typeface="Calibri"/>
              </a:rPr>
              <a:t>👁  Observability Anti-Patterns</a:t>
            </a:r>
            <a:endParaRPr b="0" i="0" sz="1100" u="none" cap="none" strike="noStrike">
              <a:solidFill>
                <a:schemeClr val="dk1"/>
              </a:solidFill>
              <a:latin typeface="Calibri"/>
              <a:ea typeface="Calibri"/>
              <a:cs typeface="Calibri"/>
              <a:sym typeface="Calibri"/>
            </a:endParaRPr>
          </a:p>
        </p:txBody>
      </p:sp>
      <p:sp>
        <p:nvSpPr>
          <p:cNvPr id="1845" name="Google Shape;1845;p55"/>
          <p:cNvSpPr/>
          <p:nvPr/>
        </p:nvSpPr>
        <p:spPr>
          <a:xfrm>
            <a:off x="4764024" y="3456432"/>
            <a:ext cx="183000" cy="183000"/>
          </a:xfrm>
          <a:prstGeom prst="rect">
            <a:avLst/>
          </a:prstGeom>
          <a:solidFill>
            <a:srgbClr val="E84855"/>
          </a:solidFill>
          <a:ln cap="flat" cmpd="sng" w="12700">
            <a:solidFill>
              <a:srgbClr val="E848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846" name="Google Shape;1846;p55"/>
          <p:cNvSpPr/>
          <p:nvPr/>
        </p:nvSpPr>
        <p:spPr>
          <a:xfrm>
            <a:off x="4800600" y="3456432"/>
            <a:ext cx="39318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950"/>
              <a:buFont typeface="Calibri"/>
              <a:buNone/>
            </a:pPr>
            <a:r>
              <a:rPr b="1" i="0" lang="en-US" sz="950" u="none" cap="none" strike="noStrike">
                <a:solidFill>
                  <a:schemeClr val="dk1"/>
                </a:solidFill>
                <a:latin typeface="Calibri"/>
                <a:ea typeface="Calibri"/>
                <a:cs typeface="Calibri"/>
                <a:sym typeface="Calibri"/>
              </a:rPr>
              <a:t>❌  No GC pause histogram in Prometheus</a:t>
            </a:r>
            <a:endParaRPr b="0" i="0" sz="950" u="none" cap="none" strike="noStrike">
              <a:solidFill>
                <a:schemeClr val="dk1"/>
              </a:solidFill>
              <a:latin typeface="Calibri"/>
              <a:ea typeface="Calibri"/>
              <a:cs typeface="Calibri"/>
              <a:sym typeface="Calibri"/>
            </a:endParaRPr>
          </a:p>
        </p:txBody>
      </p:sp>
      <p:sp>
        <p:nvSpPr>
          <p:cNvPr id="1847" name="Google Shape;1847;p55"/>
          <p:cNvSpPr/>
          <p:nvPr/>
        </p:nvSpPr>
        <p:spPr>
          <a:xfrm>
            <a:off x="4800600" y="3639312"/>
            <a:ext cx="39318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00"/>
              <a:buFont typeface="Calibri"/>
              <a:buNone/>
            </a:pPr>
            <a:r>
              <a:rPr b="0" i="0" lang="en-US" sz="900" u="none" cap="none" strike="noStrike">
                <a:solidFill>
                  <a:schemeClr val="dk1"/>
                </a:solidFill>
                <a:latin typeface="Calibri"/>
                <a:ea typeface="Calibri"/>
                <a:cs typeface="Calibri"/>
                <a:sym typeface="Calibri"/>
              </a:rPr>
              <a:t>     Can't distinguish GC-induced latency from real application slowness</a:t>
            </a:r>
            <a:endParaRPr b="0" i="0" sz="900" u="none" cap="none" strike="noStrike">
              <a:solidFill>
                <a:schemeClr val="dk1"/>
              </a:solidFill>
              <a:latin typeface="Calibri"/>
              <a:ea typeface="Calibri"/>
              <a:cs typeface="Calibri"/>
              <a:sym typeface="Calibri"/>
            </a:endParaRPr>
          </a:p>
        </p:txBody>
      </p:sp>
      <p:sp>
        <p:nvSpPr>
          <p:cNvPr id="1848" name="Google Shape;1848;p55"/>
          <p:cNvSpPr/>
          <p:nvPr/>
        </p:nvSpPr>
        <p:spPr>
          <a:xfrm>
            <a:off x="4764024" y="3849624"/>
            <a:ext cx="183000" cy="183000"/>
          </a:xfrm>
          <a:prstGeom prst="rect">
            <a:avLst/>
          </a:prstGeom>
          <a:solidFill>
            <a:srgbClr val="E84855"/>
          </a:solidFill>
          <a:ln cap="flat" cmpd="sng" w="12700">
            <a:solidFill>
              <a:srgbClr val="E848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849" name="Google Shape;1849;p55"/>
          <p:cNvSpPr/>
          <p:nvPr/>
        </p:nvSpPr>
        <p:spPr>
          <a:xfrm>
            <a:off x="4800600" y="3849624"/>
            <a:ext cx="39318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950"/>
              <a:buFont typeface="Calibri"/>
              <a:buNone/>
            </a:pPr>
            <a:r>
              <a:rPr b="1" i="0" lang="en-US" sz="950" u="none" cap="none" strike="noStrike">
                <a:solidFill>
                  <a:schemeClr val="dk1"/>
                </a:solidFill>
                <a:latin typeface="Calibri"/>
                <a:ea typeface="Calibri"/>
                <a:cs typeface="Calibri"/>
                <a:sym typeface="Calibri"/>
              </a:rPr>
              <a:t>❌  quarkus-micrometer-registry-prometheus alone</a:t>
            </a:r>
            <a:endParaRPr b="0" i="0" sz="950" u="none" cap="none" strike="noStrike">
              <a:solidFill>
                <a:schemeClr val="dk1"/>
              </a:solidFill>
              <a:latin typeface="Calibri"/>
              <a:ea typeface="Calibri"/>
              <a:cs typeface="Calibri"/>
              <a:sym typeface="Calibri"/>
            </a:endParaRPr>
          </a:p>
        </p:txBody>
      </p:sp>
      <p:sp>
        <p:nvSpPr>
          <p:cNvPr id="1850" name="Google Shape;1850;p55"/>
          <p:cNvSpPr/>
          <p:nvPr/>
        </p:nvSpPr>
        <p:spPr>
          <a:xfrm>
            <a:off x="4800600" y="4032504"/>
            <a:ext cx="39318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00"/>
              <a:buFont typeface="Calibri"/>
              <a:buNone/>
            </a:pPr>
            <a:r>
              <a:rPr b="0" i="0" lang="en-US" sz="900" u="none" cap="none" strike="noStrike">
                <a:solidFill>
                  <a:schemeClr val="dk1"/>
                </a:solidFill>
                <a:latin typeface="Calibri"/>
                <a:ea typeface="Calibri"/>
                <a:cs typeface="Calibri"/>
                <a:sym typeface="Calibri"/>
              </a:rPr>
              <a:t>     Misses unified OTel pipeline — use quarkus-micrometer-opentelemetry instead</a:t>
            </a:r>
            <a:endParaRPr b="0" i="0" sz="900" u="none" cap="none" strike="noStrike">
              <a:solidFill>
                <a:schemeClr val="dk1"/>
              </a:solidFill>
              <a:latin typeface="Calibri"/>
              <a:ea typeface="Calibri"/>
              <a:cs typeface="Calibri"/>
              <a:sym typeface="Calibri"/>
            </a:endParaRPr>
          </a:p>
        </p:txBody>
      </p:sp>
      <p:sp>
        <p:nvSpPr>
          <p:cNvPr id="1851" name="Google Shape;1851;p55"/>
          <p:cNvSpPr/>
          <p:nvPr/>
        </p:nvSpPr>
        <p:spPr>
          <a:xfrm>
            <a:off x="4764024" y="4242816"/>
            <a:ext cx="183000" cy="183000"/>
          </a:xfrm>
          <a:prstGeom prst="rect">
            <a:avLst/>
          </a:prstGeom>
          <a:solidFill>
            <a:srgbClr val="E84855"/>
          </a:solidFill>
          <a:ln cap="flat" cmpd="sng" w="12700">
            <a:solidFill>
              <a:srgbClr val="E848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852" name="Google Shape;1852;p55"/>
          <p:cNvSpPr/>
          <p:nvPr/>
        </p:nvSpPr>
        <p:spPr>
          <a:xfrm>
            <a:off x="4800600" y="4242816"/>
            <a:ext cx="39318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950"/>
              <a:buFont typeface="Calibri"/>
              <a:buNone/>
            </a:pPr>
            <a:r>
              <a:rPr b="1" i="0" lang="en-US" sz="950" u="none" cap="none" strike="noStrike">
                <a:solidFill>
                  <a:schemeClr val="dk1"/>
                </a:solidFill>
                <a:latin typeface="Calibri"/>
                <a:ea typeface="Calibri"/>
                <a:cs typeface="Calibri"/>
                <a:sym typeface="Calibri"/>
              </a:rPr>
              <a:t>❌  No PrometheusRule on jvm_gc_pause</a:t>
            </a:r>
            <a:endParaRPr b="0" i="0" sz="950" u="none" cap="none" strike="noStrike">
              <a:solidFill>
                <a:schemeClr val="dk1"/>
              </a:solidFill>
              <a:latin typeface="Calibri"/>
              <a:ea typeface="Calibri"/>
              <a:cs typeface="Calibri"/>
              <a:sym typeface="Calibri"/>
            </a:endParaRPr>
          </a:p>
        </p:txBody>
      </p:sp>
      <p:sp>
        <p:nvSpPr>
          <p:cNvPr id="1853" name="Google Shape;1853;p55"/>
          <p:cNvSpPr/>
          <p:nvPr/>
        </p:nvSpPr>
        <p:spPr>
          <a:xfrm>
            <a:off x="4800600" y="4425696"/>
            <a:ext cx="39318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00"/>
              <a:buFont typeface="Calibri"/>
              <a:buNone/>
            </a:pPr>
            <a:r>
              <a:rPr b="0" i="0" lang="en-US" sz="900" u="none" cap="none" strike="noStrike">
                <a:solidFill>
                  <a:schemeClr val="dk1"/>
                </a:solidFill>
                <a:latin typeface="Calibri"/>
                <a:ea typeface="Calibri"/>
                <a:cs typeface="Calibri"/>
                <a:sym typeface="Calibri"/>
              </a:rPr>
              <a:t>     GC degradation is invisible until SLO breach — no alerting before impact</a:t>
            </a:r>
            <a:endParaRPr b="0" i="0" sz="900" u="none" cap="none" strike="noStrike">
              <a:solidFill>
                <a:schemeClr val="dk1"/>
              </a:solidFill>
              <a:latin typeface="Calibri"/>
              <a:ea typeface="Calibri"/>
              <a:cs typeface="Calibri"/>
              <a:sym typeface="Calibri"/>
            </a:endParaRPr>
          </a:p>
        </p:txBody>
      </p:sp>
      <p:sp>
        <p:nvSpPr>
          <p:cNvPr id="1854" name="Google Shape;1854;p55"/>
          <p:cNvSpPr/>
          <p:nvPr/>
        </p:nvSpPr>
        <p:spPr>
          <a:xfrm>
            <a:off x="4764024" y="4636008"/>
            <a:ext cx="183000" cy="183000"/>
          </a:xfrm>
          <a:prstGeom prst="rect">
            <a:avLst/>
          </a:prstGeom>
          <a:solidFill>
            <a:srgbClr val="E84855"/>
          </a:solidFill>
          <a:ln cap="flat" cmpd="sng" w="12700">
            <a:solidFill>
              <a:srgbClr val="E848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855" name="Google Shape;1855;p55"/>
          <p:cNvSpPr/>
          <p:nvPr/>
        </p:nvSpPr>
        <p:spPr>
          <a:xfrm>
            <a:off x="4800600" y="4636008"/>
            <a:ext cx="39318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CF0F1"/>
              </a:buClr>
              <a:buSzPts val="950"/>
              <a:buFont typeface="Calibri"/>
              <a:buNone/>
            </a:pPr>
            <a:r>
              <a:rPr b="1" i="0" lang="en-US" sz="950" u="none" cap="none" strike="noStrike">
                <a:solidFill>
                  <a:schemeClr val="dk1"/>
                </a:solidFill>
                <a:latin typeface="Calibri"/>
                <a:ea typeface="Calibri"/>
                <a:cs typeface="Calibri"/>
                <a:sym typeface="Calibri"/>
              </a:rPr>
              <a:t>❌  Tuning JVM flags without baseline</a:t>
            </a:r>
            <a:endParaRPr b="0" i="0" sz="950" u="none" cap="none" strike="noStrike">
              <a:solidFill>
                <a:schemeClr val="dk1"/>
              </a:solidFill>
              <a:latin typeface="Calibri"/>
              <a:ea typeface="Calibri"/>
              <a:cs typeface="Calibri"/>
              <a:sym typeface="Calibri"/>
            </a:endParaRPr>
          </a:p>
        </p:txBody>
      </p:sp>
      <p:sp>
        <p:nvSpPr>
          <p:cNvPr id="1856" name="Google Shape;1856;p55"/>
          <p:cNvSpPr/>
          <p:nvPr/>
        </p:nvSpPr>
        <p:spPr>
          <a:xfrm>
            <a:off x="4800600" y="4818888"/>
            <a:ext cx="39318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900"/>
              <a:buFont typeface="Calibri"/>
              <a:buNone/>
            </a:pPr>
            <a:r>
              <a:rPr b="0" i="0" lang="en-US" sz="900" u="none" cap="none" strike="noStrike">
                <a:solidFill>
                  <a:schemeClr val="dk1"/>
                </a:solidFill>
                <a:latin typeface="Calibri"/>
                <a:ea typeface="Calibri"/>
                <a:cs typeface="Calibri"/>
                <a:sym typeface="Calibri"/>
              </a:rPr>
              <a:t>     No before/after measurement → can't tell if change helped or hurt</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861" name="Shape 1861"/>
        <p:cNvGrpSpPr/>
        <p:nvPr/>
      </p:nvGrpSpPr>
      <p:grpSpPr>
        <a:xfrm>
          <a:off x="0" y="0"/>
          <a:ext cx="0" cy="0"/>
          <a:chOff x="0" y="0"/>
          <a:chExt cx="0" cy="0"/>
        </a:xfrm>
      </p:grpSpPr>
      <p:sp>
        <p:nvSpPr>
          <p:cNvPr id="1862" name="Google Shape;1862;p56"/>
          <p:cNvSpPr/>
          <p:nvPr/>
        </p:nvSpPr>
        <p:spPr>
          <a:xfrm>
            <a:off x="0" y="0"/>
            <a:ext cx="9144000" cy="640200"/>
          </a:xfrm>
          <a:prstGeom prst="rect">
            <a:avLst/>
          </a:prstGeom>
          <a:solidFill>
            <a:srgbClr val="081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56"/>
          <p:cNvSpPr/>
          <p:nvPr/>
        </p:nvSpPr>
        <p:spPr>
          <a:xfrm>
            <a:off x="365760" y="0"/>
            <a:ext cx="68580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2000"/>
              <a:buFont typeface="Calibri"/>
              <a:buNone/>
            </a:pPr>
            <a:r>
              <a:rPr b="1" i="0" lang="en-US" sz="2000" u="none" cap="none" strike="noStrike">
                <a:solidFill>
                  <a:srgbClr val="00BCD4"/>
                </a:solidFill>
                <a:latin typeface="Calibri"/>
                <a:ea typeface="Calibri"/>
                <a:cs typeface="Calibri"/>
                <a:sym typeface="Calibri"/>
              </a:rPr>
              <a:t>Anti-Pattern Remediation</a:t>
            </a:r>
            <a:endParaRPr b="0" i="0" sz="2000" u="none" cap="none" strike="noStrike">
              <a:solidFill>
                <a:schemeClr val="dk1"/>
              </a:solidFill>
              <a:latin typeface="Calibri"/>
              <a:ea typeface="Calibri"/>
              <a:cs typeface="Calibri"/>
              <a:sym typeface="Calibri"/>
            </a:endParaRPr>
          </a:p>
        </p:txBody>
      </p:sp>
      <p:sp>
        <p:nvSpPr>
          <p:cNvPr id="1864" name="Google Shape;1864;p56"/>
          <p:cNvSpPr/>
          <p:nvPr/>
        </p:nvSpPr>
        <p:spPr>
          <a:xfrm>
            <a:off x="7315200" y="73152"/>
            <a:ext cx="1645800" cy="502800"/>
          </a:xfrm>
          <a:prstGeom prst="rect">
            <a:avLst/>
          </a:prstGeom>
          <a:solidFill>
            <a:srgbClr val="1E6FC8"/>
          </a:solidFill>
          <a:ln>
            <a:noFill/>
          </a:ln>
        </p:spPr>
        <p:txBody>
          <a:bodyPr anchorCtr="0" anchor="ctr" bIns="0" lIns="0" spcFirstLastPara="1" rIns="76200" wrap="square" tIns="76200">
            <a:noAutofit/>
          </a:bodyPr>
          <a:lstStyle/>
          <a:p>
            <a:pPr indent="0" lvl="0" marL="0" marR="0" rtl="0" algn="r">
              <a:spcBef>
                <a:spcPts val="0"/>
              </a:spcBef>
              <a:spcAft>
                <a:spcPts val="0"/>
              </a:spcAft>
              <a:buClr>
                <a:srgbClr val="ECF0F1"/>
              </a:buClr>
              <a:buSzPts val="1000"/>
              <a:buFont typeface="Calibri"/>
              <a:buNone/>
            </a:pPr>
            <a:r>
              <a:rPr lang="en-US" sz="1000">
                <a:solidFill>
                  <a:srgbClr val="ECF0F1"/>
                </a:solidFill>
                <a:latin typeface="Calibri"/>
                <a:ea typeface="Calibri"/>
                <a:cs typeface="Calibri"/>
                <a:sym typeface="Calibri"/>
              </a:rPr>
              <a:t>ANTI-PATTERNS</a:t>
            </a:r>
            <a:endParaRPr b="0" i="0" sz="1000" u="none" cap="none" strike="noStrike">
              <a:solidFill>
                <a:schemeClr val="dk1"/>
              </a:solidFill>
              <a:latin typeface="Calibri"/>
              <a:ea typeface="Calibri"/>
              <a:cs typeface="Calibri"/>
              <a:sym typeface="Calibri"/>
            </a:endParaRPr>
          </a:p>
        </p:txBody>
      </p:sp>
      <p:sp>
        <p:nvSpPr>
          <p:cNvPr id="1865" name="Google Shape;1865;p56"/>
          <p:cNvSpPr/>
          <p:nvPr/>
        </p:nvSpPr>
        <p:spPr>
          <a:xfrm>
            <a:off x="0" y="4960620"/>
            <a:ext cx="9144000" cy="183000"/>
          </a:xfrm>
          <a:prstGeom prst="rect">
            <a:avLst/>
          </a:prstGeom>
          <a:solidFill>
            <a:srgbClr val="1E6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56"/>
          <p:cNvSpPr/>
          <p:nvPr/>
        </p:nvSpPr>
        <p:spPr>
          <a:xfrm>
            <a:off x="365760" y="4956048"/>
            <a:ext cx="84126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CF0F1"/>
              </a:buClr>
              <a:buSzPts val="900"/>
              <a:buFont typeface="Calibri"/>
              <a:buNone/>
            </a:pPr>
            <a:r>
              <a:rPr b="0" i="0" lang="en-US" sz="900" u="none" cap="none" strike="noStrike">
                <a:solidFill>
                  <a:srgbClr val="ECF0F1"/>
                </a:solidFill>
                <a:latin typeface="Calibri"/>
                <a:ea typeface="Calibri"/>
                <a:cs typeface="Calibri"/>
                <a:sym typeface="Calibri"/>
              </a:rPr>
              <a:t>Taming the JVM: Java Optimization on OpenShift</a:t>
            </a:r>
            <a:endParaRPr b="0" i="0" sz="900" u="none" cap="none" strike="noStrike">
              <a:solidFill>
                <a:schemeClr val="dk1"/>
              </a:solidFill>
              <a:latin typeface="Calibri"/>
              <a:ea typeface="Calibri"/>
              <a:cs typeface="Calibri"/>
              <a:sym typeface="Calibri"/>
            </a:endParaRPr>
          </a:p>
        </p:txBody>
      </p:sp>
      <p:sp>
        <p:nvSpPr>
          <p:cNvPr id="1867" name="Google Shape;1867;p56"/>
          <p:cNvSpPr/>
          <p:nvPr/>
        </p:nvSpPr>
        <p:spPr>
          <a:xfrm>
            <a:off x="365760" y="749808"/>
            <a:ext cx="8412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A4AE"/>
              </a:buClr>
              <a:buSzPts val="1200"/>
              <a:buFont typeface="Calibri"/>
              <a:buNone/>
            </a:pPr>
            <a:r>
              <a:rPr b="0" i="1" lang="en-US" sz="1200" u="none" cap="none" strike="noStrike">
                <a:solidFill>
                  <a:srgbClr val="90A4AE"/>
                </a:solidFill>
                <a:latin typeface="Calibri"/>
                <a:ea typeface="Calibri"/>
                <a:cs typeface="Calibri"/>
                <a:sym typeface="Calibri"/>
              </a:rPr>
              <a:t>Drop-in fixes for every anti-pattern on the previous slide</a:t>
            </a:r>
            <a:endParaRPr b="0" i="0" sz="1200" u="none" cap="none" strike="noStrike">
              <a:solidFill>
                <a:schemeClr val="dk1"/>
              </a:solidFill>
              <a:latin typeface="Calibri"/>
              <a:ea typeface="Calibri"/>
              <a:cs typeface="Calibri"/>
              <a:sym typeface="Calibri"/>
            </a:endParaRPr>
          </a:p>
        </p:txBody>
      </p:sp>
      <p:sp>
        <p:nvSpPr>
          <p:cNvPr id="1868" name="Google Shape;1868;p56"/>
          <p:cNvSpPr/>
          <p:nvPr/>
        </p:nvSpPr>
        <p:spPr>
          <a:xfrm>
            <a:off x="320040" y="1115568"/>
            <a:ext cx="4188000" cy="192030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FEFEF"/>
              </a:solidFill>
            </a:endParaRPr>
          </a:p>
        </p:txBody>
      </p:sp>
      <p:sp>
        <p:nvSpPr>
          <p:cNvPr id="1869" name="Google Shape;1869;p56"/>
          <p:cNvSpPr/>
          <p:nvPr/>
        </p:nvSpPr>
        <p:spPr>
          <a:xfrm>
            <a:off x="320040" y="1115568"/>
            <a:ext cx="4188000" cy="292500"/>
          </a:xfrm>
          <a:prstGeom prst="rect">
            <a:avLst/>
          </a:prstGeom>
          <a:solidFill>
            <a:srgbClr val="1E6FC8"/>
          </a:solidFill>
          <a:ln cap="flat" cmpd="sng" w="12700">
            <a:solidFill>
              <a:srgbClr val="1E6F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FEFEF"/>
              </a:solidFill>
            </a:endParaRPr>
          </a:p>
        </p:txBody>
      </p:sp>
      <p:sp>
        <p:nvSpPr>
          <p:cNvPr id="1870" name="Google Shape;1870;p56"/>
          <p:cNvSpPr/>
          <p:nvPr/>
        </p:nvSpPr>
        <p:spPr>
          <a:xfrm>
            <a:off x="411480" y="1115568"/>
            <a:ext cx="40050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EFEFEF"/>
                </a:solidFill>
                <a:latin typeface="Calibri"/>
                <a:ea typeface="Calibri"/>
                <a:cs typeface="Calibri"/>
                <a:sym typeface="Calibri"/>
              </a:rPr>
              <a:t>✅  Memory Fixes</a:t>
            </a:r>
            <a:endParaRPr b="0" i="0" sz="1100" u="none" cap="none" strike="noStrike">
              <a:solidFill>
                <a:srgbClr val="EFEFEF"/>
              </a:solidFill>
              <a:latin typeface="Calibri"/>
              <a:ea typeface="Calibri"/>
              <a:cs typeface="Calibri"/>
              <a:sym typeface="Calibri"/>
            </a:endParaRPr>
          </a:p>
        </p:txBody>
      </p:sp>
      <p:sp>
        <p:nvSpPr>
          <p:cNvPr id="1871" name="Google Shape;1871;p56"/>
          <p:cNvSpPr/>
          <p:nvPr/>
        </p:nvSpPr>
        <p:spPr>
          <a:xfrm>
            <a:off x="429768" y="1463040"/>
            <a:ext cx="3986700" cy="34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CF0F1"/>
              </a:buClr>
              <a:buSzPts val="980"/>
              <a:buFont typeface="Calibri"/>
              <a:buNone/>
            </a:pPr>
            <a:r>
              <a:rPr b="0" i="0" lang="en-US" sz="980" u="none" cap="none" strike="noStrike">
                <a:solidFill>
                  <a:schemeClr val="dk1"/>
                </a:solidFill>
                <a:latin typeface="Calibri"/>
                <a:ea typeface="Calibri"/>
                <a:cs typeface="Calibri"/>
                <a:sym typeface="Calibri"/>
              </a:rPr>
              <a:t>→  Replace -Xmx/-Xms with -XX:+UseContainerSupport -XX:MaxRAMPercentage=75.0</a:t>
            </a:r>
            <a:endParaRPr b="0" i="0" sz="980" u="none" cap="none" strike="noStrike">
              <a:solidFill>
                <a:schemeClr val="dk1"/>
              </a:solidFill>
              <a:latin typeface="Calibri"/>
              <a:ea typeface="Calibri"/>
              <a:cs typeface="Calibri"/>
              <a:sym typeface="Calibri"/>
            </a:endParaRPr>
          </a:p>
        </p:txBody>
      </p:sp>
      <p:sp>
        <p:nvSpPr>
          <p:cNvPr id="1872" name="Google Shape;1872;p56"/>
          <p:cNvSpPr/>
          <p:nvPr/>
        </p:nvSpPr>
        <p:spPr>
          <a:xfrm>
            <a:off x="429768" y="1851660"/>
            <a:ext cx="3986700" cy="34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CF0F1"/>
              </a:buClr>
              <a:buSzPts val="980"/>
              <a:buFont typeface="Calibri"/>
              <a:buNone/>
            </a:pPr>
            <a:r>
              <a:rPr b="0" i="0" lang="en-US" sz="980" u="none" cap="none" strike="noStrike">
                <a:solidFill>
                  <a:schemeClr val="dk1"/>
                </a:solidFill>
                <a:latin typeface="Calibri"/>
                <a:ea typeface="Calibri"/>
                <a:cs typeface="Calibri"/>
                <a:sym typeface="Calibri"/>
              </a:rPr>
              <a:t>→  Use 75% not 90% — reserve 25% for Metaspace + threads + JIT + Netty buffers</a:t>
            </a:r>
            <a:endParaRPr b="0" i="0" sz="980" u="none" cap="none" strike="noStrike">
              <a:solidFill>
                <a:schemeClr val="dk1"/>
              </a:solidFill>
              <a:latin typeface="Calibri"/>
              <a:ea typeface="Calibri"/>
              <a:cs typeface="Calibri"/>
              <a:sym typeface="Calibri"/>
            </a:endParaRPr>
          </a:p>
        </p:txBody>
      </p:sp>
      <p:sp>
        <p:nvSpPr>
          <p:cNvPr id="1873" name="Google Shape;1873;p56"/>
          <p:cNvSpPr/>
          <p:nvPr/>
        </p:nvSpPr>
        <p:spPr>
          <a:xfrm>
            <a:off x="429768" y="2240280"/>
            <a:ext cx="3986700" cy="34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CF0F1"/>
              </a:buClr>
              <a:buSzPts val="980"/>
              <a:buFont typeface="Calibri"/>
              <a:buNone/>
            </a:pPr>
            <a:r>
              <a:rPr b="0" i="0" lang="en-US" sz="980" u="none" cap="none" strike="noStrike">
                <a:solidFill>
                  <a:schemeClr val="dk1"/>
                </a:solidFill>
                <a:latin typeface="Calibri"/>
                <a:ea typeface="Calibri"/>
                <a:cs typeface="Calibri"/>
                <a:sym typeface="Calibri"/>
              </a:rPr>
              <a:t>→  Add -XX:MaxMetaspaceSize sized from observed peak + headroom (e.g. 512m for framework-heavy apps)</a:t>
            </a:r>
            <a:endParaRPr b="0" i="0" sz="980" u="none" cap="none" strike="noStrike">
              <a:solidFill>
                <a:schemeClr val="dk1"/>
              </a:solidFill>
              <a:latin typeface="Calibri"/>
              <a:ea typeface="Calibri"/>
              <a:cs typeface="Calibri"/>
              <a:sym typeface="Calibri"/>
            </a:endParaRPr>
          </a:p>
        </p:txBody>
      </p:sp>
      <p:sp>
        <p:nvSpPr>
          <p:cNvPr id="1874" name="Google Shape;1874;p56"/>
          <p:cNvSpPr/>
          <p:nvPr/>
        </p:nvSpPr>
        <p:spPr>
          <a:xfrm>
            <a:off x="429768" y="2628900"/>
            <a:ext cx="3986700" cy="34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CF0F1"/>
              </a:buClr>
              <a:buSzPts val="980"/>
              <a:buFont typeface="Calibri"/>
              <a:buNone/>
            </a:pPr>
            <a:r>
              <a:rPr b="0" i="0" lang="en-US" sz="980" u="none" cap="none" strike="noStrike">
                <a:solidFill>
                  <a:schemeClr val="dk1"/>
                </a:solidFill>
                <a:latin typeface="Calibri"/>
                <a:ea typeface="Calibri"/>
                <a:cs typeface="Calibri"/>
                <a:sym typeface="Calibri"/>
              </a:rPr>
              <a:t>→  Set memory limit 25-30% above P99 peak RSS (kubectl top pod --containers)</a:t>
            </a:r>
            <a:endParaRPr b="0" i="0" sz="980" u="none" cap="none" strike="noStrike">
              <a:solidFill>
                <a:schemeClr val="dk1"/>
              </a:solidFill>
              <a:latin typeface="Calibri"/>
              <a:ea typeface="Calibri"/>
              <a:cs typeface="Calibri"/>
              <a:sym typeface="Calibri"/>
            </a:endParaRPr>
          </a:p>
        </p:txBody>
      </p:sp>
      <p:sp>
        <p:nvSpPr>
          <p:cNvPr id="1875" name="Google Shape;1875;p56"/>
          <p:cNvSpPr/>
          <p:nvPr/>
        </p:nvSpPr>
        <p:spPr>
          <a:xfrm>
            <a:off x="4690872" y="1115568"/>
            <a:ext cx="4188000" cy="192030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FEFEF"/>
              </a:solidFill>
            </a:endParaRPr>
          </a:p>
        </p:txBody>
      </p:sp>
      <p:sp>
        <p:nvSpPr>
          <p:cNvPr id="1876" name="Google Shape;1876;p56"/>
          <p:cNvSpPr/>
          <p:nvPr/>
        </p:nvSpPr>
        <p:spPr>
          <a:xfrm>
            <a:off x="4690872" y="1115568"/>
            <a:ext cx="4188000" cy="292500"/>
          </a:xfrm>
          <a:prstGeom prst="rect">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FEFEF"/>
              </a:solidFill>
            </a:endParaRPr>
          </a:p>
        </p:txBody>
      </p:sp>
      <p:sp>
        <p:nvSpPr>
          <p:cNvPr id="1877" name="Google Shape;1877;p56"/>
          <p:cNvSpPr/>
          <p:nvPr/>
        </p:nvSpPr>
        <p:spPr>
          <a:xfrm>
            <a:off x="4782312" y="1115568"/>
            <a:ext cx="40050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EFEFEF"/>
                </a:solidFill>
                <a:latin typeface="Calibri"/>
                <a:ea typeface="Calibri"/>
                <a:cs typeface="Calibri"/>
                <a:sym typeface="Calibri"/>
              </a:rPr>
              <a:t>✅  GC &amp; CPU Fixes</a:t>
            </a:r>
            <a:endParaRPr b="0" i="0" sz="1100" u="none" cap="none" strike="noStrike">
              <a:solidFill>
                <a:srgbClr val="EFEFEF"/>
              </a:solidFill>
              <a:latin typeface="Calibri"/>
              <a:ea typeface="Calibri"/>
              <a:cs typeface="Calibri"/>
              <a:sym typeface="Calibri"/>
            </a:endParaRPr>
          </a:p>
        </p:txBody>
      </p:sp>
      <p:sp>
        <p:nvSpPr>
          <p:cNvPr id="1878" name="Google Shape;1878;p56"/>
          <p:cNvSpPr/>
          <p:nvPr/>
        </p:nvSpPr>
        <p:spPr>
          <a:xfrm>
            <a:off x="4800600" y="1463040"/>
            <a:ext cx="3986700" cy="34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CF0F1"/>
              </a:buClr>
              <a:buSzPts val="980"/>
              <a:buFont typeface="Calibri"/>
              <a:buNone/>
            </a:pPr>
            <a:r>
              <a:rPr b="0" i="0" lang="en-US" sz="980" u="none" cap="none" strike="noStrike">
                <a:solidFill>
                  <a:schemeClr val="dk1"/>
                </a:solidFill>
                <a:latin typeface="Calibri"/>
                <a:ea typeface="Calibri"/>
                <a:cs typeface="Calibri"/>
                <a:sym typeface="Calibri"/>
              </a:rPr>
              <a:t>→  Set -XX:ParallelGCThreads=N where N equals your CPU request (not host CPU count)</a:t>
            </a:r>
            <a:endParaRPr b="0" i="0" sz="980" u="none" cap="none" strike="noStrike">
              <a:solidFill>
                <a:schemeClr val="dk1"/>
              </a:solidFill>
              <a:latin typeface="Calibri"/>
              <a:ea typeface="Calibri"/>
              <a:cs typeface="Calibri"/>
              <a:sym typeface="Calibri"/>
            </a:endParaRPr>
          </a:p>
        </p:txBody>
      </p:sp>
      <p:sp>
        <p:nvSpPr>
          <p:cNvPr id="1879" name="Google Shape;1879;p56"/>
          <p:cNvSpPr/>
          <p:nvPr/>
        </p:nvSpPr>
        <p:spPr>
          <a:xfrm>
            <a:off x="4800600" y="1851660"/>
            <a:ext cx="3986700" cy="34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CF0F1"/>
              </a:buClr>
              <a:buSzPts val="980"/>
              <a:buFont typeface="Calibri"/>
              <a:buNone/>
            </a:pPr>
            <a:r>
              <a:rPr b="0" i="0" lang="en-US" sz="980" u="none" cap="none" strike="noStrike">
                <a:solidFill>
                  <a:schemeClr val="dk1"/>
                </a:solidFill>
                <a:latin typeface="Calibri"/>
                <a:ea typeface="Calibri"/>
                <a:cs typeface="Calibri"/>
                <a:sym typeface="Calibri"/>
              </a:rPr>
              <a:t>→  Scale HPA on RPS not CPU — use KEDA or Prometheus Adapter with http_requests_per_second</a:t>
            </a:r>
            <a:endParaRPr b="0" i="0" sz="980" u="none" cap="none" strike="noStrike">
              <a:solidFill>
                <a:schemeClr val="dk1"/>
              </a:solidFill>
              <a:latin typeface="Calibri"/>
              <a:ea typeface="Calibri"/>
              <a:cs typeface="Calibri"/>
              <a:sym typeface="Calibri"/>
            </a:endParaRPr>
          </a:p>
        </p:txBody>
      </p:sp>
      <p:sp>
        <p:nvSpPr>
          <p:cNvPr id="1880" name="Google Shape;1880;p56"/>
          <p:cNvSpPr/>
          <p:nvPr/>
        </p:nvSpPr>
        <p:spPr>
          <a:xfrm>
            <a:off x="4800600" y="2240280"/>
            <a:ext cx="3986700" cy="34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CF0F1"/>
              </a:buClr>
              <a:buSzPts val="980"/>
              <a:buFont typeface="Calibri"/>
              <a:buNone/>
            </a:pPr>
            <a:r>
              <a:rPr b="0" i="0" lang="en-US" sz="980" u="none" cap="none" strike="noStrike">
                <a:solidFill>
                  <a:schemeClr val="dk1"/>
                </a:solidFill>
                <a:latin typeface="Calibri"/>
                <a:ea typeface="Calibri"/>
                <a:cs typeface="Calibri"/>
                <a:sym typeface="Calibri"/>
              </a:rPr>
              <a:t>→  Set minReplicas: 2 minimum — single pod + GC stop-the-world = 100% error rate</a:t>
            </a:r>
            <a:endParaRPr b="0" i="0" sz="980" u="none" cap="none" strike="noStrike">
              <a:solidFill>
                <a:schemeClr val="dk1"/>
              </a:solidFill>
              <a:latin typeface="Calibri"/>
              <a:ea typeface="Calibri"/>
              <a:cs typeface="Calibri"/>
              <a:sym typeface="Calibri"/>
            </a:endParaRPr>
          </a:p>
        </p:txBody>
      </p:sp>
      <p:sp>
        <p:nvSpPr>
          <p:cNvPr id="1881" name="Google Shape;1881;p56"/>
          <p:cNvSpPr/>
          <p:nvPr/>
        </p:nvSpPr>
        <p:spPr>
          <a:xfrm>
            <a:off x="4800600" y="2628900"/>
            <a:ext cx="3986700" cy="34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CF0F1"/>
              </a:buClr>
              <a:buSzPts val="980"/>
              <a:buFont typeface="Calibri"/>
              <a:buNone/>
            </a:pPr>
            <a:r>
              <a:rPr b="0" i="0" lang="en-US" sz="980" u="none" cap="none" strike="noStrike">
                <a:solidFill>
                  <a:schemeClr val="dk1"/>
                </a:solidFill>
                <a:latin typeface="Calibri"/>
                <a:ea typeface="Calibri"/>
                <a:cs typeface="Calibri"/>
                <a:sym typeface="Calibri"/>
              </a:rPr>
              <a:t>→  Add behavior.scaleUp.stabilizationWindowSeconds: 120 to absorb GC CPU spikes</a:t>
            </a:r>
            <a:endParaRPr b="0" i="0" sz="980" u="none" cap="none" strike="noStrike">
              <a:solidFill>
                <a:schemeClr val="dk1"/>
              </a:solidFill>
              <a:latin typeface="Calibri"/>
              <a:ea typeface="Calibri"/>
              <a:cs typeface="Calibri"/>
              <a:sym typeface="Calibri"/>
            </a:endParaRPr>
          </a:p>
        </p:txBody>
      </p:sp>
      <p:sp>
        <p:nvSpPr>
          <p:cNvPr id="1882" name="Google Shape;1882;p56"/>
          <p:cNvSpPr/>
          <p:nvPr/>
        </p:nvSpPr>
        <p:spPr>
          <a:xfrm>
            <a:off x="320040" y="3127248"/>
            <a:ext cx="4188000" cy="192030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FEFEF"/>
              </a:solidFill>
            </a:endParaRPr>
          </a:p>
        </p:txBody>
      </p:sp>
      <p:sp>
        <p:nvSpPr>
          <p:cNvPr id="1883" name="Google Shape;1883;p56"/>
          <p:cNvSpPr/>
          <p:nvPr/>
        </p:nvSpPr>
        <p:spPr>
          <a:xfrm>
            <a:off x="320040" y="3127248"/>
            <a:ext cx="4188000" cy="292500"/>
          </a:xfrm>
          <a:prstGeom prst="rect">
            <a:avLst/>
          </a:prstGeom>
          <a:solidFill>
            <a:srgbClr val="F5A623"/>
          </a:solidFill>
          <a:ln cap="flat" cmpd="sng" w="12700">
            <a:solidFill>
              <a:srgbClr val="F5A6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FEFEF"/>
              </a:solidFill>
            </a:endParaRPr>
          </a:p>
        </p:txBody>
      </p:sp>
      <p:sp>
        <p:nvSpPr>
          <p:cNvPr id="1884" name="Google Shape;1884;p56"/>
          <p:cNvSpPr/>
          <p:nvPr/>
        </p:nvSpPr>
        <p:spPr>
          <a:xfrm>
            <a:off x="411480" y="3127248"/>
            <a:ext cx="40050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EFEFEF"/>
                </a:solidFill>
                <a:latin typeface="Calibri"/>
                <a:ea typeface="Calibri"/>
                <a:cs typeface="Calibri"/>
                <a:sym typeface="Calibri"/>
              </a:rPr>
              <a:t>✅  AOT / Startup Fixes</a:t>
            </a:r>
            <a:endParaRPr b="0" i="0" sz="1100" u="none" cap="none" strike="noStrike">
              <a:solidFill>
                <a:srgbClr val="EFEFEF"/>
              </a:solidFill>
              <a:latin typeface="Calibri"/>
              <a:ea typeface="Calibri"/>
              <a:cs typeface="Calibri"/>
              <a:sym typeface="Calibri"/>
            </a:endParaRPr>
          </a:p>
        </p:txBody>
      </p:sp>
      <p:sp>
        <p:nvSpPr>
          <p:cNvPr id="1885" name="Google Shape;1885;p56"/>
          <p:cNvSpPr/>
          <p:nvPr/>
        </p:nvSpPr>
        <p:spPr>
          <a:xfrm>
            <a:off x="429768" y="3474720"/>
            <a:ext cx="3986700" cy="34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CF0F1"/>
              </a:buClr>
              <a:buSzPts val="980"/>
              <a:buFont typeface="Calibri"/>
              <a:buNone/>
            </a:pPr>
            <a:r>
              <a:rPr b="0" i="0" lang="en-US" sz="980" u="none" cap="none" strike="noStrike">
                <a:solidFill>
                  <a:schemeClr val="dk1"/>
                </a:solidFill>
                <a:latin typeface="Calibri"/>
                <a:ea typeface="Calibri"/>
                <a:cs typeface="Calibri"/>
                <a:sym typeface="Calibri"/>
              </a:rPr>
              <a:t>→  Use @QuarkusIntegrationTest not @QuarkusTest — IT tests run against packaged JAR</a:t>
            </a:r>
            <a:endParaRPr b="0" i="0" sz="980" u="none" cap="none" strike="noStrike">
              <a:solidFill>
                <a:schemeClr val="dk1"/>
              </a:solidFill>
              <a:latin typeface="Calibri"/>
              <a:ea typeface="Calibri"/>
              <a:cs typeface="Calibri"/>
              <a:sym typeface="Calibri"/>
            </a:endParaRPr>
          </a:p>
        </p:txBody>
      </p:sp>
      <p:sp>
        <p:nvSpPr>
          <p:cNvPr id="1886" name="Google Shape;1886;p56"/>
          <p:cNvSpPr/>
          <p:nvPr/>
        </p:nvSpPr>
        <p:spPr>
          <a:xfrm>
            <a:off x="429768" y="3863340"/>
            <a:ext cx="3986700" cy="34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CF0F1"/>
              </a:buClr>
              <a:buSzPts val="980"/>
              <a:buFont typeface="Calibri"/>
              <a:buNone/>
            </a:pPr>
            <a:r>
              <a:rPr b="0" i="0" lang="en-US" sz="980" u="none" cap="none" strike="noStrike">
                <a:solidFill>
                  <a:schemeClr val="dk1"/>
                </a:solidFill>
                <a:latin typeface="Calibri"/>
                <a:ea typeface="Calibri"/>
                <a:cs typeface="Calibri"/>
                <a:sym typeface="Calibri"/>
              </a:rPr>
              <a:t>→  Run mvn verify not mvn package — verify phase triggers @QuarkusIntegrationTest training</a:t>
            </a:r>
            <a:endParaRPr b="0" i="0" sz="980" u="none" cap="none" strike="noStrike">
              <a:solidFill>
                <a:schemeClr val="dk1"/>
              </a:solidFill>
              <a:latin typeface="Calibri"/>
              <a:ea typeface="Calibri"/>
              <a:cs typeface="Calibri"/>
              <a:sym typeface="Calibri"/>
            </a:endParaRPr>
          </a:p>
        </p:txBody>
      </p:sp>
      <p:sp>
        <p:nvSpPr>
          <p:cNvPr id="1887" name="Google Shape;1887;p56"/>
          <p:cNvSpPr/>
          <p:nvPr/>
        </p:nvSpPr>
        <p:spPr>
          <a:xfrm>
            <a:off x="429768" y="4251960"/>
            <a:ext cx="3986700" cy="34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CF0F1"/>
              </a:buClr>
              <a:buSzPts val="980"/>
              <a:buFont typeface="Calibri"/>
              <a:buNone/>
            </a:pPr>
            <a:r>
              <a:rPr b="0" i="0" lang="en-US" sz="980" u="none" cap="none" strike="noStrike">
                <a:solidFill>
                  <a:schemeClr val="dk1"/>
                </a:solidFill>
                <a:latin typeface="Calibri"/>
                <a:ea typeface="Calibri"/>
                <a:cs typeface="Calibri"/>
                <a:sym typeface="Calibri"/>
              </a:rPr>
              <a:t>→  Don't add -XX:AOTCache to Dockerfile — Quarkus sets it automatically from app.aot</a:t>
            </a:r>
            <a:endParaRPr b="0" i="0" sz="980" u="none" cap="none" strike="noStrike">
              <a:solidFill>
                <a:schemeClr val="dk1"/>
              </a:solidFill>
              <a:latin typeface="Calibri"/>
              <a:ea typeface="Calibri"/>
              <a:cs typeface="Calibri"/>
              <a:sym typeface="Calibri"/>
            </a:endParaRPr>
          </a:p>
        </p:txBody>
      </p:sp>
      <p:sp>
        <p:nvSpPr>
          <p:cNvPr id="1888" name="Google Shape;1888;p56"/>
          <p:cNvSpPr/>
          <p:nvPr/>
        </p:nvSpPr>
        <p:spPr>
          <a:xfrm>
            <a:off x="429768" y="4640580"/>
            <a:ext cx="3986700" cy="34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CF0F1"/>
              </a:buClr>
              <a:buSzPts val="980"/>
              <a:buFont typeface="Calibri"/>
              <a:buNone/>
            </a:pPr>
            <a:r>
              <a:rPr b="0" i="0" lang="en-US" sz="980" u="none" cap="none" strike="noStrike">
                <a:solidFill>
                  <a:schemeClr val="dk1"/>
                </a:solidFill>
                <a:latin typeface="Calibri"/>
                <a:ea typeface="Calibri"/>
                <a:cs typeface="Calibri"/>
                <a:sym typeface="Calibri"/>
              </a:rPr>
              <a:t>→  Pin JDK version in Dockerfile FROM line — cache is tied to exact JDK version</a:t>
            </a:r>
            <a:endParaRPr b="0" i="0" sz="980" u="none" cap="none" strike="noStrike">
              <a:solidFill>
                <a:schemeClr val="dk1"/>
              </a:solidFill>
              <a:latin typeface="Calibri"/>
              <a:ea typeface="Calibri"/>
              <a:cs typeface="Calibri"/>
              <a:sym typeface="Calibri"/>
            </a:endParaRPr>
          </a:p>
        </p:txBody>
      </p:sp>
      <p:sp>
        <p:nvSpPr>
          <p:cNvPr id="1889" name="Google Shape;1889;p56"/>
          <p:cNvSpPr/>
          <p:nvPr/>
        </p:nvSpPr>
        <p:spPr>
          <a:xfrm>
            <a:off x="4690872" y="3127248"/>
            <a:ext cx="4188000" cy="1920300"/>
          </a:xfrm>
          <a:prstGeom prst="rect">
            <a:avLst/>
          </a:prstGeom>
          <a:solidFill>
            <a:srgbClr val="FFFFFF"/>
          </a:solidFill>
          <a:ln cap="flat" cmpd="sng" w="12700">
            <a:solidFill>
              <a:srgbClr val="E0E8F0"/>
            </a:solidFill>
            <a:prstDash val="solid"/>
            <a:round/>
            <a:headEnd len="sm" w="sm" type="none"/>
            <a:tailEnd len="sm" w="sm" type="none"/>
          </a:ln>
          <a:effectLst>
            <a:outerShdw blurRad="101600" rotWithShape="0" algn="bl" dir="8100000" dist="38100">
              <a:srgbClr val="000000">
                <a:alpha val="180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FEFEF"/>
              </a:solidFill>
            </a:endParaRPr>
          </a:p>
        </p:txBody>
      </p:sp>
      <p:sp>
        <p:nvSpPr>
          <p:cNvPr id="1890" name="Google Shape;1890;p56"/>
          <p:cNvSpPr/>
          <p:nvPr/>
        </p:nvSpPr>
        <p:spPr>
          <a:xfrm>
            <a:off x="4690872" y="3127248"/>
            <a:ext cx="4188000" cy="292500"/>
          </a:xfrm>
          <a:prstGeom prst="rect">
            <a:avLst/>
          </a:prstGeom>
          <a:solidFill>
            <a:srgbClr val="27AE60"/>
          </a:solidFill>
          <a:ln cap="flat" cmpd="sng" w="1270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FEFEF"/>
              </a:solidFill>
            </a:endParaRPr>
          </a:p>
        </p:txBody>
      </p:sp>
      <p:sp>
        <p:nvSpPr>
          <p:cNvPr id="1891" name="Google Shape;1891;p56"/>
          <p:cNvSpPr/>
          <p:nvPr/>
        </p:nvSpPr>
        <p:spPr>
          <a:xfrm>
            <a:off x="4782312" y="3127248"/>
            <a:ext cx="40050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EFEFEF"/>
                </a:solidFill>
                <a:latin typeface="Calibri"/>
                <a:ea typeface="Calibri"/>
                <a:cs typeface="Calibri"/>
                <a:sym typeface="Calibri"/>
              </a:rPr>
              <a:t>✅  Observability Fixes</a:t>
            </a:r>
            <a:endParaRPr b="0" i="0" sz="1100" u="none" cap="none" strike="noStrike">
              <a:solidFill>
                <a:srgbClr val="EFEFEF"/>
              </a:solidFill>
              <a:latin typeface="Calibri"/>
              <a:ea typeface="Calibri"/>
              <a:cs typeface="Calibri"/>
              <a:sym typeface="Calibri"/>
            </a:endParaRPr>
          </a:p>
        </p:txBody>
      </p:sp>
      <p:sp>
        <p:nvSpPr>
          <p:cNvPr id="1892" name="Google Shape;1892;p56"/>
          <p:cNvSpPr/>
          <p:nvPr/>
        </p:nvSpPr>
        <p:spPr>
          <a:xfrm>
            <a:off x="4800600" y="3474720"/>
            <a:ext cx="3986700" cy="34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CF0F1"/>
              </a:buClr>
              <a:buSzPts val="980"/>
              <a:buFont typeface="Calibri"/>
              <a:buNone/>
            </a:pPr>
            <a:r>
              <a:rPr b="0" i="0" lang="en-US" sz="980" u="none" cap="none" strike="noStrike">
                <a:solidFill>
                  <a:schemeClr val="dk1"/>
                </a:solidFill>
                <a:latin typeface="Calibri"/>
                <a:ea typeface="Calibri"/>
                <a:cs typeface="Calibri"/>
                <a:sym typeface="Calibri"/>
              </a:rPr>
              <a:t>→  Enable GC histogram: quarkus.micrometer.distribution.percentiles-histogram.jvm.gc.pause=true</a:t>
            </a:r>
            <a:endParaRPr b="0" i="0" sz="980" u="none" cap="none" strike="noStrike">
              <a:solidFill>
                <a:schemeClr val="dk1"/>
              </a:solidFill>
              <a:latin typeface="Calibri"/>
              <a:ea typeface="Calibri"/>
              <a:cs typeface="Calibri"/>
              <a:sym typeface="Calibri"/>
            </a:endParaRPr>
          </a:p>
        </p:txBody>
      </p:sp>
      <p:sp>
        <p:nvSpPr>
          <p:cNvPr id="1893" name="Google Shape;1893;p56"/>
          <p:cNvSpPr/>
          <p:nvPr/>
        </p:nvSpPr>
        <p:spPr>
          <a:xfrm>
            <a:off x="4800600" y="3863340"/>
            <a:ext cx="3986700" cy="34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CF0F1"/>
              </a:buClr>
              <a:buSzPts val="980"/>
              <a:buFont typeface="Calibri"/>
              <a:buNone/>
            </a:pPr>
            <a:r>
              <a:rPr b="0" i="0" lang="en-US" sz="980" u="none" cap="none" strike="noStrike">
                <a:solidFill>
                  <a:schemeClr val="dk1"/>
                </a:solidFill>
                <a:latin typeface="Calibri"/>
                <a:ea typeface="Calibri"/>
                <a:cs typeface="Calibri"/>
                <a:sym typeface="Calibri"/>
              </a:rPr>
              <a:t>→  Use quarkus-micrometer-opentelemetry — unified extension for metrics + traces + logs</a:t>
            </a:r>
            <a:endParaRPr b="0" i="0" sz="980" u="none" cap="none" strike="noStrike">
              <a:solidFill>
                <a:schemeClr val="dk1"/>
              </a:solidFill>
              <a:latin typeface="Calibri"/>
              <a:ea typeface="Calibri"/>
              <a:cs typeface="Calibri"/>
              <a:sym typeface="Calibri"/>
            </a:endParaRPr>
          </a:p>
        </p:txBody>
      </p:sp>
      <p:sp>
        <p:nvSpPr>
          <p:cNvPr id="1894" name="Google Shape;1894;p56"/>
          <p:cNvSpPr/>
          <p:nvPr/>
        </p:nvSpPr>
        <p:spPr>
          <a:xfrm>
            <a:off x="4800600" y="4251960"/>
            <a:ext cx="3986700" cy="34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CF0F1"/>
              </a:buClr>
              <a:buSzPts val="980"/>
              <a:buFont typeface="Calibri"/>
              <a:buNone/>
            </a:pPr>
            <a:r>
              <a:rPr b="0" i="0" lang="en-US" sz="980" u="none" cap="none" strike="noStrike">
                <a:solidFill>
                  <a:schemeClr val="dk1"/>
                </a:solidFill>
                <a:latin typeface="Calibri"/>
                <a:ea typeface="Calibri"/>
                <a:cs typeface="Calibri"/>
                <a:sym typeface="Calibri"/>
              </a:rPr>
              <a:t>→  Add PrometheusRule: alert when histogram_quantile(0.99, jvm_gc_pause) &gt; 0.5 for 2m</a:t>
            </a:r>
            <a:endParaRPr b="0" i="0" sz="980" u="none" cap="none" strike="noStrike">
              <a:solidFill>
                <a:schemeClr val="dk1"/>
              </a:solidFill>
              <a:latin typeface="Calibri"/>
              <a:ea typeface="Calibri"/>
              <a:cs typeface="Calibri"/>
              <a:sym typeface="Calibri"/>
            </a:endParaRPr>
          </a:p>
        </p:txBody>
      </p:sp>
      <p:sp>
        <p:nvSpPr>
          <p:cNvPr id="1895" name="Google Shape;1895;p56"/>
          <p:cNvSpPr/>
          <p:nvPr/>
        </p:nvSpPr>
        <p:spPr>
          <a:xfrm>
            <a:off x="4800600" y="4640580"/>
            <a:ext cx="3986700" cy="34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CF0F1"/>
              </a:buClr>
              <a:buSzPts val="980"/>
              <a:buFont typeface="Calibri"/>
              <a:buNone/>
            </a:pPr>
            <a:r>
              <a:rPr b="0" i="0" lang="en-US" sz="980" u="none" cap="none" strike="noStrike">
                <a:solidFill>
                  <a:schemeClr val="dk1"/>
                </a:solidFill>
                <a:latin typeface="Calibri"/>
                <a:ea typeface="Calibri"/>
                <a:cs typeface="Calibri"/>
                <a:sym typeface="Calibri"/>
              </a:rPr>
              <a:t>→  Baseline first — measure P99 startup + P99 latency before changing any JVM flag</a:t>
            </a:r>
            <a:endParaRPr b="0" i="0" sz="980" u="none" cap="none" strike="noStrike">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bg>
    <p:bgPr>
      <a:solidFill>
        <a:srgbClr val="FFFFFF"/>
      </a:solidFill>
      <a:effectLst/>
    </p:bgPr>
  </p:bg>
  <p:cSld>
    <p:spTree>
      <p:nvGrpSpPr>
        <p:cNvPr id="1" name=""/>
        <p:cNvGrpSpPr/>
        <p:nvPr/>
      </p:nvGrpSpPr>
      <p:grpSpPr/>
      <p:sp>
        <p:nvSpPr>
          <p:cNvPr id="2" name="TextBox 1"/>
          <p:cNvSpPr txBox="1"/>
          <p:nvPr/>
        </p:nvSpPr>
        <p:spPr>
          <a:xfrm>
            <a:off x="425206" y="288043"/>
            <a:ext cx="8291529" cy="219461"/>
          </a:xfrm>
          <a:prstGeom prst="rect">
            <a:avLst/>
          </a:prstGeom>
          <a:noFill/>
        </p:spPr>
        <p:txBody>
          <a:bodyPr wrap="square" lIns="0" rIns="0" tIns="0" bIns="0" anchor="ctr">
            <a:spAutoFit/>
          </a:bodyPr>
          <a:lstStyle/>
          <a:p>
            <a:pPr algn="l"/>
            <a:r>
              <a:rPr sz="900" b="1" i="0" spc="300">
                <a:solidFill>
                  <a:srgbClr val="EE0000"/>
                </a:solidFill>
                <a:latin typeface="Overpass"/>
                <a:cs typeface="Overpass"/>
              </a:rPr>
              <a:t>SCAN TO EXPLORE</a:t>
            </a:r>
          </a:p>
        </p:txBody>
      </p:sp>
      <p:sp>
        <p:nvSpPr>
          <p:cNvPr id="3" name="TextBox 2"/>
          <p:cNvSpPr txBox="1"/>
          <p:nvPr/>
        </p:nvSpPr>
        <p:spPr>
          <a:xfrm>
            <a:off x="425206" y="507504"/>
            <a:ext cx="8291529" cy="754398"/>
          </a:xfrm>
          <a:prstGeom prst="rect">
            <a:avLst/>
          </a:prstGeom>
          <a:noFill/>
        </p:spPr>
        <p:txBody>
          <a:bodyPr wrap="square" lIns="0" rIns="0" tIns="0" bIns="0" anchor="t">
            <a:spAutoFit/>
          </a:bodyPr>
          <a:lstStyle/>
          <a:p>
            <a:pPr algn="l"/>
            <a:r>
              <a:rPr sz="2250" b="1" i="0">
                <a:solidFill>
                  <a:srgbClr val="151515"/>
                </a:solidFill>
                <a:latin typeface="Overpass"/>
                <a:cs typeface="Overpass"/>
              </a:rPr>
              <a:t>Take it with you</a:t>
            </a:r>
          </a:p>
        </p:txBody>
      </p:sp>
      <p:pic>
        <p:nvPicPr>
          <p:cNvPr id="4" name="Picture 3" descr="qr-qopt-site.png"/>
          <p:cNvPicPr>
            <a:picLocks noChangeAspect="1"/>
          </p:cNvPicPr>
          <p:nvPr/>
        </p:nvPicPr>
        <p:blipFill>
          <a:blip r:embed="rId2"/>
          <a:stretch>
            <a:fillRect/>
          </a:stretch>
        </p:blipFill>
        <p:spPr>
          <a:xfrm>
            <a:off x="1577379" y="1220754"/>
            <a:ext cx="2126033" cy="2126033"/>
          </a:xfrm>
          <a:prstGeom prst="rect">
            <a:avLst/>
          </a:prstGeom>
        </p:spPr>
      </p:pic>
      <p:sp>
        <p:nvSpPr>
          <p:cNvPr id="5" name="TextBox 4"/>
          <p:cNvSpPr txBox="1"/>
          <p:nvPr/>
        </p:nvSpPr>
        <p:spPr>
          <a:xfrm>
            <a:off x="1063016" y="3415369"/>
            <a:ext cx="3154758" cy="274326"/>
          </a:xfrm>
          <a:prstGeom prst="rect">
            <a:avLst/>
          </a:prstGeom>
          <a:noFill/>
        </p:spPr>
        <p:txBody>
          <a:bodyPr wrap="square" lIns="0" rIns="0" tIns="0" bIns="0" anchor="ctr">
            <a:spAutoFit/>
          </a:bodyPr>
          <a:lstStyle/>
          <a:p>
            <a:pPr algn="ctr"/>
            <a:r>
              <a:rPr sz="1350" b="1" i="0">
                <a:solidFill>
                  <a:srgbClr val="151515"/>
                </a:solidFill>
                <a:latin typeface="Overpass"/>
                <a:cs typeface="Overpass"/>
              </a:rPr>
              <a:t>The site</a:t>
            </a:r>
          </a:p>
        </p:txBody>
      </p:sp>
      <p:sp>
        <p:nvSpPr>
          <p:cNvPr id="6" name="TextBox 5"/>
          <p:cNvSpPr txBox="1"/>
          <p:nvPr/>
        </p:nvSpPr>
        <p:spPr>
          <a:xfrm>
            <a:off x="994434" y="3703412"/>
            <a:ext cx="3291922" cy="493788"/>
          </a:xfrm>
          <a:prstGeom prst="rect">
            <a:avLst/>
          </a:prstGeom>
          <a:noFill/>
        </p:spPr>
        <p:txBody>
          <a:bodyPr wrap="square" lIns="0" rIns="0" tIns="0" bIns="0" anchor="t">
            <a:spAutoFit/>
          </a:bodyPr>
          <a:lstStyle/>
          <a:p>
            <a:pPr algn="ctr"/>
            <a:r>
              <a:rPr sz="975" b="0" i="1">
                <a:solidFill>
                  <a:srgbClr val="5A5A5A"/>
                </a:solidFill>
                <a:latin typeface="Red Hat Text"/>
                <a:cs typeface="Red Hat Text"/>
              </a:rPr>
              <a:t>Chapters, the runnable examples, and the tuning labs</a:t>
            </a:r>
          </a:p>
        </p:txBody>
      </p:sp>
      <p:sp>
        <p:nvSpPr>
          <p:cNvPr id="7" name="TextBox 6"/>
          <p:cNvSpPr txBox="1"/>
          <p:nvPr/>
        </p:nvSpPr>
        <p:spPr>
          <a:xfrm>
            <a:off x="994434" y="4197200"/>
            <a:ext cx="3291922" cy="219461"/>
          </a:xfrm>
          <a:prstGeom prst="rect">
            <a:avLst/>
          </a:prstGeom>
          <a:noFill/>
        </p:spPr>
        <p:txBody>
          <a:bodyPr wrap="square" lIns="0" rIns="0" tIns="0" bIns="0" anchor="ctr">
            <a:spAutoFit/>
          </a:bodyPr>
          <a:lstStyle/>
          <a:p>
            <a:pPr algn="ctr"/>
            <a:r>
              <a:rPr sz="750" b="0" i="0">
                <a:solidFill>
                  <a:srgbClr val="EE0000"/>
                </a:solidFill>
                <a:latin typeface="Red Hat Mono"/>
                <a:cs typeface="Red Hat Mono"/>
              </a:rPr>
              <a:t>patterncatalyst.github.io/quarkus-optimization</a:t>
            </a:r>
          </a:p>
        </p:txBody>
      </p:sp>
      <p:pic>
        <p:nvPicPr>
          <p:cNvPr id="8" name="Picture 7" descr="qr-hub.png"/>
          <p:cNvPicPr>
            <a:picLocks noChangeAspect="1"/>
          </p:cNvPicPr>
          <p:nvPr/>
        </p:nvPicPr>
        <p:blipFill>
          <a:blip r:embed="rId3"/>
          <a:stretch>
            <a:fillRect/>
          </a:stretch>
        </p:blipFill>
        <p:spPr>
          <a:xfrm>
            <a:off x="5438529" y="1220754"/>
            <a:ext cx="2126033" cy="2126033"/>
          </a:xfrm>
          <a:prstGeom prst="rect">
            <a:avLst/>
          </a:prstGeom>
        </p:spPr>
      </p:pic>
      <p:sp>
        <p:nvSpPr>
          <p:cNvPr id="9" name="TextBox 8"/>
          <p:cNvSpPr txBox="1"/>
          <p:nvPr/>
        </p:nvSpPr>
        <p:spPr>
          <a:xfrm>
            <a:off x="4924167" y="3415369"/>
            <a:ext cx="3154758" cy="274326"/>
          </a:xfrm>
          <a:prstGeom prst="rect">
            <a:avLst/>
          </a:prstGeom>
          <a:noFill/>
        </p:spPr>
        <p:txBody>
          <a:bodyPr wrap="square" lIns="0" rIns="0" tIns="0" bIns="0" anchor="ctr">
            <a:spAutoFit/>
          </a:bodyPr>
          <a:lstStyle/>
          <a:p>
            <a:pPr algn="ctr"/>
            <a:r>
              <a:rPr sz="1350" b="1" i="0">
                <a:solidFill>
                  <a:srgbClr val="151515"/>
                </a:solidFill>
                <a:latin typeface="Overpass"/>
                <a:cs typeface="Overpass"/>
              </a:rPr>
              <a:t>Workshops &amp; Tutorials</a:t>
            </a:r>
          </a:p>
        </p:txBody>
      </p:sp>
      <p:sp>
        <p:nvSpPr>
          <p:cNvPr id="10" name="TextBox 9"/>
          <p:cNvSpPr txBox="1"/>
          <p:nvPr/>
        </p:nvSpPr>
        <p:spPr>
          <a:xfrm>
            <a:off x="4855585" y="3703412"/>
            <a:ext cx="3291922" cy="493788"/>
          </a:xfrm>
          <a:prstGeom prst="rect">
            <a:avLst/>
          </a:prstGeom>
          <a:noFill/>
        </p:spPr>
        <p:txBody>
          <a:bodyPr wrap="square" lIns="0" rIns="0" tIns="0" bIns="0" anchor="t">
            <a:spAutoFit/>
          </a:bodyPr>
          <a:lstStyle/>
          <a:p>
            <a:pPr algn="ctr"/>
            <a:r>
              <a:rPr sz="975" b="0" i="1">
                <a:solidFill>
                  <a:srgbClr val="5A5A5A"/>
                </a:solidFill>
                <a:latin typeface="Red Hat Text"/>
                <a:cs typeface="Red Hat Text"/>
              </a:rPr>
              <a:t>The whole series: every workshop, tutorial, and deck in one place</a:t>
            </a:r>
          </a:p>
        </p:txBody>
      </p:sp>
      <p:sp>
        <p:nvSpPr>
          <p:cNvPr id="11" name="TextBox 10"/>
          <p:cNvSpPr txBox="1"/>
          <p:nvPr/>
        </p:nvSpPr>
        <p:spPr>
          <a:xfrm>
            <a:off x="4855585" y="4197200"/>
            <a:ext cx="3291922" cy="219461"/>
          </a:xfrm>
          <a:prstGeom prst="rect">
            <a:avLst/>
          </a:prstGeom>
          <a:noFill/>
        </p:spPr>
        <p:txBody>
          <a:bodyPr wrap="square" lIns="0" rIns="0" tIns="0" bIns="0" anchor="ctr">
            <a:spAutoFit/>
          </a:bodyPr>
          <a:lstStyle/>
          <a:p>
            <a:pPr algn="ctr"/>
            <a:r>
              <a:rPr sz="675" b="0" i="0">
                <a:solidFill>
                  <a:srgbClr val="EE0000"/>
                </a:solidFill>
                <a:latin typeface="Red Hat Mono"/>
                <a:cs typeface="Red Hat Mono"/>
              </a:rPr>
              <a:t>patterncatalyst.github.io/patterncatalyst-workshops-tutorials-list</a:t>
            </a:r>
          </a:p>
        </p:txBody>
      </p:sp>
      <p:sp>
        <p:nvSpPr>
          <p:cNvPr id="12" name="TextBox 11"/>
          <p:cNvSpPr txBox="1"/>
          <p:nvPr/>
        </p:nvSpPr>
        <p:spPr>
          <a:xfrm>
            <a:off x="425206" y="4773287"/>
            <a:ext cx="685817" cy="205745"/>
          </a:xfrm>
          <a:prstGeom prst="rect">
            <a:avLst/>
          </a:prstGeom>
          <a:noFill/>
        </p:spPr>
        <p:txBody>
          <a:bodyPr wrap="square" lIns="0" rIns="0" tIns="0" bIns="0" anchor="ctr">
            <a:spAutoFit/>
          </a:bodyPr>
          <a:lstStyle/>
          <a:p>
            <a:pPr algn="l"/>
            <a:r>
              <a:rPr sz="750" b="0" i="0">
                <a:solidFill>
                  <a:srgbClr val="8A8A8A"/>
                </a:solidFill>
                <a:latin typeface="Red Hat Text"/>
                <a:cs typeface="Red Hat Text"/>
              </a:rPr>
              <a:t>58</a:t>
            </a:r>
          </a:p>
        </p:txBody>
      </p:sp>
      <p:pic>
        <p:nvPicPr>
          <p:cNvPr id="13" name="Picture 12" descr="logo-candidate-2.png"/>
          <p:cNvPicPr>
            <a:picLocks noChangeAspect="1"/>
          </p:cNvPicPr>
          <p:nvPr/>
        </p:nvPicPr>
        <p:blipFill>
          <a:blip r:embed="rId4"/>
          <a:stretch>
            <a:fillRect/>
          </a:stretch>
        </p:blipFill>
        <p:spPr>
          <a:xfrm>
            <a:off x="7921188" y="4766429"/>
            <a:ext cx="774973" cy="185170"/>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